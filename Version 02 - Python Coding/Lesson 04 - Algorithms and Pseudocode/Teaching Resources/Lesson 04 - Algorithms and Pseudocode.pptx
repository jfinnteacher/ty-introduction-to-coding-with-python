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0EFBE-F97B-490D-B572-C1ADB27A78DB}" type="datetimeFigureOut">
              <a:rPr lang="en-IE" smtClean="0"/>
              <a:t>26/01/2026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D2527-3D16-4B6F-BA96-06268629D0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74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433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780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1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869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301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997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431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592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37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143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1158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848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>
            <a:extLst>
              <a:ext uri="{FF2B5EF4-FFF2-40B4-BE49-F238E27FC236}">
                <a16:creationId xmlns:a16="http://schemas.microsoft.com/office/drawing/2014/main" id="{1C360B2B-5A98-7E0F-8727-8E4EBE3E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9" t="10376" r="14368" b="17519"/>
          <a:stretch/>
        </p:blipFill>
        <p:spPr>
          <a:xfrm>
            <a:off x="10557166" y="185739"/>
            <a:ext cx="1378527" cy="13726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9C88E78-AA00-4B73-B005-A5F753C873EF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724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DBF2-F6D0-F716-619C-0DED865F4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Lesson 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4A53A-D0FA-3B21-6E8A-A6F978C6F7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Algorithms and Pseudocode</a:t>
            </a:r>
          </a:p>
        </p:txBody>
      </p:sp>
    </p:spTree>
    <p:extLst>
      <p:ext uri="{BB962C8B-B14F-4D97-AF65-F5344CB8AC3E}">
        <p14:creationId xmlns:p14="http://schemas.microsoft.com/office/powerpoint/2010/main" val="181869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FADE-9470-2EC6-24C8-930685F0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Create Algorithm to solve this maze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047DD-05AC-DF3C-D17A-542653662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16" y="1690688"/>
            <a:ext cx="4473584" cy="4473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5EF196-5A32-849E-FDF0-D5A83079355E}"/>
              </a:ext>
            </a:extLst>
          </p:cNvPr>
          <p:cNvSpPr txBox="1"/>
          <p:nvPr/>
        </p:nvSpPr>
        <p:spPr>
          <a:xfrm>
            <a:off x="2646467" y="6308209"/>
            <a:ext cx="66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Start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54932-0373-163E-EFD2-57326D0F5F11}"/>
              </a:ext>
            </a:extLst>
          </p:cNvPr>
          <p:cNvSpPr txBox="1"/>
          <p:nvPr/>
        </p:nvSpPr>
        <p:spPr>
          <a:xfrm>
            <a:off x="3308508" y="1321356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Finish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80549-8F72-B2F3-5FF5-DA8ED16FC20E}"/>
              </a:ext>
            </a:extLst>
          </p:cNvPr>
          <p:cNvSpPr txBox="1"/>
          <p:nvPr/>
        </p:nvSpPr>
        <p:spPr>
          <a:xfrm>
            <a:off x="6096000" y="1828800"/>
            <a:ext cx="49456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What might the Algorithm to solve this maze look like</a:t>
            </a:r>
          </a:p>
          <a:p>
            <a:pPr marL="285750" indent="-285750">
              <a:buFontTx/>
              <a:buChar char="-"/>
            </a:pPr>
            <a:r>
              <a:rPr lang="en-IE" dirty="0"/>
              <a:t>List step by step how to solve it.</a:t>
            </a:r>
          </a:p>
          <a:p>
            <a:pPr marL="285750" indent="-285750">
              <a:buFontTx/>
              <a:buChar char="-"/>
            </a:pPr>
            <a:r>
              <a:rPr lang="en-IE" dirty="0"/>
              <a:t>OR</a:t>
            </a:r>
          </a:p>
          <a:p>
            <a:pPr marL="285750" indent="-285750">
              <a:buFontTx/>
              <a:buChar char="-"/>
            </a:pPr>
            <a:r>
              <a:rPr lang="en-IE" dirty="0"/>
              <a:t>Create a set of rules for a “bot” to follow</a:t>
            </a:r>
          </a:p>
          <a:p>
            <a:pPr marL="285750" indent="-285750">
              <a:buFontTx/>
              <a:buChar char="-"/>
            </a:pPr>
            <a:endParaRPr lang="en-IE" dirty="0"/>
          </a:p>
          <a:p>
            <a:pPr marL="285750" indent="-285750">
              <a:buFontTx/>
              <a:buChar char="-"/>
            </a:pPr>
            <a:endParaRPr lang="en-IE" dirty="0"/>
          </a:p>
          <a:p>
            <a:pPr marL="285750" indent="-285750">
              <a:buFontTx/>
              <a:buChar char="-"/>
            </a:pPr>
            <a:r>
              <a:rPr lang="en-IE" dirty="0"/>
              <a:t>Some Advantages and Disadvantages of each.</a:t>
            </a:r>
          </a:p>
        </p:txBody>
      </p:sp>
    </p:spTree>
    <p:extLst>
      <p:ext uri="{BB962C8B-B14F-4D97-AF65-F5344CB8AC3E}">
        <p14:creationId xmlns:p14="http://schemas.microsoft.com/office/powerpoint/2010/main" val="389546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Lesson Objectives</a:t>
            </a:r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Understand what an algorithm is and its application in programming.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Learn and understand the concept of pseudocode.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Develop the ability to write simple algorithms.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Learn how to translate algorithms into pseudocode.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Understand the importance of efficient algorithm design.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What is an Algorithm?</a:t>
            </a:r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An algorithm, in relation to computers, is a defined set of step-by-step procedures or instructions that tells a computer exactly what to do to solve a specific problem or complete a particular task.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List the steps needed to create a breakfast of Buttered Toast with Strawberry Jam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Give some examples of how Algorithms are used in Computing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What is Pseudocode?</a:t>
            </a:r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Pseudocode is a simple way of writing programming code in English or in a way that can be understood by humans. It’s not an actual programming language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Example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1. Start 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2. Type in 3 numbers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3. Add the 3 numbers together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4. average = sum / 3 </a:t>
            </a:r>
            <a:endParaRPr dirty="0"/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5. Print average </a:t>
            </a:r>
          </a:p>
          <a:p>
            <a:pPr marL="450000" lvl="1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6. End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 dirty="0"/>
              <a:t>Details of an </a:t>
            </a:r>
            <a:r>
              <a:rPr lang="en-GB" dirty="0" err="1"/>
              <a:t>Algroithim</a:t>
            </a:r>
            <a:endParaRPr dirty="0"/>
          </a:p>
        </p:txBody>
      </p:sp>
      <p:sp>
        <p:nvSpPr>
          <p:cNvPr id="114" name="Google Shape;114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95078" algn="l" rtl="0">
              <a:spcBef>
                <a:spcPts val="0"/>
              </a:spcBef>
              <a:spcAft>
                <a:spcPts val="0"/>
              </a:spcAft>
              <a:buSzPts val="1497"/>
              <a:buChar char="◈"/>
            </a:pPr>
            <a:r>
              <a:rPr lang="en-GB" sz="1979" b="0" dirty="0"/>
              <a:t>Steps to Create an Algorithm</a:t>
            </a:r>
            <a:endParaRPr dirty="0"/>
          </a:p>
          <a:p>
            <a:pPr marL="342900" lvl="0" indent="-217100" algn="l" rtl="0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1514"/>
              <a:buNone/>
            </a:pPr>
            <a:endParaRPr dirty="0"/>
          </a:p>
        </p:txBody>
      </p:sp>
      <p:sp>
        <p:nvSpPr>
          <p:cNvPr id="116" name="Google Shape;116;p32"/>
          <p:cNvSpPr txBox="1">
            <a:spLocks noGrp="1"/>
          </p:cNvSpPr>
          <p:nvPr>
            <p:ph type="body" idx="4294967295"/>
          </p:nvPr>
        </p:nvSpPr>
        <p:spPr>
          <a:xfrm>
            <a:off x="0" y="2505075"/>
            <a:ext cx="5157788" cy="36845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 dirty="0"/>
              <a:t>Clearly Define the Problem</a:t>
            </a:r>
            <a:endParaRPr sz="3100" dirty="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 dirty="0"/>
              <a:t>Identify the Procedures</a:t>
            </a:r>
            <a:endParaRPr sz="3100" dirty="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 dirty="0"/>
              <a:t>Order procedures</a:t>
            </a:r>
            <a:endParaRPr sz="3100" dirty="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 dirty="0"/>
              <a:t>Check the Procedures</a:t>
            </a:r>
            <a:endParaRPr sz="3100" dirty="0"/>
          </a:p>
          <a:p>
            <a:pPr marL="712800" lvl="1" indent="-318171" algn="l" rtl="0"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 dirty="0"/>
              <a:t>Test the Algorithm</a:t>
            </a:r>
            <a:endParaRPr sz="3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7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en-GB" sz="3600" b="0" i="0">
                <a:latin typeface="Arial"/>
                <a:ea typeface="Arial"/>
                <a:cs typeface="Arial"/>
                <a:sym typeface="Arial"/>
              </a:rPr>
              <a:t>Features of a Good Algorithm</a:t>
            </a:r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Unambiguous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Well-defined Inputs and Outputs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Finiteness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Feasibility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Language Independent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Independent of Machine</a:t>
            </a:r>
            <a:endParaRPr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>
                <a:latin typeface="Arial"/>
                <a:ea typeface="Arial"/>
                <a:cs typeface="Arial"/>
                <a:sym typeface="Arial"/>
              </a:rPr>
              <a:t>Efficient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 b="0" i="0"/>
              <a:t>Purpose and properties of Pseudocode</a:t>
            </a:r>
            <a:endParaRPr/>
          </a:p>
        </p:txBody>
      </p:sp>
      <p:sp>
        <p:nvSpPr>
          <p:cNvPr id="130" name="Google Shape;130;p34"/>
          <p:cNvSpPr txBox="1">
            <a:spLocks noGrp="1"/>
          </p:cNvSpPr>
          <p:nvPr>
            <p:ph type="body" idx="4294967295"/>
          </p:nvPr>
        </p:nvSpPr>
        <p:spPr>
          <a:xfrm>
            <a:off x="938100" y="1690824"/>
            <a:ext cx="5846748" cy="436250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39471" lvl="0" indent="-302939" algn="l" rtl="0">
              <a:spcBef>
                <a:spcPts val="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Clarity</a:t>
            </a:r>
            <a:endParaRPr sz="4000" b="1" dirty="0"/>
          </a:p>
          <a:p>
            <a:pPr marL="339471" lvl="0" indent="-302939" algn="l" rtl="0"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Planning</a:t>
            </a:r>
            <a:endParaRPr sz="4000" b="1" dirty="0"/>
          </a:p>
          <a:p>
            <a:pPr marL="339471" lvl="0" indent="-302939" algn="l" rtl="0"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Communication</a:t>
            </a:r>
            <a:endParaRPr sz="4000" b="1" dirty="0"/>
          </a:p>
          <a:p>
            <a:pPr marL="339471" lvl="0" indent="-302939" algn="l" rtl="0"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Debugging</a:t>
            </a:r>
            <a:endParaRPr sz="40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Simple</a:t>
            </a:r>
            <a:endParaRPr sz="32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Language Independent</a:t>
            </a:r>
            <a:endParaRPr sz="32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Ambiguity Free</a:t>
            </a:r>
            <a:endParaRPr sz="3200" b="1" dirty="0"/>
          </a:p>
          <a:p>
            <a:pPr marL="339471" marR="0" lvl="0" indent="-302939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lang="en-GB" sz="3200" b="1" dirty="0"/>
              <a:t>High Level</a:t>
            </a:r>
            <a:endParaRPr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Rules of Pseudocode</a:t>
            </a:r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These are more guidelines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Write one statement per line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Use Simple English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Indent for logic: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Keep it short</a:t>
            </a:r>
            <a:endParaRPr dirty="0"/>
          </a:p>
          <a:p>
            <a:pPr marL="342900" lvl="0" indent="-306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lang="en-GB" b="0" i="0" dirty="0">
                <a:latin typeface="Arial"/>
                <a:ea typeface="Arial"/>
                <a:cs typeface="Arial"/>
                <a:sym typeface="Arial"/>
              </a:rPr>
              <a:t>Be specific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Creating an Algorithm</a:t>
            </a:r>
            <a:endParaRPr/>
          </a:p>
        </p:txBody>
      </p:sp>
      <p:sp>
        <p:nvSpPr>
          <p:cNvPr id="142" name="Google Shape;142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None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START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Fill the kettle with water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Switch on the kettle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While waiting for the water to boil,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834300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129032"/>
              <a:buFont typeface="Source Code Pro"/>
              <a:buAutoNum type="arabicPeriod"/>
            </a:pPr>
            <a:r>
              <a:rPr lang="en-GB" sz="2000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Place a tea bag in the cup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834300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129032"/>
              <a:buFont typeface="Source Code Pro"/>
              <a:buAutoNum type="arabicPeriod"/>
            </a:pPr>
            <a:r>
              <a:rPr lang="en-GB" sz="2000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Add sugar to the cup (if needed)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When the kettle switches off, pour the hot water into the cup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Stir the tea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Wait for 2 minutes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Remove the tea bag from the cup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If preferred, add milk and stir the tea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The tea is ready for drinking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None/>
            </a:pPr>
            <a:r>
              <a:rPr lang="en-GB" b="0" i="0" u="none" strike="noStrike" cap="none">
                <a:latin typeface="Source Code Pro"/>
                <a:ea typeface="Source Code Pro"/>
                <a:cs typeface="Source Code Pro"/>
                <a:sym typeface="Source Code Pro"/>
              </a:rPr>
              <a:t>STOP</a:t>
            </a:r>
            <a:r>
              <a:rPr lang="en-GB" b="0" i="0" u="none" strike="noStrike" cap="none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>
                <a:solidFill>
                  <a:schemeClr val="dk1"/>
                </a:solidFill>
              </a:rPr>
              <a:t>Convert to Pseudocode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39471" lvl="0" indent="-3029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975"/>
              <a:buChar char="◈"/>
            </a:pPr>
            <a:r>
              <a:rPr lang="en-GB" sz="1979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 up kettle with water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Turn ON Kettle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teabag in cup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tea requires sugar THEN </a:t>
            </a:r>
            <a:endParaRPr dirty="0">
              <a:solidFill>
                <a:schemeClr val="dk1"/>
              </a:solidFill>
            </a:endParaRPr>
          </a:p>
          <a:p>
            <a:pPr marL="1015740" lvl="2" indent="-213840">
              <a:spcBef>
                <a:spcPts val="911"/>
              </a:spcBef>
              <a:buClr>
                <a:schemeClr val="dk1"/>
              </a:buClr>
              <a:buSzPct val="112020"/>
              <a:buChar char="◈"/>
            </a:pPr>
            <a:r>
              <a:rPr lang="en-GB" sz="1584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sugar in the cup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ENDIF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kettle switches OFF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Pour water in cup </a:t>
            </a:r>
            <a:endParaRPr dirty="0"/>
          </a:p>
          <a:p>
            <a:pPr marL="4455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the mixture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2 minutes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teabag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milk needed THEN </a:t>
            </a:r>
            <a:endParaRPr dirty="0">
              <a:solidFill>
                <a:schemeClr val="dk1"/>
              </a:solidFill>
            </a:endParaRPr>
          </a:p>
          <a:p>
            <a:pPr marL="1015740" lvl="2" indent="-213840" algn="l" rtl="0">
              <a:lnSpc>
                <a:spcPct val="90000"/>
              </a:lnSpc>
              <a:spcBef>
                <a:spcPts val="911"/>
              </a:spcBef>
              <a:spcAft>
                <a:spcPts val="0"/>
              </a:spcAft>
              <a:buClr>
                <a:schemeClr val="dk1"/>
              </a:buClr>
              <a:buSzPct val="112020"/>
              <a:buChar char="◈"/>
            </a:pPr>
            <a:r>
              <a:rPr lang="en-GB" sz="1584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milk to cup </a:t>
            </a:r>
            <a:endParaRPr dirty="0">
              <a:solidFill>
                <a:schemeClr val="dk1"/>
              </a:solidFill>
            </a:endParaRPr>
          </a:p>
          <a:p>
            <a:pPr marL="1015740" lvl="2" indent="-213840" algn="l" rtl="0">
              <a:lnSpc>
                <a:spcPct val="90000"/>
              </a:lnSpc>
              <a:spcBef>
                <a:spcPts val="911"/>
              </a:spcBef>
              <a:spcAft>
                <a:spcPts val="0"/>
              </a:spcAft>
              <a:buClr>
                <a:schemeClr val="dk1"/>
              </a:buClr>
              <a:buSzPct val="112020"/>
              <a:buChar char="◈"/>
            </a:pPr>
            <a:r>
              <a:rPr lang="en-GB" sz="1584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the mixture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ENDIF </a:t>
            </a:r>
            <a:endParaRPr dirty="0">
              <a:solidFill>
                <a:schemeClr val="dk1"/>
              </a:solidFill>
            </a:endParaRPr>
          </a:p>
          <a:p>
            <a:pPr marL="445500" lvl="1" indent="0" algn="l" rtl="0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None/>
            </a:pPr>
            <a:r>
              <a:rPr lang="en-GB" sz="1782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"Tea is ready!" </a:t>
            </a:r>
            <a:endParaRPr dirty="0">
              <a:solidFill>
                <a:schemeClr val="dk1"/>
              </a:solidFill>
            </a:endParaRPr>
          </a:p>
          <a:p>
            <a:pPr marL="339471" lvl="0" indent="-302940" algn="l" rtl="0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ct val="111975"/>
              <a:buChar char="◈"/>
            </a:pPr>
            <a:r>
              <a:rPr lang="en-GB" sz="1979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sz="1979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342900" lvl="0" indent="-217100" algn="l" rtl="0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 Theme" id="{5315FB66-9AB4-496F-8BD7-119135D3DC10}" vid="{A8CBE559-2296-4199-8F36-6EE5C83118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b170d26-a298-4fcb-93e8-f72c55c78d0a}" enabled="1" method="Standard" siteId="{3ed6c8f5-4c16-44ad-9eed-60f851834a8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ÀCC Presentation</Template>
  <TotalTime>81</TotalTime>
  <Words>450</Words>
  <Application>Microsoft Office PowerPoint</Application>
  <PresentationFormat>Widescreen</PresentationFormat>
  <Paragraphs>95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Franklin Gothic Book</vt:lpstr>
      <vt:lpstr>Franklin Gothic Medium</vt:lpstr>
      <vt:lpstr>Lustria</vt:lpstr>
      <vt:lpstr>Source Code Pro</vt:lpstr>
      <vt:lpstr>Times New Roman</vt:lpstr>
      <vt:lpstr>ACC Theme</vt:lpstr>
      <vt:lpstr>Lesson 04</vt:lpstr>
      <vt:lpstr>Create Algorithm to solve this maze</vt:lpstr>
      <vt:lpstr>Lesson Objectives</vt:lpstr>
      <vt:lpstr>What is an Algorithm?</vt:lpstr>
      <vt:lpstr>What is Pseudocode?</vt:lpstr>
      <vt:lpstr>Details of an Algroithim</vt:lpstr>
      <vt:lpstr>Features of a Good Algorithm</vt:lpstr>
      <vt:lpstr>Purpose and properties of Pseudocode</vt:lpstr>
      <vt:lpstr>Rules of Pseudocode</vt:lpstr>
      <vt:lpstr>Creating an Algorithm</vt:lpstr>
      <vt:lpstr>Convert to 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 Finn</dc:creator>
  <dc:description/>
  <cp:lastModifiedBy>Jim Finn (Adamstown CC)</cp:lastModifiedBy>
  <cp:revision>9</cp:revision>
  <dcterms:created xsi:type="dcterms:W3CDTF">2025-05-14T11:16:38Z</dcterms:created>
  <dcterms:modified xsi:type="dcterms:W3CDTF">2026-01-26T14:54:58Z</dcterms:modified>
  <dc:language>en-IE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  <property fmtid="{D5CDD505-2E9C-101B-9397-08002B2CF9AE}" pid="4" name="MSIP_Label_bb170d26-a298-4fcb-93e8-f72c55c78d0a_Enabled">
    <vt:lpwstr>true</vt:lpwstr>
  </property>
  <property fmtid="{D5CDD505-2E9C-101B-9397-08002B2CF9AE}" pid="5" name="MSIP_Label_bb170d26-a298-4fcb-93e8-f72c55c78d0a_SetDate">
    <vt:lpwstr>2025-08-28T06:27:01Z</vt:lpwstr>
  </property>
  <property fmtid="{D5CDD505-2E9C-101B-9397-08002B2CF9AE}" pid="6" name="MSIP_Label_bb170d26-a298-4fcb-93e8-f72c55c78d0a_Method">
    <vt:lpwstr>Standard</vt:lpwstr>
  </property>
  <property fmtid="{D5CDD505-2E9C-101B-9397-08002B2CF9AE}" pid="7" name="MSIP_Label_bb170d26-a298-4fcb-93e8-f72c55c78d0a_Name">
    <vt:lpwstr>defa4170-0d19-0005-0004-bc88714345d2</vt:lpwstr>
  </property>
  <property fmtid="{D5CDD505-2E9C-101B-9397-08002B2CF9AE}" pid="8" name="MSIP_Label_bb170d26-a298-4fcb-93e8-f72c55c78d0a_SiteId">
    <vt:lpwstr>3ed6c8f5-4c16-44ad-9eed-60f851834a84</vt:lpwstr>
  </property>
  <property fmtid="{D5CDD505-2E9C-101B-9397-08002B2CF9AE}" pid="9" name="MSIP_Label_bb170d26-a298-4fcb-93e8-f72c55c78d0a_ActionId">
    <vt:lpwstr>abf108b7-51c6-46df-803a-db799a25055a</vt:lpwstr>
  </property>
  <property fmtid="{D5CDD505-2E9C-101B-9397-08002B2CF9AE}" pid="10" name="MSIP_Label_bb170d26-a298-4fcb-93e8-f72c55c78d0a_ContentBits">
    <vt:lpwstr>0</vt:lpwstr>
  </property>
  <property fmtid="{D5CDD505-2E9C-101B-9397-08002B2CF9AE}" pid="11" name="MSIP_Label_bb170d26-a298-4fcb-93e8-f72c55c78d0a_Tag">
    <vt:lpwstr>10, 3, 0, 1</vt:lpwstr>
  </property>
</Properties>
</file>