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handoutMasterIdLst>
    <p:handoutMasterId r:id="rId42"/>
  </p:handoutMasterIdLst>
  <p:sldIdLst>
    <p:sldId id="256" r:id="rId2"/>
    <p:sldId id="258" r:id="rId3"/>
    <p:sldId id="259" r:id="rId4"/>
    <p:sldId id="274" r:id="rId5"/>
    <p:sldId id="261" r:id="rId6"/>
    <p:sldId id="262" r:id="rId7"/>
    <p:sldId id="275" r:id="rId8"/>
    <p:sldId id="268" r:id="rId9"/>
    <p:sldId id="276" r:id="rId10"/>
    <p:sldId id="277" r:id="rId11"/>
    <p:sldId id="278" r:id="rId12"/>
    <p:sldId id="282" r:id="rId13"/>
    <p:sldId id="279" r:id="rId14"/>
    <p:sldId id="280" r:id="rId15"/>
    <p:sldId id="303" r:id="rId16"/>
    <p:sldId id="281" r:id="rId17"/>
    <p:sldId id="283" r:id="rId18"/>
    <p:sldId id="304" r:id="rId19"/>
    <p:sldId id="284" r:id="rId20"/>
    <p:sldId id="285" r:id="rId21"/>
    <p:sldId id="286" r:id="rId22"/>
    <p:sldId id="287" r:id="rId23"/>
    <p:sldId id="288" r:id="rId24"/>
    <p:sldId id="289" r:id="rId25"/>
    <p:sldId id="290" r:id="rId26"/>
    <p:sldId id="291" r:id="rId27"/>
    <p:sldId id="292" r:id="rId28"/>
    <p:sldId id="305" r:id="rId29"/>
    <p:sldId id="293" r:id="rId30"/>
    <p:sldId id="294" r:id="rId31"/>
    <p:sldId id="295" r:id="rId32"/>
    <p:sldId id="296" r:id="rId33"/>
    <p:sldId id="297" r:id="rId34"/>
    <p:sldId id="298" r:id="rId35"/>
    <p:sldId id="299" r:id="rId36"/>
    <p:sldId id="301" r:id="rId37"/>
    <p:sldId id="300" r:id="rId38"/>
    <p:sldId id="302" r:id="rId39"/>
    <p:sldId id="267" r:id="rId40"/>
    <p:sldId id="272" r:id="rId41"/>
  </p:sldIdLst>
  <p:sldSz cx="12192000" cy="6858000"/>
  <p:notesSz cx="6858000" cy="9144000"/>
  <p:embeddedFontLst>
    <p:embeddedFont>
      <p:font typeface="OpenDyslexicAlta" panose="00000500000000000000" pitchFamily="50" charset="0"/>
      <p:regular r:id="rId43"/>
      <p:bold r:id="rId44"/>
      <p:italic r:id="rId45"/>
      <p:boldItalic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570"/>
    <a:srgbClr val="FFFFCC"/>
    <a:srgbClr val="FFFFE1"/>
    <a:srgbClr val="FBE3D6"/>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3" d="100"/>
          <a:sy n="93" d="100"/>
        </p:scale>
        <p:origin x="1188" y="306"/>
      </p:cViewPr>
      <p:guideLst>
        <p:guide orient="horz" pos="2160"/>
        <p:guide pos="3840"/>
      </p:guideLst>
    </p:cSldViewPr>
  </p:slideViewPr>
  <p:notesTextViewPr>
    <p:cViewPr>
      <p:scale>
        <a:sx n="3" d="2"/>
        <a:sy n="3" d="2"/>
      </p:scale>
      <p:origin x="0" y="0"/>
    </p:cViewPr>
  </p:notesTextViewPr>
  <p:notesViewPr>
    <p:cSldViewPr snapToGrid="0">
      <p:cViewPr varScale="1">
        <p:scale>
          <a:sx n="81" d="100"/>
          <a:sy n="81" d="100"/>
        </p:scale>
        <p:origin x="3894"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F35232B-3405-650A-0E6D-919F2AF1E0D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A63A1DF0-6A0F-7410-1697-3F364849232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8791796-119E-4260-B149-940ECFE008A4}" type="datetimeFigureOut">
              <a:rPr lang="en-GB" smtClean="0"/>
              <a:t>19/06/2025</a:t>
            </a:fld>
            <a:endParaRPr lang="en-GB"/>
          </a:p>
        </p:txBody>
      </p:sp>
      <p:sp>
        <p:nvSpPr>
          <p:cNvPr id="4" name="Footer Placeholder 3">
            <a:extLst>
              <a:ext uri="{FF2B5EF4-FFF2-40B4-BE49-F238E27FC236}">
                <a16:creationId xmlns:a16="http://schemas.microsoft.com/office/drawing/2014/main" id="{D35B57EA-C3C3-2477-F872-4F48437CE8D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020E89B7-4332-40EF-8A72-D4F2B18E9A2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D8B0B0-A64E-4C20-A968-F17ABCD71ED1}" type="slidenum">
              <a:rPr lang="en-GB" smtClean="0"/>
              <a:t>‹#›</a:t>
            </a:fld>
            <a:endParaRPr lang="en-GB"/>
          </a:p>
        </p:txBody>
      </p:sp>
    </p:spTree>
    <p:extLst>
      <p:ext uri="{BB962C8B-B14F-4D97-AF65-F5344CB8AC3E}">
        <p14:creationId xmlns:p14="http://schemas.microsoft.com/office/powerpoint/2010/main" val="166875908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9B45729A-2A02-69F1-5F8E-3A7464A80F62}"/>
              </a:ext>
            </a:extLst>
          </p:cNvPr>
          <p:cNvSpPr/>
          <p:nvPr userDrawn="1"/>
        </p:nvSpPr>
        <p:spPr>
          <a:xfrm>
            <a:off x="1217704" y="782425"/>
            <a:ext cx="9766169" cy="301657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6A2484D-F227-7D83-9D1F-199680CA61A4}"/>
              </a:ext>
            </a:extLst>
          </p:cNvPr>
          <p:cNvSpPr>
            <a:spLocks noGrp="1"/>
          </p:cNvSpPr>
          <p:nvPr>
            <p:ph type="ctrTitle"/>
          </p:nvPr>
        </p:nvSpPr>
        <p:spPr>
          <a:xfrm>
            <a:off x="1893127" y="782425"/>
            <a:ext cx="8415323" cy="3016577"/>
          </a:xfrm>
        </p:spPr>
        <p:txBody>
          <a:bodyPr anchor="ctr"/>
          <a:lstStyle>
            <a:lvl1pPr algn="l">
              <a:defRPr sz="6000"/>
            </a:lvl1pPr>
          </a:lstStyle>
          <a:p>
            <a:r>
              <a:rPr lang="en-GB"/>
              <a:t>Click to edit Master title style</a:t>
            </a:r>
            <a:endParaRPr lang="en-GB" dirty="0"/>
          </a:p>
        </p:txBody>
      </p:sp>
      <p:sp>
        <p:nvSpPr>
          <p:cNvPr id="3" name="Subtitle 2">
            <a:extLst>
              <a:ext uri="{FF2B5EF4-FFF2-40B4-BE49-F238E27FC236}">
                <a16:creationId xmlns:a16="http://schemas.microsoft.com/office/drawing/2014/main" id="{C8C6A4D3-0153-0D86-80ED-42D75EA9F829}"/>
              </a:ext>
            </a:extLst>
          </p:cNvPr>
          <p:cNvSpPr>
            <a:spLocks noGrp="1"/>
          </p:cNvSpPr>
          <p:nvPr>
            <p:ph type="subTitle" idx="1"/>
          </p:nvPr>
        </p:nvSpPr>
        <p:spPr>
          <a:xfrm>
            <a:off x="1893127" y="4717062"/>
            <a:ext cx="8415322" cy="638666"/>
          </a:xfrm>
        </p:spPr>
        <p:txBody>
          <a:bodyPr anchor="ct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pic>
        <p:nvPicPr>
          <p:cNvPr id="4" name="Picture 3" descr="A computer with a crown&#10;&#10;AI-generated content may be incorrect.">
            <a:extLst>
              <a:ext uri="{FF2B5EF4-FFF2-40B4-BE49-F238E27FC236}">
                <a16:creationId xmlns:a16="http://schemas.microsoft.com/office/drawing/2014/main" id="{AA8C4BE4-4D80-35F4-1E72-0257CDED9BF1}"/>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580103" y="5559678"/>
            <a:ext cx="1031794" cy="1031794"/>
          </a:xfrm>
          <a:prstGeom prst="rect">
            <a:avLst/>
          </a:prstGeom>
        </p:spPr>
      </p:pic>
    </p:spTree>
    <p:extLst>
      <p:ext uri="{BB962C8B-B14F-4D97-AF65-F5344CB8AC3E}">
        <p14:creationId xmlns:p14="http://schemas.microsoft.com/office/powerpoint/2010/main" val="1209274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A5713A-126C-F98F-BE50-718B5BBA6CB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6C0A17E-84FF-A9F1-C94E-DFFA41EEED9B}"/>
              </a:ext>
            </a:extLst>
          </p:cNvPr>
          <p:cNvSpPr>
            <a:spLocks noGrp="1"/>
          </p:cNvSpPr>
          <p:nvPr>
            <p:ph type="title"/>
          </p:nvPr>
        </p:nvSpPr>
        <p:spPr>
          <a:xfrm>
            <a:off x="413993" y="198671"/>
            <a:ext cx="11444926" cy="763571"/>
          </a:xfrm>
        </p:spPr>
        <p:txBody>
          <a:bodyPr/>
          <a:lstStyle>
            <a:lvl1pPr>
              <a:defRPr b="1"/>
            </a:lvl1pPr>
          </a:lstStyle>
          <a:p>
            <a:r>
              <a:rPr lang="en-GB"/>
              <a:t>Click to edit Master title style</a:t>
            </a:r>
            <a:endParaRPr lang="en-GB" dirty="0"/>
          </a:p>
        </p:txBody>
      </p:sp>
      <p:pic>
        <p:nvPicPr>
          <p:cNvPr id="16" name="Picture 15" descr="A black line with a pointy face&#10;&#10;Description automatically generated with medium confidence">
            <a:extLst>
              <a:ext uri="{FF2B5EF4-FFF2-40B4-BE49-F238E27FC236}">
                <a16:creationId xmlns:a16="http://schemas.microsoft.com/office/drawing/2014/main" id="{080783A8-50E8-B90D-6B33-6C93A5F0EBE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7" name="Text Placeholder 2">
            <a:extLst>
              <a:ext uri="{FF2B5EF4-FFF2-40B4-BE49-F238E27FC236}">
                <a16:creationId xmlns:a16="http://schemas.microsoft.com/office/drawing/2014/main" id="{83179003-490C-809D-D793-312B68D7424C}"/>
              </a:ext>
            </a:extLst>
          </p:cNvPr>
          <p:cNvSpPr>
            <a:spLocks noGrp="1"/>
          </p:cNvSpPr>
          <p:nvPr>
            <p:ph idx="1"/>
          </p:nvPr>
        </p:nvSpPr>
        <p:spPr>
          <a:xfrm>
            <a:off x="413992" y="1313895"/>
            <a:ext cx="11444927" cy="4952736"/>
          </a:xfrm>
          <a:prstGeom prst="rect">
            <a:avLst/>
          </a:prstGeom>
        </p:spPr>
        <p:txBody>
          <a:bodyPr vert="horz" lIns="91440" tIns="45720" rIns="91440" bIns="45720" rtlCol="0">
            <a:normAutofit/>
          </a:bodyPr>
          <a:lstStyle>
            <a:lvl1pPr marL="0" indent="0">
              <a:buNone/>
              <a:defRPr/>
            </a:lvl1pPr>
            <a:lvl2pPr>
              <a:buClr>
                <a:srgbClr val="C00000"/>
              </a:buClr>
              <a:buSzPct val="115000"/>
              <a:defRPr/>
            </a:lvl2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1985431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A5713A-126C-F98F-BE50-718B5BBA6CB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6C0A17E-84FF-A9F1-C94E-DFFA41EEED9B}"/>
              </a:ext>
            </a:extLst>
          </p:cNvPr>
          <p:cNvSpPr>
            <a:spLocks noGrp="1"/>
          </p:cNvSpPr>
          <p:nvPr>
            <p:ph type="title"/>
          </p:nvPr>
        </p:nvSpPr>
        <p:spPr>
          <a:xfrm>
            <a:off x="413993" y="198671"/>
            <a:ext cx="11444926" cy="763571"/>
          </a:xfrm>
        </p:spPr>
        <p:txBody>
          <a:bodyPr/>
          <a:lstStyle>
            <a:lvl1pPr>
              <a:defRPr b="1"/>
            </a:lvl1pPr>
          </a:lstStyle>
          <a:p>
            <a:r>
              <a:rPr lang="en-GB"/>
              <a:t>Click to edit Master title style</a:t>
            </a:r>
            <a:endParaRPr lang="en-GB" dirty="0"/>
          </a:p>
        </p:txBody>
      </p:sp>
      <p:pic>
        <p:nvPicPr>
          <p:cNvPr id="16" name="Picture 15" descr="A black line with a pointy face&#10;&#10;Description automatically generated with medium confidence">
            <a:extLst>
              <a:ext uri="{FF2B5EF4-FFF2-40B4-BE49-F238E27FC236}">
                <a16:creationId xmlns:a16="http://schemas.microsoft.com/office/drawing/2014/main" id="{080783A8-50E8-B90D-6B33-6C93A5F0EBE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pic>
        <p:nvPicPr>
          <p:cNvPr id="3" name="Picture 2" descr="A white rectangular object with black dots&#10;&#10;Description automatically generated with medium confidence">
            <a:extLst>
              <a:ext uri="{FF2B5EF4-FFF2-40B4-BE49-F238E27FC236}">
                <a16:creationId xmlns:a16="http://schemas.microsoft.com/office/drawing/2014/main" id="{31F8124E-EB43-9B25-D02C-9751D130000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481240" y="518310"/>
            <a:ext cx="5229519" cy="5497053"/>
          </a:xfrm>
          <a:prstGeom prst="rect">
            <a:avLst/>
          </a:prstGeom>
        </p:spPr>
      </p:pic>
      <p:sp>
        <p:nvSpPr>
          <p:cNvPr id="17" name="Text Placeholder 2">
            <a:extLst>
              <a:ext uri="{FF2B5EF4-FFF2-40B4-BE49-F238E27FC236}">
                <a16:creationId xmlns:a16="http://schemas.microsoft.com/office/drawing/2014/main" id="{83179003-490C-809D-D793-312B68D7424C}"/>
              </a:ext>
            </a:extLst>
          </p:cNvPr>
          <p:cNvSpPr>
            <a:spLocks noGrp="1"/>
          </p:cNvSpPr>
          <p:nvPr>
            <p:ph idx="1"/>
          </p:nvPr>
        </p:nvSpPr>
        <p:spPr>
          <a:xfrm>
            <a:off x="4150681" y="2503502"/>
            <a:ext cx="3890638" cy="2947387"/>
          </a:xfrm>
          <a:prstGeom prst="rect">
            <a:avLst/>
          </a:prstGeom>
        </p:spPr>
        <p:txBody>
          <a:bodyPr vert="horz" lIns="91440" tIns="45720" rIns="91440" bIns="45720" rtlCol="0">
            <a:normAutofit/>
          </a:bodyPr>
          <a:lstStyle>
            <a:lvl1pPr marL="0" indent="0">
              <a:buNone/>
              <a:defRPr/>
            </a:lvl1pPr>
            <a:lvl2pPr>
              <a:buClr>
                <a:srgbClr val="C00000"/>
              </a:buClr>
              <a:buSzPct val="115000"/>
              <a:defRPr/>
            </a:lvl2pPr>
            <a:lvl3pPr marL="914400" indent="0">
              <a:buNone/>
              <a:defRPr/>
            </a:lvl3pPr>
          </a:lstStyle>
          <a:p>
            <a:pPr lvl="0"/>
            <a:r>
              <a:rPr lang="en-GB"/>
              <a:t>Click to edit Master text styles</a:t>
            </a:r>
          </a:p>
        </p:txBody>
      </p:sp>
    </p:spTree>
    <p:extLst>
      <p:ext uri="{BB962C8B-B14F-4D97-AF65-F5344CB8AC3E}">
        <p14:creationId xmlns:p14="http://schemas.microsoft.com/office/powerpoint/2010/main" val="3742827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actical Tas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A5713A-126C-F98F-BE50-718B5BBA6CB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6C0A17E-84FF-A9F1-C94E-DFFA41EEED9B}"/>
              </a:ext>
            </a:extLst>
          </p:cNvPr>
          <p:cNvSpPr>
            <a:spLocks noGrp="1"/>
          </p:cNvSpPr>
          <p:nvPr>
            <p:ph type="title"/>
          </p:nvPr>
        </p:nvSpPr>
        <p:spPr>
          <a:xfrm>
            <a:off x="1671589" y="89905"/>
            <a:ext cx="10187330" cy="763571"/>
          </a:xfrm>
        </p:spPr>
        <p:txBody>
          <a:bodyPr/>
          <a:lstStyle>
            <a:lvl1pPr>
              <a:defRPr b="1"/>
            </a:lvl1pPr>
          </a:lstStyle>
          <a:p>
            <a:r>
              <a:rPr lang="en-GB"/>
              <a:t>Click to edit Master title style</a:t>
            </a:r>
            <a:endParaRPr lang="en-GB" dirty="0"/>
          </a:p>
        </p:txBody>
      </p:sp>
      <p:pic>
        <p:nvPicPr>
          <p:cNvPr id="16" name="Picture 15" descr="A black line with a pointy face&#10;&#10;Description automatically generated with medium confidence">
            <a:extLst>
              <a:ext uri="{FF2B5EF4-FFF2-40B4-BE49-F238E27FC236}">
                <a16:creationId xmlns:a16="http://schemas.microsoft.com/office/drawing/2014/main" id="{080783A8-50E8-B90D-6B33-6C93A5F0EBE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7" name="Text Placeholder 2">
            <a:extLst>
              <a:ext uri="{FF2B5EF4-FFF2-40B4-BE49-F238E27FC236}">
                <a16:creationId xmlns:a16="http://schemas.microsoft.com/office/drawing/2014/main" id="{83179003-490C-809D-D793-312B68D7424C}"/>
              </a:ext>
            </a:extLst>
          </p:cNvPr>
          <p:cNvSpPr>
            <a:spLocks noGrp="1"/>
          </p:cNvSpPr>
          <p:nvPr>
            <p:ph idx="1"/>
          </p:nvPr>
        </p:nvSpPr>
        <p:spPr>
          <a:xfrm>
            <a:off x="413992" y="1313895"/>
            <a:ext cx="11444927" cy="4952736"/>
          </a:xfrm>
          <a:prstGeom prst="rect">
            <a:avLst/>
          </a:prstGeom>
        </p:spPr>
        <p:txBody>
          <a:bodyPr vert="horz" lIns="91440" tIns="45720" rIns="91440" bIns="45720" rtlCol="0">
            <a:normAutofit/>
          </a:bodyPr>
          <a:lstStyle>
            <a:lvl1pPr marL="0" indent="0">
              <a:buNone/>
              <a:defRPr/>
            </a:lvl1pPr>
            <a:lvl2pPr>
              <a:buClr>
                <a:srgbClr val="C00000"/>
              </a:buClr>
              <a:buSzPct val="115000"/>
              <a:defRPr/>
            </a:lvl2pPr>
          </a:lstStyle>
          <a:p>
            <a:pPr lvl="0"/>
            <a:r>
              <a:rPr lang="en-GB"/>
              <a:t>Click to edit Master text styles</a:t>
            </a:r>
          </a:p>
          <a:p>
            <a:pPr lvl="1"/>
            <a:r>
              <a:rPr lang="en-GB"/>
              <a:t>Second level</a:t>
            </a:r>
          </a:p>
          <a:p>
            <a:pPr lvl="2"/>
            <a:r>
              <a:rPr lang="en-GB"/>
              <a:t>Third level</a:t>
            </a:r>
          </a:p>
        </p:txBody>
      </p:sp>
      <p:pic>
        <p:nvPicPr>
          <p:cNvPr id="7" name="Picture 6" descr="A computer with a keyboard&#10;&#10;Description automatically generated">
            <a:extLst>
              <a:ext uri="{FF2B5EF4-FFF2-40B4-BE49-F238E27FC236}">
                <a16:creationId xmlns:a16="http://schemas.microsoft.com/office/drawing/2014/main" id="{D90EB9EB-35CA-B193-CB6D-E1224A36382C}"/>
              </a:ext>
            </a:extLst>
          </p:cNvPr>
          <p:cNvPicPr>
            <a:picLocks noChangeAspect="1"/>
          </p:cNvPicPr>
          <p:nvPr userDrawn="1"/>
        </p:nvPicPr>
        <p:blipFill>
          <a:blip r:embed="rId3">
            <a:clrChange>
              <a:clrFrom>
                <a:srgbClr val="FFFFFF"/>
              </a:clrFrom>
              <a:clrTo>
                <a:srgbClr val="FFFFFF">
                  <a:alpha val="0"/>
                </a:srgbClr>
              </a:clrTo>
            </a:clrChange>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flipH="1">
            <a:off x="523390" y="34649"/>
            <a:ext cx="874081" cy="874081"/>
          </a:xfrm>
          <a:prstGeom prst="rect">
            <a:avLst/>
          </a:prstGeom>
        </p:spPr>
      </p:pic>
    </p:spTree>
    <p:extLst>
      <p:ext uri="{BB962C8B-B14F-4D97-AF65-F5344CB8AC3E}">
        <p14:creationId xmlns:p14="http://schemas.microsoft.com/office/powerpoint/2010/main" val="707226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aper Tas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A5713A-126C-F98F-BE50-718B5BBA6CB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15" descr="A black line with a pointy face&#10;&#10;Description automatically generated with medium confidence">
            <a:extLst>
              <a:ext uri="{FF2B5EF4-FFF2-40B4-BE49-F238E27FC236}">
                <a16:creationId xmlns:a16="http://schemas.microsoft.com/office/drawing/2014/main" id="{080783A8-50E8-B90D-6B33-6C93A5F0EBE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pic>
        <p:nvPicPr>
          <p:cNvPr id="4" name="Picture 3" descr="A black pen with a cap&#10;&#10;Description automatically generated">
            <a:extLst>
              <a:ext uri="{FF2B5EF4-FFF2-40B4-BE49-F238E27FC236}">
                <a16:creationId xmlns:a16="http://schemas.microsoft.com/office/drawing/2014/main" id="{23553E00-1685-A73C-C4C2-17F580B6012E}"/>
              </a:ext>
            </a:extLst>
          </p:cNvPr>
          <p:cNvPicPr>
            <a:picLocks noChangeAspect="1"/>
          </p:cNvPicPr>
          <p:nvPr userDrawn="1"/>
        </p:nvPicPr>
        <p:blipFill>
          <a:blip r:embed="rId3">
            <a:clrChange>
              <a:clrFrom>
                <a:srgbClr val="FFFFFF"/>
              </a:clrFrom>
              <a:clrTo>
                <a:srgbClr val="FFFFFF">
                  <a:alpha val="0"/>
                </a:srgbClr>
              </a:clrTo>
            </a:clrChange>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507507" y="56188"/>
            <a:ext cx="831001" cy="831001"/>
          </a:xfrm>
          <a:prstGeom prst="rect">
            <a:avLst/>
          </a:prstGeom>
        </p:spPr>
      </p:pic>
      <p:sp>
        <p:nvSpPr>
          <p:cNvPr id="17" name="Text Placeholder 2">
            <a:extLst>
              <a:ext uri="{FF2B5EF4-FFF2-40B4-BE49-F238E27FC236}">
                <a16:creationId xmlns:a16="http://schemas.microsoft.com/office/drawing/2014/main" id="{83179003-490C-809D-D793-312B68D7424C}"/>
              </a:ext>
            </a:extLst>
          </p:cNvPr>
          <p:cNvSpPr>
            <a:spLocks noGrp="1"/>
          </p:cNvSpPr>
          <p:nvPr>
            <p:ph idx="1"/>
          </p:nvPr>
        </p:nvSpPr>
        <p:spPr>
          <a:xfrm>
            <a:off x="413992" y="1313895"/>
            <a:ext cx="11444927" cy="4952736"/>
          </a:xfrm>
          <a:prstGeom prst="rect">
            <a:avLst/>
          </a:prstGeom>
        </p:spPr>
        <p:txBody>
          <a:bodyPr vert="horz" lIns="91440" tIns="45720" rIns="91440" bIns="45720" rtlCol="0">
            <a:normAutofit/>
          </a:bodyPr>
          <a:lstStyle>
            <a:lvl1pPr marL="0" indent="0">
              <a:buNone/>
              <a:defRPr/>
            </a:lvl1pPr>
            <a:lvl2pPr>
              <a:buClr>
                <a:srgbClr val="C00000"/>
              </a:buClr>
              <a:buSzPct val="115000"/>
              <a:defRPr/>
            </a:lvl2pPr>
          </a:lstStyle>
          <a:p>
            <a:pPr lvl="0"/>
            <a:r>
              <a:rPr lang="en-GB"/>
              <a:t>Click to edit Master text styles</a:t>
            </a:r>
          </a:p>
          <a:p>
            <a:pPr lvl="1"/>
            <a:r>
              <a:rPr lang="en-GB"/>
              <a:t>Second level</a:t>
            </a:r>
          </a:p>
          <a:p>
            <a:pPr lvl="2"/>
            <a:r>
              <a:rPr lang="en-GB"/>
              <a:t>Third level</a:t>
            </a:r>
          </a:p>
        </p:txBody>
      </p:sp>
      <p:sp>
        <p:nvSpPr>
          <p:cNvPr id="3" name="Title 1">
            <a:extLst>
              <a:ext uri="{FF2B5EF4-FFF2-40B4-BE49-F238E27FC236}">
                <a16:creationId xmlns:a16="http://schemas.microsoft.com/office/drawing/2014/main" id="{8E8FBBBB-AC3E-C1DC-7C7D-80D22331DE68}"/>
              </a:ext>
            </a:extLst>
          </p:cNvPr>
          <p:cNvSpPr>
            <a:spLocks noGrp="1"/>
          </p:cNvSpPr>
          <p:nvPr>
            <p:ph type="title"/>
          </p:nvPr>
        </p:nvSpPr>
        <p:spPr>
          <a:xfrm>
            <a:off x="1671589" y="89905"/>
            <a:ext cx="10187330" cy="763571"/>
          </a:xfrm>
        </p:spPr>
        <p:txBody>
          <a:bodyPr/>
          <a:lstStyle>
            <a:lvl1pPr>
              <a:defRPr b="1"/>
            </a:lvl1pPr>
          </a:lstStyle>
          <a:p>
            <a:r>
              <a:rPr lang="en-GB"/>
              <a:t>Click to edit Master title style</a:t>
            </a:r>
            <a:endParaRPr lang="en-GB" dirty="0"/>
          </a:p>
        </p:txBody>
      </p:sp>
    </p:spTree>
    <p:extLst>
      <p:ext uri="{BB962C8B-B14F-4D97-AF65-F5344CB8AC3E}">
        <p14:creationId xmlns:p14="http://schemas.microsoft.com/office/powerpoint/2010/main" val="12336767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cussion Tas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A5713A-126C-F98F-BE50-718B5BBA6CB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15" descr="A black line with a pointy face&#10;&#10;Description automatically generated with medium confidence">
            <a:extLst>
              <a:ext uri="{FF2B5EF4-FFF2-40B4-BE49-F238E27FC236}">
                <a16:creationId xmlns:a16="http://schemas.microsoft.com/office/drawing/2014/main" id="{080783A8-50E8-B90D-6B33-6C93A5F0EBE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7" name="Text Placeholder 2">
            <a:extLst>
              <a:ext uri="{FF2B5EF4-FFF2-40B4-BE49-F238E27FC236}">
                <a16:creationId xmlns:a16="http://schemas.microsoft.com/office/drawing/2014/main" id="{83179003-490C-809D-D793-312B68D7424C}"/>
              </a:ext>
            </a:extLst>
          </p:cNvPr>
          <p:cNvSpPr>
            <a:spLocks noGrp="1"/>
          </p:cNvSpPr>
          <p:nvPr>
            <p:ph idx="1"/>
          </p:nvPr>
        </p:nvSpPr>
        <p:spPr>
          <a:xfrm>
            <a:off x="413992" y="1313895"/>
            <a:ext cx="11444927" cy="4952736"/>
          </a:xfrm>
          <a:prstGeom prst="rect">
            <a:avLst/>
          </a:prstGeom>
        </p:spPr>
        <p:txBody>
          <a:bodyPr vert="horz" lIns="91440" tIns="45720" rIns="91440" bIns="45720" rtlCol="0">
            <a:normAutofit/>
          </a:bodyPr>
          <a:lstStyle>
            <a:lvl1pPr marL="0" indent="0">
              <a:buNone/>
              <a:defRPr/>
            </a:lvl1pPr>
            <a:lvl2pPr>
              <a:buClr>
                <a:srgbClr val="C00000"/>
              </a:buClr>
              <a:buSzPct val="115000"/>
              <a:defRPr/>
            </a:lvl2pPr>
          </a:lstStyle>
          <a:p>
            <a:pPr lvl="0"/>
            <a:r>
              <a:rPr lang="en-GB"/>
              <a:t>Click to edit Master text styles</a:t>
            </a:r>
          </a:p>
          <a:p>
            <a:pPr lvl="1"/>
            <a:r>
              <a:rPr lang="en-GB"/>
              <a:t>Second level</a:t>
            </a:r>
          </a:p>
          <a:p>
            <a:pPr lvl="2"/>
            <a:r>
              <a:rPr lang="en-GB"/>
              <a:t>Third level</a:t>
            </a:r>
          </a:p>
        </p:txBody>
      </p:sp>
      <p:sp>
        <p:nvSpPr>
          <p:cNvPr id="3" name="Title 1">
            <a:extLst>
              <a:ext uri="{FF2B5EF4-FFF2-40B4-BE49-F238E27FC236}">
                <a16:creationId xmlns:a16="http://schemas.microsoft.com/office/drawing/2014/main" id="{8E8FBBBB-AC3E-C1DC-7C7D-80D22331DE68}"/>
              </a:ext>
            </a:extLst>
          </p:cNvPr>
          <p:cNvSpPr>
            <a:spLocks noGrp="1"/>
          </p:cNvSpPr>
          <p:nvPr>
            <p:ph type="title"/>
          </p:nvPr>
        </p:nvSpPr>
        <p:spPr>
          <a:xfrm>
            <a:off x="1671589" y="89905"/>
            <a:ext cx="10187330" cy="763571"/>
          </a:xfrm>
        </p:spPr>
        <p:txBody>
          <a:bodyPr/>
          <a:lstStyle>
            <a:lvl1pPr>
              <a:defRPr b="1"/>
            </a:lvl1pPr>
          </a:lstStyle>
          <a:p>
            <a:r>
              <a:rPr lang="en-GB"/>
              <a:t>Click to edit Master title style</a:t>
            </a:r>
            <a:endParaRPr lang="en-GB" dirty="0"/>
          </a:p>
        </p:txBody>
      </p:sp>
      <p:pic>
        <p:nvPicPr>
          <p:cNvPr id="5" name="Picture 4" descr="A black and white outline of a couple of speech bubbles&#10;&#10;Description automatically generated">
            <a:extLst>
              <a:ext uri="{FF2B5EF4-FFF2-40B4-BE49-F238E27FC236}">
                <a16:creationId xmlns:a16="http://schemas.microsoft.com/office/drawing/2014/main" id="{EEB8BB81-B4B1-2F82-6670-DB34481D0E10}"/>
              </a:ext>
            </a:extLst>
          </p:cNvPr>
          <p:cNvPicPr>
            <a:picLocks noChangeAspect="1"/>
          </p:cNvPicPr>
          <p:nvPr userDrawn="1"/>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33081" y="0"/>
            <a:ext cx="944871" cy="944871"/>
          </a:xfrm>
          <a:prstGeom prst="rect">
            <a:avLst/>
          </a:prstGeom>
        </p:spPr>
      </p:pic>
    </p:spTree>
    <p:extLst>
      <p:ext uri="{BB962C8B-B14F-4D97-AF65-F5344CB8AC3E}">
        <p14:creationId xmlns:p14="http://schemas.microsoft.com/office/powerpoint/2010/main" val="910662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FC063F6-0EE5-AAAC-3CC9-255C98F437FF}"/>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2">
            <a:extLst>
              <a:ext uri="{FF2B5EF4-FFF2-40B4-BE49-F238E27FC236}">
                <a16:creationId xmlns:a16="http://schemas.microsoft.com/office/drawing/2014/main" id="{8310735F-9F0E-A09C-0CF7-00E89B13D85A}"/>
              </a:ext>
            </a:extLst>
          </p:cNvPr>
          <p:cNvSpPr>
            <a:spLocks noGrp="1"/>
          </p:cNvSpPr>
          <p:nvPr>
            <p:ph sz="half" idx="1"/>
          </p:nvPr>
        </p:nvSpPr>
        <p:spPr>
          <a:xfrm>
            <a:off x="413992" y="1313890"/>
            <a:ext cx="5635673" cy="4952737"/>
          </a:xfrm>
        </p:spPr>
        <p:txBody>
          <a:bodyPr/>
          <a:lstStyle>
            <a:lvl1pPr marL="0" indent="0">
              <a:buNone/>
              <a:defRPr/>
            </a:lvl1pPr>
            <a:lvl2pPr marL="685800" indent="-228600">
              <a:defRPr lang="en-GB" sz="3200" kern="1200" dirty="0">
                <a:solidFill>
                  <a:srgbClr val="002570"/>
                </a:solidFill>
                <a:latin typeface="OpenDyslexicAlta" panose="00000500000000000000" pitchFamily="50" charset="0"/>
                <a:ea typeface="+mn-ea"/>
                <a:cs typeface="+mn-cs"/>
              </a:defRPr>
            </a:lvl2pPr>
          </a:lstStyle>
          <a:p>
            <a:pPr lvl="0"/>
            <a:r>
              <a:rPr lang="en-GB"/>
              <a:t>Click to edit Master text styles</a:t>
            </a:r>
          </a:p>
          <a:p>
            <a:pPr lvl="1"/>
            <a:r>
              <a:rPr lang="en-GB"/>
              <a:t>Second level</a:t>
            </a:r>
          </a:p>
          <a:p>
            <a:pPr lvl="2"/>
            <a:r>
              <a:rPr lang="en-GB"/>
              <a:t>Third level</a:t>
            </a:r>
          </a:p>
        </p:txBody>
      </p:sp>
      <p:sp>
        <p:nvSpPr>
          <p:cNvPr id="4" name="Content Placeholder 3">
            <a:extLst>
              <a:ext uri="{FF2B5EF4-FFF2-40B4-BE49-F238E27FC236}">
                <a16:creationId xmlns:a16="http://schemas.microsoft.com/office/drawing/2014/main" id="{E0B7DE29-8D35-8F81-F97D-29C023AE4EEE}"/>
              </a:ext>
            </a:extLst>
          </p:cNvPr>
          <p:cNvSpPr>
            <a:spLocks noGrp="1"/>
          </p:cNvSpPr>
          <p:nvPr>
            <p:ph sz="half" idx="2"/>
          </p:nvPr>
        </p:nvSpPr>
        <p:spPr>
          <a:xfrm>
            <a:off x="6223247" y="1313890"/>
            <a:ext cx="5635673" cy="4952739"/>
          </a:xfrm>
        </p:spPr>
        <p:txBody>
          <a:bodyPr/>
          <a:lstStyle>
            <a:lvl1pPr marL="0" indent="0">
              <a:buNone/>
              <a:defRPr/>
            </a:lvl1pPr>
            <a:lvl2pPr marL="685800" indent="-228600">
              <a:defRPr lang="en-GB" sz="3200" kern="1200" dirty="0">
                <a:solidFill>
                  <a:srgbClr val="002570"/>
                </a:solidFill>
                <a:latin typeface="OpenDyslexicAlta" panose="00000500000000000000" pitchFamily="50" charset="0"/>
                <a:ea typeface="+mn-ea"/>
                <a:cs typeface="+mn-cs"/>
              </a:defRPr>
            </a:lvl2pPr>
          </a:lstStyle>
          <a:p>
            <a:pPr lvl="0"/>
            <a:r>
              <a:rPr lang="en-GB"/>
              <a:t>Click to edit Master text styles</a:t>
            </a:r>
          </a:p>
          <a:p>
            <a:pPr lvl="1"/>
            <a:r>
              <a:rPr lang="en-GB"/>
              <a:t>Second level</a:t>
            </a:r>
          </a:p>
        </p:txBody>
      </p:sp>
      <p:pic>
        <p:nvPicPr>
          <p:cNvPr id="13" name="Picture 12" descr="A black line with a pointy face&#10;&#10;Description automatically generated with medium confidence">
            <a:extLst>
              <a:ext uri="{FF2B5EF4-FFF2-40B4-BE49-F238E27FC236}">
                <a16:creationId xmlns:a16="http://schemas.microsoft.com/office/drawing/2014/main" id="{8087F63A-1EA4-664A-4548-C3086100B94B}"/>
              </a:ext>
            </a:extLst>
          </p:cNvPr>
          <p:cNvPicPr>
            <a:picLocks noChangeAspect="1"/>
          </p:cNvPicPr>
          <p:nvPr userDrawn="1"/>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4" name="Title 1">
            <a:extLst>
              <a:ext uri="{FF2B5EF4-FFF2-40B4-BE49-F238E27FC236}">
                <a16:creationId xmlns:a16="http://schemas.microsoft.com/office/drawing/2014/main" id="{4A6B3F91-A53F-3877-C3BE-6E52402D8056}"/>
              </a:ext>
            </a:extLst>
          </p:cNvPr>
          <p:cNvSpPr>
            <a:spLocks noGrp="1"/>
          </p:cNvSpPr>
          <p:nvPr>
            <p:ph type="title"/>
          </p:nvPr>
        </p:nvSpPr>
        <p:spPr>
          <a:xfrm>
            <a:off x="413992" y="198671"/>
            <a:ext cx="11444927" cy="763571"/>
          </a:xfrm>
        </p:spPr>
        <p:txBody>
          <a:bodyPr/>
          <a:lstStyle>
            <a:lvl1pPr>
              <a:defRPr b="1"/>
            </a:lvl1pPr>
          </a:lstStyle>
          <a:p>
            <a:r>
              <a:rPr lang="en-GB"/>
              <a:t>Click to edit Master title style</a:t>
            </a:r>
            <a:endParaRPr lang="en-GB" dirty="0"/>
          </a:p>
        </p:txBody>
      </p:sp>
    </p:spTree>
    <p:extLst>
      <p:ext uri="{BB962C8B-B14F-4D97-AF65-F5344CB8AC3E}">
        <p14:creationId xmlns:p14="http://schemas.microsoft.com/office/powerpoint/2010/main" val="764404505"/>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6" name="Rectangle 8">
            <a:extLst>
              <a:ext uri="{FF2B5EF4-FFF2-40B4-BE49-F238E27FC236}">
                <a16:creationId xmlns:a16="http://schemas.microsoft.com/office/drawing/2014/main" id="{505C2B80-4160-4381-751B-A34DADCB3B00}"/>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2">
            <a:extLst>
              <a:ext uri="{FF2B5EF4-FFF2-40B4-BE49-F238E27FC236}">
                <a16:creationId xmlns:a16="http://schemas.microsoft.com/office/drawing/2014/main" id="{C54E5830-5177-BEC2-17FC-C20BB5A3B9D6}"/>
              </a:ext>
            </a:extLst>
          </p:cNvPr>
          <p:cNvSpPr>
            <a:spLocks noGrp="1"/>
          </p:cNvSpPr>
          <p:nvPr>
            <p:ph sz="half" idx="10"/>
          </p:nvPr>
        </p:nvSpPr>
        <p:spPr>
          <a:xfrm>
            <a:off x="413992" y="2308190"/>
            <a:ext cx="5635673" cy="3958438"/>
          </a:xfrm>
        </p:spPr>
        <p:txBody>
          <a:bodyPr>
            <a:normAutofit/>
          </a:bodyPr>
          <a:lstStyle>
            <a:lvl1pPr marL="0" indent="0">
              <a:buNone/>
              <a:defRPr sz="3200"/>
            </a:lvl1pPr>
            <a:lvl2pPr marL="685800" indent="-228600">
              <a:defRPr lang="en-GB" sz="3200" kern="1200" dirty="0">
                <a:solidFill>
                  <a:srgbClr val="002570"/>
                </a:solidFill>
                <a:latin typeface="OpenDyslexicAlta" panose="00000500000000000000" pitchFamily="50" charset="0"/>
                <a:ea typeface="+mn-ea"/>
                <a:cs typeface="+mn-cs"/>
              </a:defRPr>
            </a:lvl2pPr>
            <a:lvl3pPr>
              <a:defRPr sz="2400"/>
            </a:lvl3pPr>
            <a:lvl4pPr>
              <a:defRPr sz="2000"/>
            </a:lvl4pPr>
            <a:lvl5pPr>
              <a:defRPr sz="2000"/>
            </a:lvl5pPr>
          </a:lstStyle>
          <a:p>
            <a:pPr lvl="0"/>
            <a:r>
              <a:rPr lang="en-GB"/>
              <a:t>Click to edit Master text styles</a:t>
            </a:r>
          </a:p>
          <a:p>
            <a:pPr lvl="1"/>
            <a:r>
              <a:rPr lang="en-GB"/>
              <a:t>Second level</a:t>
            </a:r>
          </a:p>
        </p:txBody>
      </p:sp>
      <p:sp>
        <p:nvSpPr>
          <p:cNvPr id="14" name="Content Placeholder 3">
            <a:extLst>
              <a:ext uri="{FF2B5EF4-FFF2-40B4-BE49-F238E27FC236}">
                <a16:creationId xmlns:a16="http://schemas.microsoft.com/office/drawing/2014/main" id="{20C6DAD7-F485-8649-8094-4915CBAD34DD}"/>
              </a:ext>
            </a:extLst>
          </p:cNvPr>
          <p:cNvSpPr>
            <a:spLocks noGrp="1"/>
          </p:cNvSpPr>
          <p:nvPr>
            <p:ph sz="half" idx="2"/>
          </p:nvPr>
        </p:nvSpPr>
        <p:spPr>
          <a:xfrm>
            <a:off x="6223247" y="2308189"/>
            <a:ext cx="5635673" cy="3958439"/>
          </a:xfrm>
        </p:spPr>
        <p:txBody>
          <a:bodyPr>
            <a:normAutofit/>
          </a:bodyPr>
          <a:lstStyle>
            <a:lvl1pPr marL="0" indent="0">
              <a:buNone/>
              <a:defRPr sz="2800"/>
            </a:lvl1pPr>
            <a:lvl2pPr marL="685800" indent="-228600">
              <a:defRPr lang="en-GB" sz="3200" kern="1200" dirty="0">
                <a:solidFill>
                  <a:srgbClr val="002570"/>
                </a:solidFill>
                <a:latin typeface="OpenDyslexicAlta" panose="00000500000000000000" pitchFamily="50" charset="0"/>
                <a:ea typeface="+mn-ea"/>
                <a:cs typeface="+mn-cs"/>
              </a:defRPr>
            </a:lvl2pPr>
            <a:lvl3pPr marL="914400" indent="0">
              <a:buNone/>
              <a:defRPr sz="2000"/>
            </a:lvl3pPr>
            <a:lvl4pPr>
              <a:defRPr sz="1800"/>
            </a:lvl4pPr>
            <a:lvl5pPr>
              <a:defRPr sz="1800"/>
            </a:lvl5pPr>
          </a:lstStyle>
          <a:p>
            <a:pPr lvl="0"/>
            <a:r>
              <a:rPr lang="en-GB"/>
              <a:t>Click to edit Master text styles</a:t>
            </a:r>
          </a:p>
          <a:p>
            <a:pPr lvl="1"/>
            <a:r>
              <a:rPr lang="en-GB"/>
              <a:t>Second level</a:t>
            </a:r>
          </a:p>
        </p:txBody>
      </p:sp>
      <p:sp>
        <p:nvSpPr>
          <p:cNvPr id="3" name="Text Placeholder 2">
            <a:extLst>
              <a:ext uri="{FF2B5EF4-FFF2-40B4-BE49-F238E27FC236}">
                <a16:creationId xmlns:a16="http://schemas.microsoft.com/office/drawing/2014/main" id="{5D6F6873-5066-9CBE-31A3-8947B94AA3C6}"/>
              </a:ext>
            </a:extLst>
          </p:cNvPr>
          <p:cNvSpPr>
            <a:spLocks noGrp="1"/>
          </p:cNvSpPr>
          <p:nvPr>
            <p:ph type="body" idx="1"/>
          </p:nvPr>
        </p:nvSpPr>
        <p:spPr>
          <a:xfrm>
            <a:off x="413992" y="1313892"/>
            <a:ext cx="5635673" cy="825626"/>
          </a:xfrm>
        </p:spPr>
        <p:txBody>
          <a:bodyPr anchor="ctr">
            <a:no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5" name="Text Placeholder 4">
            <a:extLst>
              <a:ext uri="{FF2B5EF4-FFF2-40B4-BE49-F238E27FC236}">
                <a16:creationId xmlns:a16="http://schemas.microsoft.com/office/drawing/2014/main" id="{3818A2E8-94EF-3974-C0EC-C97DD5650D8A}"/>
              </a:ext>
            </a:extLst>
          </p:cNvPr>
          <p:cNvSpPr>
            <a:spLocks noGrp="1"/>
          </p:cNvSpPr>
          <p:nvPr>
            <p:ph type="body" sz="quarter" idx="3"/>
          </p:nvPr>
        </p:nvSpPr>
        <p:spPr>
          <a:xfrm>
            <a:off x="6232125" y="1313892"/>
            <a:ext cx="5626795" cy="825626"/>
          </a:xfrm>
        </p:spPr>
        <p:txBody>
          <a:bodyPr anchor="ctr">
            <a:no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pic>
        <p:nvPicPr>
          <p:cNvPr id="18" name="Picture 17" descr="A black line with a pointy face&#10;&#10;Description automatically generated with medium confidence">
            <a:extLst>
              <a:ext uri="{FF2B5EF4-FFF2-40B4-BE49-F238E27FC236}">
                <a16:creationId xmlns:a16="http://schemas.microsoft.com/office/drawing/2014/main" id="{71F6B3FE-228E-A800-6AF6-E4388756599A}"/>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9" name="Title 1">
            <a:extLst>
              <a:ext uri="{FF2B5EF4-FFF2-40B4-BE49-F238E27FC236}">
                <a16:creationId xmlns:a16="http://schemas.microsoft.com/office/drawing/2014/main" id="{41280ABC-EFFB-3E34-0F02-FE8B134DEA1C}"/>
              </a:ext>
            </a:extLst>
          </p:cNvPr>
          <p:cNvSpPr>
            <a:spLocks noGrp="1"/>
          </p:cNvSpPr>
          <p:nvPr>
            <p:ph type="title"/>
          </p:nvPr>
        </p:nvSpPr>
        <p:spPr>
          <a:xfrm>
            <a:off x="413992" y="198671"/>
            <a:ext cx="11444927" cy="763571"/>
          </a:xfrm>
        </p:spPr>
        <p:txBody>
          <a:bodyPr/>
          <a:lstStyle>
            <a:lvl1pPr>
              <a:defRPr b="1"/>
            </a:lvl1pPr>
          </a:lstStyle>
          <a:p>
            <a:r>
              <a:rPr lang="en-GB"/>
              <a:t>Click to edit Master title style</a:t>
            </a:r>
            <a:endParaRPr lang="en-GB" dirty="0"/>
          </a:p>
        </p:txBody>
      </p:sp>
    </p:spTree>
    <p:extLst>
      <p:ext uri="{BB962C8B-B14F-4D97-AF65-F5344CB8AC3E}">
        <p14:creationId xmlns:p14="http://schemas.microsoft.com/office/powerpoint/2010/main" val="2708659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41A4115-2704-1EF9-388A-425081E5470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descr="A black line with a pointy face&#10;&#10;Description automatically generated with medium confidence">
            <a:extLst>
              <a:ext uri="{FF2B5EF4-FFF2-40B4-BE49-F238E27FC236}">
                <a16:creationId xmlns:a16="http://schemas.microsoft.com/office/drawing/2014/main" id="{A6CEE2C1-575B-AC39-905A-F03B14DEAF1E}"/>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2" name="Title 1">
            <a:extLst>
              <a:ext uri="{FF2B5EF4-FFF2-40B4-BE49-F238E27FC236}">
                <a16:creationId xmlns:a16="http://schemas.microsoft.com/office/drawing/2014/main" id="{44DE5943-EE5E-C183-E7D2-83A09533C4E0}"/>
              </a:ext>
            </a:extLst>
          </p:cNvPr>
          <p:cNvSpPr>
            <a:spLocks noGrp="1"/>
          </p:cNvSpPr>
          <p:nvPr>
            <p:ph type="title"/>
          </p:nvPr>
        </p:nvSpPr>
        <p:spPr>
          <a:xfrm>
            <a:off x="413993" y="198671"/>
            <a:ext cx="11455452" cy="763571"/>
          </a:xfrm>
        </p:spPr>
        <p:txBody>
          <a:bodyPr/>
          <a:lstStyle>
            <a:lvl1pPr>
              <a:defRPr b="1"/>
            </a:lvl1pPr>
          </a:lstStyle>
          <a:p>
            <a:r>
              <a:rPr lang="en-GB"/>
              <a:t>Click to edit Master title style</a:t>
            </a:r>
            <a:endParaRPr lang="en-GB" dirty="0"/>
          </a:p>
        </p:txBody>
      </p:sp>
    </p:spTree>
    <p:extLst>
      <p:ext uri="{BB962C8B-B14F-4D97-AF65-F5344CB8AC3E}">
        <p14:creationId xmlns:p14="http://schemas.microsoft.com/office/powerpoint/2010/main" val="3836339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with Logo">
    <p:spTree>
      <p:nvGrpSpPr>
        <p:cNvPr id="1" name=""/>
        <p:cNvGrpSpPr/>
        <p:nvPr/>
      </p:nvGrpSpPr>
      <p:grpSpPr>
        <a:xfrm>
          <a:off x="0" y="0"/>
          <a:ext cx="0" cy="0"/>
          <a:chOff x="0" y="0"/>
          <a:chExt cx="0" cy="0"/>
        </a:xfrm>
      </p:grpSpPr>
      <p:pic>
        <p:nvPicPr>
          <p:cNvPr id="8" name="Picture 7" descr="A black line with a pointy face&#10;&#10;Description automatically generated with medium confidence">
            <a:extLst>
              <a:ext uri="{FF2B5EF4-FFF2-40B4-BE49-F238E27FC236}">
                <a16:creationId xmlns:a16="http://schemas.microsoft.com/office/drawing/2014/main" id="{43D123E1-2520-9FE4-B3F5-4770893FC891}"/>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Tree>
    <p:extLst>
      <p:ext uri="{BB962C8B-B14F-4D97-AF65-F5344CB8AC3E}">
        <p14:creationId xmlns:p14="http://schemas.microsoft.com/office/powerpoint/2010/main" val="716321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without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44742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pyright">
    <p:spTree>
      <p:nvGrpSpPr>
        <p:cNvPr id="1" name=""/>
        <p:cNvGrpSpPr/>
        <p:nvPr/>
      </p:nvGrpSpPr>
      <p:grpSpPr>
        <a:xfrm>
          <a:off x="0" y="0"/>
          <a:ext cx="0" cy="0"/>
          <a:chOff x="0" y="0"/>
          <a:chExt cx="0" cy="0"/>
        </a:xfrm>
      </p:grpSpPr>
      <p:pic>
        <p:nvPicPr>
          <p:cNvPr id="3" name="Picture 2" descr="A close-up of a document&#10;&#10;Description automatically generated">
            <a:extLst>
              <a:ext uri="{FF2B5EF4-FFF2-40B4-BE49-F238E27FC236}">
                <a16:creationId xmlns:a16="http://schemas.microsoft.com/office/drawing/2014/main" id="{041E3DC7-C04A-F8E9-4E3A-E2935615897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8301"/>
          <a:stretch/>
        </p:blipFill>
        <p:spPr>
          <a:xfrm>
            <a:off x="0" y="1255058"/>
            <a:ext cx="12192000" cy="5602941"/>
          </a:xfrm>
          <a:prstGeom prst="rect">
            <a:avLst/>
          </a:prstGeom>
        </p:spPr>
      </p:pic>
      <p:sp>
        <p:nvSpPr>
          <p:cNvPr id="5" name="Text Placeholder 4">
            <a:extLst>
              <a:ext uri="{FF2B5EF4-FFF2-40B4-BE49-F238E27FC236}">
                <a16:creationId xmlns:a16="http://schemas.microsoft.com/office/drawing/2014/main" id="{F0B0DCFE-B0FF-4E6E-A7D3-D647C7B06B1C}"/>
              </a:ext>
            </a:extLst>
          </p:cNvPr>
          <p:cNvSpPr>
            <a:spLocks noGrp="1"/>
          </p:cNvSpPr>
          <p:nvPr>
            <p:ph type="body" sz="quarter" idx="10"/>
          </p:nvPr>
        </p:nvSpPr>
        <p:spPr>
          <a:xfrm>
            <a:off x="1259541" y="5969934"/>
            <a:ext cx="9672918" cy="574675"/>
          </a:xfrm>
        </p:spPr>
        <p:txBody>
          <a:bodyPr>
            <a:normAutofit/>
          </a:bodyPr>
          <a:lstStyle>
            <a:lvl1pPr marL="0" indent="0" algn="ctr">
              <a:buNone/>
              <a:defRPr sz="2800">
                <a:solidFill>
                  <a:srgbClr val="C00000"/>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GB"/>
              <a:t>Click to edit Master text styles</a:t>
            </a:r>
          </a:p>
        </p:txBody>
      </p:sp>
      <p:sp>
        <p:nvSpPr>
          <p:cNvPr id="6" name="Rectangle 8">
            <a:extLst>
              <a:ext uri="{FF2B5EF4-FFF2-40B4-BE49-F238E27FC236}">
                <a16:creationId xmlns:a16="http://schemas.microsoft.com/office/drawing/2014/main" id="{5795545D-231C-FDCB-8BDA-55C729529025}"/>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itle 1">
            <a:extLst>
              <a:ext uri="{FF2B5EF4-FFF2-40B4-BE49-F238E27FC236}">
                <a16:creationId xmlns:a16="http://schemas.microsoft.com/office/drawing/2014/main" id="{D17830B5-81EF-08EE-0D51-086C891343B1}"/>
              </a:ext>
            </a:extLst>
          </p:cNvPr>
          <p:cNvSpPr>
            <a:spLocks noGrp="1"/>
          </p:cNvSpPr>
          <p:nvPr>
            <p:ph type="title"/>
          </p:nvPr>
        </p:nvSpPr>
        <p:spPr>
          <a:xfrm>
            <a:off x="413993" y="198671"/>
            <a:ext cx="10515600" cy="763571"/>
          </a:xfrm>
        </p:spPr>
        <p:txBody>
          <a:bodyPr/>
          <a:lstStyle>
            <a:lvl1pPr>
              <a:defRPr b="1"/>
            </a:lvl1pPr>
          </a:lstStyle>
          <a:p>
            <a:r>
              <a:rPr lang="en-GB"/>
              <a:t>Click to edit Master title style</a:t>
            </a:r>
            <a:endParaRPr lang="en-GB" dirty="0"/>
          </a:p>
        </p:txBody>
      </p:sp>
    </p:spTree>
    <p:extLst>
      <p:ext uri="{BB962C8B-B14F-4D97-AF65-F5344CB8AC3E}">
        <p14:creationId xmlns:p14="http://schemas.microsoft.com/office/powerpoint/2010/main" val="788450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E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16DFD2-1DEA-8D22-4791-DE55801F9A2B}"/>
              </a:ext>
            </a:extLst>
          </p:cNvPr>
          <p:cNvSpPr>
            <a:spLocks noGrp="1"/>
          </p:cNvSpPr>
          <p:nvPr>
            <p:ph type="title"/>
          </p:nvPr>
        </p:nvSpPr>
        <p:spPr>
          <a:xfrm>
            <a:off x="413993" y="136525"/>
            <a:ext cx="10515600" cy="763571"/>
          </a:xfrm>
          <a:prstGeom prst="rect">
            <a:avLst/>
          </a:prstGeom>
        </p:spPr>
        <p:txBody>
          <a:bodyPr vert="horz" lIns="91440" tIns="45720" rIns="91440" bIns="45720" rtlCol="0" anchor="ctr">
            <a:no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9CDDF7BB-0A96-D666-6992-98AEF317A714}"/>
              </a:ext>
            </a:extLst>
          </p:cNvPr>
          <p:cNvSpPr>
            <a:spLocks noGrp="1"/>
          </p:cNvSpPr>
          <p:nvPr>
            <p:ph type="body" idx="1"/>
          </p:nvPr>
        </p:nvSpPr>
        <p:spPr>
          <a:xfrm>
            <a:off x="413992" y="1313895"/>
            <a:ext cx="11444927" cy="4952736"/>
          </a:xfrm>
          <a:prstGeom prst="rect">
            <a:avLst/>
          </a:prstGeom>
        </p:spPr>
        <p:txBody>
          <a:bodyPr vert="horz" lIns="91440" tIns="45720" rIns="91440" bIns="45720" rtlCol="0">
            <a:normAutofit/>
          </a:bodyPr>
          <a:lstStyle/>
          <a:p>
            <a:pPr lvl="0"/>
            <a:r>
              <a:rPr lang="en-GB" dirty="0"/>
              <a:t>Click to edit Master text styles</a:t>
            </a:r>
          </a:p>
          <a:p>
            <a:pPr marL="685800" lvl="1" indent="-228600" algn="l" defTabSz="914400" rtl="0" eaLnBrk="1" latinLnBrk="0" hangingPunct="1">
              <a:lnSpc>
                <a:spcPct val="90000"/>
              </a:lnSpc>
              <a:spcBef>
                <a:spcPts val="500"/>
              </a:spcBef>
              <a:spcAft>
                <a:spcPts val="1800"/>
              </a:spcAft>
              <a:buClr>
                <a:srgbClr val="C00000"/>
              </a:buClr>
              <a:buSzPct val="115000"/>
              <a:buFont typeface="Arial" panose="020B0604020202020204" pitchFamily="34" charset="0"/>
              <a:buChar char="•"/>
            </a:pPr>
            <a:r>
              <a:rPr lang="en-GB" dirty="0"/>
              <a:t>Second level</a:t>
            </a:r>
          </a:p>
        </p:txBody>
      </p:sp>
      <p:sp>
        <p:nvSpPr>
          <p:cNvPr id="4" name="TextBox 3">
            <a:extLst>
              <a:ext uri="{FF2B5EF4-FFF2-40B4-BE49-F238E27FC236}">
                <a16:creationId xmlns:a16="http://schemas.microsoft.com/office/drawing/2014/main" id="{AD94F074-8FD9-0C27-50BF-7632BF6FFAB0}"/>
              </a:ext>
            </a:extLst>
          </p:cNvPr>
          <p:cNvSpPr txBox="1"/>
          <p:nvPr userDrawn="1"/>
        </p:nvSpPr>
        <p:spPr>
          <a:xfrm rot="16200000">
            <a:off x="11757747" y="6208302"/>
            <a:ext cx="1083951" cy="215444"/>
          </a:xfrm>
          <a:prstGeom prst="rect">
            <a:avLst/>
          </a:prstGeom>
          <a:noFill/>
        </p:spPr>
        <p:txBody>
          <a:bodyPr wrap="none" rtlCol="0">
            <a:spAutoFit/>
          </a:bodyPr>
          <a:lstStyle/>
          <a:p>
            <a:r>
              <a:rPr lang="en-GB" sz="800" dirty="0">
                <a:solidFill>
                  <a:schemeClr val="bg2"/>
                </a:solidFill>
              </a:rPr>
              <a:t>© Nichola Wilkin Ltd</a:t>
            </a:r>
          </a:p>
        </p:txBody>
      </p:sp>
    </p:spTree>
    <p:extLst>
      <p:ext uri="{BB962C8B-B14F-4D97-AF65-F5344CB8AC3E}">
        <p14:creationId xmlns:p14="http://schemas.microsoft.com/office/powerpoint/2010/main" val="3666903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4" r:id="rId3"/>
    <p:sldLayoutId id="2147483662" r:id="rId4"/>
    <p:sldLayoutId id="2147483663" r:id="rId5"/>
    <p:sldLayoutId id="2147483665" r:id="rId6"/>
    <p:sldLayoutId id="2147483652" r:id="rId7"/>
    <p:sldLayoutId id="2147483653" r:id="rId8"/>
    <p:sldLayoutId id="2147483654" r:id="rId9"/>
    <p:sldLayoutId id="2147483655" r:id="rId10"/>
    <p:sldLayoutId id="2147483656" r:id="rId11"/>
    <p:sldLayoutId id="2147483657" r:id="rId12"/>
  </p:sldLayoutIdLst>
  <p:txStyles>
    <p:titleStyle>
      <a:lvl1pPr algn="l" defTabSz="914400" rtl="0" eaLnBrk="1" latinLnBrk="0" hangingPunct="1">
        <a:lnSpc>
          <a:spcPct val="90000"/>
        </a:lnSpc>
        <a:spcBef>
          <a:spcPct val="0"/>
        </a:spcBef>
        <a:buNone/>
        <a:defRPr sz="4800" b="1" kern="1200">
          <a:solidFill>
            <a:srgbClr val="002570"/>
          </a:solidFill>
          <a:latin typeface="OpenDyslexicAlta" panose="00000500000000000000" pitchFamily="50" charset="0"/>
          <a:ea typeface="+mj-ea"/>
          <a:cs typeface="+mj-cs"/>
        </a:defRPr>
      </a:lvl1pPr>
    </p:titleStyle>
    <p:bodyStyle>
      <a:lvl1pPr marL="0" indent="0" algn="l" defTabSz="914400" rtl="0" eaLnBrk="1" latinLnBrk="0" hangingPunct="1">
        <a:lnSpc>
          <a:spcPct val="90000"/>
        </a:lnSpc>
        <a:spcBef>
          <a:spcPts val="1000"/>
        </a:spcBef>
        <a:spcAft>
          <a:spcPts val="1800"/>
        </a:spcAft>
        <a:buFont typeface="Arial" panose="020B0604020202020204" pitchFamily="34" charset="0"/>
        <a:buNone/>
        <a:defRPr sz="3600" kern="1200">
          <a:solidFill>
            <a:srgbClr val="002570"/>
          </a:solidFill>
          <a:latin typeface="OpenDyslexicAlta" panose="00000500000000000000" pitchFamily="50" charset="0"/>
          <a:ea typeface="+mn-ea"/>
          <a:cs typeface="+mn-cs"/>
        </a:defRPr>
      </a:lvl1pPr>
      <a:lvl2pPr marL="685800" indent="-228600" algn="l" defTabSz="914400" rtl="0" eaLnBrk="1" latinLnBrk="0" hangingPunct="1">
        <a:lnSpc>
          <a:spcPct val="90000"/>
        </a:lnSpc>
        <a:spcBef>
          <a:spcPts val="500"/>
        </a:spcBef>
        <a:spcAft>
          <a:spcPts val="1800"/>
        </a:spcAft>
        <a:buFont typeface="Arial" panose="020B0604020202020204" pitchFamily="34" charset="0"/>
        <a:buChar char="•"/>
        <a:defRPr lang="en-GB" sz="3200" kern="1200" dirty="0">
          <a:solidFill>
            <a:srgbClr val="002570"/>
          </a:solidFill>
          <a:latin typeface="OpenDyslexicAlta" panose="00000500000000000000" pitchFamily="50" charset="0"/>
          <a:ea typeface="+mn-ea"/>
          <a:cs typeface="+mn-cs"/>
        </a:defRPr>
      </a:lvl2pPr>
      <a:lvl3pPr marL="1143000" indent="-228600" algn="l" defTabSz="914400" rtl="0" eaLnBrk="1" latinLnBrk="0" hangingPunct="1">
        <a:lnSpc>
          <a:spcPct val="90000"/>
        </a:lnSpc>
        <a:spcBef>
          <a:spcPts val="500"/>
        </a:spcBef>
        <a:spcAft>
          <a:spcPts val="1800"/>
        </a:spcAft>
        <a:buFont typeface="Arial" panose="020B0604020202020204" pitchFamily="34" charset="0"/>
        <a:buChar char="•"/>
        <a:defRPr sz="2800" kern="1200">
          <a:solidFill>
            <a:srgbClr val="002570"/>
          </a:solidFill>
          <a:latin typeface="OpenDyslexicAlta" panose="00000500000000000000" pitchFamily="50" charset="0"/>
          <a:ea typeface="+mn-ea"/>
          <a:cs typeface="+mn-cs"/>
        </a:defRPr>
      </a:lvl3pPr>
      <a:lvl4pPr marL="1600200" indent="-228600" algn="l" defTabSz="914400" rtl="0" eaLnBrk="1" latinLnBrk="0" hangingPunct="1">
        <a:lnSpc>
          <a:spcPct val="90000"/>
        </a:lnSpc>
        <a:spcBef>
          <a:spcPts val="500"/>
        </a:spcBef>
        <a:spcAft>
          <a:spcPts val="1800"/>
        </a:spcAft>
        <a:buFont typeface="Arial" panose="020B0604020202020204" pitchFamily="34" charset="0"/>
        <a:buChar char="•"/>
        <a:defRPr sz="2400" kern="1200">
          <a:solidFill>
            <a:srgbClr val="002570"/>
          </a:solidFill>
          <a:latin typeface="OpenDyslexicAlta" panose="00000500000000000000" pitchFamily="50" charset="0"/>
          <a:ea typeface="+mn-ea"/>
          <a:cs typeface="+mn-cs"/>
        </a:defRPr>
      </a:lvl4pPr>
      <a:lvl5pPr marL="2057400" indent="-228600" algn="l" defTabSz="914400" rtl="0" eaLnBrk="1" latinLnBrk="0" hangingPunct="1">
        <a:lnSpc>
          <a:spcPct val="90000"/>
        </a:lnSpc>
        <a:spcBef>
          <a:spcPts val="500"/>
        </a:spcBef>
        <a:spcAft>
          <a:spcPts val="1800"/>
        </a:spcAft>
        <a:buFont typeface="Arial" panose="020B0604020202020204" pitchFamily="34" charset="0"/>
        <a:buChar char="•"/>
        <a:defRPr sz="2400" kern="1200">
          <a:solidFill>
            <a:srgbClr val="002570"/>
          </a:solidFill>
          <a:latin typeface="OpenDyslexicAlta"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22" userDrawn="1">
          <p15:clr>
            <a:srgbClr val="F26B43"/>
          </p15:clr>
        </p15:guide>
        <p15:guide id="2" pos="11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www.nicholawilkin.com/terms"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184CF-D39A-F54C-E3BD-2F32E4670282}"/>
              </a:ext>
            </a:extLst>
          </p:cNvPr>
          <p:cNvSpPr>
            <a:spLocks noGrp="1"/>
          </p:cNvSpPr>
          <p:nvPr>
            <p:ph type="ctrTitle"/>
          </p:nvPr>
        </p:nvSpPr>
        <p:spPr/>
        <p:txBody>
          <a:bodyPr/>
          <a:lstStyle/>
          <a:p>
            <a:r>
              <a:rPr lang="en-GB" noProof="0" dirty="0"/>
              <a:t>Dark web and cybercrime</a:t>
            </a:r>
          </a:p>
        </p:txBody>
      </p:sp>
      <p:sp>
        <p:nvSpPr>
          <p:cNvPr id="3" name="Subtitle 2">
            <a:extLst>
              <a:ext uri="{FF2B5EF4-FFF2-40B4-BE49-F238E27FC236}">
                <a16:creationId xmlns:a16="http://schemas.microsoft.com/office/drawing/2014/main" id="{F4C41960-3132-52E1-575A-55A2633DED4E}"/>
              </a:ext>
            </a:extLst>
          </p:cNvPr>
          <p:cNvSpPr>
            <a:spLocks noGrp="1"/>
          </p:cNvSpPr>
          <p:nvPr>
            <p:ph type="subTitle" idx="1"/>
          </p:nvPr>
        </p:nvSpPr>
        <p:spPr/>
        <p:txBody>
          <a:bodyPr/>
          <a:lstStyle/>
          <a:p>
            <a:r>
              <a:rPr lang="en-GB" b="1" noProof="0" dirty="0"/>
              <a:t>Unit: </a:t>
            </a:r>
            <a:r>
              <a:rPr lang="en-GB" noProof="0" dirty="0"/>
              <a:t>Cyber threats</a:t>
            </a:r>
          </a:p>
        </p:txBody>
      </p:sp>
    </p:spTree>
    <p:extLst>
      <p:ext uri="{BB962C8B-B14F-4D97-AF65-F5344CB8AC3E}">
        <p14:creationId xmlns:p14="http://schemas.microsoft.com/office/powerpoint/2010/main" val="42038955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02ABF-1189-622D-C67C-DBF8F48DC098}"/>
              </a:ext>
            </a:extLst>
          </p:cNvPr>
          <p:cNvSpPr>
            <a:spLocks noGrp="1"/>
          </p:cNvSpPr>
          <p:nvPr>
            <p:ph type="title"/>
          </p:nvPr>
        </p:nvSpPr>
        <p:spPr/>
        <p:txBody>
          <a:bodyPr/>
          <a:lstStyle/>
          <a:p>
            <a:r>
              <a:rPr lang="en-GB" noProof="0" dirty="0"/>
              <a:t>Objective</a:t>
            </a:r>
          </a:p>
        </p:txBody>
      </p:sp>
      <p:sp>
        <p:nvSpPr>
          <p:cNvPr id="3" name="Content Placeholder 2">
            <a:extLst>
              <a:ext uri="{FF2B5EF4-FFF2-40B4-BE49-F238E27FC236}">
                <a16:creationId xmlns:a16="http://schemas.microsoft.com/office/drawing/2014/main" id="{F40FE6D7-DD69-1D13-4F3D-238FFCA5BFEC}"/>
              </a:ext>
            </a:extLst>
          </p:cNvPr>
          <p:cNvSpPr>
            <a:spLocks noGrp="1"/>
          </p:cNvSpPr>
          <p:nvPr>
            <p:ph idx="1"/>
          </p:nvPr>
        </p:nvSpPr>
        <p:spPr/>
        <p:txBody>
          <a:bodyPr>
            <a:normAutofit/>
          </a:bodyPr>
          <a:lstStyle/>
          <a:p>
            <a:pPr marL="0" indent="0">
              <a:lnSpc>
                <a:spcPct val="150000"/>
              </a:lnSpc>
              <a:buNone/>
            </a:pPr>
            <a:r>
              <a:rPr lang="en-GB" sz="2800" noProof="0" dirty="0"/>
              <a:t>I can describe the dark web and how cybercriminals operate.</a:t>
            </a:r>
          </a:p>
        </p:txBody>
      </p:sp>
    </p:spTree>
    <p:extLst>
      <p:ext uri="{BB962C8B-B14F-4D97-AF65-F5344CB8AC3E}">
        <p14:creationId xmlns:p14="http://schemas.microsoft.com/office/powerpoint/2010/main" val="623897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A397C-D2E3-ADCC-840E-27A33C78D114}"/>
              </a:ext>
            </a:extLst>
          </p:cNvPr>
          <p:cNvSpPr>
            <a:spLocks noGrp="1"/>
          </p:cNvSpPr>
          <p:nvPr>
            <p:ph type="title"/>
          </p:nvPr>
        </p:nvSpPr>
        <p:spPr/>
        <p:txBody>
          <a:bodyPr/>
          <a:lstStyle/>
          <a:p>
            <a:r>
              <a:rPr lang="en-GB" noProof="0" dirty="0"/>
              <a:t>Keywords</a:t>
            </a:r>
          </a:p>
        </p:txBody>
      </p:sp>
      <p:sp>
        <p:nvSpPr>
          <p:cNvPr id="4" name="Content Placeholder 25">
            <a:extLst>
              <a:ext uri="{FF2B5EF4-FFF2-40B4-BE49-F238E27FC236}">
                <a16:creationId xmlns:a16="http://schemas.microsoft.com/office/drawing/2014/main" id="{57726DDD-8611-BC33-219F-E0BFEE4A07EF}"/>
              </a:ext>
            </a:extLst>
          </p:cNvPr>
          <p:cNvSpPr txBox="1">
            <a:spLocks/>
          </p:cNvSpPr>
          <p:nvPr/>
        </p:nvSpPr>
        <p:spPr>
          <a:xfrm>
            <a:off x="413992" y="1504950"/>
            <a:ext cx="11444927" cy="476168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spcAft>
                <a:spcPts val="1800"/>
              </a:spcAft>
              <a:buFont typeface="Arial" panose="020B0604020202020204" pitchFamily="34" charset="0"/>
              <a:buChar char="•"/>
              <a:defRPr sz="3600" kern="1200">
                <a:solidFill>
                  <a:srgbClr val="002570"/>
                </a:solidFill>
                <a:latin typeface="OpenDyslexicAlta" panose="00000500000000000000" pitchFamily="50" charset="0"/>
                <a:ea typeface="+mn-ea"/>
                <a:cs typeface="+mn-cs"/>
              </a:defRPr>
            </a:lvl1pPr>
            <a:lvl2pPr marL="685800" indent="-228600" algn="l" defTabSz="914400" rtl="0" eaLnBrk="1" latinLnBrk="0" hangingPunct="1">
              <a:lnSpc>
                <a:spcPct val="90000"/>
              </a:lnSpc>
              <a:spcBef>
                <a:spcPts val="500"/>
              </a:spcBef>
              <a:spcAft>
                <a:spcPts val="1800"/>
              </a:spcAft>
              <a:buFont typeface="Arial" panose="020B0604020202020204" pitchFamily="34" charset="0"/>
              <a:buChar char="•"/>
              <a:defRPr sz="3200" kern="1200">
                <a:solidFill>
                  <a:srgbClr val="002570"/>
                </a:solidFill>
                <a:latin typeface="OpenDyslexicAlta" panose="00000500000000000000" pitchFamily="50" charset="0"/>
                <a:ea typeface="+mn-ea"/>
                <a:cs typeface="+mn-cs"/>
              </a:defRPr>
            </a:lvl2pPr>
            <a:lvl3pPr marL="1143000" indent="-228600" algn="l" defTabSz="914400" rtl="0" eaLnBrk="1" latinLnBrk="0" hangingPunct="1">
              <a:lnSpc>
                <a:spcPct val="90000"/>
              </a:lnSpc>
              <a:spcBef>
                <a:spcPts val="500"/>
              </a:spcBef>
              <a:spcAft>
                <a:spcPts val="1800"/>
              </a:spcAft>
              <a:buFont typeface="Arial" panose="020B0604020202020204" pitchFamily="34" charset="0"/>
              <a:buChar char="•"/>
              <a:defRPr sz="2800" kern="1200">
                <a:solidFill>
                  <a:srgbClr val="002570"/>
                </a:solidFill>
                <a:latin typeface="OpenDyslexicAlta" panose="00000500000000000000" pitchFamily="50" charset="0"/>
                <a:ea typeface="+mn-ea"/>
                <a:cs typeface="+mn-cs"/>
              </a:defRPr>
            </a:lvl3pPr>
            <a:lvl4pPr marL="1600200" indent="-228600" algn="l" defTabSz="914400" rtl="0" eaLnBrk="1" latinLnBrk="0" hangingPunct="1">
              <a:lnSpc>
                <a:spcPct val="90000"/>
              </a:lnSpc>
              <a:spcBef>
                <a:spcPts val="500"/>
              </a:spcBef>
              <a:spcAft>
                <a:spcPts val="1800"/>
              </a:spcAft>
              <a:buFont typeface="Arial" panose="020B0604020202020204" pitchFamily="34" charset="0"/>
              <a:buChar char="•"/>
              <a:defRPr sz="2400" kern="1200">
                <a:solidFill>
                  <a:srgbClr val="002570"/>
                </a:solidFill>
                <a:latin typeface="OpenDyslexicAlta" panose="00000500000000000000" pitchFamily="50" charset="0"/>
                <a:ea typeface="+mn-ea"/>
                <a:cs typeface="+mn-cs"/>
              </a:defRPr>
            </a:lvl4pPr>
            <a:lvl5pPr marL="2057400" indent="-228600" algn="l" defTabSz="914400" rtl="0" eaLnBrk="1" latinLnBrk="0" hangingPunct="1">
              <a:lnSpc>
                <a:spcPct val="90000"/>
              </a:lnSpc>
              <a:spcBef>
                <a:spcPts val="500"/>
              </a:spcBef>
              <a:spcAft>
                <a:spcPts val="1800"/>
              </a:spcAft>
              <a:buFont typeface="Arial" panose="020B0604020202020204" pitchFamily="34" charset="0"/>
              <a:buChar char="•"/>
              <a:defRPr sz="2400" kern="1200">
                <a:solidFill>
                  <a:srgbClr val="002570"/>
                </a:solidFill>
                <a:latin typeface="OpenDyslexicAlta"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600"/>
              </a:spcAft>
              <a:buNone/>
            </a:pPr>
            <a:r>
              <a:rPr lang="en-GB" sz="3200" noProof="0" dirty="0"/>
              <a:t>The </a:t>
            </a:r>
            <a:r>
              <a:rPr lang="en-GB" sz="3200" b="1" noProof="0" dirty="0">
                <a:solidFill>
                  <a:srgbClr val="C00000"/>
                </a:solidFill>
              </a:rPr>
              <a:t>dark web </a:t>
            </a:r>
            <a:r>
              <a:rPr lang="en-GB" sz="3200" noProof="0" dirty="0"/>
              <a:t>is a hidden part of the internet that cannot be found using normal search engines and is often used for secret activities.</a:t>
            </a:r>
          </a:p>
          <a:p>
            <a:pPr marL="0" indent="0">
              <a:spcAft>
                <a:spcPts val="600"/>
              </a:spcAft>
              <a:buNone/>
            </a:pPr>
            <a:r>
              <a:rPr lang="en-GB" sz="3200" b="1" noProof="0" dirty="0">
                <a:solidFill>
                  <a:srgbClr val="C00000"/>
                </a:solidFill>
              </a:rPr>
              <a:t>Cybercrime</a:t>
            </a:r>
            <a:r>
              <a:rPr lang="en-GB" sz="3200" noProof="0" dirty="0"/>
              <a:t> involves using computers or the internet to break the law, such as stealing information or money.</a:t>
            </a:r>
          </a:p>
          <a:p>
            <a:pPr marL="0" indent="0">
              <a:spcAft>
                <a:spcPts val="600"/>
              </a:spcAft>
              <a:buNone/>
            </a:pPr>
            <a:r>
              <a:rPr lang="en-GB" sz="3200" noProof="0" dirty="0"/>
              <a:t>An </a:t>
            </a:r>
            <a:r>
              <a:rPr lang="en-GB" sz="3200" b="1" noProof="0" dirty="0">
                <a:solidFill>
                  <a:srgbClr val="C00000"/>
                </a:solidFill>
              </a:rPr>
              <a:t>illegal marketplace </a:t>
            </a:r>
            <a:r>
              <a:rPr lang="en-GB" sz="3200" noProof="0" dirty="0"/>
              <a:t>is a website where people buy and sell things that are against the law, such as stolen data or fake IDs.</a:t>
            </a:r>
          </a:p>
        </p:txBody>
      </p:sp>
    </p:spTree>
    <p:extLst>
      <p:ext uri="{BB962C8B-B14F-4D97-AF65-F5344CB8AC3E}">
        <p14:creationId xmlns:p14="http://schemas.microsoft.com/office/powerpoint/2010/main" val="3148982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586AD-244C-8AC1-86E7-3D084F4401D8}"/>
              </a:ext>
            </a:extLst>
          </p:cNvPr>
          <p:cNvSpPr>
            <a:spLocks noGrp="1"/>
          </p:cNvSpPr>
          <p:nvPr>
            <p:ph type="title"/>
          </p:nvPr>
        </p:nvSpPr>
        <p:spPr/>
        <p:txBody>
          <a:bodyPr/>
          <a:lstStyle/>
          <a:p>
            <a:r>
              <a:rPr lang="en-GB" noProof="0" dirty="0"/>
              <a:t>What do you already know?</a:t>
            </a:r>
          </a:p>
        </p:txBody>
      </p:sp>
      <p:sp>
        <p:nvSpPr>
          <p:cNvPr id="3" name="Content Placeholder 2">
            <a:extLst>
              <a:ext uri="{FF2B5EF4-FFF2-40B4-BE49-F238E27FC236}">
                <a16:creationId xmlns:a16="http://schemas.microsoft.com/office/drawing/2014/main" id="{F0FC761F-680C-8008-5001-6739C23BF339}"/>
              </a:ext>
            </a:extLst>
          </p:cNvPr>
          <p:cNvSpPr>
            <a:spLocks noGrp="1"/>
          </p:cNvSpPr>
          <p:nvPr>
            <p:ph idx="1"/>
          </p:nvPr>
        </p:nvSpPr>
        <p:spPr/>
        <p:txBody>
          <a:bodyPr>
            <a:normAutofit fontScale="92500" lnSpcReduction="10000"/>
          </a:bodyPr>
          <a:lstStyle/>
          <a:p>
            <a:r>
              <a:rPr lang="en-GB" noProof="0" dirty="0"/>
              <a:t>The internet is made up of websites, online services and networks that connect people and information.</a:t>
            </a:r>
          </a:p>
          <a:p>
            <a:r>
              <a:rPr lang="en-GB" noProof="0" dirty="0"/>
              <a:t>Personal data can be valuable to criminals if it is stolen or leaked online.</a:t>
            </a:r>
          </a:p>
          <a:p>
            <a:r>
              <a:rPr lang="en-GB" noProof="0" dirty="0"/>
              <a:t>Cyber attacks can target individuals, businesses and governments.</a:t>
            </a:r>
          </a:p>
          <a:p>
            <a:r>
              <a:rPr lang="en-GB" noProof="0" dirty="0"/>
              <a:t>Passwords and security measures help protect online accounts from being hacked.</a:t>
            </a:r>
          </a:p>
        </p:txBody>
      </p:sp>
    </p:spTree>
    <p:extLst>
      <p:ext uri="{BB962C8B-B14F-4D97-AF65-F5344CB8AC3E}">
        <p14:creationId xmlns:p14="http://schemas.microsoft.com/office/powerpoint/2010/main" val="3759962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3B66E799-D9B4-A6C8-BAFB-22007923A781}"/>
              </a:ext>
            </a:extLst>
          </p:cNvPr>
          <p:cNvSpPr/>
          <p:nvPr/>
        </p:nvSpPr>
        <p:spPr>
          <a:xfrm>
            <a:off x="413992" y="1428750"/>
            <a:ext cx="11364016" cy="763571"/>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80CD4A36-A530-71B9-E5F7-5307B39D6DC4}"/>
              </a:ext>
            </a:extLst>
          </p:cNvPr>
          <p:cNvSpPr>
            <a:spLocks noGrp="1"/>
          </p:cNvSpPr>
          <p:nvPr>
            <p:ph type="title"/>
          </p:nvPr>
        </p:nvSpPr>
        <p:spPr/>
        <p:txBody>
          <a:bodyPr/>
          <a:lstStyle/>
          <a:p>
            <a:r>
              <a:rPr lang="en-GB" noProof="0" dirty="0"/>
              <a:t>Steps to success</a:t>
            </a:r>
          </a:p>
        </p:txBody>
      </p:sp>
      <p:sp>
        <p:nvSpPr>
          <p:cNvPr id="3" name="Content Placeholder 2">
            <a:extLst>
              <a:ext uri="{FF2B5EF4-FFF2-40B4-BE49-F238E27FC236}">
                <a16:creationId xmlns:a16="http://schemas.microsoft.com/office/drawing/2014/main" id="{5CEDC0B2-9F40-1C8A-C33B-787DDB6DCEC4}"/>
              </a:ext>
            </a:extLst>
          </p:cNvPr>
          <p:cNvSpPr>
            <a:spLocks noGrp="1"/>
          </p:cNvSpPr>
          <p:nvPr>
            <p:ph idx="1"/>
          </p:nvPr>
        </p:nvSpPr>
        <p:spPr>
          <a:xfrm>
            <a:off x="413992" y="1581149"/>
            <a:ext cx="10749308" cy="4685481"/>
          </a:xfrm>
        </p:spPr>
        <p:txBody>
          <a:bodyPr/>
          <a:lstStyle/>
          <a:p>
            <a:pPr marL="809625" indent="-723900">
              <a:buClr>
                <a:srgbClr val="C00000"/>
              </a:buClr>
              <a:buSzPct val="107000"/>
              <a:buFont typeface="+mj-lt"/>
              <a:buAutoNum type="arabicPeriod"/>
            </a:pPr>
            <a:r>
              <a:rPr lang="en-GB" sz="3600" noProof="0" dirty="0"/>
              <a:t>The dark web</a:t>
            </a:r>
          </a:p>
          <a:p>
            <a:pPr marL="809625" indent="-723900">
              <a:buClr>
                <a:srgbClr val="C00000"/>
              </a:buClr>
              <a:buSzPct val="107000"/>
              <a:buFont typeface="+mj-lt"/>
              <a:buAutoNum type="arabicPeriod"/>
            </a:pPr>
            <a:r>
              <a:rPr lang="en-GB" sz="3600" noProof="0" dirty="0"/>
              <a:t>Stolen data </a:t>
            </a:r>
          </a:p>
          <a:p>
            <a:pPr marL="809625" indent="-723900">
              <a:buClr>
                <a:srgbClr val="C00000"/>
              </a:buClr>
              <a:buSzPct val="107000"/>
              <a:buFont typeface="+mj-lt"/>
              <a:buAutoNum type="arabicPeriod"/>
            </a:pPr>
            <a:r>
              <a:rPr lang="en-GB" sz="3600" noProof="0" dirty="0"/>
              <a:t>Risks  </a:t>
            </a:r>
            <a:endParaRPr lang="en-GB" noProof="0" dirty="0"/>
          </a:p>
        </p:txBody>
      </p:sp>
    </p:spTree>
    <p:extLst>
      <p:ext uri="{BB962C8B-B14F-4D97-AF65-F5344CB8AC3E}">
        <p14:creationId xmlns:p14="http://schemas.microsoft.com/office/powerpoint/2010/main" val="3434938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C15442-47A6-8269-B2FC-CDAB290F753D}"/>
              </a:ext>
            </a:extLst>
          </p:cNvPr>
          <p:cNvSpPr>
            <a:spLocks noGrp="1"/>
          </p:cNvSpPr>
          <p:nvPr>
            <p:ph idx="1"/>
          </p:nvPr>
        </p:nvSpPr>
        <p:spPr/>
        <p:txBody>
          <a:bodyPr>
            <a:normAutofit fontScale="92500" lnSpcReduction="20000"/>
          </a:bodyPr>
          <a:lstStyle/>
          <a:p>
            <a:pPr>
              <a:spcAft>
                <a:spcPts val="600"/>
              </a:spcAft>
            </a:pPr>
            <a:r>
              <a:rPr lang="en-GB" noProof="0" dirty="0"/>
              <a:t>Work in pairs. Each pair will get a worksheet with twelve cards showing different online activities. Carefully cut out each card.</a:t>
            </a:r>
          </a:p>
          <a:p>
            <a:pPr>
              <a:spcAft>
                <a:spcPts val="600"/>
              </a:spcAft>
            </a:pPr>
            <a:r>
              <a:rPr lang="en-GB" noProof="0" dirty="0"/>
              <a:t>Sort the cards into two groups:</a:t>
            </a:r>
          </a:p>
          <a:p>
            <a:pPr marL="893763" indent="-441325">
              <a:spcAft>
                <a:spcPts val="600"/>
              </a:spcAft>
              <a:buFont typeface="Arial" panose="020B0604020202020204" pitchFamily="34" charset="0"/>
              <a:buChar char="•"/>
            </a:pPr>
            <a:r>
              <a:rPr lang="en-GB" noProof="0" dirty="0"/>
              <a:t>Normal online activities</a:t>
            </a:r>
          </a:p>
          <a:p>
            <a:pPr marL="893763" indent="-441325">
              <a:spcAft>
                <a:spcPts val="600"/>
              </a:spcAft>
              <a:buFont typeface="Arial" panose="020B0604020202020204" pitchFamily="34" charset="0"/>
              <a:buChar char="•"/>
            </a:pPr>
            <a:r>
              <a:rPr lang="en-GB" noProof="0" dirty="0"/>
              <a:t>Risky online activities</a:t>
            </a:r>
          </a:p>
          <a:p>
            <a:pPr>
              <a:spcAft>
                <a:spcPts val="600"/>
              </a:spcAft>
            </a:pPr>
            <a:r>
              <a:rPr lang="en-GB" noProof="0" dirty="0"/>
              <a:t>Discuss your choices together. For each card, talk about why you think it is normal or risky.</a:t>
            </a:r>
          </a:p>
          <a:p>
            <a:pPr>
              <a:spcAft>
                <a:spcPts val="600"/>
              </a:spcAft>
            </a:pPr>
            <a:r>
              <a:rPr lang="en-GB" noProof="0" dirty="0"/>
              <a:t>Be ready to share your ideas with the class and explain your reasons.</a:t>
            </a:r>
          </a:p>
        </p:txBody>
      </p:sp>
      <p:sp>
        <p:nvSpPr>
          <p:cNvPr id="2" name="Title 1">
            <a:extLst>
              <a:ext uri="{FF2B5EF4-FFF2-40B4-BE49-F238E27FC236}">
                <a16:creationId xmlns:a16="http://schemas.microsoft.com/office/drawing/2014/main" id="{93F4EDDF-DA3A-23EB-AF41-ED5529DB04E8}"/>
              </a:ext>
            </a:extLst>
          </p:cNvPr>
          <p:cNvSpPr>
            <a:spLocks noGrp="1"/>
          </p:cNvSpPr>
          <p:nvPr>
            <p:ph type="title"/>
          </p:nvPr>
        </p:nvSpPr>
        <p:spPr/>
        <p:txBody>
          <a:bodyPr/>
          <a:lstStyle/>
          <a:p>
            <a:pPr marL="85725">
              <a:buClr>
                <a:srgbClr val="C00000"/>
              </a:buClr>
              <a:buSzPct val="107000"/>
            </a:pPr>
            <a:r>
              <a:rPr lang="en-GB" sz="4800" noProof="0" dirty="0"/>
              <a:t>The dark web</a:t>
            </a:r>
          </a:p>
        </p:txBody>
      </p:sp>
    </p:spTree>
    <p:extLst>
      <p:ext uri="{BB962C8B-B14F-4D97-AF65-F5344CB8AC3E}">
        <p14:creationId xmlns:p14="http://schemas.microsoft.com/office/powerpoint/2010/main" val="28921866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ADAE1-12FD-92F7-2A11-2AC3567A7298}"/>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2675F11-8D4A-F714-A1B2-9C983B2E63CC}"/>
              </a:ext>
            </a:extLst>
          </p:cNvPr>
          <p:cNvSpPr>
            <a:spLocks noGrp="1"/>
          </p:cNvSpPr>
          <p:nvPr>
            <p:ph sz="half" idx="10"/>
          </p:nvPr>
        </p:nvSpPr>
        <p:spPr>
          <a:xfrm>
            <a:off x="413992" y="1828800"/>
            <a:ext cx="5635673" cy="4437828"/>
          </a:xfrm>
        </p:spPr>
        <p:txBody>
          <a:bodyPr>
            <a:noAutofit/>
          </a:bodyPr>
          <a:lstStyle/>
          <a:p>
            <a:pPr>
              <a:spcBef>
                <a:spcPts val="1200"/>
              </a:spcBef>
              <a:spcAft>
                <a:spcPts val="600"/>
              </a:spcAft>
            </a:pPr>
            <a:r>
              <a:rPr lang="en-GB" sz="2000" b="1" noProof="0" dirty="0">
                <a:solidFill>
                  <a:srgbClr val="C00000"/>
                </a:solidFill>
              </a:rPr>
              <a:t>Buying trainers from a well-known online shop</a:t>
            </a:r>
          </a:p>
          <a:p>
            <a:pPr>
              <a:spcBef>
                <a:spcPts val="1200"/>
              </a:spcBef>
              <a:spcAft>
                <a:spcPts val="600"/>
              </a:spcAft>
            </a:pPr>
            <a:r>
              <a:rPr lang="en-GB" sz="2000" b="1" noProof="0" dirty="0">
                <a:solidFill>
                  <a:srgbClr val="C00000"/>
                </a:solidFill>
              </a:rPr>
              <a:t>Sending an email to your teacher using your school account</a:t>
            </a:r>
          </a:p>
          <a:p>
            <a:pPr>
              <a:spcBef>
                <a:spcPts val="1200"/>
              </a:spcBef>
              <a:spcAft>
                <a:spcPts val="600"/>
              </a:spcAft>
            </a:pPr>
            <a:r>
              <a:rPr lang="en-GB" sz="2000" b="1" noProof="0" dirty="0">
                <a:solidFill>
                  <a:srgbClr val="C00000"/>
                </a:solidFill>
              </a:rPr>
              <a:t>Streaming a film on Netflix</a:t>
            </a:r>
          </a:p>
          <a:p>
            <a:pPr>
              <a:spcBef>
                <a:spcPts val="1200"/>
              </a:spcBef>
              <a:spcAft>
                <a:spcPts val="600"/>
              </a:spcAft>
            </a:pPr>
            <a:r>
              <a:rPr lang="en-GB" sz="2000" b="1" noProof="0" dirty="0">
                <a:solidFill>
                  <a:srgbClr val="C00000"/>
                </a:solidFill>
              </a:rPr>
              <a:t>Using the search engine DuckDuckGo to find homework help</a:t>
            </a:r>
          </a:p>
          <a:p>
            <a:pPr>
              <a:spcBef>
                <a:spcPts val="1200"/>
              </a:spcBef>
              <a:spcAft>
                <a:spcPts val="600"/>
              </a:spcAft>
            </a:pPr>
            <a:r>
              <a:rPr lang="en-GB" sz="2000" b="1" noProof="0" dirty="0">
                <a:solidFill>
                  <a:srgbClr val="C00000"/>
                </a:solidFill>
              </a:rPr>
              <a:t>Uploading photos to your private Instagram account</a:t>
            </a:r>
          </a:p>
          <a:p>
            <a:pPr>
              <a:spcBef>
                <a:spcPts val="1200"/>
              </a:spcBef>
              <a:spcAft>
                <a:spcPts val="600"/>
              </a:spcAft>
            </a:pPr>
            <a:r>
              <a:rPr lang="en-GB" sz="2000" b="1" noProof="0" dirty="0">
                <a:solidFill>
                  <a:srgbClr val="C00000"/>
                </a:solidFill>
              </a:rPr>
              <a:t>Accessing your school’s homework portal with your password</a:t>
            </a:r>
          </a:p>
        </p:txBody>
      </p:sp>
      <p:sp>
        <p:nvSpPr>
          <p:cNvPr id="3" name="Content Placeholder 2">
            <a:extLst>
              <a:ext uri="{FF2B5EF4-FFF2-40B4-BE49-F238E27FC236}">
                <a16:creationId xmlns:a16="http://schemas.microsoft.com/office/drawing/2014/main" id="{B0EA382E-A051-66B8-A396-47D08B9A5CE3}"/>
              </a:ext>
            </a:extLst>
          </p:cNvPr>
          <p:cNvSpPr>
            <a:spLocks noGrp="1"/>
          </p:cNvSpPr>
          <p:nvPr>
            <p:ph sz="half" idx="2"/>
          </p:nvPr>
        </p:nvSpPr>
        <p:spPr>
          <a:xfrm>
            <a:off x="6223247" y="1828799"/>
            <a:ext cx="5635673" cy="4437829"/>
          </a:xfrm>
        </p:spPr>
        <p:txBody>
          <a:bodyPr>
            <a:noAutofit/>
          </a:bodyPr>
          <a:lstStyle/>
          <a:p>
            <a:pPr>
              <a:spcBef>
                <a:spcPts val="1200"/>
              </a:spcBef>
              <a:spcAft>
                <a:spcPts val="600"/>
              </a:spcAft>
            </a:pPr>
            <a:r>
              <a:rPr lang="en-GB" sz="2000" b="1" noProof="0" dirty="0">
                <a:solidFill>
                  <a:srgbClr val="C00000"/>
                </a:solidFill>
              </a:rPr>
              <a:t>Downloading a free game from an unknown website</a:t>
            </a:r>
          </a:p>
          <a:p>
            <a:pPr>
              <a:spcBef>
                <a:spcPts val="1200"/>
              </a:spcBef>
              <a:spcAft>
                <a:spcPts val="600"/>
              </a:spcAft>
            </a:pPr>
            <a:r>
              <a:rPr lang="en-GB" sz="2000" b="1" noProof="0" dirty="0">
                <a:solidFill>
                  <a:srgbClr val="C00000"/>
                </a:solidFill>
              </a:rPr>
              <a:t>Clicking on a link in a message from someone you don’t know</a:t>
            </a:r>
          </a:p>
          <a:p>
            <a:pPr>
              <a:spcBef>
                <a:spcPts val="1200"/>
              </a:spcBef>
              <a:spcAft>
                <a:spcPts val="600"/>
              </a:spcAft>
            </a:pPr>
            <a:r>
              <a:rPr lang="en-GB" sz="2000" b="1" noProof="0" dirty="0">
                <a:solidFill>
                  <a:srgbClr val="C00000"/>
                </a:solidFill>
              </a:rPr>
              <a:t>Using a special browser to visit websites not found on Google</a:t>
            </a:r>
          </a:p>
          <a:p>
            <a:pPr>
              <a:spcBef>
                <a:spcPts val="1200"/>
              </a:spcBef>
              <a:spcAft>
                <a:spcPts val="600"/>
              </a:spcAft>
            </a:pPr>
            <a:r>
              <a:rPr lang="en-GB" sz="2000" b="1" noProof="0" dirty="0">
                <a:solidFill>
                  <a:srgbClr val="C00000"/>
                </a:solidFill>
              </a:rPr>
              <a:t>Buying “discount” passwords for games from a chat group</a:t>
            </a:r>
          </a:p>
          <a:p>
            <a:pPr>
              <a:spcBef>
                <a:spcPts val="1200"/>
              </a:spcBef>
              <a:spcAft>
                <a:spcPts val="600"/>
              </a:spcAft>
            </a:pPr>
            <a:r>
              <a:rPr lang="en-GB" sz="2000" b="1" noProof="0" dirty="0">
                <a:solidFill>
                  <a:srgbClr val="C00000"/>
                </a:solidFill>
              </a:rPr>
              <a:t>Sharing your login details with a friend so they can use your account</a:t>
            </a:r>
          </a:p>
          <a:p>
            <a:pPr>
              <a:spcBef>
                <a:spcPts val="1200"/>
              </a:spcBef>
              <a:spcAft>
                <a:spcPts val="600"/>
              </a:spcAft>
            </a:pPr>
            <a:r>
              <a:rPr lang="en-GB" sz="2000" b="1" noProof="0" dirty="0">
                <a:solidFill>
                  <a:srgbClr val="C00000"/>
                </a:solidFill>
              </a:rPr>
              <a:t>Trying to access a website that promises free exam answers</a:t>
            </a:r>
          </a:p>
        </p:txBody>
      </p:sp>
      <p:sp>
        <p:nvSpPr>
          <p:cNvPr id="4" name="Text Placeholder 3">
            <a:extLst>
              <a:ext uri="{FF2B5EF4-FFF2-40B4-BE49-F238E27FC236}">
                <a16:creationId xmlns:a16="http://schemas.microsoft.com/office/drawing/2014/main" id="{B9189E1B-B3B7-85A5-5FCE-50FE6F371D43}"/>
              </a:ext>
            </a:extLst>
          </p:cNvPr>
          <p:cNvSpPr>
            <a:spLocks noGrp="1"/>
          </p:cNvSpPr>
          <p:nvPr>
            <p:ph type="body" idx="1"/>
          </p:nvPr>
        </p:nvSpPr>
        <p:spPr>
          <a:xfrm>
            <a:off x="413992" y="1313892"/>
            <a:ext cx="5635673" cy="514908"/>
          </a:xfrm>
        </p:spPr>
        <p:txBody>
          <a:bodyPr/>
          <a:lstStyle/>
          <a:p>
            <a:r>
              <a:rPr lang="en-GB" sz="3200" noProof="0" dirty="0"/>
              <a:t>Normal online activities</a:t>
            </a:r>
          </a:p>
        </p:txBody>
      </p:sp>
      <p:sp>
        <p:nvSpPr>
          <p:cNvPr id="5" name="Text Placeholder 4">
            <a:extLst>
              <a:ext uri="{FF2B5EF4-FFF2-40B4-BE49-F238E27FC236}">
                <a16:creationId xmlns:a16="http://schemas.microsoft.com/office/drawing/2014/main" id="{329D964D-508F-5D70-2075-D3BCC542E8BC}"/>
              </a:ext>
            </a:extLst>
          </p:cNvPr>
          <p:cNvSpPr>
            <a:spLocks noGrp="1"/>
          </p:cNvSpPr>
          <p:nvPr>
            <p:ph type="body" sz="quarter" idx="3"/>
          </p:nvPr>
        </p:nvSpPr>
        <p:spPr>
          <a:xfrm>
            <a:off x="6232125" y="1313892"/>
            <a:ext cx="5626795" cy="514908"/>
          </a:xfrm>
        </p:spPr>
        <p:txBody>
          <a:bodyPr/>
          <a:lstStyle/>
          <a:p>
            <a:r>
              <a:rPr lang="en-GB" sz="3200" noProof="0" dirty="0"/>
              <a:t>Risky online activities</a:t>
            </a:r>
          </a:p>
        </p:txBody>
      </p:sp>
      <p:sp>
        <p:nvSpPr>
          <p:cNvPr id="2" name="Title 1">
            <a:extLst>
              <a:ext uri="{FF2B5EF4-FFF2-40B4-BE49-F238E27FC236}">
                <a16:creationId xmlns:a16="http://schemas.microsoft.com/office/drawing/2014/main" id="{D76DEE9B-9DF6-6A9A-5C50-61BA8FDAF24F}"/>
              </a:ext>
            </a:extLst>
          </p:cNvPr>
          <p:cNvSpPr>
            <a:spLocks noGrp="1"/>
          </p:cNvSpPr>
          <p:nvPr>
            <p:ph type="title"/>
          </p:nvPr>
        </p:nvSpPr>
        <p:spPr/>
        <p:txBody>
          <a:bodyPr/>
          <a:lstStyle/>
          <a:p>
            <a:pPr marL="85725">
              <a:buClr>
                <a:srgbClr val="C00000"/>
              </a:buClr>
              <a:buSzPct val="107000"/>
            </a:pPr>
            <a:r>
              <a:rPr lang="en-GB" sz="4800" noProof="0" dirty="0"/>
              <a:t>The dark web </a:t>
            </a:r>
            <a:r>
              <a:rPr lang="en-GB" sz="4800" noProof="0" dirty="0">
                <a:solidFill>
                  <a:srgbClr val="C00000"/>
                </a:solidFill>
              </a:rPr>
              <a:t>ANSWERS</a:t>
            </a:r>
          </a:p>
        </p:txBody>
      </p:sp>
    </p:spTree>
    <p:extLst>
      <p:ext uri="{BB962C8B-B14F-4D97-AF65-F5344CB8AC3E}">
        <p14:creationId xmlns:p14="http://schemas.microsoft.com/office/powerpoint/2010/main" val="3529206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3" grpId="0" uiExpand="1" build="p"/>
      <p:bldP spid="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4EDDF-DA3A-23EB-AF41-ED5529DB04E8}"/>
              </a:ext>
            </a:extLst>
          </p:cNvPr>
          <p:cNvSpPr>
            <a:spLocks noGrp="1"/>
          </p:cNvSpPr>
          <p:nvPr>
            <p:ph type="title"/>
          </p:nvPr>
        </p:nvSpPr>
        <p:spPr/>
        <p:txBody>
          <a:bodyPr/>
          <a:lstStyle/>
          <a:p>
            <a:r>
              <a:rPr lang="en-GB" noProof="0" dirty="0"/>
              <a:t>The dark web</a:t>
            </a:r>
          </a:p>
        </p:txBody>
      </p:sp>
      <p:sp>
        <p:nvSpPr>
          <p:cNvPr id="3" name="Content Placeholder 2">
            <a:extLst>
              <a:ext uri="{FF2B5EF4-FFF2-40B4-BE49-F238E27FC236}">
                <a16:creationId xmlns:a16="http://schemas.microsoft.com/office/drawing/2014/main" id="{37C15442-47A6-8269-B2FC-CDAB290F753D}"/>
              </a:ext>
            </a:extLst>
          </p:cNvPr>
          <p:cNvSpPr>
            <a:spLocks noGrp="1"/>
          </p:cNvSpPr>
          <p:nvPr>
            <p:ph idx="1"/>
          </p:nvPr>
        </p:nvSpPr>
        <p:spPr>
          <a:xfrm>
            <a:off x="413992" y="1313894"/>
            <a:ext cx="5904615" cy="5086905"/>
          </a:xfrm>
        </p:spPr>
        <p:txBody>
          <a:bodyPr>
            <a:normAutofit fontScale="92500" lnSpcReduction="10000"/>
          </a:bodyPr>
          <a:lstStyle/>
          <a:p>
            <a:r>
              <a:rPr lang="en-GB" noProof="0" dirty="0"/>
              <a:t>Did you know the internet has different layers?</a:t>
            </a:r>
          </a:p>
          <a:p>
            <a:r>
              <a:rPr lang="en-GB" noProof="0" dirty="0"/>
              <a:t>Think of the internet like an iceberg:</a:t>
            </a:r>
          </a:p>
          <a:p>
            <a:pPr marL="571500" indent="-571500">
              <a:buFont typeface="Arial" panose="020B0604020202020204" pitchFamily="34" charset="0"/>
              <a:buChar char="•"/>
            </a:pPr>
            <a:r>
              <a:rPr lang="en-GB" noProof="0" dirty="0"/>
              <a:t>The top is what everyone sees.</a:t>
            </a:r>
          </a:p>
          <a:p>
            <a:pPr marL="571500" indent="-571500">
              <a:buFont typeface="Arial" panose="020B0604020202020204" pitchFamily="34" charset="0"/>
              <a:buChar char="•"/>
            </a:pPr>
            <a:r>
              <a:rPr lang="en-GB" noProof="0" dirty="0"/>
              <a:t>There is much more that is hidden.</a:t>
            </a:r>
          </a:p>
        </p:txBody>
      </p:sp>
      <p:pic>
        <p:nvPicPr>
          <p:cNvPr id="5" name="Picture 4" descr="An iceberg in the water&#10;">
            <a:extLst>
              <a:ext uri="{FF2B5EF4-FFF2-40B4-BE49-F238E27FC236}">
                <a16:creationId xmlns:a16="http://schemas.microsoft.com/office/drawing/2014/main" id="{F0015F7A-A04A-1083-5EC3-B0BDA55E95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5600" y="0"/>
            <a:ext cx="5486400" cy="6858000"/>
          </a:xfrm>
          <a:prstGeom prst="rect">
            <a:avLst/>
          </a:prstGeom>
        </p:spPr>
      </p:pic>
    </p:spTree>
    <p:extLst>
      <p:ext uri="{BB962C8B-B14F-4D97-AF65-F5344CB8AC3E}">
        <p14:creationId xmlns:p14="http://schemas.microsoft.com/office/powerpoint/2010/main" val="2973774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788C9-EF58-4634-BB65-409E1648BEE0}"/>
              </a:ext>
            </a:extLst>
          </p:cNvPr>
          <p:cNvSpPr>
            <a:spLocks noGrp="1"/>
          </p:cNvSpPr>
          <p:nvPr>
            <p:ph type="title"/>
          </p:nvPr>
        </p:nvSpPr>
        <p:spPr/>
        <p:txBody>
          <a:bodyPr/>
          <a:lstStyle/>
          <a:p>
            <a:r>
              <a:rPr lang="en-GB" noProof="0" dirty="0"/>
              <a:t>The dark web</a:t>
            </a:r>
          </a:p>
        </p:txBody>
      </p:sp>
      <p:sp>
        <p:nvSpPr>
          <p:cNvPr id="3" name="Content Placeholder 2">
            <a:extLst>
              <a:ext uri="{FF2B5EF4-FFF2-40B4-BE49-F238E27FC236}">
                <a16:creationId xmlns:a16="http://schemas.microsoft.com/office/drawing/2014/main" id="{43D74121-C6F5-E724-9E88-6D03D2B2B0BC}"/>
              </a:ext>
            </a:extLst>
          </p:cNvPr>
          <p:cNvSpPr>
            <a:spLocks noGrp="1"/>
          </p:cNvSpPr>
          <p:nvPr>
            <p:ph idx="1"/>
          </p:nvPr>
        </p:nvSpPr>
        <p:spPr/>
        <p:txBody>
          <a:bodyPr>
            <a:normAutofit/>
          </a:bodyPr>
          <a:lstStyle/>
          <a:p>
            <a:r>
              <a:rPr lang="en-GB" noProof="0" dirty="0"/>
              <a:t>The </a:t>
            </a:r>
            <a:r>
              <a:rPr lang="en-GB" b="1" noProof="0" dirty="0"/>
              <a:t>surface web </a:t>
            </a:r>
            <a:r>
              <a:rPr lang="en-GB" noProof="0" dirty="0"/>
              <a:t>is the part of the internet you use every day.</a:t>
            </a:r>
          </a:p>
          <a:p>
            <a:pPr marL="893763" indent="-441325">
              <a:buFont typeface="Arial" panose="020B0604020202020204" pitchFamily="34" charset="0"/>
              <a:buChar char="•"/>
            </a:pPr>
            <a:r>
              <a:rPr lang="en-GB" noProof="0" dirty="0"/>
              <a:t>Websites you find on Google, Bing or Yahoo</a:t>
            </a:r>
          </a:p>
          <a:p>
            <a:pPr marL="893763" indent="-441325">
              <a:buFont typeface="Arial" panose="020B0604020202020204" pitchFamily="34" charset="0"/>
              <a:buChar char="•"/>
            </a:pPr>
            <a:r>
              <a:rPr lang="en-GB" noProof="0" dirty="0"/>
              <a:t>News, social media, online shopping and school websites</a:t>
            </a:r>
          </a:p>
          <a:p>
            <a:pPr marL="92075"/>
            <a:r>
              <a:rPr lang="en-GB" noProof="0" dirty="0"/>
              <a:t>Everyone can access these pages easily.</a:t>
            </a:r>
          </a:p>
        </p:txBody>
      </p:sp>
    </p:spTree>
    <p:extLst>
      <p:ext uri="{BB962C8B-B14F-4D97-AF65-F5344CB8AC3E}">
        <p14:creationId xmlns:p14="http://schemas.microsoft.com/office/powerpoint/2010/main" val="608366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F7598-BA49-B8CD-5418-3A01EEE89F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BD3C5C-A0A2-5D40-E936-FCF188996CDA}"/>
              </a:ext>
            </a:extLst>
          </p:cNvPr>
          <p:cNvSpPr>
            <a:spLocks noGrp="1"/>
          </p:cNvSpPr>
          <p:nvPr>
            <p:ph type="title"/>
          </p:nvPr>
        </p:nvSpPr>
        <p:spPr/>
        <p:txBody>
          <a:bodyPr/>
          <a:lstStyle/>
          <a:p>
            <a:r>
              <a:rPr lang="en-GB" noProof="0" dirty="0"/>
              <a:t>The dark web</a:t>
            </a:r>
          </a:p>
        </p:txBody>
      </p:sp>
      <p:sp>
        <p:nvSpPr>
          <p:cNvPr id="3" name="Content Placeholder 2">
            <a:extLst>
              <a:ext uri="{FF2B5EF4-FFF2-40B4-BE49-F238E27FC236}">
                <a16:creationId xmlns:a16="http://schemas.microsoft.com/office/drawing/2014/main" id="{65FEB216-EF07-CF32-126F-99CBCB549EAD}"/>
              </a:ext>
            </a:extLst>
          </p:cNvPr>
          <p:cNvSpPr>
            <a:spLocks noGrp="1"/>
          </p:cNvSpPr>
          <p:nvPr>
            <p:ph idx="1"/>
          </p:nvPr>
        </p:nvSpPr>
        <p:spPr/>
        <p:txBody>
          <a:bodyPr>
            <a:normAutofit fontScale="92500"/>
          </a:bodyPr>
          <a:lstStyle/>
          <a:p>
            <a:r>
              <a:rPr lang="en-GB" noProof="0" dirty="0"/>
              <a:t>The </a:t>
            </a:r>
            <a:r>
              <a:rPr lang="en-GB" b="1" noProof="0" dirty="0"/>
              <a:t>deep web </a:t>
            </a:r>
            <a:r>
              <a:rPr lang="en-GB" noProof="0" dirty="0"/>
              <a:t>is</a:t>
            </a:r>
            <a:r>
              <a:rPr lang="en-GB" b="1" noProof="0" dirty="0"/>
              <a:t> </a:t>
            </a:r>
            <a:r>
              <a:rPr lang="en-GB" noProof="0" dirty="0"/>
              <a:t>made up of pages that are not indexed by search engines.</a:t>
            </a:r>
          </a:p>
          <a:p>
            <a:pPr marL="893763" indent="-441325">
              <a:buFont typeface="Arial" panose="020B0604020202020204" pitchFamily="34" charset="0"/>
              <a:buChar char="•"/>
            </a:pPr>
            <a:r>
              <a:rPr lang="en-GB" noProof="0" dirty="0"/>
              <a:t>The school’s homework portal</a:t>
            </a:r>
          </a:p>
          <a:p>
            <a:pPr marL="893763" indent="-441325">
              <a:buFont typeface="Arial" panose="020B0604020202020204" pitchFamily="34" charset="0"/>
              <a:buChar char="•"/>
            </a:pPr>
            <a:r>
              <a:rPr lang="en-GB" noProof="0" dirty="0"/>
              <a:t>Emails systems </a:t>
            </a:r>
          </a:p>
          <a:p>
            <a:pPr marL="893763" indent="-441325">
              <a:buFont typeface="Arial" panose="020B0604020202020204" pitchFamily="34" charset="0"/>
              <a:buChar char="•"/>
            </a:pPr>
            <a:r>
              <a:rPr lang="en-GB" noProof="0" dirty="0"/>
              <a:t>Online banking</a:t>
            </a:r>
          </a:p>
          <a:p>
            <a:r>
              <a:rPr lang="en-GB" noProof="0" dirty="0"/>
              <a:t>You need a password or special link to access these, but they are legal and used for privacy.</a:t>
            </a:r>
          </a:p>
        </p:txBody>
      </p:sp>
    </p:spTree>
    <p:extLst>
      <p:ext uri="{BB962C8B-B14F-4D97-AF65-F5344CB8AC3E}">
        <p14:creationId xmlns:p14="http://schemas.microsoft.com/office/powerpoint/2010/main" val="3619890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1BA44-0D62-387C-AE00-7F1ECA5384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35F8E6-469C-4E9F-2918-10DD606C49B4}"/>
              </a:ext>
            </a:extLst>
          </p:cNvPr>
          <p:cNvSpPr>
            <a:spLocks noGrp="1"/>
          </p:cNvSpPr>
          <p:nvPr>
            <p:ph type="title"/>
          </p:nvPr>
        </p:nvSpPr>
        <p:spPr/>
        <p:txBody>
          <a:bodyPr/>
          <a:lstStyle/>
          <a:p>
            <a:r>
              <a:rPr lang="en-GB" noProof="0" dirty="0"/>
              <a:t>The dark web</a:t>
            </a:r>
          </a:p>
        </p:txBody>
      </p:sp>
      <p:sp>
        <p:nvSpPr>
          <p:cNvPr id="3" name="Content Placeholder 2">
            <a:extLst>
              <a:ext uri="{FF2B5EF4-FFF2-40B4-BE49-F238E27FC236}">
                <a16:creationId xmlns:a16="http://schemas.microsoft.com/office/drawing/2014/main" id="{A9D907EC-BA5B-FD76-308F-37E4F149B428}"/>
              </a:ext>
            </a:extLst>
          </p:cNvPr>
          <p:cNvSpPr>
            <a:spLocks noGrp="1"/>
          </p:cNvSpPr>
          <p:nvPr>
            <p:ph idx="1"/>
          </p:nvPr>
        </p:nvSpPr>
        <p:spPr/>
        <p:txBody>
          <a:bodyPr>
            <a:normAutofit fontScale="92500"/>
          </a:bodyPr>
          <a:lstStyle/>
          <a:p>
            <a:r>
              <a:rPr lang="en-GB" noProof="0" dirty="0"/>
              <a:t>The </a:t>
            </a:r>
            <a:r>
              <a:rPr lang="en-GB" b="1" noProof="0" dirty="0">
                <a:solidFill>
                  <a:srgbClr val="C00000"/>
                </a:solidFill>
              </a:rPr>
              <a:t>dark web </a:t>
            </a:r>
            <a:r>
              <a:rPr lang="en-GB" noProof="0" dirty="0"/>
              <a:t>is</a:t>
            </a:r>
            <a:r>
              <a:rPr lang="en-GB" b="1" noProof="0" dirty="0"/>
              <a:t> </a:t>
            </a:r>
            <a:r>
              <a:rPr lang="en-GB" noProof="0" dirty="0"/>
              <a:t>a hidden part of the internet.</a:t>
            </a:r>
          </a:p>
          <a:p>
            <a:r>
              <a:rPr lang="en-GB" noProof="0" dirty="0"/>
              <a:t>You need a special browser (such as Tor) to get there.</a:t>
            </a:r>
          </a:p>
          <a:p>
            <a:r>
              <a:rPr lang="en-GB" noProof="0" dirty="0"/>
              <a:t>Not everything on the dark web is illegal, but it is where a lot of </a:t>
            </a:r>
            <a:r>
              <a:rPr lang="en-GB" b="1" noProof="0" dirty="0">
                <a:solidFill>
                  <a:srgbClr val="C00000"/>
                </a:solidFill>
              </a:rPr>
              <a:t>cybercrime</a:t>
            </a:r>
            <a:r>
              <a:rPr lang="en-GB" noProof="0" dirty="0"/>
              <a:t> happens, including selling stolen data and illegal goods.</a:t>
            </a:r>
          </a:p>
          <a:p>
            <a:r>
              <a:rPr lang="en-GB" noProof="0" dirty="0"/>
              <a:t>It’s hidden for privacy, which means it attracts criminals.</a:t>
            </a:r>
          </a:p>
        </p:txBody>
      </p:sp>
    </p:spTree>
    <p:extLst>
      <p:ext uri="{BB962C8B-B14F-4D97-AF65-F5344CB8AC3E}">
        <p14:creationId xmlns:p14="http://schemas.microsoft.com/office/powerpoint/2010/main" val="1868423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D493B3-6F1E-FB68-689E-D182F9D79CB0}"/>
              </a:ext>
            </a:extLst>
          </p:cNvPr>
          <p:cNvSpPr>
            <a:spLocks noGrp="1"/>
          </p:cNvSpPr>
          <p:nvPr>
            <p:ph idx="1"/>
          </p:nvPr>
        </p:nvSpPr>
        <p:spPr/>
        <p:txBody>
          <a:bodyPr>
            <a:normAutofit fontScale="77500" lnSpcReduction="20000"/>
          </a:bodyPr>
          <a:lstStyle/>
          <a:p>
            <a:pPr>
              <a:spcAft>
                <a:spcPts val="600"/>
              </a:spcAft>
            </a:pPr>
            <a:r>
              <a:rPr lang="en-GB" noProof="0" dirty="0"/>
              <a:t>Why do you think some people want to hide their online activities?</a:t>
            </a:r>
          </a:p>
          <a:p>
            <a:pPr>
              <a:spcAft>
                <a:spcPts val="600"/>
              </a:spcAft>
            </a:pPr>
            <a:r>
              <a:rPr lang="en-GB" b="1" noProof="0" dirty="0">
                <a:solidFill>
                  <a:srgbClr val="C00000"/>
                </a:solidFill>
              </a:rPr>
              <a:t>Some people want to hide their online activities because they care about their privacy and don’t want others to see what they’re doing, especially if it’s personal or sensitive. They may be doing research that they do not want to make public yet.</a:t>
            </a:r>
          </a:p>
          <a:p>
            <a:pPr>
              <a:spcAft>
                <a:spcPts val="600"/>
              </a:spcAft>
            </a:pPr>
            <a:r>
              <a:rPr lang="en-GB" b="1" noProof="0" dirty="0">
                <a:solidFill>
                  <a:srgbClr val="C00000"/>
                </a:solidFill>
              </a:rPr>
              <a:t>Others might want to avoid being tracked by companies or governments. </a:t>
            </a:r>
          </a:p>
          <a:p>
            <a:pPr>
              <a:spcAft>
                <a:spcPts val="600"/>
              </a:spcAft>
            </a:pPr>
            <a:r>
              <a:rPr lang="en-GB" b="1" noProof="0" dirty="0">
                <a:solidFill>
                  <a:srgbClr val="C00000"/>
                </a:solidFill>
              </a:rPr>
              <a:t>Unfortunately, some people also hide their activities because they are doing something illegal or breaking the rules online. So, people use hidden parts of the internet for both good and bad reasons.</a:t>
            </a:r>
          </a:p>
        </p:txBody>
      </p:sp>
      <p:sp>
        <p:nvSpPr>
          <p:cNvPr id="2" name="Title 1">
            <a:extLst>
              <a:ext uri="{FF2B5EF4-FFF2-40B4-BE49-F238E27FC236}">
                <a16:creationId xmlns:a16="http://schemas.microsoft.com/office/drawing/2014/main" id="{18F07293-A803-FBE8-F6E9-E7A93F26D5CE}"/>
              </a:ext>
            </a:extLst>
          </p:cNvPr>
          <p:cNvSpPr>
            <a:spLocks noGrp="1"/>
          </p:cNvSpPr>
          <p:nvPr>
            <p:ph type="title"/>
          </p:nvPr>
        </p:nvSpPr>
        <p:spPr/>
        <p:txBody>
          <a:bodyPr/>
          <a:lstStyle/>
          <a:p>
            <a:r>
              <a:rPr lang="en-GB" noProof="0" dirty="0"/>
              <a:t>The dark web</a:t>
            </a:r>
          </a:p>
        </p:txBody>
      </p:sp>
    </p:spTree>
    <p:extLst>
      <p:ext uri="{BB962C8B-B14F-4D97-AF65-F5344CB8AC3E}">
        <p14:creationId xmlns:p14="http://schemas.microsoft.com/office/powerpoint/2010/main" val="3025601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E6A7A-3020-0CAD-2D03-D6E1ED2B1E8D}"/>
              </a:ext>
            </a:extLst>
          </p:cNvPr>
          <p:cNvSpPr>
            <a:spLocks noGrp="1"/>
          </p:cNvSpPr>
          <p:nvPr>
            <p:ph type="title"/>
          </p:nvPr>
        </p:nvSpPr>
        <p:spPr/>
        <p:txBody>
          <a:bodyPr/>
          <a:lstStyle/>
          <a:p>
            <a:r>
              <a:rPr lang="en-GB" noProof="0" dirty="0"/>
              <a:t>The dark web</a:t>
            </a:r>
          </a:p>
        </p:txBody>
      </p:sp>
      <p:sp>
        <p:nvSpPr>
          <p:cNvPr id="3" name="Content Placeholder 2">
            <a:extLst>
              <a:ext uri="{FF2B5EF4-FFF2-40B4-BE49-F238E27FC236}">
                <a16:creationId xmlns:a16="http://schemas.microsoft.com/office/drawing/2014/main" id="{AC12AD59-3578-EFC2-7479-A89721343221}"/>
              </a:ext>
            </a:extLst>
          </p:cNvPr>
          <p:cNvSpPr>
            <a:spLocks noGrp="1"/>
          </p:cNvSpPr>
          <p:nvPr>
            <p:ph idx="1"/>
          </p:nvPr>
        </p:nvSpPr>
        <p:spPr/>
        <p:txBody>
          <a:bodyPr>
            <a:normAutofit/>
          </a:bodyPr>
          <a:lstStyle/>
          <a:p>
            <a:r>
              <a:rPr lang="en-GB" noProof="0" dirty="0"/>
              <a:t>The dark web does not appear in search engines such as Google, DuckDuckGo or Bing because the websites on the dark web are not indexed or listed by these search engines. </a:t>
            </a:r>
          </a:p>
          <a:p>
            <a:r>
              <a:rPr lang="en-GB" noProof="0" dirty="0"/>
              <a:t>This means search engines can not find or show them in their results.</a:t>
            </a:r>
          </a:p>
          <a:p>
            <a:r>
              <a:rPr lang="en-GB" noProof="0" dirty="0"/>
              <a:t>They simply do not know they exist.</a:t>
            </a:r>
          </a:p>
        </p:txBody>
      </p:sp>
    </p:spTree>
    <p:extLst>
      <p:ext uri="{BB962C8B-B14F-4D97-AF65-F5344CB8AC3E}">
        <p14:creationId xmlns:p14="http://schemas.microsoft.com/office/powerpoint/2010/main" val="967010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8AD11-2847-42B5-9992-44196B0A49E5}"/>
              </a:ext>
            </a:extLst>
          </p:cNvPr>
          <p:cNvSpPr>
            <a:spLocks noGrp="1"/>
          </p:cNvSpPr>
          <p:nvPr>
            <p:ph type="title"/>
          </p:nvPr>
        </p:nvSpPr>
        <p:spPr/>
        <p:txBody>
          <a:bodyPr/>
          <a:lstStyle/>
          <a:p>
            <a:r>
              <a:rPr lang="en-GB" noProof="0" dirty="0"/>
              <a:t>The dark web</a:t>
            </a:r>
          </a:p>
        </p:txBody>
      </p:sp>
      <p:sp>
        <p:nvSpPr>
          <p:cNvPr id="3" name="Content Placeholder 2">
            <a:extLst>
              <a:ext uri="{FF2B5EF4-FFF2-40B4-BE49-F238E27FC236}">
                <a16:creationId xmlns:a16="http://schemas.microsoft.com/office/drawing/2014/main" id="{13CB6DEE-9D22-0CE6-7130-1D9BE8E5DAC9}"/>
              </a:ext>
            </a:extLst>
          </p:cNvPr>
          <p:cNvSpPr>
            <a:spLocks noGrp="1"/>
          </p:cNvSpPr>
          <p:nvPr>
            <p:ph idx="1"/>
          </p:nvPr>
        </p:nvSpPr>
        <p:spPr/>
        <p:txBody>
          <a:bodyPr>
            <a:normAutofit fontScale="92500" lnSpcReduction="20000"/>
          </a:bodyPr>
          <a:lstStyle/>
          <a:p>
            <a:r>
              <a:rPr lang="en-GB" noProof="0" dirty="0"/>
              <a:t>Websites on the dark web are designed to be hidden and can only be accessed using special browsers.</a:t>
            </a:r>
          </a:p>
          <a:p>
            <a:r>
              <a:rPr lang="en-GB" noProof="0" dirty="0"/>
              <a:t>They use unique web addresses that are not shared publicly and often require extra steps to find or access.</a:t>
            </a:r>
          </a:p>
          <a:p>
            <a:r>
              <a:rPr lang="en-GB" noProof="0" dirty="0"/>
              <a:t>You may have to be invited to see certain pages.</a:t>
            </a:r>
          </a:p>
          <a:p>
            <a:r>
              <a:rPr lang="en-GB" noProof="0" dirty="0"/>
              <a:t>This keeps the dark web private and secret, which is why it’s used for both privacy reasons and by people doing illegal activities.</a:t>
            </a:r>
          </a:p>
        </p:txBody>
      </p:sp>
    </p:spTree>
    <p:extLst>
      <p:ext uri="{BB962C8B-B14F-4D97-AF65-F5344CB8AC3E}">
        <p14:creationId xmlns:p14="http://schemas.microsoft.com/office/powerpoint/2010/main" val="3327680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E3D485-C962-8F3F-7D6F-FA5375948CCC}"/>
              </a:ext>
            </a:extLst>
          </p:cNvPr>
          <p:cNvSpPr>
            <a:spLocks noGrp="1"/>
          </p:cNvSpPr>
          <p:nvPr>
            <p:ph idx="1"/>
          </p:nvPr>
        </p:nvSpPr>
        <p:spPr/>
        <p:txBody>
          <a:bodyPr/>
          <a:lstStyle/>
          <a:p>
            <a:r>
              <a:rPr lang="en-GB" noProof="0" dirty="0"/>
              <a:t>What are the names of the three levels of the internet?</a:t>
            </a:r>
          </a:p>
          <a:p>
            <a:pPr marL="719138"/>
            <a:r>
              <a:rPr lang="en-GB" b="1" noProof="0" dirty="0">
                <a:solidFill>
                  <a:srgbClr val="C00000"/>
                </a:solidFill>
              </a:rPr>
              <a:t>Surface web</a:t>
            </a:r>
          </a:p>
          <a:p>
            <a:pPr marL="719138"/>
            <a:r>
              <a:rPr lang="en-GB" b="1" noProof="0" dirty="0">
                <a:solidFill>
                  <a:srgbClr val="C00000"/>
                </a:solidFill>
              </a:rPr>
              <a:t>Deep web</a:t>
            </a:r>
          </a:p>
          <a:p>
            <a:pPr marL="719138"/>
            <a:r>
              <a:rPr lang="en-GB" b="1" noProof="0" dirty="0">
                <a:solidFill>
                  <a:srgbClr val="C00000"/>
                </a:solidFill>
              </a:rPr>
              <a:t>Dark web</a:t>
            </a:r>
          </a:p>
        </p:txBody>
      </p:sp>
      <p:sp>
        <p:nvSpPr>
          <p:cNvPr id="2" name="Title 1">
            <a:extLst>
              <a:ext uri="{FF2B5EF4-FFF2-40B4-BE49-F238E27FC236}">
                <a16:creationId xmlns:a16="http://schemas.microsoft.com/office/drawing/2014/main" id="{258E61F8-7A4E-01A3-7D5D-A5A3F589D555}"/>
              </a:ext>
            </a:extLst>
          </p:cNvPr>
          <p:cNvSpPr>
            <a:spLocks noGrp="1"/>
          </p:cNvSpPr>
          <p:nvPr>
            <p:ph type="title"/>
          </p:nvPr>
        </p:nvSpPr>
        <p:spPr/>
        <p:txBody>
          <a:bodyPr/>
          <a:lstStyle/>
          <a:p>
            <a:r>
              <a:rPr lang="en-GB" noProof="0" dirty="0"/>
              <a:t>The dark web</a:t>
            </a:r>
          </a:p>
        </p:txBody>
      </p:sp>
    </p:spTree>
    <p:extLst>
      <p:ext uri="{BB962C8B-B14F-4D97-AF65-F5344CB8AC3E}">
        <p14:creationId xmlns:p14="http://schemas.microsoft.com/office/powerpoint/2010/main" val="904874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BE07CC-E831-37B2-49F1-10AB33AB5B5D}"/>
              </a:ext>
            </a:extLst>
          </p:cNvPr>
          <p:cNvSpPr>
            <a:spLocks noGrp="1"/>
          </p:cNvSpPr>
          <p:nvPr>
            <p:ph idx="1"/>
          </p:nvPr>
        </p:nvSpPr>
        <p:spPr/>
        <p:txBody>
          <a:bodyPr/>
          <a:lstStyle/>
          <a:p>
            <a:r>
              <a:rPr lang="en-GB" noProof="0" dirty="0"/>
              <a:t>Name two differences between the surface web and the dark web.</a:t>
            </a:r>
          </a:p>
        </p:txBody>
      </p:sp>
      <p:sp>
        <p:nvSpPr>
          <p:cNvPr id="2" name="Title 1">
            <a:extLst>
              <a:ext uri="{FF2B5EF4-FFF2-40B4-BE49-F238E27FC236}">
                <a16:creationId xmlns:a16="http://schemas.microsoft.com/office/drawing/2014/main" id="{4EC78812-35DC-B1CD-822B-D6B01548FB53}"/>
              </a:ext>
            </a:extLst>
          </p:cNvPr>
          <p:cNvSpPr>
            <a:spLocks noGrp="1"/>
          </p:cNvSpPr>
          <p:nvPr>
            <p:ph type="title"/>
          </p:nvPr>
        </p:nvSpPr>
        <p:spPr/>
        <p:txBody>
          <a:bodyPr/>
          <a:lstStyle/>
          <a:p>
            <a:r>
              <a:rPr lang="en-GB" noProof="0" dirty="0"/>
              <a:t>1: The dark web</a:t>
            </a:r>
          </a:p>
        </p:txBody>
      </p:sp>
    </p:spTree>
    <p:extLst>
      <p:ext uri="{BB962C8B-B14F-4D97-AF65-F5344CB8AC3E}">
        <p14:creationId xmlns:p14="http://schemas.microsoft.com/office/powerpoint/2010/main" val="20003789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C9BD3-0770-193B-218F-941F7A8C7BA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C1D96D-7B4C-8139-7F52-F5D28614104D}"/>
              </a:ext>
            </a:extLst>
          </p:cNvPr>
          <p:cNvSpPr>
            <a:spLocks noGrp="1"/>
          </p:cNvSpPr>
          <p:nvPr>
            <p:ph idx="1"/>
          </p:nvPr>
        </p:nvSpPr>
        <p:spPr/>
        <p:txBody>
          <a:bodyPr>
            <a:normAutofit fontScale="92500"/>
          </a:bodyPr>
          <a:lstStyle/>
          <a:p>
            <a:r>
              <a:rPr lang="en-GB" noProof="0" dirty="0"/>
              <a:t>Name two differences between the surface web and the dark web.</a:t>
            </a:r>
          </a:p>
          <a:p>
            <a:pPr marL="742950" indent="-742950">
              <a:buFont typeface="+mj-lt"/>
              <a:buAutoNum type="arabicPeriod"/>
            </a:pPr>
            <a:r>
              <a:rPr lang="en-GB" b="1" noProof="0" dirty="0">
                <a:solidFill>
                  <a:srgbClr val="C00000"/>
                </a:solidFill>
              </a:rPr>
              <a:t>The surface web can be found using search engines such as Google, but the dark web cannot be found this way and needs a special browser to access.</a:t>
            </a:r>
          </a:p>
          <a:p>
            <a:pPr marL="742950" indent="-742950">
              <a:buFont typeface="+mj-lt"/>
              <a:buAutoNum type="arabicPeriod"/>
            </a:pPr>
            <a:r>
              <a:rPr lang="en-GB" b="1" noProof="0" dirty="0">
                <a:solidFill>
                  <a:srgbClr val="C00000"/>
                </a:solidFill>
              </a:rPr>
              <a:t>Most websites on the surface web are public and legal, while the dark web is hidden and often used for secret or illegal activities.</a:t>
            </a:r>
          </a:p>
        </p:txBody>
      </p:sp>
      <p:sp>
        <p:nvSpPr>
          <p:cNvPr id="2" name="Title 1">
            <a:extLst>
              <a:ext uri="{FF2B5EF4-FFF2-40B4-BE49-F238E27FC236}">
                <a16:creationId xmlns:a16="http://schemas.microsoft.com/office/drawing/2014/main" id="{0C753A53-8B6A-04FA-01C0-F392F4B8B9CB}"/>
              </a:ext>
            </a:extLst>
          </p:cNvPr>
          <p:cNvSpPr>
            <a:spLocks noGrp="1"/>
          </p:cNvSpPr>
          <p:nvPr>
            <p:ph type="title"/>
          </p:nvPr>
        </p:nvSpPr>
        <p:spPr/>
        <p:txBody>
          <a:bodyPr/>
          <a:lstStyle/>
          <a:p>
            <a:r>
              <a:rPr lang="en-GB" noProof="0" dirty="0"/>
              <a:t>1: The dark web </a:t>
            </a:r>
            <a:r>
              <a:rPr lang="en-GB" noProof="0" dirty="0">
                <a:solidFill>
                  <a:srgbClr val="C00000"/>
                </a:solidFill>
              </a:rPr>
              <a:t>ANSWERS</a:t>
            </a:r>
          </a:p>
        </p:txBody>
      </p:sp>
    </p:spTree>
    <p:extLst>
      <p:ext uri="{BB962C8B-B14F-4D97-AF65-F5344CB8AC3E}">
        <p14:creationId xmlns:p14="http://schemas.microsoft.com/office/powerpoint/2010/main" val="2606739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44EEF-47EC-5C15-BBE1-847B1CD9D9BC}"/>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1785ED4E-29D7-20F4-9B29-EACFA2D1F809}"/>
              </a:ext>
            </a:extLst>
          </p:cNvPr>
          <p:cNvSpPr/>
          <p:nvPr/>
        </p:nvSpPr>
        <p:spPr>
          <a:xfrm>
            <a:off x="413992" y="2291779"/>
            <a:ext cx="11364016" cy="763571"/>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6F7389A3-25F5-AEDD-14A3-BA5A993AE20D}"/>
              </a:ext>
            </a:extLst>
          </p:cNvPr>
          <p:cNvSpPr>
            <a:spLocks noGrp="1"/>
          </p:cNvSpPr>
          <p:nvPr>
            <p:ph type="title"/>
          </p:nvPr>
        </p:nvSpPr>
        <p:spPr/>
        <p:txBody>
          <a:bodyPr/>
          <a:lstStyle/>
          <a:p>
            <a:r>
              <a:rPr lang="en-GB" noProof="0" dirty="0"/>
              <a:t>Steps to success</a:t>
            </a:r>
          </a:p>
        </p:txBody>
      </p:sp>
      <p:sp>
        <p:nvSpPr>
          <p:cNvPr id="3" name="Content Placeholder 2">
            <a:extLst>
              <a:ext uri="{FF2B5EF4-FFF2-40B4-BE49-F238E27FC236}">
                <a16:creationId xmlns:a16="http://schemas.microsoft.com/office/drawing/2014/main" id="{D27E367C-42A2-6CA9-8050-F8272A33F82D}"/>
              </a:ext>
            </a:extLst>
          </p:cNvPr>
          <p:cNvSpPr>
            <a:spLocks noGrp="1"/>
          </p:cNvSpPr>
          <p:nvPr>
            <p:ph idx="1"/>
          </p:nvPr>
        </p:nvSpPr>
        <p:spPr>
          <a:xfrm>
            <a:off x="413992" y="1581149"/>
            <a:ext cx="10749308" cy="4685481"/>
          </a:xfrm>
        </p:spPr>
        <p:txBody>
          <a:bodyPr/>
          <a:lstStyle/>
          <a:p>
            <a:pPr marL="809625" indent="-723900">
              <a:buClr>
                <a:srgbClr val="C00000"/>
              </a:buClr>
              <a:buSzPct val="107000"/>
              <a:buFont typeface="+mj-lt"/>
              <a:buAutoNum type="arabicPeriod"/>
            </a:pPr>
            <a:r>
              <a:rPr lang="en-GB" sz="3600" noProof="0" dirty="0"/>
              <a:t>The dark web</a:t>
            </a:r>
          </a:p>
          <a:p>
            <a:pPr marL="809625" indent="-723900">
              <a:buClr>
                <a:srgbClr val="C00000"/>
              </a:buClr>
              <a:buSzPct val="107000"/>
              <a:buFont typeface="+mj-lt"/>
              <a:buAutoNum type="arabicPeriod"/>
            </a:pPr>
            <a:r>
              <a:rPr lang="en-GB" sz="3600" noProof="0" dirty="0"/>
              <a:t>Stolen data </a:t>
            </a:r>
          </a:p>
          <a:p>
            <a:pPr marL="809625" indent="-723900">
              <a:buClr>
                <a:srgbClr val="C00000"/>
              </a:buClr>
              <a:buSzPct val="107000"/>
              <a:buFont typeface="+mj-lt"/>
              <a:buAutoNum type="arabicPeriod"/>
            </a:pPr>
            <a:r>
              <a:rPr lang="en-GB" sz="3600" noProof="0" dirty="0"/>
              <a:t>Risks  </a:t>
            </a:r>
            <a:endParaRPr lang="en-GB" noProof="0" dirty="0"/>
          </a:p>
        </p:txBody>
      </p:sp>
    </p:spTree>
    <p:extLst>
      <p:ext uri="{BB962C8B-B14F-4D97-AF65-F5344CB8AC3E}">
        <p14:creationId xmlns:p14="http://schemas.microsoft.com/office/powerpoint/2010/main" val="3000866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B9CF16-6962-7E46-48B7-A1890922D4FE}"/>
              </a:ext>
            </a:extLst>
          </p:cNvPr>
          <p:cNvSpPr>
            <a:spLocks noGrp="1"/>
          </p:cNvSpPr>
          <p:nvPr>
            <p:ph type="title"/>
          </p:nvPr>
        </p:nvSpPr>
        <p:spPr/>
        <p:txBody>
          <a:bodyPr/>
          <a:lstStyle/>
          <a:p>
            <a:r>
              <a:rPr lang="en-GB" noProof="0" dirty="0"/>
              <a:t>Stolen data </a:t>
            </a:r>
          </a:p>
        </p:txBody>
      </p:sp>
      <p:sp>
        <p:nvSpPr>
          <p:cNvPr id="5" name="Content Placeholder 4">
            <a:extLst>
              <a:ext uri="{FF2B5EF4-FFF2-40B4-BE49-F238E27FC236}">
                <a16:creationId xmlns:a16="http://schemas.microsoft.com/office/drawing/2014/main" id="{0FEDE7DC-662D-B0E3-245D-070E32E620CC}"/>
              </a:ext>
            </a:extLst>
          </p:cNvPr>
          <p:cNvSpPr>
            <a:spLocks noGrp="1"/>
          </p:cNvSpPr>
          <p:nvPr>
            <p:ph idx="1"/>
          </p:nvPr>
        </p:nvSpPr>
        <p:spPr/>
        <p:txBody>
          <a:bodyPr>
            <a:normAutofit fontScale="92500" lnSpcReduction="10000"/>
          </a:bodyPr>
          <a:lstStyle/>
          <a:p>
            <a:r>
              <a:rPr lang="en-GB" noProof="0" dirty="0"/>
              <a:t>Cybercriminals use different tricks to steal information from people and organisations.</a:t>
            </a:r>
          </a:p>
          <a:p>
            <a:r>
              <a:rPr lang="en-GB" noProof="0" dirty="0"/>
              <a:t>Hacking means breaking into computer systems to access private information.</a:t>
            </a:r>
          </a:p>
          <a:p>
            <a:r>
              <a:rPr lang="en-GB" noProof="0" dirty="0"/>
              <a:t>Phishing is when criminals send fake emails or messages to trick people into giving away passwords or personal details.</a:t>
            </a:r>
          </a:p>
          <a:p>
            <a:r>
              <a:rPr lang="en-GB" noProof="0" dirty="0"/>
              <a:t>Sometimes, they use viruses or malware to secretly collect data from computers.</a:t>
            </a:r>
          </a:p>
        </p:txBody>
      </p:sp>
    </p:spTree>
    <p:extLst>
      <p:ext uri="{BB962C8B-B14F-4D97-AF65-F5344CB8AC3E}">
        <p14:creationId xmlns:p14="http://schemas.microsoft.com/office/powerpoint/2010/main" val="2768654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3BDD9-C577-DBD5-89DB-138345576B1A}"/>
              </a:ext>
            </a:extLst>
          </p:cNvPr>
          <p:cNvSpPr>
            <a:spLocks noGrp="1"/>
          </p:cNvSpPr>
          <p:nvPr>
            <p:ph type="title"/>
          </p:nvPr>
        </p:nvSpPr>
        <p:spPr/>
        <p:txBody>
          <a:bodyPr/>
          <a:lstStyle/>
          <a:p>
            <a:r>
              <a:rPr lang="en-GB" noProof="0" dirty="0"/>
              <a:t>Stolen data</a:t>
            </a:r>
          </a:p>
        </p:txBody>
      </p:sp>
      <p:sp>
        <p:nvSpPr>
          <p:cNvPr id="3" name="Content Placeholder 2">
            <a:extLst>
              <a:ext uri="{FF2B5EF4-FFF2-40B4-BE49-F238E27FC236}">
                <a16:creationId xmlns:a16="http://schemas.microsoft.com/office/drawing/2014/main" id="{3716C719-D7C7-17DE-FCC2-E98B89DE2737}"/>
              </a:ext>
            </a:extLst>
          </p:cNvPr>
          <p:cNvSpPr>
            <a:spLocks noGrp="1"/>
          </p:cNvSpPr>
          <p:nvPr>
            <p:ph idx="1"/>
          </p:nvPr>
        </p:nvSpPr>
        <p:spPr/>
        <p:txBody>
          <a:bodyPr/>
          <a:lstStyle/>
          <a:p>
            <a:r>
              <a:rPr lang="en-GB" noProof="0" dirty="0"/>
              <a:t>Once cybercriminals have stolen data, they usually do not keep it for themselves.</a:t>
            </a:r>
          </a:p>
          <a:p>
            <a:r>
              <a:rPr lang="en-GB" noProof="0" dirty="0"/>
              <a:t>They collect things such as passwords, bank details or personal information.</a:t>
            </a:r>
          </a:p>
          <a:p>
            <a:r>
              <a:rPr lang="en-GB" noProof="0" dirty="0"/>
              <a:t>This stolen data is then secretly sold to others who want to use it for crime so many criminals will have access to the data.</a:t>
            </a:r>
          </a:p>
          <a:p>
            <a:endParaRPr lang="en-GB" noProof="0" dirty="0"/>
          </a:p>
        </p:txBody>
      </p:sp>
    </p:spTree>
    <p:extLst>
      <p:ext uri="{BB962C8B-B14F-4D97-AF65-F5344CB8AC3E}">
        <p14:creationId xmlns:p14="http://schemas.microsoft.com/office/powerpoint/2010/main" val="218644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72C7F-404C-B1DC-816F-A0BE70412243}"/>
              </a:ext>
            </a:extLst>
          </p:cNvPr>
          <p:cNvSpPr>
            <a:spLocks noGrp="1"/>
          </p:cNvSpPr>
          <p:nvPr>
            <p:ph type="title"/>
          </p:nvPr>
        </p:nvSpPr>
        <p:spPr/>
        <p:txBody>
          <a:bodyPr/>
          <a:lstStyle/>
          <a:p>
            <a:r>
              <a:rPr lang="en-GB" noProof="0" dirty="0"/>
              <a:t>Stolen data</a:t>
            </a:r>
          </a:p>
        </p:txBody>
      </p:sp>
      <p:sp>
        <p:nvSpPr>
          <p:cNvPr id="3" name="Content Placeholder 2">
            <a:extLst>
              <a:ext uri="{FF2B5EF4-FFF2-40B4-BE49-F238E27FC236}">
                <a16:creationId xmlns:a16="http://schemas.microsoft.com/office/drawing/2014/main" id="{C2F7ADD6-541A-4949-8996-DA4481F7CCF7}"/>
              </a:ext>
            </a:extLst>
          </p:cNvPr>
          <p:cNvSpPr>
            <a:spLocks noGrp="1"/>
          </p:cNvSpPr>
          <p:nvPr>
            <p:ph idx="1"/>
          </p:nvPr>
        </p:nvSpPr>
        <p:spPr/>
        <p:txBody>
          <a:bodyPr>
            <a:normAutofit/>
          </a:bodyPr>
          <a:lstStyle/>
          <a:p>
            <a:r>
              <a:rPr lang="en-GB" noProof="0" dirty="0"/>
              <a:t>There are hidden websites, called </a:t>
            </a:r>
            <a:r>
              <a:rPr lang="en-GB" b="1" noProof="0" dirty="0">
                <a:solidFill>
                  <a:srgbClr val="C00000"/>
                </a:solidFill>
              </a:rPr>
              <a:t>illegal marketplaces</a:t>
            </a:r>
            <a:r>
              <a:rPr lang="en-GB" noProof="0" dirty="0"/>
              <a:t>, where criminals buy and sell stolen information.</a:t>
            </a:r>
          </a:p>
          <a:p>
            <a:r>
              <a:rPr lang="en-GB" noProof="0" dirty="0"/>
              <a:t>These sites are not found on Google and are on the dark web.</a:t>
            </a:r>
          </a:p>
          <a:p>
            <a:r>
              <a:rPr lang="en-GB" noProof="0" dirty="0"/>
              <a:t>Transactions are often made using cryptocurrencies to hide identities.</a:t>
            </a:r>
          </a:p>
        </p:txBody>
      </p:sp>
    </p:spTree>
    <p:extLst>
      <p:ext uri="{BB962C8B-B14F-4D97-AF65-F5344CB8AC3E}">
        <p14:creationId xmlns:p14="http://schemas.microsoft.com/office/powerpoint/2010/main" val="1916874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F05FF-1CAA-6465-9AB7-5EF2C3F120AC}"/>
              </a:ext>
            </a:extLst>
          </p:cNvPr>
          <p:cNvSpPr>
            <a:spLocks noGrp="1"/>
          </p:cNvSpPr>
          <p:nvPr>
            <p:ph type="title"/>
          </p:nvPr>
        </p:nvSpPr>
        <p:spPr/>
        <p:txBody>
          <a:bodyPr/>
          <a:lstStyle/>
          <a:p>
            <a:r>
              <a:rPr lang="en-GB" noProof="0" dirty="0"/>
              <a:t>Stolen data</a:t>
            </a:r>
          </a:p>
        </p:txBody>
      </p:sp>
      <p:sp>
        <p:nvSpPr>
          <p:cNvPr id="3" name="Content Placeholder 2">
            <a:extLst>
              <a:ext uri="{FF2B5EF4-FFF2-40B4-BE49-F238E27FC236}">
                <a16:creationId xmlns:a16="http://schemas.microsoft.com/office/drawing/2014/main" id="{3BC1C941-C761-E7B6-65C2-7B312DAE73F8}"/>
              </a:ext>
            </a:extLst>
          </p:cNvPr>
          <p:cNvSpPr>
            <a:spLocks noGrp="1"/>
          </p:cNvSpPr>
          <p:nvPr>
            <p:ph idx="1"/>
          </p:nvPr>
        </p:nvSpPr>
        <p:spPr/>
        <p:txBody>
          <a:bodyPr>
            <a:normAutofit fontScale="85000" lnSpcReduction="20000"/>
          </a:bodyPr>
          <a:lstStyle/>
          <a:p>
            <a:r>
              <a:rPr lang="en-GB" noProof="0" dirty="0"/>
              <a:t>On these illegal marketplaces, you might find:</a:t>
            </a:r>
          </a:p>
          <a:p>
            <a:pPr marL="893763" indent="-441325">
              <a:buFont typeface="Arial" panose="020B0604020202020204" pitchFamily="34" charset="0"/>
              <a:buChar char="•"/>
            </a:pPr>
            <a:r>
              <a:rPr lang="en-GB" noProof="0" dirty="0"/>
              <a:t>Stolen passwords and login details</a:t>
            </a:r>
          </a:p>
          <a:p>
            <a:pPr marL="893763" indent="-441325">
              <a:buFont typeface="Arial" panose="020B0604020202020204" pitchFamily="34" charset="0"/>
              <a:buChar char="•"/>
            </a:pPr>
            <a:r>
              <a:rPr lang="en-GB" noProof="0" dirty="0"/>
              <a:t>Credit card numbers and bank account information</a:t>
            </a:r>
          </a:p>
          <a:p>
            <a:pPr marL="893763" indent="-441325">
              <a:buFont typeface="Arial" panose="020B0604020202020204" pitchFamily="34" charset="0"/>
              <a:buChar char="•"/>
            </a:pPr>
            <a:r>
              <a:rPr lang="en-GB" noProof="0" dirty="0"/>
              <a:t>Fake documents, such as passports or ID cards</a:t>
            </a:r>
          </a:p>
          <a:p>
            <a:pPr marL="893763" indent="-441325">
              <a:buFont typeface="Arial" panose="020B0604020202020204" pitchFamily="34" charset="0"/>
              <a:buChar char="•"/>
            </a:pPr>
            <a:r>
              <a:rPr lang="en-GB" noProof="0" dirty="0"/>
              <a:t>Personal data, such as addresses and phone numbers</a:t>
            </a:r>
          </a:p>
          <a:p>
            <a:r>
              <a:rPr lang="en-GB" noProof="0" dirty="0"/>
              <a:t>All of these can be used for further crimes, such as identity theft or fraud.</a:t>
            </a:r>
          </a:p>
        </p:txBody>
      </p:sp>
    </p:spTree>
    <p:extLst>
      <p:ext uri="{BB962C8B-B14F-4D97-AF65-F5344CB8AC3E}">
        <p14:creationId xmlns:p14="http://schemas.microsoft.com/office/powerpoint/2010/main" val="1618175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1011841-C0C5-81F2-50C5-38C8BA0F116D}"/>
              </a:ext>
            </a:extLst>
          </p:cNvPr>
          <p:cNvSpPr>
            <a:spLocks noGrp="1"/>
          </p:cNvSpPr>
          <p:nvPr>
            <p:ph idx="1"/>
          </p:nvPr>
        </p:nvSpPr>
        <p:spPr/>
        <p:txBody>
          <a:bodyPr>
            <a:normAutofit/>
          </a:bodyPr>
          <a:lstStyle/>
          <a:p>
            <a:r>
              <a:rPr lang="en-GB" noProof="0" dirty="0"/>
              <a:t>What sort of things are sold on illegal marketplaces?</a:t>
            </a:r>
          </a:p>
          <a:p>
            <a:pPr marL="719138"/>
            <a:r>
              <a:rPr lang="en-GB" b="1" noProof="0" dirty="0">
                <a:solidFill>
                  <a:srgbClr val="C00000"/>
                </a:solidFill>
              </a:rPr>
              <a:t>Stolen passwords </a:t>
            </a:r>
          </a:p>
          <a:p>
            <a:pPr marL="719138"/>
            <a:r>
              <a:rPr lang="en-GB" b="1" noProof="0" dirty="0">
                <a:solidFill>
                  <a:srgbClr val="C00000"/>
                </a:solidFill>
              </a:rPr>
              <a:t>Credit card details </a:t>
            </a:r>
          </a:p>
          <a:p>
            <a:pPr marL="719138"/>
            <a:r>
              <a:rPr lang="en-GB" b="1" noProof="0" dirty="0">
                <a:solidFill>
                  <a:srgbClr val="C00000"/>
                </a:solidFill>
              </a:rPr>
              <a:t>Fake ID documents</a:t>
            </a:r>
          </a:p>
          <a:p>
            <a:pPr marL="719138"/>
            <a:r>
              <a:rPr lang="en-GB" b="1" noProof="0" dirty="0">
                <a:solidFill>
                  <a:srgbClr val="C00000"/>
                </a:solidFill>
              </a:rPr>
              <a:t>Personal information</a:t>
            </a:r>
          </a:p>
        </p:txBody>
      </p:sp>
      <p:sp>
        <p:nvSpPr>
          <p:cNvPr id="4" name="Title 3">
            <a:extLst>
              <a:ext uri="{FF2B5EF4-FFF2-40B4-BE49-F238E27FC236}">
                <a16:creationId xmlns:a16="http://schemas.microsoft.com/office/drawing/2014/main" id="{3E181CF9-3229-02C0-9713-E28D5E962F41}"/>
              </a:ext>
            </a:extLst>
          </p:cNvPr>
          <p:cNvSpPr>
            <a:spLocks noGrp="1"/>
          </p:cNvSpPr>
          <p:nvPr>
            <p:ph type="title"/>
          </p:nvPr>
        </p:nvSpPr>
        <p:spPr/>
        <p:txBody>
          <a:bodyPr/>
          <a:lstStyle/>
          <a:p>
            <a:r>
              <a:rPr lang="en-GB" noProof="0" dirty="0"/>
              <a:t>Stolen data</a:t>
            </a:r>
          </a:p>
        </p:txBody>
      </p:sp>
    </p:spTree>
    <p:extLst>
      <p:ext uri="{BB962C8B-B14F-4D97-AF65-F5344CB8AC3E}">
        <p14:creationId xmlns:p14="http://schemas.microsoft.com/office/powerpoint/2010/main" val="3807190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BE3BED8-1F55-AE2B-43BF-E9A6911A9780}"/>
              </a:ext>
            </a:extLst>
          </p:cNvPr>
          <p:cNvSpPr>
            <a:spLocks noGrp="1"/>
          </p:cNvSpPr>
          <p:nvPr>
            <p:ph idx="1"/>
          </p:nvPr>
        </p:nvSpPr>
        <p:spPr/>
        <p:txBody>
          <a:bodyPr>
            <a:normAutofit fontScale="92500" lnSpcReduction="10000"/>
          </a:bodyPr>
          <a:lstStyle/>
          <a:p>
            <a:r>
              <a:rPr lang="en-GB" noProof="0" dirty="0"/>
              <a:t>How could stolen data affect someone’s life?</a:t>
            </a:r>
          </a:p>
          <a:p>
            <a:r>
              <a:rPr lang="en-GB" b="1" noProof="0" dirty="0">
                <a:solidFill>
                  <a:srgbClr val="C00000"/>
                </a:solidFill>
              </a:rPr>
              <a:t>Stolen data can cause a lot of problems for someone. </a:t>
            </a:r>
          </a:p>
          <a:p>
            <a:r>
              <a:rPr lang="en-GB" b="1" noProof="0" dirty="0">
                <a:solidFill>
                  <a:srgbClr val="C00000"/>
                </a:solidFill>
              </a:rPr>
              <a:t>Criminals might use personal information to steal money from bank accounts, buy things in someone else’s name or even pretend to be that person online. </a:t>
            </a:r>
          </a:p>
          <a:p>
            <a:r>
              <a:rPr lang="en-GB" b="1" noProof="0" dirty="0">
                <a:solidFill>
                  <a:srgbClr val="C00000"/>
                </a:solidFill>
              </a:rPr>
              <a:t>This can lead to stress, loss of money and damage to someone’s reputation.</a:t>
            </a:r>
            <a:endParaRPr lang="en-GB" noProof="0" dirty="0"/>
          </a:p>
        </p:txBody>
      </p:sp>
      <p:sp>
        <p:nvSpPr>
          <p:cNvPr id="3" name="Title 2">
            <a:extLst>
              <a:ext uri="{FF2B5EF4-FFF2-40B4-BE49-F238E27FC236}">
                <a16:creationId xmlns:a16="http://schemas.microsoft.com/office/drawing/2014/main" id="{8586CA53-0E57-093C-4543-074E6952C001}"/>
              </a:ext>
            </a:extLst>
          </p:cNvPr>
          <p:cNvSpPr>
            <a:spLocks noGrp="1"/>
          </p:cNvSpPr>
          <p:nvPr>
            <p:ph type="title"/>
          </p:nvPr>
        </p:nvSpPr>
        <p:spPr/>
        <p:txBody>
          <a:bodyPr/>
          <a:lstStyle/>
          <a:p>
            <a:r>
              <a:rPr lang="en-GB" noProof="0" dirty="0"/>
              <a:t>Stolen data</a:t>
            </a:r>
          </a:p>
        </p:txBody>
      </p:sp>
    </p:spTree>
    <p:extLst>
      <p:ext uri="{BB962C8B-B14F-4D97-AF65-F5344CB8AC3E}">
        <p14:creationId xmlns:p14="http://schemas.microsoft.com/office/powerpoint/2010/main" val="3695679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57536EC-578D-DE98-4350-1A69144D0A83}"/>
              </a:ext>
            </a:extLst>
          </p:cNvPr>
          <p:cNvSpPr>
            <a:spLocks noGrp="1"/>
          </p:cNvSpPr>
          <p:nvPr>
            <p:ph idx="1"/>
          </p:nvPr>
        </p:nvSpPr>
        <p:spPr/>
        <p:txBody>
          <a:bodyPr/>
          <a:lstStyle/>
          <a:p>
            <a:r>
              <a:rPr lang="en-GB" noProof="0" dirty="0"/>
              <a:t>List two ways criminals get information to sell.</a:t>
            </a:r>
          </a:p>
          <a:p>
            <a:pPr marL="360363"/>
            <a:r>
              <a:rPr lang="en-GB" b="1" noProof="0" dirty="0">
                <a:solidFill>
                  <a:srgbClr val="C00000"/>
                </a:solidFill>
              </a:rPr>
              <a:t>Criminals use social engineering techniques such as phishing to trick people into giving away their passwords or details.</a:t>
            </a:r>
          </a:p>
          <a:p>
            <a:pPr marL="360363"/>
            <a:r>
              <a:rPr lang="en-GB" b="1" noProof="0" dirty="0">
                <a:solidFill>
                  <a:srgbClr val="C00000"/>
                </a:solidFill>
              </a:rPr>
              <a:t>They hack into computer systems to steal information directly.</a:t>
            </a:r>
          </a:p>
          <a:p>
            <a:endParaRPr lang="en-GB" noProof="0" dirty="0"/>
          </a:p>
        </p:txBody>
      </p:sp>
      <p:sp>
        <p:nvSpPr>
          <p:cNvPr id="3" name="Title 2">
            <a:extLst>
              <a:ext uri="{FF2B5EF4-FFF2-40B4-BE49-F238E27FC236}">
                <a16:creationId xmlns:a16="http://schemas.microsoft.com/office/drawing/2014/main" id="{A00620B9-DFB0-E2D5-8DE3-9B796F208482}"/>
              </a:ext>
            </a:extLst>
          </p:cNvPr>
          <p:cNvSpPr>
            <a:spLocks noGrp="1"/>
          </p:cNvSpPr>
          <p:nvPr>
            <p:ph type="title"/>
          </p:nvPr>
        </p:nvSpPr>
        <p:spPr/>
        <p:txBody>
          <a:bodyPr/>
          <a:lstStyle/>
          <a:p>
            <a:r>
              <a:rPr lang="en-GB" noProof="0" dirty="0"/>
              <a:t>Stolen data</a:t>
            </a:r>
          </a:p>
        </p:txBody>
      </p:sp>
    </p:spTree>
    <p:extLst>
      <p:ext uri="{BB962C8B-B14F-4D97-AF65-F5344CB8AC3E}">
        <p14:creationId xmlns:p14="http://schemas.microsoft.com/office/powerpoint/2010/main" val="3013125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46850A0B-2D2B-120A-B1E7-988F7605691D}"/>
              </a:ext>
            </a:extLst>
          </p:cNvPr>
          <p:cNvSpPr>
            <a:spLocks noGrp="1"/>
          </p:cNvSpPr>
          <p:nvPr>
            <p:ph idx="1"/>
          </p:nvPr>
        </p:nvSpPr>
        <p:spPr>
          <a:xfrm>
            <a:off x="413992" y="1313894"/>
            <a:ext cx="11444927" cy="5241017"/>
          </a:xfrm>
        </p:spPr>
        <p:txBody>
          <a:bodyPr>
            <a:normAutofit fontScale="70000" lnSpcReduction="20000"/>
          </a:bodyPr>
          <a:lstStyle/>
          <a:p>
            <a:pPr>
              <a:lnSpc>
                <a:spcPct val="120000"/>
              </a:lnSpc>
              <a:spcAft>
                <a:spcPts val="600"/>
              </a:spcAft>
            </a:pPr>
            <a:r>
              <a:rPr lang="en-GB" noProof="0" dirty="0"/>
              <a:t>Complete each sentence by filling in the missing word from the word bank:</a:t>
            </a:r>
          </a:p>
          <a:p>
            <a:pPr>
              <a:lnSpc>
                <a:spcPct val="120000"/>
              </a:lnSpc>
              <a:spcAft>
                <a:spcPts val="600"/>
              </a:spcAft>
            </a:pPr>
            <a:endParaRPr lang="en-GB" noProof="0" dirty="0"/>
          </a:p>
          <a:p>
            <a:pPr>
              <a:lnSpc>
                <a:spcPct val="120000"/>
              </a:lnSpc>
              <a:spcAft>
                <a:spcPts val="600"/>
              </a:spcAft>
            </a:pPr>
            <a:endParaRPr lang="en-GB" noProof="0" dirty="0"/>
          </a:p>
          <a:p>
            <a:pPr>
              <a:lnSpc>
                <a:spcPct val="120000"/>
              </a:lnSpc>
              <a:spcAft>
                <a:spcPts val="600"/>
              </a:spcAft>
            </a:pPr>
            <a:r>
              <a:rPr lang="en-GB" noProof="0" dirty="0"/>
              <a:t>Cybercriminals often steal </a:t>
            </a:r>
            <a:r>
              <a:rPr lang="en-GB" noProof="0" dirty="0">
                <a:latin typeface="Arial" panose="020B0604020202020204" pitchFamily="34" charset="0"/>
                <a:cs typeface="Arial" panose="020B0604020202020204" pitchFamily="34" charset="0"/>
              </a:rPr>
              <a:t>__________</a:t>
            </a:r>
            <a:r>
              <a:rPr lang="en-GB" noProof="0" dirty="0"/>
              <a:t> information from people and businesses.</a:t>
            </a:r>
          </a:p>
          <a:p>
            <a:pPr>
              <a:lnSpc>
                <a:spcPct val="120000"/>
              </a:lnSpc>
              <a:spcAft>
                <a:spcPts val="600"/>
              </a:spcAft>
            </a:pPr>
            <a:r>
              <a:rPr lang="en-GB" noProof="0" dirty="0"/>
              <a:t>Stolen data, such as </a:t>
            </a:r>
            <a:r>
              <a:rPr lang="en-GB" noProof="0" dirty="0">
                <a:latin typeface="Arial" panose="020B0604020202020204" pitchFamily="34" charset="0"/>
                <a:cs typeface="Arial" panose="020B0604020202020204" pitchFamily="34" charset="0"/>
              </a:rPr>
              <a:t>__________</a:t>
            </a:r>
            <a:r>
              <a:rPr lang="en-GB" noProof="0" dirty="0"/>
              <a:t> details or </a:t>
            </a:r>
            <a:r>
              <a:rPr lang="en-GB" noProof="0" dirty="0">
                <a:latin typeface="Arial" panose="020B0604020202020204" pitchFamily="34" charset="0"/>
                <a:cs typeface="Arial" panose="020B0604020202020204" pitchFamily="34" charset="0"/>
              </a:rPr>
              <a:t>__________,</a:t>
            </a:r>
            <a:r>
              <a:rPr lang="en-GB" noProof="0" dirty="0"/>
              <a:t> can be sold online.</a:t>
            </a:r>
          </a:p>
          <a:p>
            <a:pPr>
              <a:lnSpc>
                <a:spcPct val="120000"/>
              </a:lnSpc>
              <a:spcAft>
                <a:spcPts val="600"/>
              </a:spcAft>
            </a:pPr>
            <a:r>
              <a:rPr lang="en-GB" noProof="0" dirty="0"/>
              <a:t>Illegal </a:t>
            </a:r>
            <a:r>
              <a:rPr lang="en-GB" noProof="0" dirty="0">
                <a:latin typeface="Arial" panose="020B0604020202020204" pitchFamily="34" charset="0"/>
                <a:cs typeface="Arial" panose="020B0604020202020204" pitchFamily="34" charset="0"/>
              </a:rPr>
              <a:t>__________</a:t>
            </a:r>
            <a:r>
              <a:rPr lang="en-GB" noProof="0" dirty="0"/>
              <a:t> are hidden websites on the </a:t>
            </a:r>
            <a:r>
              <a:rPr lang="en-GB" noProof="0" dirty="0">
                <a:latin typeface="Arial" panose="020B0604020202020204" pitchFamily="34" charset="0"/>
                <a:cs typeface="Arial" panose="020B0604020202020204" pitchFamily="34" charset="0"/>
              </a:rPr>
              <a:t>__________</a:t>
            </a:r>
            <a:r>
              <a:rPr lang="en-GB" noProof="0" dirty="0"/>
              <a:t> where </a:t>
            </a:r>
            <a:r>
              <a:rPr lang="en-GB" noProof="0" dirty="0">
                <a:latin typeface="Arial" panose="020B0604020202020204" pitchFamily="34" charset="0"/>
                <a:cs typeface="Arial" panose="020B0604020202020204" pitchFamily="34" charset="0"/>
              </a:rPr>
              <a:t>__________</a:t>
            </a:r>
            <a:r>
              <a:rPr lang="en-GB" noProof="0" dirty="0"/>
              <a:t> buy and sell stolen data.</a:t>
            </a:r>
          </a:p>
        </p:txBody>
      </p:sp>
      <p:sp>
        <p:nvSpPr>
          <p:cNvPr id="8" name="Title 7">
            <a:extLst>
              <a:ext uri="{FF2B5EF4-FFF2-40B4-BE49-F238E27FC236}">
                <a16:creationId xmlns:a16="http://schemas.microsoft.com/office/drawing/2014/main" id="{7A6EE4E8-8B7E-F35E-85A3-746A7820431C}"/>
              </a:ext>
            </a:extLst>
          </p:cNvPr>
          <p:cNvSpPr>
            <a:spLocks noGrp="1"/>
          </p:cNvSpPr>
          <p:nvPr>
            <p:ph type="title"/>
          </p:nvPr>
        </p:nvSpPr>
        <p:spPr/>
        <p:txBody>
          <a:bodyPr/>
          <a:lstStyle/>
          <a:p>
            <a:r>
              <a:rPr lang="en-GB" noProof="0" dirty="0"/>
              <a:t>2: Stolen data</a:t>
            </a:r>
          </a:p>
        </p:txBody>
      </p:sp>
      <p:graphicFrame>
        <p:nvGraphicFramePr>
          <p:cNvPr id="12" name="Table 11">
            <a:extLst>
              <a:ext uri="{FF2B5EF4-FFF2-40B4-BE49-F238E27FC236}">
                <a16:creationId xmlns:a16="http://schemas.microsoft.com/office/drawing/2014/main" id="{990F6D13-520F-65F2-C12D-457BCEEE83F8}"/>
              </a:ext>
            </a:extLst>
          </p:cNvPr>
          <p:cNvGraphicFramePr>
            <a:graphicFrameLocks noGrp="1"/>
          </p:cNvGraphicFramePr>
          <p:nvPr>
            <p:extLst>
              <p:ext uri="{D42A27DB-BD31-4B8C-83A1-F6EECF244321}">
                <p14:modId xmlns:p14="http://schemas.microsoft.com/office/powerpoint/2010/main" val="701842466"/>
              </p:ext>
            </p:extLst>
          </p:nvPr>
        </p:nvGraphicFramePr>
        <p:xfrm>
          <a:off x="413992" y="2313825"/>
          <a:ext cx="10961557" cy="847726"/>
        </p:xfrm>
        <a:graphic>
          <a:graphicData uri="http://schemas.openxmlformats.org/drawingml/2006/table">
            <a:tbl>
              <a:tblPr firstRow="1" firstCol="1" bandRow="1">
                <a:tableStyleId>{5C22544A-7EE6-4342-B048-85BDC9FD1C3A}</a:tableStyleId>
              </a:tblPr>
              <a:tblGrid>
                <a:gridCol w="3653447">
                  <a:extLst>
                    <a:ext uri="{9D8B030D-6E8A-4147-A177-3AD203B41FA5}">
                      <a16:colId xmlns:a16="http://schemas.microsoft.com/office/drawing/2014/main" val="738765094"/>
                    </a:ext>
                  </a:extLst>
                </a:gridCol>
                <a:gridCol w="3653447">
                  <a:extLst>
                    <a:ext uri="{9D8B030D-6E8A-4147-A177-3AD203B41FA5}">
                      <a16:colId xmlns:a16="http://schemas.microsoft.com/office/drawing/2014/main" val="884968627"/>
                    </a:ext>
                  </a:extLst>
                </a:gridCol>
                <a:gridCol w="3654663">
                  <a:extLst>
                    <a:ext uri="{9D8B030D-6E8A-4147-A177-3AD203B41FA5}">
                      <a16:colId xmlns:a16="http://schemas.microsoft.com/office/drawing/2014/main" val="4264989115"/>
                    </a:ext>
                  </a:extLst>
                </a:gridCol>
              </a:tblGrid>
              <a:tr h="384211">
                <a:tc>
                  <a:txBody>
                    <a:bodyPr/>
                    <a:lstStyle/>
                    <a:p>
                      <a:pPr algn="ctr">
                        <a:lnSpc>
                          <a:spcPct val="115000"/>
                        </a:lnSpc>
                        <a:spcAft>
                          <a:spcPts val="800"/>
                        </a:spcAft>
                        <a:buNone/>
                      </a:pPr>
                      <a:r>
                        <a:rPr lang="en-GB" sz="2500" b="0" kern="1200" noProof="0" dirty="0">
                          <a:solidFill>
                            <a:srgbClr val="002570"/>
                          </a:solidFill>
                          <a:latin typeface="OpenDyslexicAlta" panose="00000500000000000000" pitchFamily="50" charset="0"/>
                          <a:ea typeface="+mn-ea"/>
                          <a:cs typeface="+mn-cs"/>
                        </a:rPr>
                        <a:t>passwords</a:t>
                      </a:r>
                    </a:p>
                  </a:txBody>
                  <a:tcPr marL="68580" marR="68580"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lnSpc>
                          <a:spcPct val="115000"/>
                        </a:lnSpc>
                        <a:spcAft>
                          <a:spcPts val="800"/>
                        </a:spcAft>
                        <a:buNone/>
                      </a:pPr>
                      <a:r>
                        <a:rPr lang="en-GB" sz="2500" b="0" kern="1200" noProof="0" dirty="0">
                          <a:solidFill>
                            <a:srgbClr val="002570"/>
                          </a:solidFill>
                          <a:latin typeface="OpenDyslexicAlta" panose="00000500000000000000" pitchFamily="50" charset="0"/>
                          <a:ea typeface="+mn-ea"/>
                          <a:cs typeface="+mn-cs"/>
                        </a:rPr>
                        <a:t>marketplaces</a:t>
                      </a: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lnSpc>
                          <a:spcPct val="115000"/>
                        </a:lnSpc>
                        <a:spcAft>
                          <a:spcPts val="800"/>
                        </a:spcAft>
                        <a:buNone/>
                      </a:pPr>
                      <a:r>
                        <a:rPr lang="en-GB" sz="2500" b="0" kern="1200" noProof="0" dirty="0">
                          <a:solidFill>
                            <a:srgbClr val="002570"/>
                          </a:solidFill>
                          <a:latin typeface="OpenDyslexicAlta" panose="00000500000000000000" pitchFamily="50" charset="0"/>
                          <a:ea typeface="+mn-ea"/>
                          <a:cs typeface="+mn-cs"/>
                        </a:rPr>
                        <a:t>credit card</a:t>
                      </a:r>
                    </a:p>
                  </a:txBody>
                  <a:tcPr marL="68580" marR="6858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8760840"/>
                  </a:ext>
                </a:extLst>
              </a:tr>
              <a:tr h="384211">
                <a:tc>
                  <a:txBody>
                    <a:bodyPr/>
                    <a:lstStyle/>
                    <a:p>
                      <a:pPr algn="ctr">
                        <a:lnSpc>
                          <a:spcPct val="115000"/>
                        </a:lnSpc>
                        <a:spcAft>
                          <a:spcPts val="800"/>
                        </a:spcAft>
                        <a:buNone/>
                      </a:pPr>
                      <a:r>
                        <a:rPr lang="en-GB" sz="2500" b="0" kern="1200" noProof="0" dirty="0">
                          <a:solidFill>
                            <a:srgbClr val="002570"/>
                          </a:solidFill>
                          <a:latin typeface="OpenDyslexicAlta" panose="00000500000000000000" pitchFamily="50" charset="0"/>
                          <a:ea typeface="+mn-ea"/>
                          <a:cs typeface="+mn-cs"/>
                        </a:rPr>
                        <a:t>dark web</a:t>
                      </a:r>
                    </a:p>
                  </a:txBody>
                  <a:tcPr marL="68580" marR="68580" marT="0" marB="0" anchor="ctr">
                    <a:lnL w="12700" cap="flat" cmpd="sng" algn="ctr">
                      <a:solidFill>
                        <a:schemeClr val="tx1"/>
                      </a:solidFill>
                      <a:prstDash val="solid"/>
                      <a:round/>
                      <a:headEnd type="none" w="med" len="med"/>
                      <a:tailEnd type="none" w="med" len="med"/>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5000"/>
                        </a:lnSpc>
                        <a:spcAft>
                          <a:spcPts val="800"/>
                        </a:spcAft>
                        <a:buNone/>
                      </a:pPr>
                      <a:r>
                        <a:rPr lang="en-GB" sz="2500" b="0" kern="1200" noProof="0" dirty="0">
                          <a:solidFill>
                            <a:srgbClr val="002570"/>
                          </a:solidFill>
                          <a:latin typeface="OpenDyslexicAlta" panose="00000500000000000000" pitchFamily="50" charset="0"/>
                          <a:ea typeface="+mn-ea"/>
                          <a:cs typeface="+mn-cs"/>
                        </a:rPr>
                        <a:t>criminals</a:t>
                      </a:r>
                    </a:p>
                  </a:txBody>
                  <a:tcPr marL="68580" marR="68580" marT="0" marB="0" anchor="ctr">
                    <a:lnL w="12700" cmpd="sng">
                      <a:noFill/>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5000"/>
                        </a:lnSpc>
                        <a:spcAft>
                          <a:spcPts val="800"/>
                        </a:spcAft>
                        <a:buNone/>
                      </a:pPr>
                      <a:r>
                        <a:rPr lang="en-GB" sz="2500" b="0" kern="1200" noProof="0" dirty="0">
                          <a:solidFill>
                            <a:srgbClr val="002570"/>
                          </a:solidFill>
                          <a:latin typeface="OpenDyslexicAlta" panose="00000500000000000000" pitchFamily="50" charset="0"/>
                          <a:ea typeface="+mn-ea"/>
                          <a:cs typeface="+mn-cs"/>
                        </a:rPr>
                        <a:t>personal</a:t>
                      </a:r>
                    </a:p>
                  </a:txBody>
                  <a:tcPr marL="68580" marR="68580" marT="0" marB="0" anchor="ctr">
                    <a:lnL w="12700" cmpd="sng">
                      <a:noFill/>
                    </a:lnL>
                    <a:lnR w="12700" cap="flat" cmpd="sng" algn="ctr">
                      <a:solidFill>
                        <a:schemeClr val="tx1"/>
                      </a:solidFill>
                      <a:prstDash val="solid"/>
                      <a:round/>
                      <a:headEnd type="none" w="med" len="med"/>
                      <a:tailEnd type="none" w="med" len="med"/>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5388096"/>
                  </a:ext>
                </a:extLst>
              </a:tr>
            </a:tbl>
          </a:graphicData>
        </a:graphic>
      </p:graphicFrame>
    </p:spTree>
    <p:extLst>
      <p:ext uri="{BB962C8B-B14F-4D97-AF65-F5344CB8AC3E}">
        <p14:creationId xmlns:p14="http://schemas.microsoft.com/office/powerpoint/2010/main" val="12142033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A2787-0649-B1CB-57E1-ED4199C6167A}"/>
            </a:ext>
          </a:extLst>
        </p:cNvPr>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832D43F5-83F3-C0FB-A507-0079C37AE334}"/>
              </a:ext>
            </a:extLst>
          </p:cNvPr>
          <p:cNvSpPr>
            <a:spLocks noGrp="1"/>
          </p:cNvSpPr>
          <p:nvPr>
            <p:ph idx="1"/>
          </p:nvPr>
        </p:nvSpPr>
        <p:spPr>
          <a:xfrm>
            <a:off x="413992" y="1313894"/>
            <a:ext cx="11444927" cy="5241017"/>
          </a:xfrm>
        </p:spPr>
        <p:txBody>
          <a:bodyPr>
            <a:normAutofit fontScale="70000" lnSpcReduction="20000"/>
          </a:bodyPr>
          <a:lstStyle/>
          <a:p>
            <a:pPr>
              <a:lnSpc>
                <a:spcPct val="120000"/>
              </a:lnSpc>
              <a:spcAft>
                <a:spcPts val="600"/>
              </a:spcAft>
            </a:pPr>
            <a:r>
              <a:rPr lang="en-GB" noProof="0" dirty="0"/>
              <a:t>Complete each sentence by filling in the missing word from the word bank:</a:t>
            </a:r>
          </a:p>
          <a:p>
            <a:pPr>
              <a:lnSpc>
                <a:spcPct val="120000"/>
              </a:lnSpc>
              <a:spcAft>
                <a:spcPts val="600"/>
              </a:spcAft>
            </a:pPr>
            <a:endParaRPr lang="en-GB" noProof="0" dirty="0"/>
          </a:p>
          <a:p>
            <a:pPr>
              <a:lnSpc>
                <a:spcPct val="120000"/>
              </a:lnSpc>
              <a:spcAft>
                <a:spcPts val="600"/>
              </a:spcAft>
            </a:pPr>
            <a:endParaRPr lang="en-GB" noProof="0" dirty="0"/>
          </a:p>
          <a:p>
            <a:pPr>
              <a:lnSpc>
                <a:spcPct val="120000"/>
              </a:lnSpc>
              <a:spcAft>
                <a:spcPts val="600"/>
              </a:spcAft>
            </a:pPr>
            <a:r>
              <a:rPr lang="en-GB" noProof="0" dirty="0"/>
              <a:t>Cybercriminals often steal </a:t>
            </a:r>
            <a:r>
              <a:rPr lang="en-GB" noProof="0" dirty="0">
                <a:latin typeface="Arial" panose="020B0604020202020204" pitchFamily="34" charset="0"/>
                <a:cs typeface="Arial" panose="020B0604020202020204" pitchFamily="34" charset="0"/>
              </a:rPr>
              <a:t>__________</a:t>
            </a:r>
            <a:r>
              <a:rPr lang="en-GB" noProof="0" dirty="0"/>
              <a:t> information from people and businesses.</a:t>
            </a:r>
          </a:p>
          <a:p>
            <a:pPr>
              <a:lnSpc>
                <a:spcPct val="120000"/>
              </a:lnSpc>
              <a:spcAft>
                <a:spcPts val="600"/>
              </a:spcAft>
            </a:pPr>
            <a:r>
              <a:rPr lang="en-GB" noProof="0" dirty="0"/>
              <a:t>Stolen data, such as </a:t>
            </a:r>
            <a:r>
              <a:rPr lang="en-GB" noProof="0" dirty="0">
                <a:latin typeface="Arial" panose="020B0604020202020204" pitchFamily="34" charset="0"/>
                <a:cs typeface="Arial" panose="020B0604020202020204" pitchFamily="34" charset="0"/>
              </a:rPr>
              <a:t>__________</a:t>
            </a:r>
            <a:r>
              <a:rPr lang="en-GB" noProof="0" dirty="0"/>
              <a:t> details or </a:t>
            </a:r>
            <a:r>
              <a:rPr lang="en-GB" noProof="0" dirty="0">
                <a:latin typeface="Arial" panose="020B0604020202020204" pitchFamily="34" charset="0"/>
                <a:cs typeface="Arial" panose="020B0604020202020204" pitchFamily="34" charset="0"/>
              </a:rPr>
              <a:t>__________,</a:t>
            </a:r>
            <a:r>
              <a:rPr lang="en-GB" noProof="0" dirty="0"/>
              <a:t> can be sold online.</a:t>
            </a:r>
          </a:p>
          <a:p>
            <a:pPr>
              <a:lnSpc>
                <a:spcPct val="120000"/>
              </a:lnSpc>
              <a:spcAft>
                <a:spcPts val="600"/>
              </a:spcAft>
            </a:pPr>
            <a:r>
              <a:rPr lang="en-GB" noProof="0" dirty="0"/>
              <a:t>Illegal </a:t>
            </a:r>
            <a:r>
              <a:rPr lang="en-GB" noProof="0" dirty="0">
                <a:latin typeface="Arial" panose="020B0604020202020204" pitchFamily="34" charset="0"/>
                <a:cs typeface="Arial" panose="020B0604020202020204" pitchFamily="34" charset="0"/>
              </a:rPr>
              <a:t>__________</a:t>
            </a:r>
            <a:r>
              <a:rPr lang="en-GB" noProof="0" dirty="0"/>
              <a:t> are hidden websites on the </a:t>
            </a:r>
            <a:r>
              <a:rPr lang="en-GB" noProof="0" dirty="0">
                <a:latin typeface="Arial" panose="020B0604020202020204" pitchFamily="34" charset="0"/>
                <a:cs typeface="Arial" panose="020B0604020202020204" pitchFamily="34" charset="0"/>
              </a:rPr>
              <a:t>__________</a:t>
            </a:r>
            <a:r>
              <a:rPr lang="en-GB" noProof="0" dirty="0"/>
              <a:t> where </a:t>
            </a:r>
            <a:r>
              <a:rPr lang="en-GB" noProof="0" dirty="0">
                <a:latin typeface="Arial" panose="020B0604020202020204" pitchFamily="34" charset="0"/>
                <a:cs typeface="Arial" panose="020B0604020202020204" pitchFamily="34" charset="0"/>
              </a:rPr>
              <a:t>__________</a:t>
            </a:r>
            <a:r>
              <a:rPr lang="en-GB" noProof="0" dirty="0"/>
              <a:t> buy and sell stolen data.</a:t>
            </a:r>
          </a:p>
        </p:txBody>
      </p:sp>
      <p:sp>
        <p:nvSpPr>
          <p:cNvPr id="8" name="Title 7">
            <a:extLst>
              <a:ext uri="{FF2B5EF4-FFF2-40B4-BE49-F238E27FC236}">
                <a16:creationId xmlns:a16="http://schemas.microsoft.com/office/drawing/2014/main" id="{7E47A648-33BB-58CF-85DF-C89BFAC0B97B}"/>
              </a:ext>
            </a:extLst>
          </p:cNvPr>
          <p:cNvSpPr>
            <a:spLocks noGrp="1"/>
          </p:cNvSpPr>
          <p:nvPr>
            <p:ph type="title"/>
          </p:nvPr>
        </p:nvSpPr>
        <p:spPr/>
        <p:txBody>
          <a:bodyPr/>
          <a:lstStyle/>
          <a:p>
            <a:r>
              <a:rPr lang="en-GB" noProof="0" dirty="0"/>
              <a:t>2: Stolen data </a:t>
            </a:r>
            <a:r>
              <a:rPr lang="en-GB" noProof="0" dirty="0">
                <a:solidFill>
                  <a:srgbClr val="C00000"/>
                </a:solidFill>
              </a:rPr>
              <a:t>ANSWERS</a:t>
            </a:r>
          </a:p>
        </p:txBody>
      </p:sp>
      <p:graphicFrame>
        <p:nvGraphicFramePr>
          <p:cNvPr id="12" name="Table 11">
            <a:extLst>
              <a:ext uri="{FF2B5EF4-FFF2-40B4-BE49-F238E27FC236}">
                <a16:creationId xmlns:a16="http://schemas.microsoft.com/office/drawing/2014/main" id="{1BFB6AD3-A707-8DCC-F74C-06489D736F2F}"/>
              </a:ext>
            </a:extLst>
          </p:cNvPr>
          <p:cNvGraphicFramePr>
            <a:graphicFrameLocks noGrp="1"/>
          </p:cNvGraphicFramePr>
          <p:nvPr>
            <p:extLst>
              <p:ext uri="{D42A27DB-BD31-4B8C-83A1-F6EECF244321}">
                <p14:modId xmlns:p14="http://schemas.microsoft.com/office/powerpoint/2010/main" val="601516762"/>
              </p:ext>
            </p:extLst>
          </p:nvPr>
        </p:nvGraphicFramePr>
        <p:xfrm>
          <a:off x="413992" y="2313825"/>
          <a:ext cx="10961557" cy="847726"/>
        </p:xfrm>
        <a:graphic>
          <a:graphicData uri="http://schemas.openxmlformats.org/drawingml/2006/table">
            <a:tbl>
              <a:tblPr firstRow="1" firstCol="1" bandRow="1">
                <a:tableStyleId>{5C22544A-7EE6-4342-B048-85BDC9FD1C3A}</a:tableStyleId>
              </a:tblPr>
              <a:tblGrid>
                <a:gridCol w="3653447">
                  <a:extLst>
                    <a:ext uri="{9D8B030D-6E8A-4147-A177-3AD203B41FA5}">
                      <a16:colId xmlns:a16="http://schemas.microsoft.com/office/drawing/2014/main" val="738765094"/>
                    </a:ext>
                  </a:extLst>
                </a:gridCol>
                <a:gridCol w="3653447">
                  <a:extLst>
                    <a:ext uri="{9D8B030D-6E8A-4147-A177-3AD203B41FA5}">
                      <a16:colId xmlns:a16="http://schemas.microsoft.com/office/drawing/2014/main" val="884968627"/>
                    </a:ext>
                  </a:extLst>
                </a:gridCol>
                <a:gridCol w="3654663">
                  <a:extLst>
                    <a:ext uri="{9D8B030D-6E8A-4147-A177-3AD203B41FA5}">
                      <a16:colId xmlns:a16="http://schemas.microsoft.com/office/drawing/2014/main" val="4264989115"/>
                    </a:ext>
                  </a:extLst>
                </a:gridCol>
              </a:tblGrid>
              <a:tr h="384211">
                <a:tc>
                  <a:txBody>
                    <a:bodyPr/>
                    <a:lstStyle/>
                    <a:p>
                      <a:pPr algn="ctr">
                        <a:lnSpc>
                          <a:spcPct val="115000"/>
                        </a:lnSpc>
                        <a:spcAft>
                          <a:spcPts val="800"/>
                        </a:spcAft>
                        <a:buNone/>
                      </a:pPr>
                      <a:r>
                        <a:rPr lang="en-GB" sz="2500" b="0" kern="1200" noProof="0" dirty="0">
                          <a:solidFill>
                            <a:srgbClr val="002570"/>
                          </a:solidFill>
                          <a:latin typeface="OpenDyslexicAlta" panose="00000500000000000000" pitchFamily="50" charset="0"/>
                          <a:ea typeface="+mn-ea"/>
                          <a:cs typeface="+mn-cs"/>
                        </a:rPr>
                        <a:t>passwords</a:t>
                      </a:r>
                    </a:p>
                  </a:txBody>
                  <a:tcPr marL="68580" marR="68580"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lnSpc>
                          <a:spcPct val="115000"/>
                        </a:lnSpc>
                        <a:spcAft>
                          <a:spcPts val="800"/>
                        </a:spcAft>
                        <a:buNone/>
                      </a:pPr>
                      <a:r>
                        <a:rPr lang="en-GB" sz="2500" b="0" kern="1200" noProof="0" dirty="0">
                          <a:solidFill>
                            <a:srgbClr val="002570"/>
                          </a:solidFill>
                          <a:latin typeface="OpenDyslexicAlta" panose="00000500000000000000" pitchFamily="50" charset="0"/>
                          <a:ea typeface="+mn-ea"/>
                          <a:cs typeface="+mn-cs"/>
                        </a:rPr>
                        <a:t>marketplaces</a:t>
                      </a: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lnSpc>
                          <a:spcPct val="115000"/>
                        </a:lnSpc>
                        <a:spcAft>
                          <a:spcPts val="800"/>
                        </a:spcAft>
                        <a:buNone/>
                      </a:pPr>
                      <a:r>
                        <a:rPr lang="en-GB" sz="2500" b="0" kern="1200" noProof="0" dirty="0">
                          <a:solidFill>
                            <a:srgbClr val="002570"/>
                          </a:solidFill>
                          <a:latin typeface="OpenDyslexicAlta" panose="00000500000000000000" pitchFamily="50" charset="0"/>
                          <a:ea typeface="+mn-ea"/>
                          <a:cs typeface="+mn-cs"/>
                        </a:rPr>
                        <a:t>credit card</a:t>
                      </a:r>
                    </a:p>
                  </a:txBody>
                  <a:tcPr marL="68580" marR="6858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8760840"/>
                  </a:ext>
                </a:extLst>
              </a:tr>
              <a:tr h="384211">
                <a:tc>
                  <a:txBody>
                    <a:bodyPr/>
                    <a:lstStyle/>
                    <a:p>
                      <a:pPr algn="ctr">
                        <a:lnSpc>
                          <a:spcPct val="115000"/>
                        </a:lnSpc>
                        <a:spcAft>
                          <a:spcPts val="800"/>
                        </a:spcAft>
                        <a:buNone/>
                      </a:pPr>
                      <a:r>
                        <a:rPr lang="en-GB" sz="2500" b="0" kern="1200" noProof="0" dirty="0">
                          <a:solidFill>
                            <a:srgbClr val="002570"/>
                          </a:solidFill>
                          <a:latin typeface="OpenDyslexicAlta" panose="00000500000000000000" pitchFamily="50" charset="0"/>
                          <a:ea typeface="+mn-ea"/>
                          <a:cs typeface="+mn-cs"/>
                        </a:rPr>
                        <a:t>dark web</a:t>
                      </a:r>
                    </a:p>
                  </a:txBody>
                  <a:tcPr marL="68580" marR="68580" marT="0" marB="0" anchor="ctr">
                    <a:lnL w="12700" cap="flat" cmpd="sng" algn="ctr">
                      <a:solidFill>
                        <a:schemeClr val="tx1"/>
                      </a:solidFill>
                      <a:prstDash val="solid"/>
                      <a:round/>
                      <a:headEnd type="none" w="med" len="med"/>
                      <a:tailEnd type="none" w="med" len="med"/>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5000"/>
                        </a:lnSpc>
                        <a:spcAft>
                          <a:spcPts val="800"/>
                        </a:spcAft>
                        <a:buNone/>
                      </a:pPr>
                      <a:r>
                        <a:rPr lang="en-GB" sz="2500" b="0" kern="1200" noProof="0" dirty="0">
                          <a:solidFill>
                            <a:srgbClr val="002570"/>
                          </a:solidFill>
                          <a:latin typeface="OpenDyslexicAlta" panose="00000500000000000000" pitchFamily="50" charset="0"/>
                          <a:ea typeface="+mn-ea"/>
                          <a:cs typeface="+mn-cs"/>
                        </a:rPr>
                        <a:t>criminals</a:t>
                      </a:r>
                    </a:p>
                  </a:txBody>
                  <a:tcPr marL="68580" marR="68580" marT="0" marB="0" anchor="ctr">
                    <a:lnL w="12700" cmpd="sng">
                      <a:noFill/>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5000"/>
                        </a:lnSpc>
                        <a:spcAft>
                          <a:spcPts val="800"/>
                        </a:spcAft>
                        <a:buNone/>
                      </a:pPr>
                      <a:r>
                        <a:rPr lang="en-GB" sz="2500" b="0" kern="1200" noProof="0" dirty="0">
                          <a:solidFill>
                            <a:srgbClr val="002570"/>
                          </a:solidFill>
                          <a:latin typeface="OpenDyslexicAlta" panose="00000500000000000000" pitchFamily="50" charset="0"/>
                          <a:ea typeface="+mn-ea"/>
                          <a:cs typeface="+mn-cs"/>
                        </a:rPr>
                        <a:t>personal</a:t>
                      </a:r>
                    </a:p>
                  </a:txBody>
                  <a:tcPr marL="68580" marR="68580" marT="0" marB="0" anchor="ctr">
                    <a:lnL w="12700" cmpd="sng">
                      <a:noFill/>
                    </a:lnL>
                    <a:lnR w="12700" cap="flat" cmpd="sng" algn="ctr">
                      <a:solidFill>
                        <a:schemeClr val="tx1"/>
                      </a:solidFill>
                      <a:prstDash val="solid"/>
                      <a:round/>
                      <a:headEnd type="none" w="med" len="med"/>
                      <a:tailEnd type="none" w="med" len="med"/>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5388096"/>
                  </a:ext>
                </a:extLst>
              </a:tr>
            </a:tbl>
          </a:graphicData>
        </a:graphic>
      </p:graphicFrame>
      <p:sp>
        <p:nvSpPr>
          <p:cNvPr id="2" name="TextBox 1">
            <a:extLst>
              <a:ext uri="{FF2B5EF4-FFF2-40B4-BE49-F238E27FC236}">
                <a16:creationId xmlns:a16="http://schemas.microsoft.com/office/drawing/2014/main" id="{74E36B19-328B-239D-F927-7D0808B0E02F}"/>
              </a:ext>
            </a:extLst>
          </p:cNvPr>
          <p:cNvSpPr txBox="1"/>
          <p:nvPr/>
        </p:nvSpPr>
        <p:spPr>
          <a:xfrm>
            <a:off x="4718379" y="3383442"/>
            <a:ext cx="2352782" cy="477054"/>
          </a:xfrm>
          <a:prstGeom prst="rect">
            <a:avLst/>
          </a:prstGeom>
          <a:noFill/>
        </p:spPr>
        <p:txBody>
          <a:bodyPr wrap="square" rtlCol="0">
            <a:spAutoFit/>
          </a:bodyPr>
          <a:lstStyle/>
          <a:p>
            <a:pPr algn="ctr"/>
            <a:r>
              <a:rPr lang="en-GB" sz="2500" b="1" noProof="0" dirty="0">
                <a:solidFill>
                  <a:srgbClr val="C00000"/>
                </a:solidFill>
                <a:latin typeface="OpenDyslexicAlta" panose="00000500000000000000" pitchFamily="50" charset="0"/>
              </a:rPr>
              <a:t>personal</a:t>
            </a:r>
          </a:p>
        </p:txBody>
      </p:sp>
      <p:sp>
        <p:nvSpPr>
          <p:cNvPr id="3" name="TextBox 2">
            <a:extLst>
              <a:ext uri="{FF2B5EF4-FFF2-40B4-BE49-F238E27FC236}">
                <a16:creationId xmlns:a16="http://schemas.microsoft.com/office/drawing/2014/main" id="{B59541A0-FF0B-F376-95FD-CADBA23A9AC2}"/>
              </a:ext>
            </a:extLst>
          </p:cNvPr>
          <p:cNvSpPr txBox="1"/>
          <p:nvPr/>
        </p:nvSpPr>
        <p:spPr>
          <a:xfrm>
            <a:off x="3783673" y="4388025"/>
            <a:ext cx="2352782" cy="477054"/>
          </a:xfrm>
          <a:prstGeom prst="rect">
            <a:avLst/>
          </a:prstGeom>
          <a:noFill/>
        </p:spPr>
        <p:txBody>
          <a:bodyPr wrap="square" rtlCol="0">
            <a:spAutoFit/>
          </a:bodyPr>
          <a:lstStyle/>
          <a:p>
            <a:pPr algn="ctr"/>
            <a:r>
              <a:rPr lang="en-GB" sz="2500" b="1" noProof="0" dirty="0">
                <a:solidFill>
                  <a:srgbClr val="C00000"/>
                </a:solidFill>
                <a:latin typeface="OpenDyslexicAlta" panose="00000500000000000000" pitchFamily="50" charset="0"/>
              </a:rPr>
              <a:t>credit card</a:t>
            </a:r>
          </a:p>
        </p:txBody>
      </p:sp>
      <p:sp>
        <p:nvSpPr>
          <p:cNvPr id="4" name="TextBox 3">
            <a:extLst>
              <a:ext uri="{FF2B5EF4-FFF2-40B4-BE49-F238E27FC236}">
                <a16:creationId xmlns:a16="http://schemas.microsoft.com/office/drawing/2014/main" id="{98CA65DD-18EF-E74D-8FC2-092554FA3E45}"/>
              </a:ext>
            </a:extLst>
          </p:cNvPr>
          <p:cNvSpPr txBox="1"/>
          <p:nvPr/>
        </p:nvSpPr>
        <p:spPr>
          <a:xfrm>
            <a:off x="7390145" y="4381177"/>
            <a:ext cx="2352782" cy="477054"/>
          </a:xfrm>
          <a:prstGeom prst="rect">
            <a:avLst/>
          </a:prstGeom>
          <a:noFill/>
        </p:spPr>
        <p:txBody>
          <a:bodyPr wrap="square" rtlCol="0">
            <a:spAutoFit/>
          </a:bodyPr>
          <a:lstStyle/>
          <a:p>
            <a:pPr algn="ctr"/>
            <a:r>
              <a:rPr lang="en-GB" sz="2500" b="1" noProof="0" dirty="0">
                <a:solidFill>
                  <a:srgbClr val="C00000"/>
                </a:solidFill>
                <a:latin typeface="OpenDyslexicAlta" panose="00000500000000000000" pitchFamily="50" charset="0"/>
              </a:rPr>
              <a:t>passwords</a:t>
            </a:r>
          </a:p>
        </p:txBody>
      </p:sp>
      <p:sp>
        <p:nvSpPr>
          <p:cNvPr id="5" name="TextBox 4">
            <a:extLst>
              <a:ext uri="{FF2B5EF4-FFF2-40B4-BE49-F238E27FC236}">
                <a16:creationId xmlns:a16="http://schemas.microsoft.com/office/drawing/2014/main" id="{CC23A954-EE40-2A68-F958-94537D05A578}"/>
              </a:ext>
            </a:extLst>
          </p:cNvPr>
          <p:cNvSpPr txBox="1"/>
          <p:nvPr/>
        </p:nvSpPr>
        <p:spPr>
          <a:xfrm>
            <a:off x="1118419" y="5402441"/>
            <a:ext cx="2811851" cy="400110"/>
          </a:xfrm>
          <a:prstGeom prst="rect">
            <a:avLst/>
          </a:prstGeom>
          <a:noFill/>
        </p:spPr>
        <p:txBody>
          <a:bodyPr wrap="square" rtlCol="0">
            <a:spAutoFit/>
          </a:bodyPr>
          <a:lstStyle/>
          <a:p>
            <a:pPr algn="ctr"/>
            <a:r>
              <a:rPr lang="en-GB" sz="2000" b="1" noProof="0" dirty="0">
                <a:solidFill>
                  <a:srgbClr val="C00000"/>
                </a:solidFill>
                <a:latin typeface="OpenDyslexicAlta" panose="00000500000000000000" pitchFamily="50" charset="0"/>
              </a:rPr>
              <a:t>marketplaces</a:t>
            </a:r>
          </a:p>
        </p:txBody>
      </p:sp>
      <p:sp>
        <p:nvSpPr>
          <p:cNvPr id="6" name="TextBox 5">
            <a:extLst>
              <a:ext uri="{FF2B5EF4-FFF2-40B4-BE49-F238E27FC236}">
                <a16:creationId xmlns:a16="http://schemas.microsoft.com/office/drawing/2014/main" id="{D6EECAAC-7C3E-9172-94B4-A5243541AB60}"/>
              </a:ext>
            </a:extLst>
          </p:cNvPr>
          <p:cNvSpPr txBox="1"/>
          <p:nvPr/>
        </p:nvSpPr>
        <p:spPr>
          <a:xfrm>
            <a:off x="7866665" y="5305579"/>
            <a:ext cx="2352782" cy="477054"/>
          </a:xfrm>
          <a:prstGeom prst="rect">
            <a:avLst/>
          </a:prstGeom>
          <a:noFill/>
        </p:spPr>
        <p:txBody>
          <a:bodyPr wrap="square" rtlCol="0">
            <a:spAutoFit/>
          </a:bodyPr>
          <a:lstStyle/>
          <a:p>
            <a:pPr algn="ctr"/>
            <a:r>
              <a:rPr lang="en-GB" sz="2500" b="1" noProof="0" dirty="0">
                <a:solidFill>
                  <a:srgbClr val="C00000"/>
                </a:solidFill>
                <a:latin typeface="OpenDyslexicAlta" panose="00000500000000000000" pitchFamily="50" charset="0"/>
              </a:rPr>
              <a:t>dark web</a:t>
            </a:r>
          </a:p>
        </p:txBody>
      </p:sp>
      <p:sp>
        <p:nvSpPr>
          <p:cNvPr id="7" name="TextBox 6">
            <a:extLst>
              <a:ext uri="{FF2B5EF4-FFF2-40B4-BE49-F238E27FC236}">
                <a16:creationId xmlns:a16="http://schemas.microsoft.com/office/drawing/2014/main" id="{3033EF02-0909-E1C8-A158-541DE4282F02}"/>
              </a:ext>
            </a:extLst>
          </p:cNvPr>
          <p:cNvSpPr txBox="1"/>
          <p:nvPr/>
        </p:nvSpPr>
        <p:spPr>
          <a:xfrm>
            <a:off x="243482" y="5765997"/>
            <a:ext cx="2352782" cy="477054"/>
          </a:xfrm>
          <a:prstGeom prst="rect">
            <a:avLst/>
          </a:prstGeom>
          <a:noFill/>
        </p:spPr>
        <p:txBody>
          <a:bodyPr wrap="square" rtlCol="0">
            <a:spAutoFit/>
          </a:bodyPr>
          <a:lstStyle/>
          <a:p>
            <a:pPr algn="ctr"/>
            <a:r>
              <a:rPr lang="en-GB" sz="2500" b="1" noProof="0" dirty="0">
                <a:solidFill>
                  <a:srgbClr val="C00000"/>
                </a:solidFill>
                <a:latin typeface="OpenDyslexicAlta" panose="00000500000000000000" pitchFamily="50" charset="0"/>
              </a:rPr>
              <a:t>criminals</a:t>
            </a:r>
          </a:p>
        </p:txBody>
      </p:sp>
    </p:spTree>
    <p:extLst>
      <p:ext uri="{BB962C8B-B14F-4D97-AF65-F5344CB8AC3E}">
        <p14:creationId xmlns:p14="http://schemas.microsoft.com/office/powerpoint/2010/main" val="4274368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CB0E9-410D-5AD6-F465-09EAE33C47B9}"/>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E684F655-531D-D4D9-8BE1-B9A344BB217A}"/>
              </a:ext>
            </a:extLst>
          </p:cNvPr>
          <p:cNvSpPr/>
          <p:nvPr/>
        </p:nvSpPr>
        <p:spPr>
          <a:xfrm>
            <a:off x="352346" y="3129406"/>
            <a:ext cx="11364016" cy="763571"/>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014D2F4C-AB0C-AD0F-A5A4-405785AB9CCD}"/>
              </a:ext>
            </a:extLst>
          </p:cNvPr>
          <p:cNvSpPr>
            <a:spLocks noGrp="1"/>
          </p:cNvSpPr>
          <p:nvPr>
            <p:ph type="title"/>
          </p:nvPr>
        </p:nvSpPr>
        <p:spPr/>
        <p:txBody>
          <a:bodyPr/>
          <a:lstStyle/>
          <a:p>
            <a:r>
              <a:rPr lang="en-GB" noProof="0" dirty="0"/>
              <a:t>Steps to success</a:t>
            </a:r>
          </a:p>
        </p:txBody>
      </p:sp>
      <p:sp>
        <p:nvSpPr>
          <p:cNvPr id="3" name="Content Placeholder 2">
            <a:extLst>
              <a:ext uri="{FF2B5EF4-FFF2-40B4-BE49-F238E27FC236}">
                <a16:creationId xmlns:a16="http://schemas.microsoft.com/office/drawing/2014/main" id="{E225355A-0540-8B3B-AB93-760AB68C4D9A}"/>
              </a:ext>
            </a:extLst>
          </p:cNvPr>
          <p:cNvSpPr>
            <a:spLocks noGrp="1"/>
          </p:cNvSpPr>
          <p:nvPr>
            <p:ph idx="1"/>
          </p:nvPr>
        </p:nvSpPr>
        <p:spPr>
          <a:xfrm>
            <a:off x="413992" y="1581149"/>
            <a:ext cx="10749308" cy="4685481"/>
          </a:xfrm>
        </p:spPr>
        <p:txBody>
          <a:bodyPr/>
          <a:lstStyle/>
          <a:p>
            <a:pPr marL="809625" indent="-723900">
              <a:buClr>
                <a:srgbClr val="C00000"/>
              </a:buClr>
              <a:buSzPct val="107000"/>
              <a:buFont typeface="+mj-lt"/>
              <a:buAutoNum type="arabicPeriod"/>
            </a:pPr>
            <a:r>
              <a:rPr lang="en-GB" sz="3600" noProof="0" dirty="0"/>
              <a:t>The dark web</a:t>
            </a:r>
          </a:p>
          <a:p>
            <a:pPr marL="809625" indent="-723900">
              <a:buClr>
                <a:srgbClr val="C00000"/>
              </a:buClr>
              <a:buSzPct val="107000"/>
              <a:buFont typeface="+mj-lt"/>
              <a:buAutoNum type="arabicPeriod"/>
            </a:pPr>
            <a:r>
              <a:rPr lang="en-GB" sz="3600" noProof="0" dirty="0"/>
              <a:t>Stolen data </a:t>
            </a:r>
          </a:p>
          <a:p>
            <a:pPr marL="809625" indent="-723900">
              <a:buClr>
                <a:srgbClr val="C00000"/>
              </a:buClr>
              <a:buSzPct val="107000"/>
              <a:buFont typeface="+mj-lt"/>
              <a:buAutoNum type="arabicPeriod"/>
            </a:pPr>
            <a:r>
              <a:rPr lang="en-GB" sz="3600" noProof="0" dirty="0"/>
              <a:t>Risks  </a:t>
            </a:r>
            <a:endParaRPr lang="en-GB" noProof="0" dirty="0"/>
          </a:p>
        </p:txBody>
      </p:sp>
    </p:spTree>
    <p:extLst>
      <p:ext uri="{BB962C8B-B14F-4D97-AF65-F5344CB8AC3E}">
        <p14:creationId xmlns:p14="http://schemas.microsoft.com/office/powerpoint/2010/main" val="1680877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706E7E-1B2E-FC17-D8EC-60430876355D}"/>
              </a:ext>
            </a:extLst>
          </p:cNvPr>
          <p:cNvSpPr>
            <a:spLocks noGrp="1"/>
          </p:cNvSpPr>
          <p:nvPr>
            <p:ph type="title"/>
          </p:nvPr>
        </p:nvSpPr>
        <p:spPr/>
        <p:txBody>
          <a:bodyPr/>
          <a:lstStyle/>
          <a:p>
            <a:r>
              <a:rPr lang="en-GB" noProof="0" dirty="0"/>
              <a:t>Risks</a:t>
            </a:r>
          </a:p>
        </p:txBody>
      </p:sp>
      <p:sp>
        <p:nvSpPr>
          <p:cNvPr id="5" name="Content Placeholder 4">
            <a:extLst>
              <a:ext uri="{FF2B5EF4-FFF2-40B4-BE49-F238E27FC236}">
                <a16:creationId xmlns:a16="http://schemas.microsoft.com/office/drawing/2014/main" id="{8B04CD8F-2463-E90B-4B71-E0B37A62C2E2}"/>
              </a:ext>
            </a:extLst>
          </p:cNvPr>
          <p:cNvSpPr>
            <a:spLocks noGrp="1"/>
          </p:cNvSpPr>
          <p:nvPr>
            <p:ph idx="1"/>
          </p:nvPr>
        </p:nvSpPr>
        <p:spPr/>
        <p:txBody>
          <a:bodyPr>
            <a:normAutofit lnSpcReduction="10000"/>
          </a:bodyPr>
          <a:lstStyle/>
          <a:p>
            <a:r>
              <a:rPr lang="en-GB" noProof="0" dirty="0"/>
              <a:t>Scams are tricks used by criminals to steal money or personal information.</a:t>
            </a:r>
          </a:p>
          <a:p>
            <a:r>
              <a:rPr lang="en-GB" noProof="0" dirty="0"/>
              <a:t>On the dark web, scams are common. People might sell fake products, promise something they never deliver or try to trick you into giving away your details.</a:t>
            </a:r>
          </a:p>
          <a:p>
            <a:r>
              <a:rPr lang="en-GB" noProof="0" dirty="0"/>
              <a:t>If something sounds too good to be true, it probably is!</a:t>
            </a:r>
          </a:p>
          <a:p>
            <a:endParaRPr lang="en-GB" noProof="0" dirty="0"/>
          </a:p>
          <a:p>
            <a:endParaRPr lang="en-GB" noProof="0" dirty="0"/>
          </a:p>
        </p:txBody>
      </p:sp>
    </p:spTree>
    <p:extLst>
      <p:ext uri="{BB962C8B-B14F-4D97-AF65-F5344CB8AC3E}">
        <p14:creationId xmlns:p14="http://schemas.microsoft.com/office/powerpoint/2010/main" val="3225686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2BE76-7756-B7F7-4722-D1EF2E04C7B4}"/>
              </a:ext>
            </a:extLst>
          </p:cNvPr>
          <p:cNvSpPr>
            <a:spLocks noGrp="1"/>
          </p:cNvSpPr>
          <p:nvPr>
            <p:ph type="title"/>
          </p:nvPr>
        </p:nvSpPr>
        <p:spPr/>
        <p:txBody>
          <a:bodyPr/>
          <a:lstStyle/>
          <a:p>
            <a:r>
              <a:rPr lang="en-GB" noProof="0" dirty="0"/>
              <a:t>Risks</a:t>
            </a:r>
          </a:p>
        </p:txBody>
      </p:sp>
      <p:sp>
        <p:nvSpPr>
          <p:cNvPr id="3" name="Content Placeholder 2">
            <a:extLst>
              <a:ext uri="{FF2B5EF4-FFF2-40B4-BE49-F238E27FC236}">
                <a16:creationId xmlns:a16="http://schemas.microsoft.com/office/drawing/2014/main" id="{C17987BE-3B57-8A40-AD7B-69C2BCCF3269}"/>
              </a:ext>
            </a:extLst>
          </p:cNvPr>
          <p:cNvSpPr>
            <a:spLocks noGrp="1"/>
          </p:cNvSpPr>
          <p:nvPr>
            <p:ph idx="1"/>
          </p:nvPr>
        </p:nvSpPr>
        <p:spPr/>
        <p:txBody>
          <a:bodyPr>
            <a:normAutofit/>
          </a:bodyPr>
          <a:lstStyle/>
          <a:p>
            <a:r>
              <a:rPr lang="en-GB" noProof="0" dirty="0"/>
              <a:t>Viruses and malware are harmful programs that can infect your computer or phone.</a:t>
            </a:r>
          </a:p>
          <a:p>
            <a:r>
              <a:rPr lang="en-GB" noProof="0" dirty="0"/>
              <a:t>Downloading files or software from unknown sources, especially on the dark web, can lead to your device being infected.</a:t>
            </a:r>
          </a:p>
          <a:p>
            <a:r>
              <a:rPr lang="en-GB" noProof="0" dirty="0"/>
              <a:t>Only download from trusted sites and always use antivirus protection.</a:t>
            </a:r>
          </a:p>
          <a:p>
            <a:endParaRPr lang="en-GB" noProof="0" dirty="0"/>
          </a:p>
          <a:p>
            <a:endParaRPr lang="en-GB" noProof="0" dirty="0"/>
          </a:p>
        </p:txBody>
      </p:sp>
    </p:spTree>
    <p:extLst>
      <p:ext uri="{BB962C8B-B14F-4D97-AF65-F5344CB8AC3E}">
        <p14:creationId xmlns:p14="http://schemas.microsoft.com/office/powerpoint/2010/main" val="3111090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DA3CF-9A6F-F957-0836-484DFA2F733F}"/>
              </a:ext>
            </a:extLst>
          </p:cNvPr>
          <p:cNvSpPr>
            <a:spLocks noGrp="1"/>
          </p:cNvSpPr>
          <p:nvPr>
            <p:ph type="title"/>
          </p:nvPr>
        </p:nvSpPr>
        <p:spPr/>
        <p:txBody>
          <a:bodyPr/>
          <a:lstStyle/>
          <a:p>
            <a:r>
              <a:rPr lang="en-GB" noProof="0" dirty="0"/>
              <a:t>Risks</a:t>
            </a:r>
          </a:p>
        </p:txBody>
      </p:sp>
      <p:sp>
        <p:nvSpPr>
          <p:cNvPr id="3" name="Content Placeholder 2">
            <a:extLst>
              <a:ext uri="{FF2B5EF4-FFF2-40B4-BE49-F238E27FC236}">
                <a16:creationId xmlns:a16="http://schemas.microsoft.com/office/drawing/2014/main" id="{C5FED9DA-AB31-8063-84CC-3ABCD7B91EEA}"/>
              </a:ext>
            </a:extLst>
          </p:cNvPr>
          <p:cNvSpPr>
            <a:spLocks noGrp="1"/>
          </p:cNvSpPr>
          <p:nvPr>
            <p:ph idx="1"/>
          </p:nvPr>
        </p:nvSpPr>
        <p:spPr/>
        <p:txBody>
          <a:bodyPr>
            <a:normAutofit lnSpcReduction="10000"/>
          </a:bodyPr>
          <a:lstStyle/>
          <a:p>
            <a:r>
              <a:rPr lang="en-GB" noProof="0" dirty="0"/>
              <a:t>The dark web has websites that share illegal or disturbing content, such as stolen data, fake documents or worse.</a:t>
            </a:r>
          </a:p>
          <a:p>
            <a:r>
              <a:rPr lang="en-GB" noProof="0" dirty="0"/>
              <a:t>Accidentally seeing or downloading illegal material can get you in serious trouble, even if you did not mean to.</a:t>
            </a:r>
          </a:p>
          <a:p>
            <a:r>
              <a:rPr lang="en-GB" noProof="0" dirty="0"/>
              <a:t>Stay away from unknown or suspicious sites to protect yourself.</a:t>
            </a:r>
          </a:p>
          <a:p>
            <a:endParaRPr lang="en-GB" noProof="0" dirty="0"/>
          </a:p>
        </p:txBody>
      </p:sp>
    </p:spTree>
    <p:extLst>
      <p:ext uri="{BB962C8B-B14F-4D97-AF65-F5344CB8AC3E}">
        <p14:creationId xmlns:p14="http://schemas.microsoft.com/office/powerpoint/2010/main" val="857648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FB3BA-16B9-7F9B-C452-2CAF20C3E239}"/>
              </a:ext>
            </a:extLst>
          </p:cNvPr>
          <p:cNvSpPr>
            <a:spLocks noGrp="1"/>
          </p:cNvSpPr>
          <p:nvPr>
            <p:ph type="title"/>
          </p:nvPr>
        </p:nvSpPr>
        <p:spPr/>
        <p:txBody>
          <a:bodyPr/>
          <a:lstStyle/>
          <a:p>
            <a:r>
              <a:rPr lang="en-GB" noProof="0" dirty="0"/>
              <a:t>Risks</a:t>
            </a:r>
          </a:p>
        </p:txBody>
      </p:sp>
      <p:sp>
        <p:nvSpPr>
          <p:cNvPr id="3" name="Content Placeholder 2">
            <a:extLst>
              <a:ext uri="{FF2B5EF4-FFF2-40B4-BE49-F238E27FC236}">
                <a16:creationId xmlns:a16="http://schemas.microsoft.com/office/drawing/2014/main" id="{643FD534-B31D-06F3-D3E2-19AA65F9F6A6}"/>
              </a:ext>
            </a:extLst>
          </p:cNvPr>
          <p:cNvSpPr>
            <a:spLocks noGrp="1"/>
          </p:cNvSpPr>
          <p:nvPr>
            <p:ph idx="1"/>
          </p:nvPr>
        </p:nvSpPr>
        <p:spPr/>
        <p:txBody>
          <a:bodyPr>
            <a:normAutofit/>
          </a:bodyPr>
          <a:lstStyle/>
          <a:p>
            <a:r>
              <a:rPr lang="en-GB" noProof="0" dirty="0"/>
              <a:t>Cybercriminals on the dark web might try to target you if they get your information.</a:t>
            </a:r>
          </a:p>
          <a:p>
            <a:r>
              <a:rPr lang="en-GB" noProof="0" dirty="0"/>
              <a:t>They could try to hack your accounts, steal your identity or trick you into giving them money.</a:t>
            </a:r>
          </a:p>
          <a:p>
            <a:r>
              <a:rPr lang="en-GB" noProof="0" dirty="0"/>
              <a:t>Protect your personal details and never share them with strangers online.</a:t>
            </a:r>
          </a:p>
          <a:p>
            <a:endParaRPr lang="en-GB" noProof="0" dirty="0"/>
          </a:p>
          <a:p>
            <a:endParaRPr lang="en-GB" noProof="0" dirty="0"/>
          </a:p>
        </p:txBody>
      </p:sp>
    </p:spTree>
    <p:extLst>
      <p:ext uri="{BB962C8B-B14F-4D97-AF65-F5344CB8AC3E}">
        <p14:creationId xmlns:p14="http://schemas.microsoft.com/office/powerpoint/2010/main" val="1341722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5EBF5-AD27-7CF2-B695-2E2E513B0927}"/>
              </a:ext>
            </a:extLst>
          </p:cNvPr>
          <p:cNvSpPr>
            <a:spLocks noGrp="1"/>
          </p:cNvSpPr>
          <p:nvPr>
            <p:ph type="title"/>
          </p:nvPr>
        </p:nvSpPr>
        <p:spPr/>
        <p:txBody>
          <a:bodyPr/>
          <a:lstStyle/>
          <a:p>
            <a:r>
              <a:rPr lang="en-GB" noProof="0" dirty="0"/>
              <a:t>Risks</a:t>
            </a:r>
          </a:p>
        </p:txBody>
      </p:sp>
      <p:sp>
        <p:nvSpPr>
          <p:cNvPr id="3" name="Content Placeholder 2">
            <a:extLst>
              <a:ext uri="{FF2B5EF4-FFF2-40B4-BE49-F238E27FC236}">
                <a16:creationId xmlns:a16="http://schemas.microsoft.com/office/drawing/2014/main" id="{40FB0E32-ED7C-32EC-92A1-B8142B63B581}"/>
              </a:ext>
            </a:extLst>
          </p:cNvPr>
          <p:cNvSpPr>
            <a:spLocks noGrp="1"/>
          </p:cNvSpPr>
          <p:nvPr>
            <p:ph idx="1"/>
          </p:nvPr>
        </p:nvSpPr>
        <p:spPr/>
        <p:txBody>
          <a:bodyPr>
            <a:normAutofit/>
          </a:bodyPr>
          <a:lstStyle/>
          <a:p>
            <a:r>
              <a:rPr lang="en-GB" noProof="0" dirty="0"/>
              <a:t>Law enforcement agencies monitor the dark web to catch illegal activity.</a:t>
            </a:r>
          </a:p>
          <a:p>
            <a:r>
              <a:rPr lang="en-GB" noProof="0" dirty="0"/>
              <a:t>If you access or download illegal content, even by accident, you could be investigated or face serious consequences.</a:t>
            </a:r>
          </a:p>
          <a:p>
            <a:r>
              <a:rPr lang="en-GB" noProof="0" dirty="0"/>
              <a:t>Breaking the law online is still breaking the law. Always use the internet safely and responsibly.</a:t>
            </a:r>
          </a:p>
        </p:txBody>
      </p:sp>
    </p:spTree>
    <p:extLst>
      <p:ext uri="{BB962C8B-B14F-4D97-AF65-F5344CB8AC3E}">
        <p14:creationId xmlns:p14="http://schemas.microsoft.com/office/powerpoint/2010/main" val="2750668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BFA43AF-096F-79D3-1B8F-9924691AF12C}"/>
              </a:ext>
            </a:extLst>
          </p:cNvPr>
          <p:cNvSpPr>
            <a:spLocks noGrp="1"/>
          </p:cNvSpPr>
          <p:nvPr>
            <p:ph idx="1"/>
          </p:nvPr>
        </p:nvSpPr>
        <p:spPr/>
        <p:txBody>
          <a:bodyPr>
            <a:normAutofit lnSpcReduction="10000"/>
          </a:bodyPr>
          <a:lstStyle/>
          <a:p>
            <a:r>
              <a:rPr lang="en-GB" noProof="0" dirty="0"/>
              <a:t>If you had the power to make one new law or rule to help reduce cybercrime on the dark web, what would it be?</a:t>
            </a:r>
          </a:p>
          <a:p>
            <a:pPr marL="893763" indent="-441325">
              <a:buFont typeface="Arial" panose="020B0604020202020204" pitchFamily="34" charset="0"/>
              <a:buChar char="•"/>
            </a:pPr>
            <a:r>
              <a:rPr lang="en-GB" noProof="0" dirty="0"/>
              <a:t>Explain why you chose this rule.</a:t>
            </a:r>
          </a:p>
          <a:p>
            <a:pPr marL="893763" indent="-441325">
              <a:buFont typeface="Arial" panose="020B0604020202020204" pitchFamily="34" charset="0"/>
              <a:buChar char="•"/>
            </a:pPr>
            <a:r>
              <a:rPr lang="en-GB" noProof="0" dirty="0"/>
              <a:t>How do you think it would help protect people?</a:t>
            </a:r>
          </a:p>
          <a:p>
            <a:pPr marL="893763" indent="-441325">
              <a:buFont typeface="Arial" panose="020B0604020202020204" pitchFamily="34" charset="0"/>
              <a:buChar char="•"/>
            </a:pPr>
            <a:r>
              <a:rPr lang="en-GB" noProof="0" dirty="0"/>
              <a:t>Are there any possible downsides or challenges with your idea?</a:t>
            </a:r>
          </a:p>
        </p:txBody>
      </p:sp>
      <p:sp>
        <p:nvSpPr>
          <p:cNvPr id="2" name="Title 1">
            <a:extLst>
              <a:ext uri="{FF2B5EF4-FFF2-40B4-BE49-F238E27FC236}">
                <a16:creationId xmlns:a16="http://schemas.microsoft.com/office/drawing/2014/main" id="{8E6F5C87-A557-8B63-58BC-B289090E030C}"/>
              </a:ext>
            </a:extLst>
          </p:cNvPr>
          <p:cNvSpPr>
            <a:spLocks noGrp="1"/>
          </p:cNvSpPr>
          <p:nvPr>
            <p:ph type="title"/>
          </p:nvPr>
        </p:nvSpPr>
        <p:spPr/>
        <p:txBody>
          <a:bodyPr/>
          <a:lstStyle/>
          <a:p>
            <a:r>
              <a:rPr lang="en-GB" noProof="0" dirty="0"/>
              <a:t>3: Risks</a:t>
            </a:r>
          </a:p>
        </p:txBody>
      </p:sp>
    </p:spTree>
    <p:extLst>
      <p:ext uri="{BB962C8B-B14F-4D97-AF65-F5344CB8AC3E}">
        <p14:creationId xmlns:p14="http://schemas.microsoft.com/office/powerpoint/2010/main" val="1012243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D1959-52F2-D457-DADB-57482753CC00}"/>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0A40938-4E4C-6A23-AF42-C574B8837A4B}"/>
              </a:ext>
            </a:extLst>
          </p:cNvPr>
          <p:cNvSpPr>
            <a:spLocks noGrp="1"/>
          </p:cNvSpPr>
          <p:nvPr>
            <p:ph idx="1"/>
          </p:nvPr>
        </p:nvSpPr>
        <p:spPr/>
        <p:txBody>
          <a:bodyPr>
            <a:normAutofit fontScale="77500" lnSpcReduction="20000"/>
          </a:bodyPr>
          <a:lstStyle/>
          <a:p>
            <a:pPr>
              <a:spcAft>
                <a:spcPts val="600"/>
              </a:spcAft>
            </a:pPr>
            <a:r>
              <a:rPr lang="en-GB" b="1" noProof="0" dirty="0">
                <a:solidFill>
                  <a:srgbClr val="C00000"/>
                </a:solidFill>
              </a:rPr>
              <a:t>I would make a rule that every website, even on the dark web, must use a special verification system to check that users are not criminals before they can buy or sell anything. </a:t>
            </a:r>
          </a:p>
          <a:p>
            <a:pPr>
              <a:spcAft>
                <a:spcPts val="600"/>
              </a:spcAft>
            </a:pPr>
            <a:r>
              <a:rPr lang="en-GB" b="1" noProof="0" dirty="0">
                <a:solidFill>
                  <a:srgbClr val="C00000"/>
                </a:solidFill>
              </a:rPr>
              <a:t>This could involve using advanced technology, such as AI, to spot suspicious behaviour and block illegal activity automatically. </a:t>
            </a:r>
          </a:p>
          <a:p>
            <a:pPr>
              <a:spcAft>
                <a:spcPts val="600"/>
              </a:spcAft>
            </a:pPr>
            <a:r>
              <a:rPr lang="en-GB" b="1" noProof="0" dirty="0">
                <a:solidFill>
                  <a:srgbClr val="C00000"/>
                </a:solidFill>
              </a:rPr>
              <a:t>I think this rule would help protect people by making it much harder for criminals to sell stolen data or illegal goods. </a:t>
            </a:r>
          </a:p>
          <a:p>
            <a:pPr>
              <a:spcAft>
                <a:spcPts val="600"/>
              </a:spcAft>
            </a:pPr>
            <a:r>
              <a:rPr lang="en-GB" b="1" noProof="0" dirty="0">
                <a:solidFill>
                  <a:srgbClr val="C00000"/>
                </a:solidFill>
              </a:rPr>
              <a:t>The downside might be that it could also make it harder for people who need privacy for good reasons, such as journalists or activists, to use the dark web safely.</a:t>
            </a:r>
          </a:p>
        </p:txBody>
      </p:sp>
      <p:sp>
        <p:nvSpPr>
          <p:cNvPr id="2" name="Title 1">
            <a:extLst>
              <a:ext uri="{FF2B5EF4-FFF2-40B4-BE49-F238E27FC236}">
                <a16:creationId xmlns:a16="http://schemas.microsoft.com/office/drawing/2014/main" id="{DFAEC996-5E3F-90D0-1EEA-781B5AE17F7E}"/>
              </a:ext>
            </a:extLst>
          </p:cNvPr>
          <p:cNvSpPr>
            <a:spLocks noGrp="1"/>
          </p:cNvSpPr>
          <p:nvPr>
            <p:ph type="title"/>
          </p:nvPr>
        </p:nvSpPr>
        <p:spPr/>
        <p:txBody>
          <a:bodyPr/>
          <a:lstStyle/>
          <a:p>
            <a:r>
              <a:rPr lang="en-GB" noProof="0" dirty="0"/>
              <a:t>3: Risks </a:t>
            </a:r>
            <a:r>
              <a:rPr lang="en-GB" noProof="0" dirty="0">
                <a:solidFill>
                  <a:srgbClr val="C00000"/>
                </a:solidFill>
              </a:rPr>
              <a:t>POSSIBLE ANSWER</a:t>
            </a:r>
          </a:p>
        </p:txBody>
      </p:sp>
    </p:spTree>
    <p:extLst>
      <p:ext uri="{BB962C8B-B14F-4D97-AF65-F5344CB8AC3E}">
        <p14:creationId xmlns:p14="http://schemas.microsoft.com/office/powerpoint/2010/main" val="1256929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468A0-223D-8D46-4290-45B3A94B1C4D}"/>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E0E0E6B-FEDE-7710-E8BF-1836BC5E18FA}"/>
              </a:ext>
            </a:extLst>
          </p:cNvPr>
          <p:cNvSpPr>
            <a:spLocks noGrp="1"/>
          </p:cNvSpPr>
          <p:nvPr>
            <p:ph idx="1"/>
          </p:nvPr>
        </p:nvSpPr>
        <p:spPr/>
        <p:txBody>
          <a:bodyPr>
            <a:normAutofit/>
          </a:bodyPr>
          <a:lstStyle/>
          <a:p>
            <a:r>
              <a:rPr lang="en-GB" noProof="0" dirty="0"/>
              <a:t>How would you feel if your online activities were always being watched, even if you had nothing to hide?</a:t>
            </a:r>
          </a:p>
          <a:p>
            <a:r>
              <a:rPr lang="en-GB" noProof="0" dirty="0"/>
              <a:t>Is it fair to punish everyone for the actions of a few criminals online? Why or why not?</a:t>
            </a:r>
          </a:p>
        </p:txBody>
      </p:sp>
      <p:sp>
        <p:nvSpPr>
          <p:cNvPr id="4" name="Title 3">
            <a:extLst>
              <a:ext uri="{FF2B5EF4-FFF2-40B4-BE49-F238E27FC236}">
                <a16:creationId xmlns:a16="http://schemas.microsoft.com/office/drawing/2014/main" id="{EFD673A9-5032-8EB4-44C7-4B313223F025}"/>
              </a:ext>
            </a:extLst>
          </p:cNvPr>
          <p:cNvSpPr>
            <a:spLocks noGrp="1"/>
          </p:cNvSpPr>
          <p:nvPr>
            <p:ph type="title"/>
          </p:nvPr>
        </p:nvSpPr>
        <p:spPr/>
        <p:txBody>
          <a:bodyPr/>
          <a:lstStyle/>
          <a:p>
            <a:r>
              <a:rPr lang="en-GB" noProof="0" dirty="0"/>
              <a:t>Risks</a:t>
            </a:r>
          </a:p>
        </p:txBody>
      </p:sp>
    </p:spTree>
    <p:extLst>
      <p:ext uri="{BB962C8B-B14F-4D97-AF65-F5344CB8AC3E}">
        <p14:creationId xmlns:p14="http://schemas.microsoft.com/office/powerpoint/2010/main" val="1175043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A61371-EAD4-F063-581B-5B522EC6E4F4}"/>
              </a:ext>
            </a:extLst>
          </p:cNvPr>
          <p:cNvSpPr>
            <a:spLocks noGrp="1"/>
          </p:cNvSpPr>
          <p:nvPr>
            <p:ph idx="1"/>
          </p:nvPr>
        </p:nvSpPr>
        <p:spPr/>
        <p:txBody>
          <a:bodyPr/>
          <a:lstStyle/>
          <a:p>
            <a:r>
              <a:rPr lang="en-GB" noProof="0" dirty="0"/>
              <a:t>What are the dangers if governments have too much power to watch what people do online?</a:t>
            </a:r>
          </a:p>
          <a:p>
            <a:r>
              <a:rPr lang="en-GB" noProof="0" dirty="0"/>
              <a:t>In some situations, privacy is especially important (</a:t>
            </a:r>
            <a:r>
              <a:rPr lang="en-GB" dirty="0"/>
              <a:t>for example</a:t>
            </a:r>
            <a:r>
              <a:rPr lang="en-GB" b="1" dirty="0"/>
              <a:t>, </a:t>
            </a:r>
            <a:r>
              <a:rPr lang="en-GB" noProof="0" dirty="0"/>
              <a:t>for journalists, activists or people living in dangerous countries). How could new laws protect these people while still fighting crime?</a:t>
            </a:r>
          </a:p>
        </p:txBody>
      </p:sp>
      <p:sp>
        <p:nvSpPr>
          <p:cNvPr id="4" name="Title 3">
            <a:extLst>
              <a:ext uri="{FF2B5EF4-FFF2-40B4-BE49-F238E27FC236}">
                <a16:creationId xmlns:a16="http://schemas.microsoft.com/office/drawing/2014/main" id="{F89B2DAB-C04A-53BD-A017-E05304B84C98}"/>
              </a:ext>
            </a:extLst>
          </p:cNvPr>
          <p:cNvSpPr>
            <a:spLocks noGrp="1"/>
          </p:cNvSpPr>
          <p:nvPr>
            <p:ph type="title"/>
          </p:nvPr>
        </p:nvSpPr>
        <p:spPr/>
        <p:txBody>
          <a:bodyPr/>
          <a:lstStyle/>
          <a:p>
            <a:r>
              <a:rPr lang="en-GB" noProof="0" dirty="0"/>
              <a:t>Risks</a:t>
            </a:r>
          </a:p>
        </p:txBody>
      </p:sp>
    </p:spTree>
    <p:extLst>
      <p:ext uri="{BB962C8B-B14F-4D97-AF65-F5344CB8AC3E}">
        <p14:creationId xmlns:p14="http://schemas.microsoft.com/office/powerpoint/2010/main" val="2592009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22FC6-7D53-ACEA-7ADC-E609FC122797}"/>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A356F19-D263-741E-3722-5F80C359909C}"/>
              </a:ext>
            </a:extLst>
          </p:cNvPr>
          <p:cNvSpPr>
            <a:spLocks noGrp="1"/>
          </p:cNvSpPr>
          <p:nvPr>
            <p:ph idx="1"/>
          </p:nvPr>
        </p:nvSpPr>
        <p:spPr/>
        <p:txBody>
          <a:bodyPr>
            <a:normAutofit fontScale="85000" lnSpcReduction="20000"/>
          </a:bodyPr>
          <a:lstStyle/>
          <a:p>
            <a:pPr>
              <a:spcAft>
                <a:spcPts val="600"/>
              </a:spcAft>
            </a:pPr>
            <a:r>
              <a:rPr lang="en-US" noProof="0" dirty="0"/>
              <a:t>Do you think it’s possible to have both freedom of speech and strong protection against cybercrime, or do we always have to give up some freedom for safety?</a:t>
            </a:r>
          </a:p>
          <a:p>
            <a:pPr>
              <a:spcAft>
                <a:spcPts val="600"/>
              </a:spcAft>
            </a:pPr>
            <a:r>
              <a:rPr lang="en-GB" noProof="0" dirty="0"/>
              <a:t>It is a difficult situation to impose laws on the dark web and online activities because there is a delicate balance between protecting people’s </a:t>
            </a:r>
            <a:r>
              <a:rPr lang="en-US" noProof="0" dirty="0"/>
              <a:t>privacy and freedom of speech and stopping criminal activity</a:t>
            </a:r>
            <a:r>
              <a:rPr lang="en-GB" noProof="0" dirty="0"/>
              <a:t>.</a:t>
            </a:r>
          </a:p>
          <a:p>
            <a:pPr>
              <a:spcAft>
                <a:spcPts val="600"/>
              </a:spcAft>
            </a:pPr>
            <a:r>
              <a:rPr lang="en-GB" noProof="0" dirty="0"/>
              <a:t>Strong laws might help catch criminals, but they can also make it harder for ordinary people to keep their information private or speak freely, especially in countries where the government might misuse its power. </a:t>
            </a:r>
          </a:p>
        </p:txBody>
      </p:sp>
      <p:sp>
        <p:nvSpPr>
          <p:cNvPr id="4" name="Title 3">
            <a:extLst>
              <a:ext uri="{FF2B5EF4-FFF2-40B4-BE49-F238E27FC236}">
                <a16:creationId xmlns:a16="http://schemas.microsoft.com/office/drawing/2014/main" id="{7B190504-4EC7-2AF7-4848-74FA04668368}"/>
              </a:ext>
            </a:extLst>
          </p:cNvPr>
          <p:cNvSpPr>
            <a:spLocks noGrp="1"/>
          </p:cNvSpPr>
          <p:nvPr>
            <p:ph type="title"/>
          </p:nvPr>
        </p:nvSpPr>
        <p:spPr/>
        <p:txBody>
          <a:bodyPr/>
          <a:lstStyle/>
          <a:p>
            <a:r>
              <a:rPr lang="en-GB" noProof="0" dirty="0"/>
              <a:t>Risks</a:t>
            </a:r>
          </a:p>
        </p:txBody>
      </p:sp>
    </p:spTree>
    <p:extLst>
      <p:ext uri="{BB962C8B-B14F-4D97-AF65-F5344CB8AC3E}">
        <p14:creationId xmlns:p14="http://schemas.microsoft.com/office/powerpoint/2010/main" val="2483965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220DD-1B34-3F6E-ECDA-C3BBC48CDD02}"/>
              </a:ext>
            </a:extLst>
          </p:cNvPr>
          <p:cNvSpPr>
            <a:spLocks noGrp="1"/>
          </p:cNvSpPr>
          <p:nvPr>
            <p:ph type="title"/>
          </p:nvPr>
        </p:nvSpPr>
        <p:spPr/>
        <p:txBody>
          <a:bodyPr/>
          <a:lstStyle/>
          <a:p>
            <a:r>
              <a:rPr lang="en-GB" noProof="0" dirty="0"/>
              <a:t>Summary of lesson</a:t>
            </a:r>
          </a:p>
        </p:txBody>
      </p:sp>
      <p:sp>
        <p:nvSpPr>
          <p:cNvPr id="3" name="Content Placeholder 2">
            <a:extLst>
              <a:ext uri="{FF2B5EF4-FFF2-40B4-BE49-F238E27FC236}">
                <a16:creationId xmlns:a16="http://schemas.microsoft.com/office/drawing/2014/main" id="{C7B2BC8E-D2E8-90F7-8C7A-DFC54C6F6B13}"/>
              </a:ext>
            </a:extLst>
          </p:cNvPr>
          <p:cNvSpPr>
            <a:spLocks noGrp="1"/>
          </p:cNvSpPr>
          <p:nvPr>
            <p:ph idx="1"/>
          </p:nvPr>
        </p:nvSpPr>
        <p:spPr/>
        <p:txBody>
          <a:bodyPr>
            <a:normAutofit fontScale="77500" lnSpcReduction="20000"/>
          </a:bodyPr>
          <a:lstStyle/>
          <a:p>
            <a:r>
              <a:rPr lang="en-GB" noProof="0" dirty="0"/>
              <a:t>The dark web is a hidden part of the internet that is used for both legal and illegal activities.</a:t>
            </a:r>
          </a:p>
          <a:p>
            <a:r>
              <a:rPr lang="en-GB" noProof="0" dirty="0"/>
              <a:t>Stolen data is often sold there in illegal marketplaces, where criminals buy it to commit more crimes such as identity theft.</a:t>
            </a:r>
          </a:p>
          <a:p>
            <a:r>
              <a:rPr lang="en-GB" noProof="0" dirty="0"/>
              <a:t>Policing the internet is difficult because there’s a balance between keeping people safe and protecting privacy and free speech.</a:t>
            </a:r>
          </a:p>
          <a:p>
            <a:r>
              <a:rPr lang="en-GB" noProof="0" dirty="0"/>
              <a:t>Today you used </a:t>
            </a:r>
            <a:r>
              <a:rPr lang="en-GB" b="1" noProof="0" dirty="0"/>
              <a:t>creative thinking</a:t>
            </a:r>
            <a:r>
              <a:rPr lang="en-GB" noProof="0" dirty="0"/>
              <a:t>, </a:t>
            </a:r>
            <a:r>
              <a:rPr lang="en-GB" b="1" noProof="0" dirty="0"/>
              <a:t>analytical thinking</a:t>
            </a:r>
            <a:r>
              <a:rPr lang="en-GB" noProof="0" dirty="0"/>
              <a:t>, </a:t>
            </a:r>
            <a:r>
              <a:rPr lang="en-GB" b="1" noProof="0" dirty="0"/>
              <a:t>curiosity</a:t>
            </a:r>
            <a:r>
              <a:rPr lang="en-GB" noProof="0" dirty="0"/>
              <a:t>, </a:t>
            </a:r>
            <a:r>
              <a:rPr lang="en-GB" b="1" noProof="0" dirty="0"/>
              <a:t>leadership</a:t>
            </a:r>
            <a:r>
              <a:rPr lang="en-GB" noProof="0" dirty="0"/>
              <a:t> and </a:t>
            </a:r>
            <a:r>
              <a:rPr lang="en-GB" b="1" noProof="0" dirty="0"/>
              <a:t>communication</a:t>
            </a:r>
            <a:r>
              <a:rPr lang="en-GB" noProof="0" dirty="0"/>
              <a:t>. These skills will help you stay safe online and prepare for a future where technology and AI play an even bigger role.</a:t>
            </a:r>
          </a:p>
        </p:txBody>
      </p:sp>
    </p:spTree>
    <p:extLst>
      <p:ext uri="{BB962C8B-B14F-4D97-AF65-F5344CB8AC3E}">
        <p14:creationId xmlns:p14="http://schemas.microsoft.com/office/powerpoint/2010/main" val="2757112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9F27A30-74F1-B68F-DB4C-1E52B13E6B0A}"/>
              </a:ext>
            </a:extLst>
          </p:cNvPr>
          <p:cNvSpPr>
            <a:spLocks noGrp="1"/>
          </p:cNvSpPr>
          <p:nvPr>
            <p:ph type="body" sz="quarter" idx="10"/>
          </p:nvPr>
        </p:nvSpPr>
        <p:spPr/>
        <p:txBody>
          <a:bodyPr>
            <a:normAutofit/>
          </a:bodyPr>
          <a:lstStyle/>
          <a:p>
            <a:r>
              <a:rPr lang="en-GB" sz="2800" noProof="0" dirty="0">
                <a:solidFill>
                  <a:srgbClr val="C00000"/>
                </a:solidFill>
                <a:hlinkClick r:id="rId2">
                  <a:extLst>
                    <a:ext uri="{A12FA001-AC4F-418D-AE19-62706E023703}">
                      <ahyp:hlinkClr xmlns:ahyp="http://schemas.microsoft.com/office/drawing/2018/hyperlinkcolor" val="tx"/>
                    </a:ext>
                  </a:extLst>
                </a:hlinkClick>
              </a:rPr>
              <a:t>https://www.nicholawilkin.com/terms</a:t>
            </a:r>
            <a:r>
              <a:rPr lang="en-GB" sz="2800" noProof="0" dirty="0">
                <a:solidFill>
                  <a:srgbClr val="C00000"/>
                </a:solidFill>
              </a:rPr>
              <a:t> </a:t>
            </a:r>
          </a:p>
        </p:txBody>
      </p:sp>
      <p:sp>
        <p:nvSpPr>
          <p:cNvPr id="8" name="Title 7">
            <a:extLst>
              <a:ext uri="{FF2B5EF4-FFF2-40B4-BE49-F238E27FC236}">
                <a16:creationId xmlns:a16="http://schemas.microsoft.com/office/drawing/2014/main" id="{AD801862-38A1-2E92-3A46-84D475AF4FD0}"/>
              </a:ext>
            </a:extLst>
          </p:cNvPr>
          <p:cNvSpPr>
            <a:spLocks noGrp="1"/>
          </p:cNvSpPr>
          <p:nvPr>
            <p:ph type="title"/>
          </p:nvPr>
        </p:nvSpPr>
        <p:spPr/>
        <p:txBody>
          <a:bodyPr/>
          <a:lstStyle/>
          <a:p>
            <a:r>
              <a:rPr lang="en-GB" noProof="0" dirty="0"/>
              <a:t>© 2025 Nichola Wilkin Ltd</a:t>
            </a:r>
          </a:p>
        </p:txBody>
      </p:sp>
    </p:spTree>
    <p:extLst>
      <p:ext uri="{BB962C8B-B14F-4D97-AF65-F5344CB8AC3E}">
        <p14:creationId xmlns:p14="http://schemas.microsoft.com/office/powerpoint/2010/main" val="5496283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9546B4CD-A1D5-4DFE-B56F-C863773A2EAD}" vid="{EAACDE77-F2E5-4310-8C19-1E4AFB9A93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NEW Example Lesson 2</Template>
  <TotalTime>288</TotalTime>
  <Words>2157</Words>
  <Application>Microsoft Office PowerPoint</Application>
  <PresentationFormat>Widescreen</PresentationFormat>
  <Paragraphs>207</Paragraphs>
  <Slides>40</Slides>
  <Notes>0</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OpenDyslexicAlta</vt:lpstr>
      <vt:lpstr>Arial</vt:lpstr>
      <vt:lpstr>Aptos</vt:lpstr>
      <vt:lpstr>Office Theme</vt:lpstr>
      <vt:lpstr>Dark web and cybercrime</vt:lpstr>
      <vt:lpstr>Objective</vt:lpstr>
      <vt:lpstr>Keywords</vt:lpstr>
      <vt:lpstr>What do you already know?</vt:lpstr>
      <vt:lpstr>Steps to success</vt:lpstr>
      <vt:lpstr>The dark web</vt:lpstr>
      <vt:lpstr>The dark web ANSWERS</vt:lpstr>
      <vt:lpstr>The dark web</vt:lpstr>
      <vt:lpstr>The dark web</vt:lpstr>
      <vt:lpstr>The dark web</vt:lpstr>
      <vt:lpstr>The dark web</vt:lpstr>
      <vt:lpstr>The dark web</vt:lpstr>
      <vt:lpstr>The dark web</vt:lpstr>
      <vt:lpstr>The dark web</vt:lpstr>
      <vt:lpstr>The dark web</vt:lpstr>
      <vt:lpstr>1: The dark web</vt:lpstr>
      <vt:lpstr>1: The dark web ANSWERS</vt:lpstr>
      <vt:lpstr>Steps to success</vt:lpstr>
      <vt:lpstr>Stolen data </vt:lpstr>
      <vt:lpstr>Stolen data</vt:lpstr>
      <vt:lpstr>Stolen data</vt:lpstr>
      <vt:lpstr>Stolen data</vt:lpstr>
      <vt:lpstr>Stolen data</vt:lpstr>
      <vt:lpstr>Stolen data</vt:lpstr>
      <vt:lpstr>Stolen data</vt:lpstr>
      <vt:lpstr>2: Stolen data</vt:lpstr>
      <vt:lpstr>2: Stolen data ANSWERS</vt:lpstr>
      <vt:lpstr>Steps to success</vt:lpstr>
      <vt:lpstr>Risks</vt:lpstr>
      <vt:lpstr>Risks</vt:lpstr>
      <vt:lpstr>Risks</vt:lpstr>
      <vt:lpstr>Risks</vt:lpstr>
      <vt:lpstr>Risks</vt:lpstr>
      <vt:lpstr>3: Risks</vt:lpstr>
      <vt:lpstr>3: Risks POSSIBLE ANSWER</vt:lpstr>
      <vt:lpstr>Risks</vt:lpstr>
      <vt:lpstr>Risks</vt:lpstr>
      <vt:lpstr>Risks</vt:lpstr>
      <vt:lpstr>Summary of lesson</vt:lpstr>
      <vt:lpstr>© 2025 Nichola Wilkin Ltd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Nicky Lacey</dc:creator>
  <dc:description>© 2025 Nichola Wilkin Ltd</dc:description>
  <cp:lastModifiedBy>Nicky Lacey</cp:lastModifiedBy>
  <cp:revision>9</cp:revision>
  <dcterms:created xsi:type="dcterms:W3CDTF">2025-05-30T14:35:40Z</dcterms:created>
  <dcterms:modified xsi:type="dcterms:W3CDTF">2025-06-19T07:31:21Z</dcterms:modified>
  <cp:category>© 2025 Nichola Wilkin Ltd</cp:category>
</cp:coreProperties>
</file>