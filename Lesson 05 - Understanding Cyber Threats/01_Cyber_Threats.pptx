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Override1.xml" ContentType="application/vnd.openxmlformats-officedocument.themeOverride+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Lst>
  <p:handoutMasterIdLst>
    <p:handoutMasterId r:id="rId49"/>
  </p:handoutMasterIdLst>
  <p:sldIdLst>
    <p:sldId id="256" r:id="rId2"/>
    <p:sldId id="258" r:id="rId3"/>
    <p:sldId id="259" r:id="rId4"/>
    <p:sldId id="274" r:id="rId5"/>
    <p:sldId id="261" r:id="rId6"/>
    <p:sldId id="262" r:id="rId7"/>
    <p:sldId id="275" r:id="rId8"/>
    <p:sldId id="276" r:id="rId9"/>
    <p:sldId id="277" r:id="rId10"/>
    <p:sldId id="278" r:id="rId11"/>
    <p:sldId id="268" r:id="rId12"/>
    <p:sldId id="279" r:id="rId13"/>
    <p:sldId id="280" r:id="rId14"/>
    <p:sldId id="281" r:id="rId15"/>
    <p:sldId id="282" r:id="rId16"/>
    <p:sldId id="283" r:id="rId17"/>
    <p:sldId id="284" r:id="rId18"/>
    <p:sldId id="285" r:id="rId19"/>
    <p:sldId id="311" r:id="rId20"/>
    <p:sldId id="297" r:id="rId21"/>
    <p:sldId id="298" r:id="rId22"/>
    <p:sldId id="286" r:id="rId23"/>
    <p:sldId id="288" r:id="rId24"/>
    <p:sldId id="287" r:id="rId25"/>
    <p:sldId id="289" r:id="rId26"/>
    <p:sldId id="290" r:id="rId27"/>
    <p:sldId id="291" r:id="rId28"/>
    <p:sldId id="294" r:id="rId29"/>
    <p:sldId id="292" r:id="rId30"/>
    <p:sldId id="293" r:id="rId31"/>
    <p:sldId id="295" r:id="rId32"/>
    <p:sldId id="296" r:id="rId33"/>
    <p:sldId id="299" r:id="rId34"/>
    <p:sldId id="300" r:id="rId35"/>
    <p:sldId id="312" r:id="rId36"/>
    <p:sldId id="301" r:id="rId37"/>
    <p:sldId id="302" r:id="rId38"/>
    <p:sldId id="303" r:id="rId39"/>
    <p:sldId id="304" r:id="rId40"/>
    <p:sldId id="305" r:id="rId41"/>
    <p:sldId id="306" r:id="rId42"/>
    <p:sldId id="307" r:id="rId43"/>
    <p:sldId id="308" r:id="rId44"/>
    <p:sldId id="309" r:id="rId45"/>
    <p:sldId id="310" r:id="rId46"/>
    <p:sldId id="267" r:id="rId47"/>
    <p:sldId id="272" r:id="rId48"/>
  </p:sldIdLst>
  <p:sldSz cx="12192000" cy="6858000"/>
  <p:notesSz cx="6858000" cy="9144000"/>
  <p:embeddedFontLst>
    <p:embeddedFont>
      <p:font typeface="Aptos ExtraBold" panose="020B0004020202020204" pitchFamily="34" charset="0"/>
      <p:bold r:id="rId50"/>
      <p:boldItalic r:id="rId51"/>
    </p:embeddedFont>
    <p:embeddedFont>
      <p:font typeface="OpenDyslexicAlta" panose="00000500000000000000" pitchFamily="50" charset="0"/>
      <p:regular r:id="rId52"/>
      <p:bold r:id="rId53"/>
      <p:italic r:id="rId54"/>
      <p:boldItalic r:id="rId5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2F2F2"/>
    <a:srgbClr val="D9D9D9"/>
    <a:srgbClr val="002570"/>
    <a:srgbClr val="FFFFCC"/>
    <a:srgbClr val="FFFFE1"/>
    <a:srgbClr val="FBE3D6"/>
    <a:srgbClr val="00339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93" d="100"/>
          <a:sy n="93" d="100"/>
        </p:scale>
        <p:origin x="1188" y="306"/>
      </p:cViewPr>
      <p:guideLst>
        <p:guide orient="horz" pos="2160"/>
        <p:guide pos="3840"/>
      </p:guideLst>
    </p:cSldViewPr>
  </p:slideViewPr>
  <p:notesTextViewPr>
    <p:cViewPr>
      <p:scale>
        <a:sx n="3" d="2"/>
        <a:sy n="3" d="2"/>
      </p:scale>
      <p:origin x="0" y="0"/>
    </p:cViewPr>
  </p:notesTextViewPr>
  <p:notesViewPr>
    <p:cSldViewPr snapToGrid="0">
      <p:cViewPr varScale="1">
        <p:scale>
          <a:sx n="81" d="100"/>
          <a:sy n="81" d="100"/>
        </p:scale>
        <p:origin x="3894" y="108"/>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font" Target="fonts/font1.fntdata"/><Relationship Id="rId55" Type="http://schemas.openxmlformats.org/officeDocument/2006/relationships/font" Target="fonts/font6.fnt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font" Target="fonts/font4.fntdata"/><Relationship Id="rId58" Type="http://schemas.openxmlformats.org/officeDocument/2006/relationships/theme" Target="theme/theme1.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font" Target="fonts/font2.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font" Target="fonts/font5.fntdata"/><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handoutMaster" Target="handoutMasters/handoutMaster1.xml"/><Relationship Id="rId57" Type="http://schemas.openxmlformats.org/officeDocument/2006/relationships/viewProps" Target="view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font" Target="fonts/font3.fntdata"/></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2.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3F35232B-3405-650A-0E6D-919F2AF1E0DF}"/>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a:extLst>
              <a:ext uri="{FF2B5EF4-FFF2-40B4-BE49-F238E27FC236}">
                <a16:creationId xmlns:a16="http://schemas.microsoft.com/office/drawing/2014/main" id="{A63A1DF0-6A0F-7410-1697-3F3648492322}"/>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8791796-119E-4260-B149-940ECFE008A4}" type="datetimeFigureOut">
              <a:rPr lang="en-GB" smtClean="0"/>
              <a:t>19/06/2025</a:t>
            </a:fld>
            <a:endParaRPr lang="en-GB"/>
          </a:p>
        </p:txBody>
      </p:sp>
      <p:sp>
        <p:nvSpPr>
          <p:cNvPr id="4" name="Footer Placeholder 3">
            <a:extLst>
              <a:ext uri="{FF2B5EF4-FFF2-40B4-BE49-F238E27FC236}">
                <a16:creationId xmlns:a16="http://schemas.microsoft.com/office/drawing/2014/main" id="{D35B57EA-C3C3-2477-F872-4F48437CE8DA}"/>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5" name="Slide Number Placeholder 4">
            <a:extLst>
              <a:ext uri="{FF2B5EF4-FFF2-40B4-BE49-F238E27FC236}">
                <a16:creationId xmlns:a16="http://schemas.microsoft.com/office/drawing/2014/main" id="{020E89B7-4332-40EF-8A72-D4F2B18E9A2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3ED8B0B0-A64E-4C20-A968-F17ABCD71ED1}" type="slidenum">
              <a:rPr lang="en-GB" smtClean="0"/>
              <a:t>‹#›</a:t>
            </a:fld>
            <a:endParaRPr lang="en-GB"/>
          </a:p>
        </p:txBody>
      </p:sp>
    </p:spTree>
    <p:extLst>
      <p:ext uri="{BB962C8B-B14F-4D97-AF65-F5344CB8AC3E}">
        <p14:creationId xmlns:p14="http://schemas.microsoft.com/office/powerpoint/2010/main" val="1668759084"/>
      </p:ext>
    </p:extLst>
  </p:cSld>
  <p:clrMap bg1="lt1" tx1="dk1" bg2="lt2" tx2="dk2" accent1="accent1" accent2="accent2" accent3="accent3" accent4="accent4" accent5="accent5" accent6="accent6" hlink="hlink" folHlink="folHlink"/>
</p:handoutMaster>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Master" Target="../slideMasters/slideMaster1.xml"/><Relationship Id="rId1" Type="http://schemas.openxmlformats.org/officeDocument/2006/relationships/themeOverride" Target="../theme/themeOverride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Rounded Corners 6">
            <a:extLst>
              <a:ext uri="{FF2B5EF4-FFF2-40B4-BE49-F238E27FC236}">
                <a16:creationId xmlns:a16="http://schemas.microsoft.com/office/drawing/2014/main" id="{9B45729A-2A02-69F1-5F8E-3A7464A80F62}"/>
              </a:ext>
            </a:extLst>
          </p:cNvPr>
          <p:cNvSpPr/>
          <p:nvPr userDrawn="1"/>
        </p:nvSpPr>
        <p:spPr>
          <a:xfrm>
            <a:off x="1217704" y="782425"/>
            <a:ext cx="9766169" cy="3016577"/>
          </a:xfrm>
          <a:prstGeom prst="round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a:extLst>
              <a:ext uri="{FF2B5EF4-FFF2-40B4-BE49-F238E27FC236}">
                <a16:creationId xmlns:a16="http://schemas.microsoft.com/office/drawing/2014/main" id="{B6A2484D-F227-7D83-9D1F-199680CA61A4}"/>
              </a:ext>
            </a:extLst>
          </p:cNvPr>
          <p:cNvSpPr>
            <a:spLocks noGrp="1"/>
          </p:cNvSpPr>
          <p:nvPr>
            <p:ph type="ctrTitle"/>
          </p:nvPr>
        </p:nvSpPr>
        <p:spPr>
          <a:xfrm>
            <a:off x="1893127" y="782425"/>
            <a:ext cx="8415323" cy="3016577"/>
          </a:xfrm>
        </p:spPr>
        <p:txBody>
          <a:bodyPr anchor="ctr"/>
          <a:lstStyle>
            <a:lvl1pPr algn="l">
              <a:defRPr sz="6000"/>
            </a:lvl1pPr>
          </a:lstStyle>
          <a:p>
            <a:r>
              <a:rPr lang="en-GB"/>
              <a:t>Click to edit Master title style</a:t>
            </a:r>
            <a:endParaRPr lang="en-GB" dirty="0"/>
          </a:p>
        </p:txBody>
      </p:sp>
      <p:sp>
        <p:nvSpPr>
          <p:cNvPr id="3" name="Subtitle 2">
            <a:extLst>
              <a:ext uri="{FF2B5EF4-FFF2-40B4-BE49-F238E27FC236}">
                <a16:creationId xmlns:a16="http://schemas.microsoft.com/office/drawing/2014/main" id="{C8C6A4D3-0153-0D86-80ED-42D75EA9F829}"/>
              </a:ext>
            </a:extLst>
          </p:cNvPr>
          <p:cNvSpPr>
            <a:spLocks noGrp="1"/>
          </p:cNvSpPr>
          <p:nvPr>
            <p:ph type="subTitle" idx="1"/>
          </p:nvPr>
        </p:nvSpPr>
        <p:spPr>
          <a:xfrm>
            <a:off x="1893127" y="4717062"/>
            <a:ext cx="8415322" cy="638666"/>
          </a:xfrm>
        </p:spPr>
        <p:txBody>
          <a:bodyPr anchor="ctr"/>
          <a:lstStyle>
            <a:lvl1pPr marL="0" indent="0" algn="l">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GB" dirty="0"/>
          </a:p>
        </p:txBody>
      </p:sp>
      <p:pic>
        <p:nvPicPr>
          <p:cNvPr id="4" name="Picture 3" descr="A computer with a crown&#10;&#10;AI-generated content may be incorrect.">
            <a:extLst>
              <a:ext uri="{FF2B5EF4-FFF2-40B4-BE49-F238E27FC236}">
                <a16:creationId xmlns:a16="http://schemas.microsoft.com/office/drawing/2014/main" id="{8CB86F0F-2371-277A-21D8-D13516AFD2FB}"/>
              </a:ext>
            </a:extLst>
          </p:cNvPr>
          <p:cNvPicPr>
            <a:picLocks noChangeAspect="1"/>
          </p:cNvPicPr>
          <p:nvPr userDrawn="1"/>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5580103" y="5559678"/>
            <a:ext cx="1031794" cy="1031794"/>
          </a:xfrm>
          <a:prstGeom prst="rect">
            <a:avLst/>
          </a:prstGeom>
        </p:spPr>
      </p:pic>
    </p:spTree>
    <p:extLst>
      <p:ext uri="{BB962C8B-B14F-4D97-AF65-F5344CB8AC3E}">
        <p14:creationId xmlns:p14="http://schemas.microsoft.com/office/powerpoint/2010/main" val="12092749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8EA5713A-126C-F98F-BE50-718B5BBA6CB9}"/>
              </a:ext>
            </a:extLst>
          </p:cNvPr>
          <p:cNvSpPr/>
          <p:nvPr userDrawn="1"/>
        </p:nvSpPr>
        <p:spPr>
          <a:xfrm>
            <a:off x="0" y="-11155"/>
            <a:ext cx="12192000" cy="1156375"/>
          </a:xfrm>
          <a:custGeom>
            <a:avLst/>
            <a:gdLst>
              <a:gd name="connsiteX0" fmla="*/ 0 w 12192000"/>
              <a:gd name="connsiteY0" fmla="*/ 0 h 1036620"/>
              <a:gd name="connsiteX1" fmla="*/ 12192000 w 12192000"/>
              <a:gd name="connsiteY1" fmla="*/ 0 h 1036620"/>
              <a:gd name="connsiteX2" fmla="*/ 12192000 w 12192000"/>
              <a:gd name="connsiteY2" fmla="*/ 1036620 h 1036620"/>
              <a:gd name="connsiteX3" fmla="*/ 0 w 12192000"/>
              <a:gd name="connsiteY3" fmla="*/ 1036620 h 1036620"/>
              <a:gd name="connsiteX4" fmla="*/ 0 w 12192000"/>
              <a:gd name="connsiteY4" fmla="*/ 0 h 1036620"/>
              <a:gd name="connsiteX0" fmla="*/ 0 w 12192000"/>
              <a:gd name="connsiteY0" fmla="*/ 0 h 1036627"/>
              <a:gd name="connsiteX1" fmla="*/ 12192000 w 12192000"/>
              <a:gd name="connsiteY1" fmla="*/ 0 h 1036627"/>
              <a:gd name="connsiteX2" fmla="*/ 12192000 w 12192000"/>
              <a:gd name="connsiteY2" fmla="*/ 1036620 h 1036627"/>
              <a:gd name="connsiteX3" fmla="*/ 9516862 w 12192000"/>
              <a:gd name="connsiteY3" fmla="*/ 827901 h 1036627"/>
              <a:gd name="connsiteX4" fmla="*/ 0 w 12192000"/>
              <a:gd name="connsiteY4" fmla="*/ 1036620 h 1036627"/>
              <a:gd name="connsiteX5" fmla="*/ 0 w 12192000"/>
              <a:gd name="connsiteY5" fmla="*/ 0 h 1036627"/>
              <a:gd name="connsiteX0" fmla="*/ 0 w 12192000"/>
              <a:gd name="connsiteY0" fmla="*/ 0 h 1191885"/>
              <a:gd name="connsiteX1" fmla="*/ 12192000 w 12192000"/>
              <a:gd name="connsiteY1" fmla="*/ 0 h 1191885"/>
              <a:gd name="connsiteX2" fmla="*/ 12192000 w 12192000"/>
              <a:gd name="connsiteY2" fmla="*/ 1036620 h 1191885"/>
              <a:gd name="connsiteX3" fmla="*/ 9516862 w 12192000"/>
              <a:gd name="connsiteY3" fmla="*/ 827901 h 1191885"/>
              <a:gd name="connsiteX4" fmla="*/ 2645546 w 12192000"/>
              <a:gd name="connsiteY4" fmla="*/ 1191885 h 1191885"/>
              <a:gd name="connsiteX5" fmla="*/ 0 w 12192000"/>
              <a:gd name="connsiteY5" fmla="*/ 1036620 h 1191885"/>
              <a:gd name="connsiteX6" fmla="*/ 0 w 12192000"/>
              <a:gd name="connsiteY6" fmla="*/ 0 h 1191885"/>
              <a:gd name="connsiteX0" fmla="*/ 0 w 12192000"/>
              <a:gd name="connsiteY0" fmla="*/ 0 h 1191885"/>
              <a:gd name="connsiteX1" fmla="*/ 12192000 w 12192000"/>
              <a:gd name="connsiteY1" fmla="*/ 0 h 1191885"/>
              <a:gd name="connsiteX2" fmla="*/ 12192000 w 12192000"/>
              <a:gd name="connsiteY2" fmla="*/ 1036620 h 1191885"/>
              <a:gd name="connsiteX3" fmla="*/ 9472474 w 12192000"/>
              <a:gd name="connsiteY3" fmla="*/ 916678 h 1191885"/>
              <a:gd name="connsiteX4" fmla="*/ 2645546 w 12192000"/>
              <a:gd name="connsiteY4" fmla="*/ 1191885 h 1191885"/>
              <a:gd name="connsiteX5" fmla="*/ 0 w 12192000"/>
              <a:gd name="connsiteY5" fmla="*/ 1036620 h 1191885"/>
              <a:gd name="connsiteX6" fmla="*/ 0 w 12192000"/>
              <a:gd name="connsiteY6" fmla="*/ 0 h 1191885"/>
              <a:gd name="connsiteX0" fmla="*/ 0 w 12192000"/>
              <a:gd name="connsiteY0" fmla="*/ 0 h 1156375"/>
              <a:gd name="connsiteX1" fmla="*/ 12192000 w 12192000"/>
              <a:gd name="connsiteY1" fmla="*/ 0 h 1156375"/>
              <a:gd name="connsiteX2" fmla="*/ 12192000 w 12192000"/>
              <a:gd name="connsiteY2" fmla="*/ 1036620 h 1156375"/>
              <a:gd name="connsiteX3" fmla="*/ 9472474 w 12192000"/>
              <a:gd name="connsiteY3" fmla="*/ 916678 h 1156375"/>
              <a:gd name="connsiteX4" fmla="*/ 2654424 w 12192000"/>
              <a:gd name="connsiteY4" fmla="*/ 1156375 h 1156375"/>
              <a:gd name="connsiteX5" fmla="*/ 0 w 12192000"/>
              <a:gd name="connsiteY5" fmla="*/ 1036620 h 1156375"/>
              <a:gd name="connsiteX6" fmla="*/ 0 w 12192000"/>
              <a:gd name="connsiteY6" fmla="*/ 0 h 11563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1156375">
                <a:moveTo>
                  <a:pt x="0" y="0"/>
                </a:moveTo>
                <a:lnTo>
                  <a:pt x="12192000" y="0"/>
                </a:lnTo>
                <a:lnTo>
                  <a:pt x="12192000" y="1036620"/>
                </a:lnTo>
                <a:cubicBezTo>
                  <a:pt x="11258858" y="1038068"/>
                  <a:pt x="10405616" y="915230"/>
                  <a:pt x="9472474" y="916678"/>
                </a:cubicBezTo>
                <a:cubicBezTo>
                  <a:pt x="7244179" y="966985"/>
                  <a:pt x="4882719" y="1106068"/>
                  <a:pt x="2654424" y="1156375"/>
                </a:cubicBezTo>
                <a:lnTo>
                  <a:pt x="0" y="1036620"/>
                </a:lnTo>
                <a:lnTo>
                  <a:pt x="0" y="0"/>
                </a:lnTo>
                <a:close/>
              </a:path>
            </a:pathLst>
          </a:cu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a:extLst>
              <a:ext uri="{FF2B5EF4-FFF2-40B4-BE49-F238E27FC236}">
                <a16:creationId xmlns:a16="http://schemas.microsoft.com/office/drawing/2014/main" id="{B6C0A17E-84FF-A9F1-C94E-DFFA41EEED9B}"/>
              </a:ext>
            </a:extLst>
          </p:cNvPr>
          <p:cNvSpPr>
            <a:spLocks noGrp="1"/>
          </p:cNvSpPr>
          <p:nvPr>
            <p:ph type="title"/>
          </p:nvPr>
        </p:nvSpPr>
        <p:spPr>
          <a:xfrm>
            <a:off x="413993" y="198671"/>
            <a:ext cx="11444926" cy="763571"/>
          </a:xfrm>
        </p:spPr>
        <p:txBody>
          <a:bodyPr/>
          <a:lstStyle>
            <a:lvl1pPr>
              <a:defRPr b="1"/>
            </a:lvl1pPr>
          </a:lstStyle>
          <a:p>
            <a:r>
              <a:rPr lang="en-GB"/>
              <a:t>Click to edit Master title style</a:t>
            </a:r>
            <a:endParaRPr lang="en-GB" dirty="0"/>
          </a:p>
        </p:txBody>
      </p:sp>
      <p:pic>
        <p:nvPicPr>
          <p:cNvPr id="16" name="Picture 15" descr="A black line with a pointy face&#10;&#10;Description automatically generated with medium confidence">
            <a:extLst>
              <a:ext uri="{FF2B5EF4-FFF2-40B4-BE49-F238E27FC236}">
                <a16:creationId xmlns:a16="http://schemas.microsoft.com/office/drawing/2014/main" id="{080783A8-50E8-B90D-6B33-6C93A5F0EBEC}"/>
              </a:ext>
            </a:extLst>
          </p:cNvPr>
          <p:cNvPicPr>
            <a:picLocks noChangeAspect="1"/>
          </p:cNvPicPr>
          <p:nvPr userDrawn="1"/>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167890" y="6384782"/>
            <a:ext cx="711000" cy="336693"/>
          </a:xfrm>
          <a:prstGeom prst="rect">
            <a:avLst/>
          </a:prstGeom>
        </p:spPr>
      </p:pic>
      <p:sp>
        <p:nvSpPr>
          <p:cNvPr id="17" name="Text Placeholder 2">
            <a:extLst>
              <a:ext uri="{FF2B5EF4-FFF2-40B4-BE49-F238E27FC236}">
                <a16:creationId xmlns:a16="http://schemas.microsoft.com/office/drawing/2014/main" id="{83179003-490C-809D-D793-312B68D7424C}"/>
              </a:ext>
            </a:extLst>
          </p:cNvPr>
          <p:cNvSpPr>
            <a:spLocks noGrp="1"/>
          </p:cNvSpPr>
          <p:nvPr>
            <p:ph idx="1"/>
          </p:nvPr>
        </p:nvSpPr>
        <p:spPr>
          <a:xfrm>
            <a:off x="413992" y="1313895"/>
            <a:ext cx="11444927" cy="4952736"/>
          </a:xfrm>
          <a:prstGeom prst="rect">
            <a:avLst/>
          </a:prstGeom>
        </p:spPr>
        <p:txBody>
          <a:bodyPr vert="horz" lIns="91440" tIns="45720" rIns="91440" bIns="45720" rtlCol="0">
            <a:normAutofit/>
          </a:bodyPr>
          <a:lstStyle>
            <a:lvl1pPr marL="0" indent="0">
              <a:buNone/>
              <a:defRPr/>
            </a:lvl1pPr>
            <a:lvl2pPr>
              <a:buClr>
                <a:srgbClr val="C00000"/>
              </a:buClr>
              <a:buSzPct val="115000"/>
              <a:defRPr/>
            </a:lvl2pPr>
          </a:lstStyle>
          <a:p>
            <a:pPr lvl="0"/>
            <a:r>
              <a:rPr lang="en-GB"/>
              <a:t>Click to edit Master text styles</a:t>
            </a:r>
          </a:p>
          <a:p>
            <a:pPr lvl="1"/>
            <a:r>
              <a:rPr lang="en-GB"/>
              <a:t>Second level</a:t>
            </a:r>
          </a:p>
          <a:p>
            <a:pPr lvl="2"/>
            <a:r>
              <a:rPr lang="en-GB"/>
              <a:t>Third level</a:t>
            </a:r>
          </a:p>
        </p:txBody>
      </p:sp>
    </p:spTree>
    <p:extLst>
      <p:ext uri="{BB962C8B-B14F-4D97-AF65-F5344CB8AC3E}">
        <p14:creationId xmlns:p14="http://schemas.microsoft.com/office/powerpoint/2010/main" val="198543163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Objective">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8EA5713A-126C-F98F-BE50-718B5BBA6CB9}"/>
              </a:ext>
            </a:extLst>
          </p:cNvPr>
          <p:cNvSpPr/>
          <p:nvPr userDrawn="1"/>
        </p:nvSpPr>
        <p:spPr>
          <a:xfrm>
            <a:off x="0" y="-11155"/>
            <a:ext cx="12192000" cy="1156375"/>
          </a:xfrm>
          <a:custGeom>
            <a:avLst/>
            <a:gdLst>
              <a:gd name="connsiteX0" fmla="*/ 0 w 12192000"/>
              <a:gd name="connsiteY0" fmla="*/ 0 h 1036620"/>
              <a:gd name="connsiteX1" fmla="*/ 12192000 w 12192000"/>
              <a:gd name="connsiteY1" fmla="*/ 0 h 1036620"/>
              <a:gd name="connsiteX2" fmla="*/ 12192000 w 12192000"/>
              <a:gd name="connsiteY2" fmla="*/ 1036620 h 1036620"/>
              <a:gd name="connsiteX3" fmla="*/ 0 w 12192000"/>
              <a:gd name="connsiteY3" fmla="*/ 1036620 h 1036620"/>
              <a:gd name="connsiteX4" fmla="*/ 0 w 12192000"/>
              <a:gd name="connsiteY4" fmla="*/ 0 h 1036620"/>
              <a:gd name="connsiteX0" fmla="*/ 0 w 12192000"/>
              <a:gd name="connsiteY0" fmla="*/ 0 h 1036627"/>
              <a:gd name="connsiteX1" fmla="*/ 12192000 w 12192000"/>
              <a:gd name="connsiteY1" fmla="*/ 0 h 1036627"/>
              <a:gd name="connsiteX2" fmla="*/ 12192000 w 12192000"/>
              <a:gd name="connsiteY2" fmla="*/ 1036620 h 1036627"/>
              <a:gd name="connsiteX3" fmla="*/ 9516862 w 12192000"/>
              <a:gd name="connsiteY3" fmla="*/ 827901 h 1036627"/>
              <a:gd name="connsiteX4" fmla="*/ 0 w 12192000"/>
              <a:gd name="connsiteY4" fmla="*/ 1036620 h 1036627"/>
              <a:gd name="connsiteX5" fmla="*/ 0 w 12192000"/>
              <a:gd name="connsiteY5" fmla="*/ 0 h 1036627"/>
              <a:gd name="connsiteX0" fmla="*/ 0 w 12192000"/>
              <a:gd name="connsiteY0" fmla="*/ 0 h 1191885"/>
              <a:gd name="connsiteX1" fmla="*/ 12192000 w 12192000"/>
              <a:gd name="connsiteY1" fmla="*/ 0 h 1191885"/>
              <a:gd name="connsiteX2" fmla="*/ 12192000 w 12192000"/>
              <a:gd name="connsiteY2" fmla="*/ 1036620 h 1191885"/>
              <a:gd name="connsiteX3" fmla="*/ 9516862 w 12192000"/>
              <a:gd name="connsiteY3" fmla="*/ 827901 h 1191885"/>
              <a:gd name="connsiteX4" fmla="*/ 2645546 w 12192000"/>
              <a:gd name="connsiteY4" fmla="*/ 1191885 h 1191885"/>
              <a:gd name="connsiteX5" fmla="*/ 0 w 12192000"/>
              <a:gd name="connsiteY5" fmla="*/ 1036620 h 1191885"/>
              <a:gd name="connsiteX6" fmla="*/ 0 w 12192000"/>
              <a:gd name="connsiteY6" fmla="*/ 0 h 1191885"/>
              <a:gd name="connsiteX0" fmla="*/ 0 w 12192000"/>
              <a:gd name="connsiteY0" fmla="*/ 0 h 1191885"/>
              <a:gd name="connsiteX1" fmla="*/ 12192000 w 12192000"/>
              <a:gd name="connsiteY1" fmla="*/ 0 h 1191885"/>
              <a:gd name="connsiteX2" fmla="*/ 12192000 w 12192000"/>
              <a:gd name="connsiteY2" fmla="*/ 1036620 h 1191885"/>
              <a:gd name="connsiteX3" fmla="*/ 9472474 w 12192000"/>
              <a:gd name="connsiteY3" fmla="*/ 916678 h 1191885"/>
              <a:gd name="connsiteX4" fmla="*/ 2645546 w 12192000"/>
              <a:gd name="connsiteY4" fmla="*/ 1191885 h 1191885"/>
              <a:gd name="connsiteX5" fmla="*/ 0 w 12192000"/>
              <a:gd name="connsiteY5" fmla="*/ 1036620 h 1191885"/>
              <a:gd name="connsiteX6" fmla="*/ 0 w 12192000"/>
              <a:gd name="connsiteY6" fmla="*/ 0 h 1191885"/>
              <a:gd name="connsiteX0" fmla="*/ 0 w 12192000"/>
              <a:gd name="connsiteY0" fmla="*/ 0 h 1156375"/>
              <a:gd name="connsiteX1" fmla="*/ 12192000 w 12192000"/>
              <a:gd name="connsiteY1" fmla="*/ 0 h 1156375"/>
              <a:gd name="connsiteX2" fmla="*/ 12192000 w 12192000"/>
              <a:gd name="connsiteY2" fmla="*/ 1036620 h 1156375"/>
              <a:gd name="connsiteX3" fmla="*/ 9472474 w 12192000"/>
              <a:gd name="connsiteY3" fmla="*/ 916678 h 1156375"/>
              <a:gd name="connsiteX4" fmla="*/ 2654424 w 12192000"/>
              <a:gd name="connsiteY4" fmla="*/ 1156375 h 1156375"/>
              <a:gd name="connsiteX5" fmla="*/ 0 w 12192000"/>
              <a:gd name="connsiteY5" fmla="*/ 1036620 h 1156375"/>
              <a:gd name="connsiteX6" fmla="*/ 0 w 12192000"/>
              <a:gd name="connsiteY6" fmla="*/ 0 h 11563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1156375">
                <a:moveTo>
                  <a:pt x="0" y="0"/>
                </a:moveTo>
                <a:lnTo>
                  <a:pt x="12192000" y="0"/>
                </a:lnTo>
                <a:lnTo>
                  <a:pt x="12192000" y="1036620"/>
                </a:lnTo>
                <a:cubicBezTo>
                  <a:pt x="11258858" y="1038068"/>
                  <a:pt x="10405616" y="915230"/>
                  <a:pt x="9472474" y="916678"/>
                </a:cubicBezTo>
                <a:cubicBezTo>
                  <a:pt x="7244179" y="966985"/>
                  <a:pt x="4882719" y="1106068"/>
                  <a:pt x="2654424" y="1156375"/>
                </a:cubicBezTo>
                <a:lnTo>
                  <a:pt x="0" y="1036620"/>
                </a:lnTo>
                <a:lnTo>
                  <a:pt x="0" y="0"/>
                </a:lnTo>
                <a:close/>
              </a:path>
            </a:pathLst>
          </a:cu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a:extLst>
              <a:ext uri="{FF2B5EF4-FFF2-40B4-BE49-F238E27FC236}">
                <a16:creationId xmlns:a16="http://schemas.microsoft.com/office/drawing/2014/main" id="{B6C0A17E-84FF-A9F1-C94E-DFFA41EEED9B}"/>
              </a:ext>
            </a:extLst>
          </p:cNvPr>
          <p:cNvSpPr>
            <a:spLocks noGrp="1"/>
          </p:cNvSpPr>
          <p:nvPr>
            <p:ph type="title"/>
          </p:nvPr>
        </p:nvSpPr>
        <p:spPr>
          <a:xfrm>
            <a:off x="413993" y="198671"/>
            <a:ext cx="11444926" cy="763571"/>
          </a:xfrm>
        </p:spPr>
        <p:txBody>
          <a:bodyPr/>
          <a:lstStyle>
            <a:lvl1pPr>
              <a:defRPr b="1"/>
            </a:lvl1pPr>
          </a:lstStyle>
          <a:p>
            <a:r>
              <a:rPr lang="en-GB"/>
              <a:t>Click to edit Master title style</a:t>
            </a:r>
            <a:endParaRPr lang="en-GB" dirty="0"/>
          </a:p>
        </p:txBody>
      </p:sp>
      <p:pic>
        <p:nvPicPr>
          <p:cNvPr id="16" name="Picture 15" descr="A black line with a pointy face&#10;&#10;Description automatically generated with medium confidence">
            <a:extLst>
              <a:ext uri="{FF2B5EF4-FFF2-40B4-BE49-F238E27FC236}">
                <a16:creationId xmlns:a16="http://schemas.microsoft.com/office/drawing/2014/main" id="{080783A8-50E8-B90D-6B33-6C93A5F0EBEC}"/>
              </a:ext>
            </a:extLst>
          </p:cNvPr>
          <p:cNvPicPr>
            <a:picLocks noChangeAspect="1"/>
          </p:cNvPicPr>
          <p:nvPr userDrawn="1"/>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167890" y="6384782"/>
            <a:ext cx="711000" cy="336693"/>
          </a:xfrm>
          <a:prstGeom prst="rect">
            <a:avLst/>
          </a:prstGeom>
        </p:spPr>
      </p:pic>
      <p:pic>
        <p:nvPicPr>
          <p:cNvPr id="3" name="Picture 2" descr="A white rectangular object with black dots&#10;&#10;Description automatically generated with medium confidence">
            <a:extLst>
              <a:ext uri="{FF2B5EF4-FFF2-40B4-BE49-F238E27FC236}">
                <a16:creationId xmlns:a16="http://schemas.microsoft.com/office/drawing/2014/main" id="{31F8124E-EB43-9B25-D02C-9751D1300004}"/>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3481240" y="518310"/>
            <a:ext cx="5229519" cy="5497053"/>
          </a:xfrm>
          <a:prstGeom prst="rect">
            <a:avLst/>
          </a:prstGeom>
        </p:spPr>
      </p:pic>
      <p:sp>
        <p:nvSpPr>
          <p:cNvPr id="17" name="Text Placeholder 2">
            <a:extLst>
              <a:ext uri="{FF2B5EF4-FFF2-40B4-BE49-F238E27FC236}">
                <a16:creationId xmlns:a16="http://schemas.microsoft.com/office/drawing/2014/main" id="{83179003-490C-809D-D793-312B68D7424C}"/>
              </a:ext>
            </a:extLst>
          </p:cNvPr>
          <p:cNvSpPr>
            <a:spLocks noGrp="1"/>
          </p:cNvSpPr>
          <p:nvPr>
            <p:ph idx="1"/>
          </p:nvPr>
        </p:nvSpPr>
        <p:spPr>
          <a:xfrm>
            <a:off x="4150681" y="2503502"/>
            <a:ext cx="3890638" cy="2947387"/>
          </a:xfrm>
          <a:prstGeom prst="rect">
            <a:avLst/>
          </a:prstGeom>
        </p:spPr>
        <p:txBody>
          <a:bodyPr vert="horz" lIns="91440" tIns="45720" rIns="91440" bIns="45720" rtlCol="0">
            <a:normAutofit/>
          </a:bodyPr>
          <a:lstStyle>
            <a:lvl1pPr marL="0" indent="0">
              <a:buNone/>
              <a:defRPr/>
            </a:lvl1pPr>
            <a:lvl2pPr>
              <a:buClr>
                <a:srgbClr val="C00000"/>
              </a:buClr>
              <a:buSzPct val="115000"/>
              <a:defRPr/>
            </a:lvl2pPr>
            <a:lvl3pPr marL="914400" indent="0">
              <a:buNone/>
              <a:defRPr/>
            </a:lvl3pPr>
          </a:lstStyle>
          <a:p>
            <a:pPr lvl="0"/>
            <a:r>
              <a:rPr lang="en-GB"/>
              <a:t>Click to edit Master text styles</a:t>
            </a:r>
          </a:p>
        </p:txBody>
      </p:sp>
    </p:spTree>
    <p:extLst>
      <p:ext uri="{BB962C8B-B14F-4D97-AF65-F5344CB8AC3E}">
        <p14:creationId xmlns:p14="http://schemas.microsoft.com/office/powerpoint/2010/main" val="37428273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Practical Task">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8EA5713A-126C-F98F-BE50-718B5BBA6CB9}"/>
              </a:ext>
            </a:extLst>
          </p:cNvPr>
          <p:cNvSpPr/>
          <p:nvPr userDrawn="1"/>
        </p:nvSpPr>
        <p:spPr>
          <a:xfrm>
            <a:off x="0" y="-11155"/>
            <a:ext cx="12192000" cy="1156375"/>
          </a:xfrm>
          <a:custGeom>
            <a:avLst/>
            <a:gdLst>
              <a:gd name="connsiteX0" fmla="*/ 0 w 12192000"/>
              <a:gd name="connsiteY0" fmla="*/ 0 h 1036620"/>
              <a:gd name="connsiteX1" fmla="*/ 12192000 w 12192000"/>
              <a:gd name="connsiteY1" fmla="*/ 0 h 1036620"/>
              <a:gd name="connsiteX2" fmla="*/ 12192000 w 12192000"/>
              <a:gd name="connsiteY2" fmla="*/ 1036620 h 1036620"/>
              <a:gd name="connsiteX3" fmla="*/ 0 w 12192000"/>
              <a:gd name="connsiteY3" fmla="*/ 1036620 h 1036620"/>
              <a:gd name="connsiteX4" fmla="*/ 0 w 12192000"/>
              <a:gd name="connsiteY4" fmla="*/ 0 h 1036620"/>
              <a:gd name="connsiteX0" fmla="*/ 0 w 12192000"/>
              <a:gd name="connsiteY0" fmla="*/ 0 h 1036627"/>
              <a:gd name="connsiteX1" fmla="*/ 12192000 w 12192000"/>
              <a:gd name="connsiteY1" fmla="*/ 0 h 1036627"/>
              <a:gd name="connsiteX2" fmla="*/ 12192000 w 12192000"/>
              <a:gd name="connsiteY2" fmla="*/ 1036620 h 1036627"/>
              <a:gd name="connsiteX3" fmla="*/ 9516862 w 12192000"/>
              <a:gd name="connsiteY3" fmla="*/ 827901 h 1036627"/>
              <a:gd name="connsiteX4" fmla="*/ 0 w 12192000"/>
              <a:gd name="connsiteY4" fmla="*/ 1036620 h 1036627"/>
              <a:gd name="connsiteX5" fmla="*/ 0 w 12192000"/>
              <a:gd name="connsiteY5" fmla="*/ 0 h 1036627"/>
              <a:gd name="connsiteX0" fmla="*/ 0 w 12192000"/>
              <a:gd name="connsiteY0" fmla="*/ 0 h 1191885"/>
              <a:gd name="connsiteX1" fmla="*/ 12192000 w 12192000"/>
              <a:gd name="connsiteY1" fmla="*/ 0 h 1191885"/>
              <a:gd name="connsiteX2" fmla="*/ 12192000 w 12192000"/>
              <a:gd name="connsiteY2" fmla="*/ 1036620 h 1191885"/>
              <a:gd name="connsiteX3" fmla="*/ 9516862 w 12192000"/>
              <a:gd name="connsiteY3" fmla="*/ 827901 h 1191885"/>
              <a:gd name="connsiteX4" fmla="*/ 2645546 w 12192000"/>
              <a:gd name="connsiteY4" fmla="*/ 1191885 h 1191885"/>
              <a:gd name="connsiteX5" fmla="*/ 0 w 12192000"/>
              <a:gd name="connsiteY5" fmla="*/ 1036620 h 1191885"/>
              <a:gd name="connsiteX6" fmla="*/ 0 w 12192000"/>
              <a:gd name="connsiteY6" fmla="*/ 0 h 1191885"/>
              <a:gd name="connsiteX0" fmla="*/ 0 w 12192000"/>
              <a:gd name="connsiteY0" fmla="*/ 0 h 1191885"/>
              <a:gd name="connsiteX1" fmla="*/ 12192000 w 12192000"/>
              <a:gd name="connsiteY1" fmla="*/ 0 h 1191885"/>
              <a:gd name="connsiteX2" fmla="*/ 12192000 w 12192000"/>
              <a:gd name="connsiteY2" fmla="*/ 1036620 h 1191885"/>
              <a:gd name="connsiteX3" fmla="*/ 9472474 w 12192000"/>
              <a:gd name="connsiteY3" fmla="*/ 916678 h 1191885"/>
              <a:gd name="connsiteX4" fmla="*/ 2645546 w 12192000"/>
              <a:gd name="connsiteY4" fmla="*/ 1191885 h 1191885"/>
              <a:gd name="connsiteX5" fmla="*/ 0 w 12192000"/>
              <a:gd name="connsiteY5" fmla="*/ 1036620 h 1191885"/>
              <a:gd name="connsiteX6" fmla="*/ 0 w 12192000"/>
              <a:gd name="connsiteY6" fmla="*/ 0 h 1191885"/>
              <a:gd name="connsiteX0" fmla="*/ 0 w 12192000"/>
              <a:gd name="connsiteY0" fmla="*/ 0 h 1156375"/>
              <a:gd name="connsiteX1" fmla="*/ 12192000 w 12192000"/>
              <a:gd name="connsiteY1" fmla="*/ 0 h 1156375"/>
              <a:gd name="connsiteX2" fmla="*/ 12192000 w 12192000"/>
              <a:gd name="connsiteY2" fmla="*/ 1036620 h 1156375"/>
              <a:gd name="connsiteX3" fmla="*/ 9472474 w 12192000"/>
              <a:gd name="connsiteY3" fmla="*/ 916678 h 1156375"/>
              <a:gd name="connsiteX4" fmla="*/ 2654424 w 12192000"/>
              <a:gd name="connsiteY4" fmla="*/ 1156375 h 1156375"/>
              <a:gd name="connsiteX5" fmla="*/ 0 w 12192000"/>
              <a:gd name="connsiteY5" fmla="*/ 1036620 h 1156375"/>
              <a:gd name="connsiteX6" fmla="*/ 0 w 12192000"/>
              <a:gd name="connsiteY6" fmla="*/ 0 h 11563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1156375">
                <a:moveTo>
                  <a:pt x="0" y="0"/>
                </a:moveTo>
                <a:lnTo>
                  <a:pt x="12192000" y="0"/>
                </a:lnTo>
                <a:lnTo>
                  <a:pt x="12192000" y="1036620"/>
                </a:lnTo>
                <a:cubicBezTo>
                  <a:pt x="11258858" y="1038068"/>
                  <a:pt x="10405616" y="915230"/>
                  <a:pt x="9472474" y="916678"/>
                </a:cubicBezTo>
                <a:cubicBezTo>
                  <a:pt x="7244179" y="966985"/>
                  <a:pt x="4882719" y="1106068"/>
                  <a:pt x="2654424" y="1156375"/>
                </a:cubicBezTo>
                <a:lnTo>
                  <a:pt x="0" y="1036620"/>
                </a:lnTo>
                <a:lnTo>
                  <a:pt x="0" y="0"/>
                </a:lnTo>
                <a:close/>
              </a:path>
            </a:pathLst>
          </a:cu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a:extLst>
              <a:ext uri="{FF2B5EF4-FFF2-40B4-BE49-F238E27FC236}">
                <a16:creationId xmlns:a16="http://schemas.microsoft.com/office/drawing/2014/main" id="{B6C0A17E-84FF-A9F1-C94E-DFFA41EEED9B}"/>
              </a:ext>
            </a:extLst>
          </p:cNvPr>
          <p:cNvSpPr>
            <a:spLocks noGrp="1"/>
          </p:cNvSpPr>
          <p:nvPr>
            <p:ph type="title"/>
          </p:nvPr>
        </p:nvSpPr>
        <p:spPr>
          <a:xfrm>
            <a:off x="1671589" y="89905"/>
            <a:ext cx="10187330" cy="763571"/>
          </a:xfrm>
        </p:spPr>
        <p:txBody>
          <a:bodyPr/>
          <a:lstStyle>
            <a:lvl1pPr>
              <a:defRPr b="1"/>
            </a:lvl1pPr>
          </a:lstStyle>
          <a:p>
            <a:r>
              <a:rPr lang="en-GB"/>
              <a:t>Click to edit Master title style</a:t>
            </a:r>
            <a:endParaRPr lang="en-GB" dirty="0"/>
          </a:p>
        </p:txBody>
      </p:sp>
      <p:pic>
        <p:nvPicPr>
          <p:cNvPr id="16" name="Picture 15" descr="A black line with a pointy face&#10;&#10;Description automatically generated with medium confidence">
            <a:extLst>
              <a:ext uri="{FF2B5EF4-FFF2-40B4-BE49-F238E27FC236}">
                <a16:creationId xmlns:a16="http://schemas.microsoft.com/office/drawing/2014/main" id="{080783A8-50E8-B90D-6B33-6C93A5F0EBEC}"/>
              </a:ext>
            </a:extLst>
          </p:cNvPr>
          <p:cNvPicPr>
            <a:picLocks noChangeAspect="1"/>
          </p:cNvPicPr>
          <p:nvPr userDrawn="1"/>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167890" y="6384782"/>
            <a:ext cx="711000" cy="336693"/>
          </a:xfrm>
          <a:prstGeom prst="rect">
            <a:avLst/>
          </a:prstGeom>
        </p:spPr>
      </p:pic>
      <p:sp>
        <p:nvSpPr>
          <p:cNvPr id="17" name="Text Placeholder 2">
            <a:extLst>
              <a:ext uri="{FF2B5EF4-FFF2-40B4-BE49-F238E27FC236}">
                <a16:creationId xmlns:a16="http://schemas.microsoft.com/office/drawing/2014/main" id="{83179003-490C-809D-D793-312B68D7424C}"/>
              </a:ext>
            </a:extLst>
          </p:cNvPr>
          <p:cNvSpPr>
            <a:spLocks noGrp="1"/>
          </p:cNvSpPr>
          <p:nvPr>
            <p:ph idx="1"/>
          </p:nvPr>
        </p:nvSpPr>
        <p:spPr>
          <a:xfrm>
            <a:off x="413992" y="1313895"/>
            <a:ext cx="11444927" cy="4952736"/>
          </a:xfrm>
          <a:prstGeom prst="rect">
            <a:avLst/>
          </a:prstGeom>
        </p:spPr>
        <p:txBody>
          <a:bodyPr vert="horz" lIns="91440" tIns="45720" rIns="91440" bIns="45720" rtlCol="0">
            <a:normAutofit/>
          </a:bodyPr>
          <a:lstStyle>
            <a:lvl1pPr marL="0" indent="0">
              <a:buNone/>
              <a:defRPr/>
            </a:lvl1pPr>
            <a:lvl2pPr>
              <a:buClr>
                <a:srgbClr val="C00000"/>
              </a:buClr>
              <a:buSzPct val="115000"/>
              <a:defRPr/>
            </a:lvl2pPr>
          </a:lstStyle>
          <a:p>
            <a:pPr lvl="0"/>
            <a:r>
              <a:rPr lang="en-GB"/>
              <a:t>Click to edit Master text styles</a:t>
            </a:r>
          </a:p>
          <a:p>
            <a:pPr lvl="1"/>
            <a:r>
              <a:rPr lang="en-GB"/>
              <a:t>Second level</a:t>
            </a:r>
          </a:p>
          <a:p>
            <a:pPr lvl="2"/>
            <a:r>
              <a:rPr lang="en-GB"/>
              <a:t>Third level</a:t>
            </a:r>
          </a:p>
        </p:txBody>
      </p:sp>
      <p:pic>
        <p:nvPicPr>
          <p:cNvPr id="7" name="Picture 6" descr="A computer with a keyboard&#10;&#10;Description automatically generated">
            <a:extLst>
              <a:ext uri="{FF2B5EF4-FFF2-40B4-BE49-F238E27FC236}">
                <a16:creationId xmlns:a16="http://schemas.microsoft.com/office/drawing/2014/main" id="{D90EB9EB-35CA-B193-CB6D-E1224A36382C}"/>
              </a:ext>
            </a:extLst>
          </p:cNvPr>
          <p:cNvPicPr>
            <a:picLocks noChangeAspect="1"/>
          </p:cNvPicPr>
          <p:nvPr userDrawn="1"/>
        </p:nvPicPr>
        <p:blipFill>
          <a:blip r:embed="rId3">
            <a:clrChange>
              <a:clrFrom>
                <a:srgbClr val="FFFFFF"/>
              </a:clrFrom>
              <a:clrTo>
                <a:srgbClr val="FFFFFF">
                  <a:alpha val="0"/>
                </a:srgbClr>
              </a:clrTo>
            </a:clrChange>
            <a:duotone>
              <a:prstClr val="black"/>
              <a:schemeClr val="accent1">
                <a:tint val="45000"/>
                <a:satMod val="400000"/>
              </a:schemeClr>
            </a:duotone>
            <a:extLst>
              <a:ext uri="{28A0092B-C50C-407E-A947-70E740481C1C}">
                <a14:useLocalDpi xmlns:a14="http://schemas.microsoft.com/office/drawing/2010/main" val="0"/>
              </a:ext>
            </a:extLst>
          </a:blip>
          <a:stretch>
            <a:fillRect/>
          </a:stretch>
        </p:blipFill>
        <p:spPr>
          <a:xfrm flipH="1">
            <a:off x="523390" y="34649"/>
            <a:ext cx="874081" cy="874081"/>
          </a:xfrm>
          <a:prstGeom prst="rect">
            <a:avLst/>
          </a:prstGeom>
        </p:spPr>
      </p:pic>
    </p:spTree>
    <p:extLst>
      <p:ext uri="{BB962C8B-B14F-4D97-AF65-F5344CB8AC3E}">
        <p14:creationId xmlns:p14="http://schemas.microsoft.com/office/powerpoint/2010/main" val="70722699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Paper Task">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8EA5713A-126C-F98F-BE50-718B5BBA6CB9}"/>
              </a:ext>
            </a:extLst>
          </p:cNvPr>
          <p:cNvSpPr/>
          <p:nvPr userDrawn="1"/>
        </p:nvSpPr>
        <p:spPr>
          <a:xfrm>
            <a:off x="0" y="-11155"/>
            <a:ext cx="12192000" cy="1156375"/>
          </a:xfrm>
          <a:custGeom>
            <a:avLst/>
            <a:gdLst>
              <a:gd name="connsiteX0" fmla="*/ 0 w 12192000"/>
              <a:gd name="connsiteY0" fmla="*/ 0 h 1036620"/>
              <a:gd name="connsiteX1" fmla="*/ 12192000 w 12192000"/>
              <a:gd name="connsiteY1" fmla="*/ 0 h 1036620"/>
              <a:gd name="connsiteX2" fmla="*/ 12192000 w 12192000"/>
              <a:gd name="connsiteY2" fmla="*/ 1036620 h 1036620"/>
              <a:gd name="connsiteX3" fmla="*/ 0 w 12192000"/>
              <a:gd name="connsiteY3" fmla="*/ 1036620 h 1036620"/>
              <a:gd name="connsiteX4" fmla="*/ 0 w 12192000"/>
              <a:gd name="connsiteY4" fmla="*/ 0 h 1036620"/>
              <a:gd name="connsiteX0" fmla="*/ 0 w 12192000"/>
              <a:gd name="connsiteY0" fmla="*/ 0 h 1036627"/>
              <a:gd name="connsiteX1" fmla="*/ 12192000 w 12192000"/>
              <a:gd name="connsiteY1" fmla="*/ 0 h 1036627"/>
              <a:gd name="connsiteX2" fmla="*/ 12192000 w 12192000"/>
              <a:gd name="connsiteY2" fmla="*/ 1036620 h 1036627"/>
              <a:gd name="connsiteX3" fmla="*/ 9516862 w 12192000"/>
              <a:gd name="connsiteY3" fmla="*/ 827901 h 1036627"/>
              <a:gd name="connsiteX4" fmla="*/ 0 w 12192000"/>
              <a:gd name="connsiteY4" fmla="*/ 1036620 h 1036627"/>
              <a:gd name="connsiteX5" fmla="*/ 0 w 12192000"/>
              <a:gd name="connsiteY5" fmla="*/ 0 h 1036627"/>
              <a:gd name="connsiteX0" fmla="*/ 0 w 12192000"/>
              <a:gd name="connsiteY0" fmla="*/ 0 h 1191885"/>
              <a:gd name="connsiteX1" fmla="*/ 12192000 w 12192000"/>
              <a:gd name="connsiteY1" fmla="*/ 0 h 1191885"/>
              <a:gd name="connsiteX2" fmla="*/ 12192000 w 12192000"/>
              <a:gd name="connsiteY2" fmla="*/ 1036620 h 1191885"/>
              <a:gd name="connsiteX3" fmla="*/ 9516862 w 12192000"/>
              <a:gd name="connsiteY3" fmla="*/ 827901 h 1191885"/>
              <a:gd name="connsiteX4" fmla="*/ 2645546 w 12192000"/>
              <a:gd name="connsiteY4" fmla="*/ 1191885 h 1191885"/>
              <a:gd name="connsiteX5" fmla="*/ 0 w 12192000"/>
              <a:gd name="connsiteY5" fmla="*/ 1036620 h 1191885"/>
              <a:gd name="connsiteX6" fmla="*/ 0 w 12192000"/>
              <a:gd name="connsiteY6" fmla="*/ 0 h 1191885"/>
              <a:gd name="connsiteX0" fmla="*/ 0 w 12192000"/>
              <a:gd name="connsiteY0" fmla="*/ 0 h 1191885"/>
              <a:gd name="connsiteX1" fmla="*/ 12192000 w 12192000"/>
              <a:gd name="connsiteY1" fmla="*/ 0 h 1191885"/>
              <a:gd name="connsiteX2" fmla="*/ 12192000 w 12192000"/>
              <a:gd name="connsiteY2" fmla="*/ 1036620 h 1191885"/>
              <a:gd name="connsiteX3" fmla="*/ 9472474 w 12192000"/>
              <a:gd name="connsiteY3" fmla="*/ 916678 h 1191885"/>
              <a:gd name="connsiteX4" fmla="*/ 2645546 w 12192000"/>
              <a:gd name="connsiteY4" fmla="*/ 1191885 h 1191885"/>
              <a:gd name="connsiteX5" fmla="*/ 0 w 12192000"/>
              <a:gd name="connsiteY5" fmla="*/ 1036620 h 1191885"/>
              <a:gd name="connsiteX6" fmla="*/ 0 w 12192000"/>
              <a:gd name="connsiteY6" fmla="*/ 0 h 1191885"/>
              <a:gd name="connsiteX0" fmla="*/ 0 w 12192000"/>
              <a:gd name="connsiteY0" fmla="*/ 0 h 1156375"/>
              <a:gd name="connsiteX1" fmla="*/ 12192000 w 12192000"/>
              <a:gd name="connsiteY1" fmla="*/ 0 h 1156375"/>
              <a:gd name="connsiteX2" fmla="*/ 12192000 w 12192000"/>
              <a:gd name="connsiteY2" fmla="*/ 1036620 h 1156375"/>
              <a:gd name="connsiteX3" fmla="*/ 9472474 w 12192000"/>
              <a:gd name="connsiteY3" fmla="*/ 916678 h 1156375"/>
              <a:gd name="connsiteX4" fmla="*/ 2654424 w 12192000"/>
              <a:gd name="connsiteY4" fmla="*/ 1156375 h 1156375"/>
              <a:gd name="connsiteX5" fmla="*/ 0 w 12192000"/>
              <a:gd name="connsiteY5" fmla="*/ 1036620 h 1156375"/>
              <a:gd name="connsiteX6" fmla="*/ 0 w 12192000"/>
              <a:gd name="connsiteY6" fmla="*/ 0 h 11563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1156375">
                <a:moveTo>
                  <a:pt x="0" y="0"/>
                </a:moveTo>
                <a:lnTo>
                  <a:pt x="12192000" y="0"/>
                </a:lnTo>
                <a:lnTo>
                  <a:pt x="12192000" y="1036620"/>
                </a:lnTo>
                <a:cubicBezTo>
                  <a:pt x="11258858" y="1038068"/>
                  <a:pt x="10405616" y="915230"/>
                  <a:pt x="9472474" y="916678"/>
                </a:cubicBezTo>
                <a:cubicBezTo>
                  <a:pt x="7244179" y="966985"/>
                  <a:pt x="4882719" y="1106068"/>
                  <a:pt x="2654424" y="1156375"/>
                </a:cubicBezTo>
                <a:lnTo>
                  <a:pt x="0" y="1036620"/>
                </a:lnTo>
                <a:lnTo>
                  <a:pt x="0" y="0"/>
                </a:lnTo>
                <a:close/>
              </a:path>
            </a:pathLst>
          </a:cu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6" name="Picture 15" descr="A black line with a pointy face&#10;&#10;Description automatically generated with medium confidence">
            <a:extLst>
              <a:ext uri="{FF2B5EF4-FFF2-40B4-BE49-F238E27FC236}">
                <a16:creationId xmlns:a16="http://schemas.microsoft.com/office/drawing/2014/main" id="{080783A8-50E8-B90D-6B33-6C93A5F0EBEC}"/>
              </a:ext>
            </a:extLst>
          </p:cNvPr>
          <p:cNvPicPr>
            <a:picLocks noChangeAspect="1"/>
          </p:cNvPicPr>
          <p:nvPr userDrawn="1"/>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167890" y="6384782"/>
            <a:ext cx="711000" cy="336693"/>
          </a:xfrm>
          <a:prstGeom prst="rect">
            <a:avLst/>
          </a:prstGeom>
        </p:spPr>
      </p:pic>
      <p:pic>
        <p:nvPicPr>
          <p:cNvPr id="4" name="Picture 3" descr="A black pen with a cap&#10;&#10;Description automatically generated">
            <a:extLst>
              <a:ext uri="{FF2B5EF4-FFF2-40B4-BE49-F238E27FC236}">
                <a16:creationId xmlns:a16="http://schemas.microsoft.com/office/drawing/2014/main" id="{23553E00-1685-A73C-C4C2-17F580B6012E}"/>
              </a:ext>
            </a:extLst>
          </p:cNvPr>
          <p:cNvPicPr>
            <a:picLocks noChangeAspect="1"/>
          </p:cNvPicPr>
          <p:nvPr userDrawn="1"/>
        </p:nvPicPr>
        <p:blipFill>
          <a:blip r:embed="rId3">
            <a:clrChange>
              <a:clrFrom>
                <a:srgbClr val="FFFFFF"/>
              </a:clrFrom>
              <a:clrTo>
                <a:srgbClr val="FFFFFF">
                  <a:alpha val="0"/>
                </a:srgbClr>
              </a:clrTo>
            </a:clrChange>
            <a:duotone>
              <a:prstClr val="black"/>
              <a:schemeClr val="accent1">
                <a:tint val="45000"/>
                <a:satMod val="400000"/>
              </a:schemeClr>
            </a:duotone>
            <a:extLst>
              <a:ext uri="{28A0092B-C50C-407E-A947-70E740481C1C}">
                <a14:useLocalDpi xmlns:a14="http://schemas.microsoft.com/office/drawing/2010/main" val="0"/>
              </a:ext>
            </a:extLst>
          </a:blip>
          <a:stretch>
            <a:fillRect/>
          </a:stretch>
        </p:blipFill>
        <p:spPr>
          <a:xfrm>
            <a:off x="507507" y="56188"/>
            <a:ext cx="831001" cy="831001"/>
          </a:xfrm>
          <a:prstGeom prst="rect">
            <a:avLst/>
          </a:prstGeom>
        </p:spPr>
      </p:pic>
      <p:sp>
        <p:nvSpPr>
          <p:cNvPr id="17" name="Text Placeholder 2">
            <a:extLst>
              <a:ext uri="{FF2B5EF4-FFF2-40B4-BE49-F238E27FC236}">
                <a16:creationId xmlns:a16="http://schemas.microsoft.com/office/drawing/2014/main" id="{83179003-490C-809D-D793-312B68D7424C}"/>
              </a:ext>
            </a:extLst>
          </p:cNvPr>
          <p:cNvSpPr>
            <a:spLocks noGrp="1"/>
          </p:cNvSpPr>
          <p:nvPr>
            <p:ph idx="1"/>
          </p:nvPr>
        </p:nvSpPr>
        <p:spPr>
          <a:xfrm>
            <a:off x="413992" y="1313895"/>
            <a:ext cx="11444927" cy="4952736"/>
          </a:xfrm>
          <a:prstGeom prst="rect">
            <a:avLst/>
          </a:prstGeom>
        </p:spPr>
        <p:txBody>
          <a:bodyPr vert="horz" lIns="91440" tIns="45720" rIns="91440" bIns="45720" rtlCol="0">
            <a:normAutofit/>
          </a:bodyPr>
          <a:lstStyle>
            <a:lvl1pPr marL="0" indent="0">
              <a:buNone/>
              <a:defRPr/>
            </a:lvl1pPr>
            <a:lvl2pPr>
              <a:buClr>
                <a:srgbClr val="C00000"/>
              </a:buClr>
              <a:buSzPct val="115000"/>
              <a:defRPr/>
            </a:lvl2pPr>
          </a:lstStyle>
          <a:p>
            <a:pPr lvl="0"/>
            <a:r>
              <a:rPr lang="en-GB"/>
              <a:t>Click to edit Master text styles</a:t>
            </a:r>
          </a:p>
          <a:p>
            <a:pPr lvl="1"/>
            <a:r>
              <a:rPr lang="en-GB"/>
              <a:t>Second level</a:t>
            </a:r>
          </a:p>
          <a:p>
            <a:pPr lvl="2"/>
            <a:r>
              <a:rPr lang="en-GB"/>
              <a:t>Third level</a:t>
            </a:r>
          </a:p>
        </p:txBody>
      </p:sp>
      <p:sp>
        <p:nvSpPr>
          <p:cNvPr id="3" name="Title 1">
            <a:extLst>
              <a:ext uri="{FF2B5EF4-FFF2-40B4-BE49-F238E27FC236}">
                <a16:creationId xmlns:a16="http://schemas.microsoft.com/office/drawing/2014/main" id="{8E8FBBBB-AC3E-C1DC-7C7D-80D22331DE68}"/>
              </a:ext>
            </a:extLst>
          </p:cNvPr>
          <p:cNvSpPr>
            <a:spLocks noGrp="1"/>
          </p:cNvSpPr>
          <p:nvPr>
            <p:ph type="title"/>
          </p:nvPr>
        </p:nvSpPr>
        <p:spPr>
          <a:xfrm>
            <a:off x="1671589" y="89905"/>
            <a:ext cx="10187330" cy="763571"/>
          </a:xfrm>
        </p:spPr>
        <p:txBody>
          <a:bodyPr/>
          <a:lstStyle>
            <a:lvl1pPr>
              <a:defRPr b="1"/>
            </a:lvl1pPr>
          </a:lstStyle>
          <a:p>
            <a:r>
              <a:rPr lang="en-GB"/>
              <a:t>Click to edit Master title style</a:t>
            </a:r>
            <a:endParaRPr lang="en-GB" dirty="0"/>
          </a:p>
        </p:txBody>
      </p:sp>
    </p:spTree>
    <p:extLst>
      <p:ext uri="{BB962C8B-B14F-4D97-AF65-F5344CB8AC3E}">
        <p14:creationId xmlns:p14="http://schemas.microsoft.com/office/powerpoint/2010/main" val="123367672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Discussion Task">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8EA5713A-126C-F98F-BE50-718B5BBA6CB9}"/>
              </a:ext>
            </a:extLst>
          </p:cNvPr>
          <p:cNvSpPr/>
          <p:nvPr userDrawn="1"/>
        </p:nvSpPr>
        <p:spPr>
          <a:xfrm>
            <a:off x="0" y="-11155"/>
            <a:ext cx="12192000" cy="1156375"/>
          </a:xfrm>
          <a:custGeom>
            <a:avLst/>
            <a:gdLst>
              <a:gd name="connsiteX0" fmla="*/ 0 w 12192000"/>
              <a:gd name="connsiteY0" fmla="*/ 0 h 1036620"/>
              <a:gd name="connsiteX1" fmla="*/ 12192000 w 12192000"/>
              <a:gd name="connsiteY1" fmla="*/ 0 h 1036620"/>
              <a:gd name="connsiteX2" fmla="*/ 12192000 w 12192000"/>
              <a:gd name="connsiteY2" fmla="*/ 1036620 h 1036620"/>
              <a:gd name="connsiteX3" fmla="*/ 0 w 12192000"/>
              <a:gd name="connsiteY3" fmla="*/ 1036620 h 1036620"/>
              <a:gd name="connsiteX4" fmla="*/ 0 w 12192000"/>
              <a:gd name="connsiteY4" fmla="*/ 0 h 1036620"/>
              <a:gd name="connsiteX0" fmla="*/ 0 w 12192000"/>
              <a:gd name="connsiteY0" fmla="*/ 0 h 1036627"/>
              <a:gd name="connsiteX1" fmla="*/ 12192000 w 12192000"/>
              <a:gd name="connsiteY1" fmla="*/ 0 h 1036627"/>
              <a:gd name="connsiteX2" fmla="*/ 12192000 w 12192000"/>
              <a:gd name="connsiteY2" fmla="*/ 1036620 h 1036627"/>
              <a:gd name="connsiteX3" fmla="*/ 9516862 w 12192000"/>
              <a:gd name="connsiteY3" fmla="*/ 827901 h 1036627"/>
              <a:gd name="connsiteX4" fmla="*/ 0 w 12192000"/>
              <a:gd name="connsiteY4" fmla="*/ 1036620 h 1036627"/>
              <a:gd name="connsiteX5" fmla="*/ 0 w 12192000"/>
              <a:gd name="connsiteY5" fmla="*/ 0 h 1036627"/>
              <a:gd name="connsiteX0" fmla="*/ 0 w 12192000"/>
              <a:gd name="connsiteY0" fmla="*/ 0 h 1191885"/>
              <a:gd name="connsiteX1" fmla="*/ 12192000 w 12192000"/>
              <a:gd name="connsiteY1" fmla="*/ 0 h 1191885"/>
              <a:gd name="connsiteX2" fmla="*/ 12192000 w 12192000"/>
              <a:gd name="connsiteY2" fmla="*/ 1036620 h 1191885"/>
              <a:gd name="connsiteX3" fmla="*/ 9516862 w 12192000"/>
              <a:gd name="connsiteY3" fmla="*/ 827901 h 1191885"/>
              <a:gd name="connsiteX4" fmla="*/ 2645546 w 12192000"/>
              <a:gd name="connsiteY4" fmla="*/ 1191885 h 1191885"/>
              <a:gd name="connsiteX5" fmla="*/ 0 w 12192000"/>
              <a:gd name="connsiteY5" fmla="*/ 1036620 h 1191885"/>
              <a:gd name="connsiteX6" fmla="*/ 0 w 12192000"/>
              <a:gd name="connsiteY6" fmla="*/ 0 h 1191885"/>
              <a:gd name="connsiteX0" fmla="*/ 0 w 12192000"/>
              <a:gd name="connsiteY0" fmla="*/ 0 h 1191885"/>
              <a:gd name="connsiteX1" fmla="*/ 12192000 w 12192000"/>
              <a:gd name="connsiteY1" fmla="*/ 0 h 1191885"/>
              <a:gd name="connsiteX2" fmla="*/ 12192000 w 12192000"/>
              <a:gd name="connsiteY2" fmla="*/ 1036620 h 1191885"/>
              <a:gd name="connsiteX3" fmla="*/ 9472474 w 12192000"/>
              <a:gd name="connsiteY3" fmla="*/ 916678 h 1191885"/>
              <a:gd name="connsiteX4" fmla="*/ 2645546 w 12192000"/>
              <a:gd name="connsiteY4" fmla="*/ 1191885 h 1191885"/>
              <a:gd name="connsiteX5" fmla="*/ 0 w 12192000"/>
              <a:gd name="connsiteY5" fmla="*/ 1036620 h 1191885"/>
              <a:gd name="connsiteX6" fmla="*/ 0 w 12192000"/>
              <a:gd name="connsiteY6" fmla="*/ 0 h 1191885"/>
              <a:gd name="connsiteX0" fmla="*/ 0 w 12192000"/>
              <a:gd name="connsiteY0" fmla="*/ 0 h 1156375"/>
              <a:gd name="connsiteX1" fmla="*/ 12192000 w 12192000"/>
              <a:gd name="connsiteY1" fmla="*/ 0 h 1156375"/>
              <a:gd name="connsiteX2" fmla="*/ 12192000 w 12192000"/>
              <a:gd name="connsiteY2" fmla="*/ 1036620 h 1156375"/>
              <a:gd name="connsiteX3" fmla="*/ 9472474 w 12192000"/>
              <a:gd name="connsiteY3" fmla="*/ 916678 h 1156375"/>
              <a:gd name="connsiteX4" fmla="*/ 2654424 w 12192000"/>
              <a:gd name="connsiteY4" fmla="*/ 1156375 h 1156375"/>
              <a:gd name="connsiteX5" fmla="*/ 0 w 12192000"/>
              <a:gd name="connsiteY5" fmla="*/ 1036620 h 1156375"/>
              <a:gd name="connsiteX6" fmla="*/ 0 w 12192000"/>
              <a:gd name="connsiteY6" fmla="*/ 0 h 11563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1156375">
                <a:moveTo>
                  <a:pt x="0" y="0"/>
                </a:moveTo>
                <a:lnTo>
                  <a:pt x="12192000" y="0"/>
                </a:lnTo>
                <a:lnTo>
                  <a:pt x="12192000" y="1036620"/>
                </a:lnTo>
                <a:cubicBezTo>
                  <a:pt x="11258858" y="1038068"/>
                  <a:pt x="10405616" y="915230"/>
                  <a:pt x="9472474" y="916678"/>
                </a:cubicBezTo>
                <a:cubicBezTo>
                  <a:pt x="7244179" y="966985"/>
                  <a:pt x="4882719" y="1106068"/>
                  <a:pt x="2654424" y="1156375"/>
                </a:cubicBezTo>
                <a:lnTo>
                  <a:pt x="0" y="1036620"/>
                </a:lnTo>
                <a:lnTo>
                  <a:pt x="0" y="0"/>
                </a:lnTo>
                <a:close/>
              </a:path>
            </a:pathLst>
          </a:cu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6" name="Picture 15" descr="A black line with a pointy face&#10;&#10;Description automatically generated with medium confidence">
            <a:extLst>
              <a:ext uri="{FF2B5EF4-FFF2-40B4-BE49-F238E27FC236}">
                <a16:creationId xmlns:a16="http://schemas.microsoft.com/office/drawing/2014/main" id="{080783A8-50E8-B90D-6B33-6C93A5F0EBEC}"/>
              </a:ext>
            </a:extLst>
          </p:cNvPr>
          <p:cNvPicPr>
            <a:picLocks noChangeAspect="1"/>
          </p:cNvPicPr>
          <p:nvPr userDrawn="1"/>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167890" y="6384782"/>
            <a:ext cx="711000" cy="336693"/>
          </a:xfrm>
          <a:prstGeom prst="rect">
            <a:avLst/>
          </a:prstGeom>
        </p:spPr>
      </p:pic>
      <p:sp>
        <p:nvSpPr>
          <p:cNvPr id="17" name="Text Placeholder 2">
            <a:extLst>
              <a:ext uri="{FF2B5EF4-FFF2-40B4-BE49-F238E27FC236}">
                <a16:creationId xmlns:a16="http://schemas.microsoft.com/office/drawing/2014/main" id="{83179003-490C-809D-D793-312B68D7424C}"/>
              </a:ext>
            </a:extLst>
          </p:cNvPr>
          <p:cNvSpPr>
            <a:spLocks noGrp="1"/>
          </p:cNvSpPr>
          <p:nvPr>
            <p:ph idx="1"/>
          </p:nvPr>
        </p:nvSpPr>
        <p:spPr>
          <a:xfrm>
            <a:off x="413992" y="1313895"/>
            <a:ext cx="11444927" cy="4952736"/>
          </a:xfrm>
          <a:prstGeom prst="rect">
            <a:avLst/>
          </a:prstGeom>
        </p:spPr>
        <p:txBody>
          <a:bodyPr vert="horz" lIns="91440" tIns="45720" rIns="91440" bIns="45720" rtlCol="0">
            <a:normAutofit/>
          </a:bodyPr>
          <a:lstStyle>
            <a:lvl1pPr marL="0" indent="0">
              <a:buNone/>
              <a:defRPr/>
            </a:lvl1pPr>
            <a:lvl2pPr>
              <a:buClr>
                <a:srgbClr val="C00000"/>
              </a:buClr>
              <a:buSzPct val="115000"/>
              <a:defRPr/>
            </a:lvl2pPr>
          </a:lstStyle>
          <a:p>
            <a:pPr lvl="0"/>
            <a:r>
              <a:rPr lang="en-GB"/>
              <a:t>Click to edit Master text styles</a:t>
            </a:r>
          </a:p>
          <a:p>
            <a:pPr lvl="1"/>
            <a:r>
              <a:rPr lang="en-GB"/>
              <a:t>Second level</a:t>
            </a:r>
          </a:p>
          <a:p>
            <a:pPr lvl="2"/>
            <a:r>
              <a:rPr lang="en-GB"/>
              <a:t>Third level</a:t>
            </a:r>
          </a:p>
        </p:txBody>
      </p:sp>
      <p:sp>
        <p:nvSpPr>
          <p:cNvPr id="3" name="Title 1">
            <a:extLst>
              <a:ext uri="{FF2B5EF4-FFF2-40B4-BE49-F238E27FC236}">
                <a16:creationId xmlns:a16="http://schemas.microsoft.com/office/drawing/2014/main" id="{8E8FBBBB-AC3E-C1DC-7C7D-80D22331DE68}"/>
              </a:ext>
            </a:extLst>
          </p:cNvPr>
          <p:cNvSpPr>
            <a:spLocks noGrp="1"/>
          </p:cNvSpPr>
          <p:nvPr>
            <p:ph type="title"/>
          </p:nvPr>
        </p:nvSpPr>
        <p:spPr>
          <a:xfrm>
            <a:off x="1671589" y="89905"/>
            <a:ext cx="10187330" cy="763571"/>
          </a:xfrm>
        </p:spPr>
        <p:txBody>
          <a:bodyPr/>
          <a:lstStyle>
            <a:lvl1pPr>
              <a:defRPr b="1"/>
            </a:lvl1pPr>
          </a:lstStyle>
          <a:p>
            <a:r>
              <a:rPr lang="en-GB"/>
              <a:t>Click to edit Master title style</a:t>
            </a:r>
            <a:endParaRPr lang="en-GB" dirty="0"/>
          </a:p>
        </p:txBody>
      </p:sp>
      <p:pic>
        <p:nvPicPr>
          <p:cNvPr id="5" name="Picture 4" descr="A black and white outline of a couple of speech bubbles&#10;&#10;Description automatically generated">
            <a:extLst>
              <a:ext uri="{FF2B5EF4-FFF2-40B4-BE49-F238E27FC236}">
                <a16:creationId xmlns:a16="http://schemas.microsoft.com/office/drawing/2014/main" id="{EEB8BB81-B4B1-2F82-6670-DB34481D0E10}"/>
              </a:ext>
            </a:extLst>
          </p:cNvPr>
          <p:cNvPicPr>
            <a:picLocks noChangeAspect="1"/>
          </p:cNvPicPr>
          <p:nvPr userDrawn="1"/>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333081" y="0"/>
            <a:ext cx="944871" cy="944871"/>
          </a:xfrm>
          <a:prstGeom prst="rect">
            <a:avLst/>
          </a:prstGeom>
        </p:spPr>
      </p:pic>
    </p:spTree>
    <p:extLst>
      <p:ext uri="{BB962C8B-B14F-4D97-AF65-F5344CB8AC3E}">
        <p14:creationId xmlns:p14="http://schemas.microsoft.com/office/powerpoint/2010/main" val="91066248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CFC063F6-0EE5-AAAC-3CC9-255C98F437FF}"/>
              </a:ext>
            </a:extLst>
          </p:cNvPr>
          <p:cNvSpPr/>
          <p:nvPr userDrawn="1"/>
        </p:nvSpPr>
        <p:spPr>
          <a:xfrm>
            <a:off x="0" y="-11155"/>
            <a:ext cx="12192000" cy="1156375"/>
          </a:xfrm>
          <a:custGeom>
            <a:avLst/>
            <a:gdLst>
              <a:gd name="connsiteX0" fmla="*/ 0 w 12192000"/>
              <a:gd name="connsiteY0" fmla="*/ 0 h 1036620"/>
              <a:gd name="connsiteX1" fmla="*/ 12192000 w 12192000"/>
              <a:gd name="connsiteY1" fmla="*/ 0 h 1036620"/>
              <a:gd name="connsiteX2" fmla="*/ 12192000 w 12192000"/>
              <a:gd name="connsiteY2" fmla="*/ 1036620 h 1036620"/>
              <a:gd name="connsiteX3" fmla="*/ 0 w 12192000"/>
              <a:gd name="connsiteY3" fmla="*/ 1036620 h 1036620"/>
              <a:gd name="connsiteX4" fmla="*/ 0 w 12192000"/>
              <a:gd name="connsiteY4" fmla="*/ 0 h 1036620"/>
              <a:gd name="connsiteX0" fmla="*/ 0 w 12192000"/>
              <a:gd name="connsiteY0" fmla="*/ 0 h 1036627"/>
              <a:gd name="connsiteX1" fmla="*/ 12192000 w 12192000"/>
              <a:gd name="connsiteY1" fmla="*/ 0 h 1036627"/>
              <a:gd name="connsiteX2" fmla="*/ 12192000 w 12192000"/>
              <a:gd name="connsiteY2" fmla="*/ 1036620 h 1036627"/>
              <a:gd name="connsiteX3" fmla="*/ 9516862 w 12192000"/>
              <a:gd name="connsiteY3" fmla="*/ 827901 h 1036627"/>
              <a:gd name="connsiteX4" fmla="*/ 0 w 12192000"/>
              <a:gd name="connsiteY4" fmla="*/ 1036620 h 1036627"/>
              <a:gd name="connsiteX5" fmla="*/ 0 w 12192000"/>
              <a:gd name="connsiteY5" fmla="*/ 0 h 1036627"/>
              <a:gd name="connsiteX0" fmla="*/ 0 w 12192000"/>
              <a:gd name="connsiteY0" fmla="*/ 0 h 1191885"/>
              <a:gd name="connsiteX1" fmla="*/ 12192000 w 12192000"/>
              <a:gd name="connsiteY1" fmla="*/ 0 h 1191885"/>
              <a:gd name="connsiteX2" fmla="*/ 12192000 w 12192000"/>
              <a:gd name="connsiteY2" fmla="*/ 1036620 h 1191885"/>
              <a:gd name="connsiteX3" fmla="*/ 9516862 w 12192000"/>
              <a:gd name="connsiteY3" fmla="*/ 827901 h 1191885"/>
              <a:gd name="connsiteX4" fmla="*/ 2645546 w 12192000"/>
              <a:gd name="connsiteY4" fmla="*/ 1191885 h 1191885"/>
              <a:gd name="connsiteX5" fmla="*/ 0 w 12192000"/>
              <a:gd name="connsiteY5" fmla="*/ 1036620 h 1191885"/>
              <a:gd name="connsiteX6" fmla="*/ 0 w 12192000"/>
              <a:gd name="connsiteY6" fmla="*/ 0 h 1191885"/>
              <a:gd name="connsiteX0" fmla="*/ 0 w 12192000"/>
              <a:gd name="connsiteY0" fmla="*/ 0 h 1191885"/>
              <a:gd name="connsiteX1" fmla="*/ 12192000 w 12192000"/>
              <a:gd name="connsiteY1" fmla="*/ 0 h 1191885"/>
              <a:gd name="connsiteX2" fmla="*/ 12192000 w 12192000"/>
              <a:gd name="connsiteY2" fmla="*/ 1036620 h 1191885"/>
              <a:gd name="connsiteX3" fmla="*/ 9472474 w 12192000"/>
              <a:gd name="connsiteY3" fmla="*/ 916678 h 1191885"/>
              <a:gd name="connsiteX4" fmla="*/ 2645546 w 12192000"/>
              <a:gd name="connsiteY4" fmla="*/ 1191885 h 1191885"/>
              <a:gd name="connsiteX5" fmla="*/ 0 w 12192000"/>
              <a:gd name="connsiteY5" fmla="*/ 1036620 h 1191885"/>
              <a:gd name="connsiteX6" fmla="*/ 0 w 12192000"/>
              <a:gd name="connsiteY6" fmla="*/ 0 h 1191885"/>
              <a:gd name="connsiteX0" fmla="*/ 0 w 12192000"/>
              <a:gd name="connsiteY0" fmla="*/ 0 h 1156375"/>
              <a:gd name="connsiteX1" fmla="*/ 12192000 w 12192000"/>
              <a:gd name="connsiteY1" fmla="*/ 0 h 1156375"/>
              <a:gd name="connsiteX2" fmla="*/ 12192000 w 12192000"/>
              <a:gd name="connsiteY2" fmla="*/ 1036620 h 1156375"/>
              <a:gd name="connsiteX3" fmla="*/ 9472474 w 12192000"/>
              <a:gd name="connsiteY3" fmla="*/ 916678 h 1156375"/>
              <a:gd name="connsiteX4" fmla="*/ 2654424 w 12192000"/>
              <a:gd name="connsiteY4" fmla="*/ 1156375 h 1156375"/>
              <a:gd name="connsiteX5" fmla="*/ 0 w 12192000"/>
              <a:gd name="connsiteY5" fmla="*/ 1036620 h 1156375"/>
              <a:gd name="connsiteX6" fmla="*/ 0 w 12192000"/>
              <a:gd name="connsiteY6" fmla="*/ 0 h 11563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1156375">
                <a:moveTo>
                  <a:pt x="0" y="0"/>
                </a:moveTo>
                <a:lnTo>
                  <a:pt x="12192000" y="0"/>
                </a:lnTo>
                <a:lnTo>
                  <a:pt x="12192000" y="1036620"/>
                </a:lnTo>
                <a:cubicBezTo>
                  <a:pt x="11258858" y="1038068"/>
                  <a:pt x="10405616" y="915230"/>
                  <a:pt x="9472474" y="916678"/>
                </a:cubicBezTo>
                <a:cubicBezTo>
                  <a:pt x="7244179" y="966985"/>
                  <a:pt x="4882719" y="1106068"/>
                  <a:pt x="2654424" y="1156375"/>
                </a:cubicBezTo>
                <a:lnTo>
                  <a:pt x="0" y="1036620"/>
                </a:lnTo>
                <a:lnTo>
                  <a:pt x="0" y="0"/>
                </a:lnTo>
                <a:close/>
              </a:path>
            </a:pathLst>
          </a:cu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 name="Content Placeholder 2">
            <a:extLst>
              <a:ext uri="{FF2B5EF4-FFF2-40B4-BE49-F238E27FC236}">
                <a16:creationId xmlns:a16="http://schemas.microsoft.com/office/drawing/2014/main" id="{8310735F-9F0E-A09C-0CF7-00E89B13D85A}"/>
              </a:ext>
            </a:extLst>
          </p:cNvPr>
          <p:cNvSpPr>
            <a:spLocks noGrp="1"/>
          </p:cNvSpPr>
          <p:nvPr>
            <p:ph sz="half" idx="1"/>
          </p:nvPr>
        </p:nvSpPr>
        <p:spPr>
          <a:xfrm>
            <a:off x="413992" y="1313890"/>
            <a:ext cx="5635673" cy="4952737"/>
          </a:xfrm>
        </p:spPr>
        <p:txBody>
          <a:bodyPr/>
          <a:lstStyle>
            <a:lvl1pPr marL="0" indent="0">
              <a:buNone/>
              <a:defRPr/>
            </a:lvl1pPr>
            <a:lvl2pPr marL="685800" indent="-228600">
              <a:defRPr lang="en-GB" sz="3200" kern="1200" dirty="0">
                <a:solidFill>
                  <a:srgbClr val="002570"/>
                </a:solidFill>
                <a:latin typeface="OpenDyslexicAlta" panose="00000500000000000000" pitchFamily="50" charset="0"/>
                <a:ea typeface="+mn-ea"/>
                <a:cs typeface="+mn-cs"/>
              </a:defRPr>
            </a:lvl2pPr>
          </a:lstStyle>
          <a:p>
            <a:pPr lvl="0"/>
            <a:r>
              <a:rPr lang="en-GB"/>
              <a:t>Click to edit Master text styles</a:t>
            </a:r>
          </a:p>
          <a:p>
            <a:pPr lvl="1"/>
            <a:r>
              <a:rPr lang="en-GB"/>
              <a:t>Second level</a:t>
            </a:r>
          </a:p>
          <a:p>
            <a:pPr lvl="2"/>
            <a:r>
              <a:rPr lang="en-GB"/>
              <a:t>Third level</a:t>
            </a:r>
          </a:p>
        </p:txBody>
      </p:sp>
      <p:sp>
        <p:nvSpPr>
          <p:cNvPr id="4" name="Content Placeholder 3">
            <a:extLst>
              <a:ext uri="{FF2B5EF4-FFF2-40B4-BE49-F238E27FC236}">
                <a16:creationId xmlns:a16="http://schemas.microsoft.com/office/drawing/2014/main" id="{E0B7DE29-8D35-8F81-F97D-29C023AE4EEE}"/>
              </a:ext>
            </a:extLst>
          </p:cNvPr>
          <p:cNvSpPr>
            <a:spLocks noGrp="1"/>
          </p:cNvSpPr>
          <p:nvPr>
            <p:ph sz="half" idx="2"/>
          </p:nvPr>
        </p:nvSpPr>
        <p:spPr>
          <a:xfrm>
            <a:off x="6223247" y="1313890"/>
            <a:ext cx="5635673" cy="4952739"/>
          </a:xfrm>
        </p:spPr>
        <p:txBody>
          <a:bodyPr/>
          <a:lstStyle>
            <a:lvl1pPr marL="0" indent="0">
              <a:buNone/>
              <a:defRPr/>
            </a:lvl1pPr>
            <a:lvl2pPr marL="685800" indent="-228600">
              <a:defRPr lang="en-GB" sz="3200" kern="1200" dirty="0">
                <a:solidFill>
                  <a:srgbClr val="002570"/>
                </a:solidFill>
                <a:latin typeface="OpenDyslexicAlta" panose="00000500000000000000" pitchFamily="50" charset="0"/>
                <a:ea typeface="+mn-ea"/>
                <a:cs typeface="+mn-cs"/>
              </a:defRPr>
            </a:lvl2pPr>
          </a:lstStyle>
          <a:p>
            <a:pPr lvl="0"/>
            <a:r>
              <a:rPr lang="en-GB"/>
              <a:t>Click to edit Master text styles</a:t>
            </a:r>
          </a:p>
          <a:p>
            <a:pPr lvl="1"/>
            <a:r>
              <a:rPr lang="en-GB"/>
              <a:t>Second level</a:t>
            </a:r>
          </a:p>
        </p:txBody>
      </p:sp>
      <p:pic>
        <p:nvPicPr>
          <p:cNvPr id="13" name="Picture 12" descr="A black line with a pointy face&#10;&#10;Description automatically generated with medium confidence">
            <a:extLst>
              <a:ext uri="{FF2B5EF4-FFF2-40B4-BE49-F238E27FC236}">
                <a16:creationId xmlns:a16="http://schemas.microsoft.com/office/drawing/2014/main" id="{8087F63A-1EA4-664A-4548-C3086100B94B}"/>
              </a:ext>
            </a:extLst>
          </p:cNvPr>
          <p:cNvPicPr>
            <a:picLocks noChangeAspect="1"/>
          </p:cNvPicPr>
          <p:nvPr userDrawn="1"/>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167890" y="6384782"/>
            <a:ext cx="711000" cy="336693"/>
          </a:xfrm>
          <a:prstGeom prst="rect">
            <a:avLst/>
          </a:prstGeom>
        </p:spPr>
      </p:pic>
      <p:sp>
        <p:nvSpPr>
          <p:cNvPr id="14" name="Title 1">
            <a:extLst>
              <a:ext uri="{FF2B5EF4-FFF2-40B4-BE49-F238E27FC236}">
                <a16:creationId xmlns:a16="http://schemas.microsoft.com/office/drawing/2014/main" id="{4A6B3F91-A53F-3877-C3BE-6E52402D8056}"/>
              </a:ext>
            </a:extLst>
          </p:cNvPr>
          <p:cNvSpPr>
            <a:spLocks noGrp="1"/>
          </p:cNvSpPr>
          <p:nvPr>
            <p:ph type="title"/>
          </p:nvPr>
        </p:nvSpPr>
        <p:spPr>
          <a:xfrm>
            <a:off x="413992" y="198671"/>
            <a:ext cx="11444927" cy="763571"/>
          </a:xfrm>
        </p:spPr>
        <p:txBody>
          <a:bodyPr/>
          <a:lstStyle>
            <a:lvl1pPr>
              <a:defRPr b="1"/>
            </a:lvl1pPr>
          </a:lstStyle>
          <a:p>
            <a:r>
              <a:rPr lang="en-GB"/>
              <a:t>Click to edit Master title style</a:t>
            </a:r>
            <a:endParaRPr lang="en-GB" dirty="0"/>
          </a:p>
        </p:txBody>
      </p:sp>
    </p:spTree>
    <p:extLst>
      <p:ext uri="{BB962C8B-B14F-4D97-AF65-F5344CB8AC3E}">
        <p14:creationId xmlns:p14="http://schemas.microsoft.com/office/powerpoint/2010/main" val="764404505"/>
      </p:ext>
    </p:extLst>
  </p:cSld>
  <p:clrMapOvr>
    <a:overrideClrMapping bg1="lt1" tx1="dk1" bg2="lt2" tx2="dk2" accent1="accent1" accent2="accent2" accent3="accent3" accent4="accent4" accent5="accent5" accent6="accent6" hlink="hlink" folHlink="folHlink"/>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16" name="Rectangle 8">
            <a:extLst>
              <a:ext uri="{FF2B5EF4-FFF2-40B4-BE49-F238E27FC236}">
                <a16:creationId xmlns:a16="http://schemas.microsoft.com/office/drawing/2014/main" id="{505C2B80-4160-4381-751B-A34DADCB3B00}"/>
              </a:ext>
            </a:extLst>
          </p:cNvPr>
          <p:cNvSpPr/>
          <p:nvPr userDrawn="1"/>
        </p:nvSpPr>
        <p:spPr>
          <a:xfrm>
            <a:off x="0" y="-11155"/>
            <a:ext cx="12192000" cy="1156375"/>
          </a:xfrm>
          <a:custGeom>
            <a:avLst/>
            <a:gdLst>
              <a:gd name="connsiteX0" fmla="*/ 0 w 12192000"/>
              <a:gd name="connsiteY0" fmla="*/ 0 h 1036620"/>
              <a:gd name="connsiteX1" fmla="*/ 12192000 w 12192000"/>
              <a:gd name="connsiteY1" fmla="*/ 0 h 1036620"/>
              <a:gd name="connsiteX2" fmla="*/ 12192000 w 12192000"/>
              <a:gd name="connsiteY2" fmla="*/ 1036620 h 1036620"/>
              <a:gd name="connsiteX3" fmla="*/ 0 w 12192000"/>
              <a:gd name="connsiteY3" fmla="*/ 1036620 h 1036620"/>
              <a:gd name="connsiteX4" fmla="*/ 0 w 12192000"/>
              <a:gd name="connsiteY4" fmla="*/ 0 h 1036620"/>
              <a:gd name="connsiteX0" fmla="*/ 0 w 12192000"/>
              <a:gd name="connsiteY0" fmla="*/ 0 h 1036627"/>
              <a:gd name="connsiteX1" fmla="*/ 12192000 w 12192000"/>
              <a:gd name="connsiteY1" fmla="*/ 0 h 1036627"/>
              <a:gd name="connsiteX2" fmla="*/ 12192000 w 12192000"/>
              <a:gd name="connsiteY2" fmla="*/ 1036620 h 1036627"/>
              <a:gd name="connsiteX3" fmla="*/ 9516862 w 12192000"/>
              <a:gd name="connsiteY3" fmla="*/ 827901 h 1036627"/>
              <a:gd name="connsiteX4" fmla="*/ 0 w 12192000"/>
              <a:gd name="connsiteY4" fmla="*/ 1036620 h 1036627"/>
              <a:gd name="connsiteX5" fmla="*/ 0 w 12192000"/>
              <a:gd name="connsiteY5" fmla="*/ 0 h 1036627"/>
              <a:gd name="connsiteX0" fmla="*/ 0 w 12192000"/>
              <a:gd name="connsiteY0" fmla="*/ 0 h 1191885"/>
              <a:gd name="connsiteX1" fmla="*/ 12192000 w 12192000"/>
              <a:gd name="connsiteY1" fmla="*/ 0 h 1191885"/>
              <a:gd name="connsiteX2" fmla="*/ 12192000 w 12192000"/>
              <a:gd name="connsiteY2" fmla="*/ 1036620 h 1191885"/>
              <a:gd name="connsiteX3" fmla="*/ 9516862 w 12192000"/>
              <a:gd name="connsiteY3" fmla="*/ 827901 h 1191885"/>
              <a:gd name="connsiteX4" fmla="*/ 2645546 w 12192000"/>
              <a:gd name="connsiteY4" fmla="*/ 1191885 h 1191885"/>
              <a:gd name="connsiteX5" fmla="*/ 0 w 12192000"/>
              <a:gd name="connsiteY5" fmla="*/ 1036620 h 1191885"/>
              <a:gd name="connsiteX6" fmla="*/ 0 w 12192000"/>
              <a:gd name="connsiteY6" fmla="*/ 0 h 1191885"/>
              <a:gd name="connsiteX0" fmla="*/ 0 w 12192000"/>
              <a:gd name="connsiteY0" fmla="*/ 0 h 1191885"/>
              <a:gd name="connsiteX1" fmla="*/ 12192000 w 12192000"/>
              <a:gd name="connsiteY1" fmla="*/ 0 h 1191885"/>
              <a:gd name="connsiteX2" fmla="*/ 12192000 w 12192000"/>
              <a:gd name="connsiteY2" fmla="*/ 1036620 h 1191885"/>
              <a:gd name="connsiteX3" fmla="*/ 9472474 w 12192000"/>
              <a:gd name="connsiteY3" fmla="*/ 916678 h 1191885"/>
              <a:gd name="connsiteX4" fmla="*/ 2645546 w 12192000"/>
              <a:gd name="connsiteY4" fmla="*/ 1191885 h 1191885"/>
              <a:gd name="connsiteX5" fmla="*/ 0 w 12192000"/>
              <a:gd name="connsiteY5" fmla="*/ 1036620 h 1191885"/>
              <a:gd name="connsiteX6" fmla="*/ 0 w 12192000"/>
              <a:gd name="connsiteY6" fmla="*/ 0 h 1191885"/>
              <a:gd name="connsiteX0" fmla="*/ 0 w 12192000"/>
              <a:gd name="connsiteY0" fmla="*/ 0 h 1156375"/>
              <a:gd name="connsiteX1" fmla="*/ 12192000 w 12192000"/>
              <a:gd name="connsiteY1" fmla="*/ 0 h 1156375"/>
              <a:gd name="connsiteX2" fmla="*/ 12192000 w 12192000"/>
              <a:gd name="connsiteY2" fmla="*/ 1036620 h 1156375"/>
              <a:gd name="connsiteX3" fmla="*/ 9472474 w 12192000"/>
              <a:gd name="connsiteY3" fmla="*/ 916678 h 1156375"/>
              <a:gd name="connsiteX4" fmla="*/ 2654424 w 12192000"/>
              <a:gd name="connsiteY4" fmla="*/ 1156375 h 1156375"/>
              <a:gd name="connsiteX5" fmla="*/ 0 w 12192000"/>
              <a:gd name="connsiteY5" fmla="*/ 1036620 h 1156375"/>
              <a:gd name="connsiteX6" fmla="*/ 0 w 12192000"/>
              <a:gd name="connsiteY6" fmla="*/ 0 h 11563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1156375">
                <a:moveTo>
                  <a:pt x="0" y="0"/>
                </a:moveTo>
                <a:lnTo>
                  <a:pt x="12192000" y="0"/>
                </a:lnTo>
                <a:lnTo>
                  <a:pt x="12192000" y="1036620"/>
                </a:lnTo>
                <a:cubicBezTo>
                  <a:pt x="11258858" y="1038068"/>
                  <a:pt x="10405616" y="915230"/>
                  <a:pt x="9472474" y="916678"/>
                </a:cubicBezTo>
                <a:cubicBezTo>
                  <a:pt x="7244179" y="966985"/>
                  <a:pt x="4882719" y="1106068"/>
                  <a:pt x="2654424" y="1156375"/>
                </a:cubicBezTo>
                <a:lnTo>
                  <a:pt x="0" y="1036620"/>
                </a:lnTo>
                <a:lnTo>
                  <a:pt x="0" y="0"/>
                </a:lnTo>
                <a:close/>
              </a:path>
            </a:pathLst>
          </a:cu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Content Placeholder 2">
            <a:extLst>
              <a:ext uri="{FF2B5EF4-FFF2-40B4-BE49-F238E27FC236}">
                <a16:creationId xmlns:a16="http://schemas.microsoft.com/office/drawing/2014/main" id="{C54E5830-5177-BEC2-17FC-C20BB5A3B9D6}"/>
              </a:ext>
            </a:extLst>
          </p:cNvPr>
          <p:cNvSpPr>
            <a:spLocks noGrp="1"/>
          </p:cNvSpPr>
          <p:nvPr>
            <p:ph sz="half" idx="10"/>
          </p:nvPr>
        </p:nvSpPr>
        <p:spPr>
          <a:xfrm>
            <a:off x="413992" y="2308190"/>
            <a:ext cx="5635673" cy="3958438"/>
          </a:xfrm>
        </p:spPr>
        <p:txBody>
          <a:bodyPr>
            <a:normAutofit/>
          </a:bodyPr>
          <a:lstStyle>
            <a:lvl1pPr marL="0" indent="0">
              <a:buNone/>
              <a:defRPr sz="3200"/>
            </a:lvl1pPr>
            <a:lvl2pPr marL="685800" indent="-228600">
              <a:defRPr lang="en-GB" sz="3200" kern="1200" dirty="0">
                <a:solidFill>
                  <a:srgbClr val="002570"/>
                </a:solidFill>
                <a:latin typeface="OpenDyslexicAlta" panose="00000500000000000000" pitchFamily="50" charset="0"/>
                <a:ea typeface="+mn-ea"/>
                <a:cs typeface="+mn-cs"/>
              </a:defRPr>
            </a:lvl2pPr>
            <a:lvl3pPr>
              <a:defRPr sz="2400"/>
            </a:lvl3pPr>
            <a:lvl4pPr>
              <a:defRPr sz="2000"/>
            </a:lvl4pPr>
            <a:lvl5pPr>
              <a:defRPr sz="2000"/>
            </a:lvl5pPr>
          </a:lstStyle>
          <a:p>
            <a:pPr lvl="0"/>
            <a:r>
              <a:rPr lang="en-GB"/>
              <a:t>Click to edit Master text styles</a:t>
            </a:r>
          </a:p>
          <a:p>
            <a:pPr lvl="1"/>
            <a:r>
              <a:rPr lang="en-GB"/>
              <a:t>Second level</a:t>
            </a:r>
          </a:p>
        </p:txBody>
      </p:sp>
      <p:sp>
        <p:nvSpPr>
          <p:cNvPr id="14" name="Content Placeholder 3">
            <a:extLst>
              <a:ext uri="{FF2B5EF4-FFF2-40B4-BE49-F238E27FC236}">
                <a16:creationId xmlns:a16="http://schemas.microsoft.com/office/drawing/2014/main" id="{20C6DAD7-F485-8649-8094-4915CBAD34DD}"/>
              </a:ext>
            </a:extLst>
          </p:cNvPr>
          <p:cNvSpPr>
            <a:spLocks noGrp="1"/>
          </p:cNvSpPr>
          <p:nvPr>
            <p:ph sz="half" idx="2"/>
          </p:nvPr>
        </p:nvSpPr>
        <p:spPr>
          <a:xfrm>
            <a:off x="6223247" y="2308189"/>
            <a:ext cx="5635673" cy="3958439"/>
          </a:xfrm>
        </p:spPr>
        <p:txBody>
          <a:bodyPr>
            <a:normAutofit/>
          </a:bodyPr>
          <a:lstStyle>
            <a:lvl1pPr marL="0" indent="0">
              <a:buNone/>
              <a:defRPr sz="2800"/>
            </a:lvl1pPr>
            <a:lvl2pPr marL="685800" indent="-228600">
              <a:defRPr lang="en-GB" sz="3200" kern="1200" dirty="0">
                <a:solidFill>
                  <a:srgbClr val="002570"/>
                </a:solidFill>
                <a:latin typeface="OpenDyslexicAlta" panose="00000500000000000000" pitchFamily="50" charset="0"/>
                <a:ea typeface="+mn-ea"/>
                <a:cs typeface="+mn-cs"/>
              </a:defRPr>
            </a:lvl2pPr>
            <a:lvl3pPr marL="914400" indent="0">
              <a:buNone/>
              <a:defRPr sz="2000"/>
            </a:lvl3pPr>
            <a:lvl4pPr>
              <a:defRPr sz="1800"/>
            </a:lvl4pPr>
            <a:lvl5pPr>
              <a:defRPr sz="1800"/>
            </a:lvl5pPr>
          </a:lstStyle>
          <a:p>
            <a:pPr lvl="0"/>
            <a:r>
              <a:rPr lang="en-GB"/>
              <a:t>Click to edit Master text styles</a:t>
            </a:r>
          </a:p>
          <a:p>
            <a:pPr lvl="1"/>
            <a:r>
              <a:rPr lang="en-GB"/>
              <a:t>Second level</a:t>
            </a:r>
          </a:p>
        </p:txBody>
      </p:sp>
      <p:sp>
        <p:nvSpPr>
          <p:cNvPr id="3" name="Text Placeholder 2">
            <a:extLst>
              <a:ext uri="{FF2B5EF4-FFF2-40B4-BE49-F238E27FC236}">
                <a16:creationId xmlns:a16="http://schemas.microsoft.com/office/drawing/2014/main" id="{5D6F6873-5066-9CBE-31A3-8947B94AA3C6}"/>
              </a:ext>
            </a:extLst>
          </p:cNvPr>
          <p:cNvSpPr>
            <a:spLocks noGrp="1"/>
          </p:cNvSpPr>
          <p:nvPr>
            <p:ph type="body" idx="1"/>
          </p:nvPr>
        </p:nvSpPr>
        <p:spPr>
          <a:xfrm>
            <a:off x="413992" y="1313892"/>
            <a:ext cx="5635673" cy="825626"/>
          </a:xfrm>
        </p:spPr>
        <p:txBody>
          <a:bodyPr anchor="ctr">
            <a:noAutofit/>
          </a:bodyPr>
          <a:lstStyle>
            <a:lvl1pPr marL="0" indent="0">
              <a:buNone/>
              <a:defRPr sz="36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5" name="Text Placeholder 4">
            <a:extLst>
              <a:ext uri="{FF2B5EF4-FFF2-40B4-BE49-F238E27FC236}">
                <a16:creationId xmlns:a16="http://schemas.microsoft.com/office/drawing/2014/main" id="{3818A2E8-94EF-3974-C0EC-C97DD5650D8A}"/>
              </a:ext>
            </a:extLst>
          </p:cNvPr>
          <p:cNvSpPr>
            <a:spLocks noGrp="1"/>
          </p:cNvSpPr>
          <p:nvPr>
            <p:ph type="body" sz="quarter" idx="3"/>
          </p:nvPr>
        </p:nvSpPr>
        <p:spPr>
          <a:xfrm>
            <a:off x="6232125" y="1313892"/>
            <a:ext cx="5626795" cy="825626"/>
          </a:xfrm>
        </p:spPr>
        <p:txBody>
          <a:bodyPr anchor="ctr">
            <a:noAutofit/>
          </a:bodyPr>
          <a:lstStyle>
            <a:lvl1pPr marL="0" indent="0">
              <a:buNone/>
              <a:defRPr sz="36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pic>
        <p:nvPicPr>
          <p:cNvPr id="18" name="Picture 17" descr="A black line with a pointy face&#10;&#10;Description automatically generated with medium confidence">
            <a:extLst>
              <a:ext uri="{FF2B5EF4-FFF2-40B4-BE49-F238E27FC236}">
                <a16:creationId xmlns:a16="http://schemas.microsoft.com/office/drawing/2014/main" id="{71F6B3FE-228E-A800-6AF6-E4388756599A}"/>
              </a:ext>
            </a:extLst>
          </p:cNvPr>
          <p:cNvPicPr>
            <a:picLocks noChangeAspect="1"/>
          </p:cNvPicPr>
          <p:nvPr userDrawn="1"/>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167890" y="6384782"/>
            <a:ext cx="711000" cy="336693"/>
          </a:xfrm>
          <a:prstGeom prst="rect">
            <a:avLst/>
          </a:prstGeom>
        </p:spPr>
      </p:pic>
      <p:sp>
        <p:nvSpPr>
          <p:cNvPr id="19" name="Title 1">
            <a:extLst>
              <a:ext uri="{FF2B5EF4-FFF2-40B4-BE49-F238E27FC236}">
                <a16:creationId xmlns:a16="http://schemas.microsoft.com/office/drawing/2014/main" id="{41280ABC-EFFB-3E34-0F02-FE8B134DEA1C}"/>
              </a:ext>
            </a:extLst>
          </p:cNvPr>
          <p:cNvSpPr>
            <a:spLocks noGrp="1"/>
          </p:cNvSpPr>
          <p:nvPr>
            <p:ph type="title"/>
          </p:nvPr>
        </p:nvSpPr>
        <p:spPr>
          <a:xfrm>
            <a:off x="413992" y="198671"/>
            <a:ext cx="11444927" cy="763571"/>
          </a:xfrm>
        </p:spPr>
        <p:txBody>
          <a:bodyPr/>
          <a:lstStyle>
            <a:lvl1pPr>
              <a:defRPr b="1"/>
            </a:lvl1pPr>
          </a:lstStyle>
          <a:p>
            <a:r>
              <a:rPr lang="en-GB"/>
              <a:t>Click to edit Master title style</a:t>
            </a:r>
            <a:endParaRPr lang="en-GB" dirty="0"/>
          </a:p>
        </p:txBody>
      </p:sp>
    </p:spTree>
    <p:extLst>
      <p:ext uri="{BB962C8B-B14F-4D97-AF65-F5344CB8AC3E}">
        <p14:creationId xmlns:p14="http://schemas.microsoft.com/office/powerpoint/2010/main" val="270865991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641A4115-2704-1EF9-388A-425081E54709}"/>
              </a:ext>
            </a:extLst>
          </p:cNvPr>
          <p:cNvSpPr/>
          <p:nvPr userDrawn="1"/>
        </p:nvSpPr>
        <p:spPr>
          <a:xfrm>
            <a:off x="0" y="-11155"/>
            <a:ext cx="12192000" cy="1156375"/>
          </a:xfrm>
          <a:custGeom>
            <a:avLst/>
            <a:gdLst>
              <a:gd name="connsiteX0" fmla="*/ 0 w 12192000"/>
              <a:gd name="connsiteY0" fmla="*/ 0 h 1036620"/>
              <a:gd name="connsiteX1" fmla="*/ 12192000 w 12192000"/>
              <a:gd name="connsiteY1" fmla="*/ 0 h 1036620"/>
              <a:gd name="connsiteX2" fmla="*/ 12192000 w 12192000"/>
              <a:gd name="connsiteY2" fmla="*/ 1036620 h 1036620"/>
              <a:gd name="connsiteX3" fmla="*/ 0 w 12192000"/>
              <a:gd name="connsiteY3" fmla="*/ 1036620 h 1036620"/>
              <a:gd name="connsiteX4" fmla="*/ 0 w 12192000"/>
              <a:gd name="connsiteY4" fmla="*/ 0 h 1036620"/>
              <a:gd name="connsiteX0" fmla="*/ 0 w 12192000"/>
              <a:gd name="connsiteY0" fmla="*/ 0 h 1036627"/>
              <a:gd name="connsiteX1" fmla="*/ 12192000 w 12192000"/>
              <a:gd name="connsiteY1" fmla="*/ 0 h 1036627"/>
              <a:gd name="connsiteX2" fmla="*/ 12192000 w 12192000"/>
              <a:gd name="connsiteY2" fmla="*/ 1036620 h 1036627"/>
              <a:gd name="connsiteX3" fmla="*/ 9516862 w 12192000"/>
              <a:gd name="connsiteY3" fmla="*/ 827901 h 1036627"/>
              <a:gd name="connsiteX4" fmla="*/ 0 w 12192000"/>
              <a:gd name="connsiteY4" fmla="*/ 1036620 h 1036627"/>
              <a:gd name="connsiteX5" fmla="*/ 0 w 12192000"/>
              <a:gd name="connsiteY5" fmla="*/ 0 h 1036627"/>
              <a:gd name="connsiteX0" fmla="*/ 0 w 12192000"/>
              <a:gd name="connsiteY0" fmla="*/ 0 h 1191885"/>
              <a:gd name="connsiteX1" fmla="*/ 12192000 w 12192000"/>
              <a:gd name="connsiteY1" fmla="*/ 0 h 1191885"/>
              <a:gd name="connsiteX2" fmla="*/ 12192000 w 12192000"/>
              <a:gd name="connsiteY2" fmla="*/ 1036620 h 1191885"/>
              <a:gd name="connsiteX3" fmla="*/ 9516862 w 12192000"/>
              <a:gd name="connsiteY3" fmla="*/ 827901 h 1191885"/>
              <a:gd name="connsiteX4" fmla="*/ 2645546 w 12192000"/>
              <a:gd name="connsiteY4" fmla="*/ 1191885 h 1191885"/>
              <a:gd name="connsiteX5" fmla="*/ 0 w 12192000"/>
              <a:gd name="connsiteY5" fmla="*/ 1036620 h 1191885"/>
              <a:gd name="connsiteX6" fmla="*/ 0 w 12192000"/>
              <a:gd name="connsiteY6" fmla="*/ 0 h 1191885"/>
              <a:gd name="connsiteX0" fmla="*/ 0 w 12192000"/>
              <a:gd name="connsiteY0" fmla="*/ 0 h 1191885"/>
              <a:gd name="connsiteX1" fmla="*/ 12192000 w 12192000"/>
              <a:gd name="connsiteY1" fmla="*/ 0 h 1191885"/>
              <a:gd name="connsiteX2" fmla="*/ 12192000 w 12192000"/>
              <a:gd name="connsiteY2" fmla="*/ 1036620 h 1191885"/>
              <a:gd name="connsiteX3" fmla="*/ 9472474 w 12192000"/>
              <a:gd name="connsiteY3" fmla="*/ 916678 h 1191885"/>
              <a:gd name="connsiteX4" fmla="*/ 2645546 w 12192000"/>
              <a:gd name="connsiteY4" fmla="*/ 1191885 h 1191885"/>
              <a:gd name="connsiteX5" fmla="*/ 0 w 12192000"/>
              <a:gd name="connsiteY5" fmla="*/ 1036620 h 1191885"/>
              <a:gd name="connsiteX6" fmla="*/ 0 w 12192000"/>
              <a:gd name="connsiteY6" fmla="*/ 0 h 1191885"/>
              <a:gd name="connsiteX0" fmla="*/ 0 w 12192000"/>
              <a:gd name="connsiteY0" fmla="*/ 0 h 1156375"/>
              <a:gd name="connsiteX1" fmla="*/ 12192000 w 12192000"/>
              <a:gd name="connsiteY1" fmla="*/ 0 h 1156375"/>
              <a:gd name="connsiteX2" fmla="*/ 12192000 w 12192000"/>
              <a:gd name="connsiteY2" fmla="*/ 1036620 h 1156375"/>
              <a:gd name="connsiteX3" fmla="*/ 9472474 w 12192000"/>
              <a:gd name="connsiteY3" fmla="*/ 916678 h 1156375"/>
              <a:gd name="connsiteX4" fmla="*/ 2654424 w 12192000"/>
              <a:gd name="connsiteY4" fmla="*/ 1156375 h 1156375"/>
              <a:gd name="connsiteX5" fmla="*/ 0 w 12192000"/>
              <a:gd name="connsiteY5" fmla="*/ 1036620 h 1156375"/>
              <a:gd name="connsiteX6" fmla="*/ 0 w 12192000"/>
              <a:gd name="connsiteY6" fmla="*/ 0 h 11563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1156375">
                <a:moveTo>
                  <a:pt x="0" y="0"/>
                </a:moveTo>
                <a:lnTo>
                  <a:pt x="12192000" y="0"/>
                </a:lnTo>
                <a:lnTo>
                  <a:pt x="12192000" y="1036620"/>
                </a:lnTo>
                <a:cubicBezTo>
                  <a:pt x="11258858" y="1038068"/>
                  <a:pt x="10405616" y="915230"/>
                  <a:pt x="9472474" y="916678"/>
                </a:cubicBezTo>
                <a:cubicBezTo>
                  <a:pt x="7244179" y="966985"/>
                  <a:pt x="4882719" y="1106068"/>
                  <a:pt x="2654424" y="1156375"/>
                </a:cubicBezTo>
                <a:lnTo>
                  <a:pt x="0" y="1036620"/>
                </a:lnTo>
                <a:lnTo>
                  <a:pt x="0" y="0"/>
                </a:lnTo>
                <a:close/>
              </a:path>
            </a:pathLst>
          </a:cu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1" name="Picture 10" descr="A black line with a pointy face&#10;&#10;Description automatically generated with medium confidence">
            <a:extLst>
              <a:ext uri="{FF2B5EF4-FFF2-40B4-BE49-F238E27FC236}">
                <a16:creationId xmlns:a16="http://schemas.microsoft.com/office/drawing/2014/main" id="{A6CEE2C1-575B-AC39-905A-F03B14DEAF1E}"/>
              </a:ext>
            </a:extLst>
          </p:cNvPr>
          <p:cNvPicPr>
            <a:picLocks noChangeAspect="1"/>
          </p:cNvPicPr>
          <p:nvPr userDrawn="1"/>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167890" y="6384782"/>
            <a:ext cx="711000" cy="336693"/>
          </a:xfrm>
          <a:prstGeom prst="rect">
            <a:avLst/>
          </a:prstGeom>
        </p:spPr>
      </p:pic>
      <p:sp>
        <p:nvSpPr>
          <p:cNvPr id="12" name="Title 1">
            <a:extLst>
              <a:ext uri="{FF2B5EF4-FFF2-40B4-BE49-F238E27FC236}">
                <a16:creationId xmlns:a16="http://schemas.microsoft.com/office/drawing/2014/main" id="{44DE5943-EE5E-C183-E7D2-83A09533C4E0}"/>
              </a:ext>
            </a:extLst>
          </p:cNvPr>
          <p:cNvSpPr>
            <a:spLocks noGrp="1"/>
          </p:cNvSpPr>
          <p:nvPr>
            <p:ph type="title"/>
          </p:nvPr>
        </p:nvSpPr>
        <p:spPr>
          <a:xfrm>
            <a:off x="413993" y="198671"/>
            <a:ext cx="11455452" cy="763571"/>
          </a:xfrm>
        </p:spPr>
        <p:txBody>
          <a:bodyPr/>
          <a:lstStyle>
            <a:lvl1pPr>
              <a:defRPr b="1"/>
            </a:lvl1pPr>
          </a:lstStyle>
          <a:p>
            <a:r>
              <a:rPr lang="en-GB"/>
              <a:t>Click to edit Master title style</a:t>
            </a:r>
            <a:endParaRPr lang="en-GB" dirty="0"/>
          </a:p>
        </p:txBody>
      </p:sp>
    </p:spTree>
    <p:extLst>
      <p:ext uri="{BB962C8B-B14F-4D97-AF65-F5344CB8AC3E}">
        <p14:creationId xmlns:p14="http://schemas.microsoft.com/office/powerpoint/2010/main" val="383633960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Blank with Logo">
    <p:spTree>
      <p:nvGrpSpPr>
        <p:cNvPr id="1" name=""/>
        <p:cNvGrpSpPr/>
        <p:nvPr/>
      </p:nvGrpSpPr>
      <p:grpSpPr>
        <a:xfrm>
          <a:off x="0" y="0"/>
          <a:ext cx="0" cy="0"/>
          <a:chOff x="0" y="0"/>
          <a:chExt cx="0" cy="0"/>
        </a:xfrm>
      </p:grpSpPr>
      <p:pic>
        <p:nvPicPr>
          <p:cNvPr id="8" name="Picture 7" descr="A black line with a pointy face&#10;&#10;Description automatically generated with medium confidence">
            <a:extLst>
              <a:ext uri="{FF2B5EF4-FFF2-40B4-BE49-F238E27FC236}">
                <a16:creationId xmlns:a16="http://schemas.microsoft.com/office/drawing/2014/main" id="{43D123E1-2520-9FE4-B3F5-4770893FC891}"/>
              </a:ext>
            </a:extLst>
          </p:cNvPr>
          <p:cNvPicPr>
            <a:picLocks noChangeAspect="1"/>
          </p:cNvPicPr>
          <p:nvPr userDrawn="1"/>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167890" y="6384782"/>
            <a:ext cx="711000" cy="336693"/>
          </a:xfrm>
          <a:prstGeom prst="rect">
            <a:avLst/>
          </a:prstGeom>
        </p:spPr>
      </p:pic>
    </p:spTree>
    <p:extLst>
      <p:ext uri="{BB962C8B-B14F-4D97-AF65-F5344CB8AC3E}">
        <p14:creationId xmlns:p14="http://schemas.microsoft.com/office/powerpoint/2010/main" val="7163212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Blank without logo">
    <p:spTree>
      <p:nvGrpSpPr>
        <p:cNvPr id="1" name=""/>
        <p:cNvGrpSpPr/>
        <p:nvPr/>
      </p:nvGrpSpPr>
      <p:grpSpPr>
        <a:xfrm>
          <a:off x="0" y="0"/>
          <a:ext cx="0" cy="0"/>
          <a:chOff x="0" y="0"/>
          <a:chExt cx="0" cy="0"/>
        </a:xfrm>
      </p:grpSpPr>
    </p:spTree>
    <p:extLst>
      <p:ext uri="{BB962C8B-B14F-4D97-AF65-F5344CB8AC3E}">
        <p14:creationId xmlns:p14="http://schemas.microsoft.com/office/powerpoint/2010/main" val="376447422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pyright">
    <p:spTree>
      <p:nvGrpSpPr>
        <p:cNvPr id="1" name=""/>
        <p:cNvGrpSpPr/>
        <p:nvPr/>
      </p:nvGrpSpPr>
      <p:grpSpPr>
        <a:xfrm>
          <a:off x="0" y="0"/>
          <a:ext cx="0" cy="0"/>
          <a:chOff x="0" y="0"/>
          <a:chExt cx="0" cy="0"/>
        </a:xfrm>
      </p:grpSpPr>
      <p:pic>
        <p:nvPicPr>
          <p:cNvPr id="3" name="Picture 2" descr="A close-up of a document&#10;&#10;Description automatically generated">
            <a:extLst>
              <a:ext uri="{FF2B5EF4-FFF2-40B4-BE49-F238E27FC236}">
                <a16:creationId xmlns:a16="http://schemas.microsoft.com/office/drawing/2014/main" id="{041E3DC7-C04A-F8E9-4E3A-E29356158978}"/>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18301"/>
          <a:stretch/>
        </p:blipFill>
        <p:spPr>
          <a:xfrm>
            <a:off x="0" y="1255058"/>
            <a:ext cx="12192000" cy="5602941"/>
          </a:xfrm>
          <a:prstGeom prst="rect">
            <a:avLst/>
          </a:prstGeom>
        </p:spPr>
      </p:pic>
      <p:sp>
        <p:nvSpPr>
          <p:cNvPr id="5" name="Text Placeholder 4">
            <a:extLst>
              <a:ext uri="{FF2B5EF4-FFF2-40B4-BE49-F238E27FC236}">
                <a16:creationId xmlns:a16="http://schemas.microsoft.com/office/drawing/2014/main" id="{F0B0DCFE-B0FF-4E6E-A7D3-D647C7B06B1C}"/>
              </a:ext>
            </a:extLst>
          </p:cNvPr>
          <p:cNvSpPr>
            <a:spLocks noGrp="1"/>
          </p:cNvSpPr>
          <p:nvPr>
            <p:ph type="body" sz="quarter" idx="10"/>
          </p:nvPr>
        </p:nvSpPr>
        <p:spPr>
          <a:xfrm>
            <a:off x="1259541" y="5969934"/>
            <a:ext cx="9672918" cy="574675"/>
          </a:xfrm>
        </p:spPr>
        <p:txBody>
          <a:bodyPr>
            <a:normAutofit/>
          </a:bodyPr>
          <a:lstStyle>
            <a:lvl1pPr marL="0" indent="0" algn="ctr">
              <a:buNone/>
              <a:defRPr sz="2800">
                <a:solidFill>
                  <a:srgbClr val="C00000"/>
                </a:solidFill>
              </a:defRPr>
            </a:lvl1pPr>
            <a:lvl2pPr marL="457200" indent="0" algn="ctr">
              <a:buNone/>
              <a:defRPr/>
            </a:lvl2pPr>
            <a:lvl3pPr marL="914400" indent="0" algn="ctr">
              <a:buNone/>
              <a:defRPr/>
            </a:lvl3pPr>
            <a:lvl4pPr marL="1371600" indent="0" algn="ctr">
              <a:buNone/>
              <a:defRPr/>
            </a:lvl4pPr>
            <a:lvl5pPr marL="1828800" indent="0" algn="ctr">
              <a:buNone/>
              <a:defRPr/>
            </a:lvl5pPr>
          </a:lstStyle>
          <a:p>
            <a:pPr lvl="0"/>
            <a:r>
              <a:rPr lang="en-GB"/>
              <a:t>Click to edit Master text styles</a:t>
            </a:r>
          </a:p>
        </p:txBody>
      </p:sp>
      <p:sp>
        <p:nvSpPr>
          <p:cNvPr id="6" name="Rectangle 8">
            <a:extLst>
              <a:ext uri="{FF2B5EF4-FFF2-40B4-BE49-F238E27FC236}">
                <a16:creationId xmlns:a16="http://schemas.microsoft.com/office/drawing/2014/main" id="{5795545D-231C-FDCB-8BDA-55C729529025}"/>
              </a:ext>
            </a:extLst>
          </p:cNvPr>
          <p:cNvSpPr/>
          <p:nvPr userDrawn="1"/>
        </p:nvSpPr>
        <p:spPr>
          <a:xfrm>
            <a:off x="0" y="-11155"/>
            <a:ext cx="12192000" cy="1156375"/>
          </a:xfrm>
          <a:custGeom>
            <a:avLst/>
            <a:gdLst>
              <a:gd name="connsiteX0" fmla="*/ 0 w 12192000"/>
              <a:gd name="connsiteY0" fmla="*/ 0 h 1036620"/>
              <a:gd name="connsiteX1" fmla="*/ 12192000 w 12192000"/>
              <a:gd name="connsiteY1" fmla="*/ 0 h 1036620"/>
              <a:gd name="connsiteX2" fmla="*/ 12192000 w 12192000"/>
              <a:gd name="connsiteY2" fmla="*/ 1036620 h 1036620"/>
              <a:gd name="connsiteX3" fmla="*/ 0 w 12192000"/>
              <a:gd name="connsiteY3" fmla="*/ 1036620 h 1036620"/>
              <a:gd name="connsiteX4" fmla="*/ 0 w 12192000"/>
              <a:gd name="connsiteY4" fmla="*/ 0 h 1036620"/>
              <a:gd name="connsiteX0" fmla="*/ 0 w 12192000"/>
              <a:gd name="connsiteY0" fmla="*/ 0 h 1036627"/>
              <a:gd name="connsiteX1" fmla="*/ 12192000 w 12192000"/>
              <a:gd name="connsiteY1" fmla="*/ 0 h 1036627"/>
              <a:gd name="connsiteX2" fmla="*/ 12192000 w 12192000"/>
              <a:gd name="connsiteY2" fmla="*/ 1036620 h 1036627"/>
              <a:gd name="connsiteX3" fmla="*/ 9516862 w 12192000"/>
              <a:gd name="connsiteY3" fmla="*/ 827901 h 1036627"/>
              <a:gd name="connsiteX4" fmla="*/ 0 w 12192000"/>
              <a:gd name="connsiteY4" fmla="*/ 1036620 h 1036627"/>
              <a:gd name="connsiteX5" fmla="*/ 0 w 12192000"/>
              <a:gd name="connsiteY5" fmla="*/ 0 h 1036627"/>
              <a:gd name="connsiteX0" fmla="*/ 0 w 12192000"/>
              <a:gd name="connsiteY0" fmla="*/ 0 h 1191885"/>
              <a:gd name="connsiteX1" fmla="*/ 12192000 w 12192000"/>
              <a:gd name="connsiteY1" fmla="*/ 0 h 1191885"/>
              <a:gd name="connsiteX2" fmla="*/ 12192000 w 12192000"/>
              <a:gd name="connsiteY2" fmla="*/ 1036620 h 1191885"/>
              <a:gd name="connsiteX3" fmla="*/ 9516862 w 12192000"/>
              <a:gd name="connsiteY3" fmla="*/ 827901 h 1191885"/>
              <a:gd name="connsiteX4" fmla="*/ 2645546 w 12192000"/>
              <a:gd name="connsiteY4" fmla="*/ 1191885 h 1191885"/>
              <a:gd name="connsiteX5" fmla="*/ 0 w 12192000"/>
              <a:gd name="connsiteY5" fmla="*/ 1036620 h 1191885"/>
              <a:gd name="connsiteX6" fmla="*/ 0 w 12192000"/>
              <a:gd name="connsiteY6" fmla="*/ 0 h 1191885"/>
              <a:gd name="connsiteX0" fmla="*/ 0 w 12192000"/>
              <a:gd name="connsiteY0" fmla="*/ 0 h 1191885"/>
              <a:gd name="connsiteX1" fmla="*/ 12192000 w 12192000"/>
              <a:gd name="connsiteY1" fmla="*/ 0 h 1191885"/>
              <a:gd name="connsiteX2" fmla="*/ 12192000 w 12192000"/>
              <a:gd name="connsiteY2" fmla="*/ 1036620 h 1191885"/>
              <a:gd name="connsiteX3" fmla="*/ 9472474 w 12192000"/>
              <a:gd name="connsiteY3" fmla="*/ 916678 h 1191885"/>
              <a:gd name="connsiteX4" fmla="*/ 2645546 w 12192000"/>
              <a:gd name="connsiteY4" fmla="*/ 1191885 h 1191885"/>
              <a:gd name="connsiteX5" fmla="*/ 0 w 12192000"/>
              <a:gd name="connsiteY5" fmla="*/ 1036620 h 1191885"/>
              <a:gd name="connsiteX6" fmla="*/ 0 w 12192000"/>
              <a:gd name="connsiteY6" fmla="*/ 0 h 1191885"/>
              <a:gd name="connsiteX0" fmla="*/ 0 w 12192000"/>
              <a:gd name="connsiteY0" fmla="*/ 0 h 1156375"/>
              <a:gd name="connsiteX1" fmla="*/ 12192000 w 12192000"/>
              <a:gd name="connsiteY1" fmla="*/ 0 h 1156375"/>
              <a:gd name="connsiteX2" fmla="*/ 12192000 w 12192000"/>
              <a:gd name="connsiteY2" fmla="*/ 1036620 h 1156375"/>
              <a:gd name="connsiteX3" fmla="*/ 9472474 w 12192000"/>
              <a:gd name="connsiteY3" fmla="*/ 916678 h 1156375"/>
              <a:gd name="connsiteX4" fmla="*/ 2654424 w 12192000"/>
              <a:gd name="connsiteY4" fmla="*/ 1156375 h 1156375"/>
              <a:gd name="connsiteX5" fmla="*/ 0 w 12192000"/>
              <a:gd name="connsiteY5" fmla="*/ 1036620 h 1156375"/>
              <a:gd name="connsiteX6" fmla="*/ 0 w 12192000"/>
              <a:gd name="connsiteY6" fmla="*/ 0 h 11563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1156375">
                <a:moveTo>
                  <a:pt x="0" y="0"/>
                </a:moveTo>
                <a:lnTo>
                  <a:pt x="12192000" y="0"/>
                </a:lnTo>
                <a:lnTo>
                  <a:pt x="12192000" y="1036620"/>
                </a:lnTo>
                <a:cubicBezTo>
                  <a:pt x="11258858" y="1038068"/>
                  <a:pt x="10405616" y="915230"/>
                  <a:pt x="9472474" y="916678"/>
                </a:cubicBezTo>
                <a:cubicBezTo>
                  <a:pt x="7244179" y="966985"/>
                  <a:pt x="4882719" y="1106068"/>
                  <a:pt x="2654424" y="1156375"/>
                </a:cubicBezTo>
                <a:lnTo>
                  <a:pt x="0" y="1036620"/>
                </a:lnTo>
                <a:lnTo>
                  <a:pt x="0" y="0"/>
                </a:lnTo>
                <a:close/>
              </a:path>
            </a:pathLst>
          </a:cu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Title 1">
            <a:extLst>
              <a:ext uri="{FF2B5EF4-FFF2-40B4-BE49-F238E27FC236}">
                <a16:creationId xmlns:a16="http://schemas.microsoft.com/office/drawing/2014/main" id="{D17830B5-81EF-08EE-0D51-086C891343B1}"/>
              </a:ext>
            </a:extLst>
          </p:cNvPr>
          <p:cNvSpPr>
            <a:spLocks noGrp="1"/>
          </p:cNvSpPr>
          <p:nvPr>
            <p:ph type="title"/>
          </p:nvPr>
        </p:nvSpPr>
        <p:spPr>
          <a:xfrm>
            <a:off x="413993" y="198671"/>
            <a:ext cx="10515600" cy="763571"/>
          </a:xfrm>
        </p:spPr>
        <p:txBody>
          <a:bodyPr/>
          <a:lstStyle>
            <a:lvl1pPr>
              <a:defRPr b="1"/>
            </a:lvl1pPr>
          </a:lstStyle>
          <a:p>
            <a:r>
              <a:rPr lang="en-GB"/>
              <a:t>Click to edit Master title style</a:t>
            </a:r>
            <a:endParaRPr lang="en-GB" dirty="0"/>
          </a:p>
        </p:txBody>
      </p:sp>
    </p:spTree>
    <p:extLst>
      <p:ext uri="{BB962C8B-B14F-4D97-AF65-F5344CB8AC3E}">
        <p14:creationId xmlns:p14="http://schemas.microsoft.com/office/powerpoint/2010/main" val="78845063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E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916DFD2-1DEA-8D22-4791-DE55801F9A2B}"/>
              </a:ext>
            </a:extLst>
          </p:cNvPr>
          <p:cNvSpPr>
            <a:spLocks noGrp="1"/>
          </p:cNvSpPr>
          <p:nvPr>
            <p:ph type="title"/>
          </p:nvPr>
        </p:nvSpPr>
        <p:spPr>
          <a:xfrm>
            <a:off x="413993" y="136525"/>
            <a:ext cx="10515600" cy="763571"/>
          </a:xfrm>
          <a:prstGeom prst="rect">
            <a:avLst/>
          </a:prstGeom>
        </p:spPr>
        <p:txBody>
          <a:bodyPr vert="horz" lIns="91440" tIns="45720" rIns="91440" bIns="45720" rtlCol="0" anchor="ctr">
            <a:noAutofit/>
          </a:bodyPr>
          <a:lstStyle/>
          <a:p>
            <a:r>
              <a:rPr lang="en-GB"/>
              <a:t>Click to edit Master title style</a:t>
            </a:r>
            <a:endParaRPr lang="en-GB" dirty="0"/>
          </a:p>
        </p:txBody>
      </p:sp>
      <p:sp>
        <p:nvSpPr>
          <p:cNvPr id="3" name="Text Placeholder 2">
            <a:extLst>
              <a:ext uri="{FF2B5EF4-FFF2-40B4-BE49-F238E27FC236}">
                <a16:creationId xmlns:a16="http://schemas.microsoft.com/office/drawing/2014/main" id="{9CDDF7BB-0A96-D666-6992-98AEF317A714}"/>
              </a:ext>
            </a:extLst>
          </p:cNvPr>
          <p:cNvSpPr>
            <a:spLocks noGrp="1"/>
          </p:cNvSpPr>
          <p:nvPr>
            <p:ph type="body" idx="1"/>
          </p:nvPr>
        </p:nvSpPr>
        <p:spPr>
          <a:xfrm>
            <a:off x="413992" y="1313895"/>
            <a:ext cx="11444927" cy="4952736"/>
          </a:xfrm>
          <a:prstGeom prst="rect">
            <a:avLst/>
          </a:prstGeom>
        </p:spPr>
        <p:txBody>
          <a:bodyPr vert="horz" lIns="91440" tIns="45720" rIns="91440" bIns="45720" rtlCol="0">
            <a:normAutofit/>
          </a:bodyPr>
          <a:lstStyle/>
          <a:p>
            <a:pPr lvl="0"/>
            <a:r>
              <a:rPr lang="en-GB" dirty="0"/>
              <a:t>Click to edit Master text styles</a:t>
            </a:r>
          </a:p>
          <a:p>
            <a:pPr marL="685800" lvl="1" indent="-228600" algn="l" defTabSz="914400" rtl="0" eaLnBrk="1" latinLnBrk="0" hangingPunct="1">
              <a:lnSpc>
                <a:spcPct val="90000"/>
              </a:lnSpc>
              <a:spcBef>
                <a:spcPts val="500"/>
              </a:spcBef>
              <a:spcAft>
                <a:spcPts val="1800"/>
              </a:spcAft>
              <a:buClr>
                <a:srgbClr val="C00000"/>
              </a:buClr>
              <a:buSzPct val="115000"/>
              <a:buFont typeface="Arial" panose="020B0604020202020204" pitchFamily="34" charset="0"/>
              <a:buChar char="•"/>
            </a:pPr>
            <a:r>
              <a:rPr lang="en-GB" dirty="0"/>
              <a:t>Second level</a:t>
            </a:r>
          </a:p>
        </p:txBody>
      </p:sp>
      <p:sp>
        <p:nvSpPr>
          <p:cNvPr id="4" name="TextBox 3">
            <a:extLst>
              <a:ext uri="{FF2B5EF4-FFF2-40B4-BE49-F238E27FC236}">
                <a16:creationId xmlns:a16="http://schemas.microsoft.com/office/drawing/2014/main" id="{AD94F074-8FD9-0C27-50BF-7632BF6FFAB0}"/>
              </a:ext>
            </a:extLst>
          </p:cNvPr>
          <p:cNvSpPr txBox="1"/>
          <p:nvPr userDrawn="1"/>
        </p:nvSpPr>
        <p:spPr>
          <a:xfrm rot="16200000">
            <a:off x="11757747" y="6208302"/>
            <a:ext cx="1083951" cy="215444"/>
          </a:xfrm>
          <a:prstGeom prst="rect">
            <a:avLst/>
          </a:prstGeom>
          <a:noFill/>
        </p:spPr>
        <p:txBody>
          <a:bodyPr wrap="none" rtlCol="0">
            <a:spAutoFit/>
          </a:bodyPr>
          <a:lstStyle/>
          <a:p>
            <a:r>
              <a:rPr lang="en-GB" sz="800" dirty="0">
                <a:solidFill>
                  <a:schemeClr val="bg2"/>
                </a:solidFill>
              </a:rPr>
              <a:t>© Nichola Wilkin Ltd</a:t>
            </a:r>
          </a:p>
        </p:txBody>
      </p:sp>
    </p:spTree>
    <p:extLst>
      <p:ext uri="{BB962C8B-B14F-4D97-AF65-F5344CB8AC3E}">
        <p14:creationId xmlns:p14="http://schemas.microsoft.com/office/powerpoint/2010/main" val="36669030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64" r:id="rId3"/>
    <p:sldLayoutId id="2147483662" r:id="rId4"/>
    <p:sldLayoutId id="2147483663" r:id="rId5"/>
    <p:sldLayoutId id="2147483665" r:id="rId6"/>
    <p:sldLayoutId id="2147483652" r:id="rId7"/>
    <p:sldLayoutId id="2147483653" r:id="rId8"/>
    <p:sldLayoutId id="2147483654" r:id="rId9"/>
    <p:sldLayoutId id="2147483655" r:id="rId10"/>
    <p:sldLayoutId id="2147483656" r:id="rId11"/>
    <p:sldLayoutId id="2147483657" r:id="rId12"/>
  </p:sldLayoutIdLst>
  <p:txStyles>
    <p:titleStyle>
      <a:lvl1pPr algn="l" defTabSz="914400" rtl="0" eaLnBrk="1" latinLnBrk="0" hangingPunct="1">
        <a:lnSpc>
          <a:spcPct val="90000"/>
        </a:lnSpc>
        <a:spcBef>
          <a:spcPct val="0"/>
        </a:spcBef>
        <a:buNone/>
        <a:defRPr sz="4800" b="1" kern="1200">
          <a:solidFill>
            <a:srgbClr val="002570"/>
          </a:solidFill>
          <a:latin typeface="OpenDyslexicAlta" panose="00000500000000000000" pitchFamily="50" charset="0"/>
          <a:ea typeface="+mj-ea"/>
          <a:cs typeface="+mj-cs"/>
        </a:defRPr>
      </a:lvl1pPr>
    </p:titleStyle>
    <p:bodyStyle>
      <a:lvl1pPr marL="0" indent="0" algn="l" defTabSz="914400" rtl="0" eaLnBrk="1" latinLnBrk="0" hangingPunct="1">
        <a:lnSpc>
          <a:spcPct val="90000"/>
        </a:lnSpc>
        <a:spcBef>
          <a:spcPts val="1000"/>
        </a:spcBef>
        <a:spcAft>
          <a:spcPts val="1800"/>
        </a:spcAft>
        <a:buFont typeface="Arial" panose="020B0604020202020204" pitchFamily="34" charset="0"/>
        <a:buNone/>
        <a:defRPr sz="3600" kern="1200">
          <a:solidFill>
            <a:srgbClr val="002570"/>
          </a:solidFill>
          <a:latin typeface="OpenDyslexicAlta" panose="00000500000000000000" pitchFamily="50" charset="0"/>
          <a:ea typeface="+mn-ea"/>
          <a:cs typeface="+mn-cs"/>
        </a:defRPr>
      </a:lvl1pPr>
      <a:lvl2pPr marL="685800" indent="-228600" algn="l" defTabSz="914400" rtl="0" eaLnBrk="1" latinLnBrk="0" hangingPunct="1">
        <a:lnSpc>
          <a:spcPct val="90000"/>
        </a:lnSpc>
        <a:spcBef>
          <a:spcPts val="500"/>
        </a:spcBef>
        <a:spcAft>
          <a:spcPts val="1800"/>
        </a:spcAft>
        <a:buFont typeface="Arial" panose="020B0604020202020204" pitchFamily="34" charset="0"/>
        <a:buChar char="•"/>
        <a:defRPr lang="en-GB" sz="3200" kern="1200" dirty="0">
          <a:solidFill>
            <a:srgbClr val="002570"/>
          </a:solidFill>
          <a:latin typeface="OpenDyslexicAlta" panose="00000500000000000000" pitchFamily="50" charset="0"/>
          <a:ea typeface="+mn-ea"/>
          <a:cs typeface="+mn-cs"/>
        </a:defRPr>
      </a:lvl2pPr>
      <a:lvl3pPr marL="1143000" indent="-228600" algn="l" defTabSz="914400" rtl="0" eaLnBrk="1" latinLnBrk="0" hangingPunct="1">
        <a:lnSpc>
          <a:spcPct val="90000"/>
        </a:lnSpc>
        <a:spcBef>
          <a:spcPts val="500"/>
        </a:spcBef>
        <a:spcAft>
          <a:spcPts val="1800"/>
        </a:spcAft>
        <a:buFont typeface="Arial" panose="020B0604020202020204" pitchFamily="34" charset="0"/>
        <a:buChar char="•"/>
        <a:defRPr sz="2800" kern="1200">
          <a:solidFill>
            <a:srgbClr val="002570"/>
          </a:solidFill>
          <a:latin typeface="OpenDyslexicAlta" panose="00000500000000000000" pitchFamily="50" charset="0"/>
          <a:ea typeface="+mn-ea"/>
          <a:cs typeface="+mn-cs"/>
        </a:defRPr>
      </a:lvl3pPr>
      <a:lvl4pPr marL="1600200" indent="-228600" algn="l" defTabSz="914400" rtl="0" eaLnBrk="1" latinLnBrk="0" hangingPunct="1">
        <a:lnSpc>
          <a:spcPct val="90000"/>
        </a:lnSpc>
        <a:spcBef>
          <a:spcPts val="500"/>
        </a:spcBef>
        <a:spcAft>
          <a:spcPts val="1800"/>
        </a:spcAft>
        <a:buFont typeface="Arial" panose="020B0604020202020204" pitchFamily="34" charset="0"/>
        <a:buChar char="•"/>
        <a:defRPr sz="2400" kern="1200">
          <a:solidFill>
            <a:srgbClr val="002570"/>
          </a:solidFill>
          <a:latin typeface="OpenDyslexicAlta" panose="00000500000000000000" pitchFamily="50" charset="0"/>
          <a:ea typeface="+mn-ea"/>
          <a:cs typeface="+mn-cs"/>
        </a:defRPr>
      </a:lvl4pPr>
      <a:lvl5pPr marL="2057400" indent="-228600" algn="l" defTabSz="914400" rtl="0" eaLnBrk="1" latinLnBrk="0" hangingPunct="1">
        <a:lnSpc>
          <a:spcPct val="90000"/>
        </a:lnSpc>
        <a:spcBef>
          <a:spcPts val="500"/>
        </a:spcBef>
        <a:spcAft>
          <a:spcPts val="1800"/>
        </a:spcAft>
        <a:buFont typeface="Arial" panose="020B0604020202020204" pitchFamily="34" charset="0"/>
        <a:buChar char="•"/>
        <a:defRPr sz="2400" kern="1200">
          <a:solidFill>
            <a:srgbClr val="002570"/>
          </a:solidFill>
          <a:latin typeface="OpenDyslexicAlta" panose="00000500000000000000" pitchFamily="50"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822" userDrawn="1">
          <p15:clr>
            <a:srgbClr val="F26B43"/>
          </p15:clr>
        </p15:guide>
        <p15:guide id="2" pos="1186"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hyperlink" Target="https://www.nicholawilkin.com/terms" TargetMode="Externa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C184CF-D39A-F54C-E3BD-2F32E4670282}"/>
              </a:ext>
            </a:extLst>
          </p:cNvPr>
          <p:cNvSpPr>
            <a:spLocks noGrp="1"/>
          </p:cNvSpPr>
          <p:nvPr>
            <p:ph type="ctrTitle"/>
          </p:nvPr>
        </p:nvSpPr>
        <p:spPr/>
        <p:txBody>
          <a:bodyPr/>
          <a:lstStyle/>
          <a:p>
            <a:r>
              <a:rPr lang="en-GB" noProof="0" dirty="0"/>
              <a:t>Types of cyber threat</a:t>
            </a:r>
          </a:p>
        </p:txBody>
      </p:sp>
      <p:sp>
        <p:nvSpPr>
          <p:cNvPr id="3" name="Subtitle 2">
            <a:extLst>
              <a:ext uri="{FF2B5EF4-FFF2-40B4-BE49-F238E27FC236}">
                <a16:creationId xmlns:a16="http://schemas.microsoft.com/office/drawing/2014/main" id="{F4C41960-3132-52E1-575A-55A2633DED4E}"/>
              </a:ext>
            </a:extLst>
          </p:cNvPr>
          <p:cNvSpPr>
            <a:spLocks noGrp="1"/>
          </p:cNvSpPr>
          <p:nvPr>
            <p:ph type="subTitle" idx="1"/>
          </p:nvPr>
        </p:nvSpPr>
        <p:spPr/>
        <p:txBody>
          <a:bodyPr/>
          <a:lstStyle/>
          <a:p>
            <a:r>
              <a:rPr lang="en-GB" b="1" noProof="0" dirty="0"/>
              <a:t>Unit: </a:t>
            </a:r>
            <a:r>
              <a:rPr lang="en-GB" noProof="0" dirty="0"/>
              <a:t>Cyber threats</a:t>
            </a:r>
          </a:p>
        </p:txBody>
      </p:sp>
    </p:spTree>
    <p:extLst>
      <p:ext uri="{BB962C8B-B14F-4D97-AF65-F5344CB8AC3E}">
        <p14:creationId xmlns:p14="http://schemas.microsoft.com/office/powerpoint/2010/main" val="420389558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302ABF-1189-622D-C67C-DBF8F48DC098}"/>
              </a:ext>
            </a:extLst>
          </p:cNvPr>
          <p:cNvSpPr>
            <a:spLocks noGrp="1"/>
          </p:cNvSpPr>
          <p:nvPr>
            <p:ph type="title"/>
          </p:nvPr>
        </p:nvSpPr>
        <p:spPr/>
        <p:txBody>
          <a:bodyPr/>
          <a:lstStyle/>
          <a:p>
            <a:r>
              <a:rPr lang="en-GB" noProof="0" dirty="0"/>
              <a:t>Objective</a:t>
            </a:r>
          </a:p>
        </p:txBody>
      </p:sp>
      <p:sp>
        <p:nvSpPr>
          <p:cNvPr id="3" name="Content Placeholder 2">
            <a:extLst>
              <a:ext uri="{FF2B5EF4-FFF2-40B4-BE49-F238E27FC236}">
                <a16:creationId xmlns:a16="http://schemas.microsoft.com/office/drawing/2014/main" id="{F40FE6D7-DD69-1D13-4F3D-238FFCA5BFEC}"/>
              </a:ext>
            </a:extLst>
          </p:cNvPr>
          <p:cNvSpPr>
            <a:spLocks noGrp="1"/>
          </p:cNvSpPr>
          <p:nvPr>
            <p:ph idx="1"/>
          </p:nvPr>
        </p:nvSpPr>
        <p:spPr/>
        <p:txBody>
          <a:bodyPr>
            <a:normAutofit fontScale="85000" lnSpcReduction="10000"/>
          </a:bodyPr>
          <a:lstStyle/>
          <a:p>
            <a:pPr marL="0" indent="0">
              <a:lnSpc>
                <a:spcPct val="150000"/>
              </a:lnSpc>
              <a:buNone/>
            </a:pPr>
            <a:r>
              <a:rPr lang="en-GB" sz="3600" noProof="0" dirty="0"/>
              <a:t>I can identify and describe common cyber threats and their impact.</a:t>
            </a:r>
          </a:p>
        </p:txBody>
      </p:sp>
    </p:spTree>
    <p:extLst>
      <p:ext uri="{BB962C8B-B14F-4D97-AF65-F5344CB8AC3E}">
        <p14:creationId xmlns:p14="http://schemas.microsoft.com/office/powerpoint/2010/main" val="62389773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9A397C-D2E3-ADCC-840E-27A33C78D114}"/>
              </a:ext>
            </a:extLst>
          </p:cNvPr>
          <p:cNvSpPr>
            <a:spLocks noGrp="1"/>
          </p:cNvSpPr>
          <p:nvPr>
            <p:ph type="title"/>
          </p:nvPr>
        </p:nvSpPr>
        <p:spPr/>
        <p:txBody>
          <a:bodyPr/>
          <a:lstStyle/>
          <a:p>
            <a:r>
              <a:rPr lang="en-GB" noProof="0" dirty="0"/>
              <a:t>Keywords</a:t>
            </a:r>
          </a:p>
        </p:txBody>
      </p:sp>
      <p:sp>
        <p:nvSpPr>
          <p:cNvPr id="4" name="Content Placeholder 25">
            <a:extLst>
              <a:ext uri="{FF2B5EF4-FFF2-40B4-BE49-F238E27FC236}">
                <a16:creationId xmlns:a16="http://schemas.microsoft.com/office/drawing/2014/main" id="{57726DDD-8611-BC33-219F-E0BFEE4A07EF}"/>
              </a:ext>
            </a:extLst>
          </p:cNvPr>
          <p:cNvSpPr txBox="1">
            <a:spLocks/>
          </p:cNvSpPr>
          <p:nvPr/>
        </p:nvSpPr>
        <p:spPr>
          <a:xfrm>
            <a:off x="413992" y="1504950"/>
            <a:ext cx="11444927" cy="4761681"/>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spcAft>
                <a:spcPts val="1800"/>
              </a:spcAft>
              <a:buFont typeface="Arial" panose="020B0604020202020204" pitchFamily="34" charset="0"/>
              <a:buChar char="•"/>
              <a:defRPr sz="3600" kern="1200">
                <a:solidFill>
                  <a:srgbClr val="002570"/>
                </a:solidFill>
                <a:latin typeface="OpenDyslexicAlta" panose="00000500000000000000" pitchFamily="50" charset="0"/>
                <a:ea typeface="+mn-ea"/>
                <a:cs typeface="+mn-cs"/>
              </a:defRPr>
            </a:lvl1pPr>
            <a:lvl2pPr marL="685800" indent="-228600" algn="l" defTabSz="914400" rtl="0" eaLnBrk="1" latinLnBrk="0" hangingPunct="1">
              <a:lnSpc>
                <a:spcPct val="90000"/>
              </a:lnSpc>
              <a:spcBef>
                <a:spcPts val="500"/>
              </a:spcBef>
              <a:spcAft>
                <a:spcPts val="1800"/>
              </a:spcAft>
              <a:buFont typeface="Arial" panose="020B0604020202020204" pitchFamily="34" charset="0"/>
              <a:buChar char="•"/>
              <a:defRPr sz="3200" kern="1200">
                <a:solidFill>
                  <a:srgbClr val="002570"/>
                </a:solidFill>
                <a:latin typeface="OpenDyslexicAlta" panose="00000500000000000000" pitchFamily="50" charset="0"/>
                <a:ea typeface="+mn-ea"/>
                <a:cs typeface="+mn-cs"/>
              </a:defRPr>
            </a:lvl2pPr>
            <a:lvl3pPr marL="1143000" indent="-228600" algn="l" defTabSz="914400" rtl="0" eaLnBrk="1" latinLnBrk="0" hangingPunct="1">
              <a:lnSpc>
                <a:spcPct val="90000"/>
              </a:lnSpc>
              <a:spcBef>
                <a:spcPts val="500"/>
              </a:spcBef>
              <a:spcAft>
                <a:spcPts val="1800"/>
              </a:spcAft>
              <a:buFont typeface="Arial" panose="020B0604020202020204" pitchFamily="34" charset="0"/>
              <a:buChar char="•"/>
              <a:defRPr sz="2800" kern="1200">
                <a:solidFill>
                  <a:srgbClr val="002570"/>
                </a:solidFill>
                <a:latin typeface="OpenDyslexicAlta" panose="00000500000000000000" pitchFamily="50" charset="0"/>
                <a:ea typeface="+mn-ea"/>
                <a:cs typeface="+mn-cs"/>
              </a:defRPr>
            </a:lvl3pPr>
            <a:lvl4pPr marL="1600200" indent="-228600" algn="l" defTabSz="914400" rtl="0" eaLnBrk="1" latinLnBrk="0" hangingPunct="1">
              <a:lnSpc>
                <a:spcPct val="90000"/>
              </a:lnSpc>
              <a:spcBef>
                <a:spcPts val="500"/>
              </a:spcBef>
              <a:spcAft>
                <a:spcPts val="1800"/>
              </a:spcAft>
              <a:buFont typeface="Arial" panose="020B0604020202020204" pitchFamily="34" charset="0"/>
              <a:buChar char="•"/>
              <a:defRPr sz="2400" kern="1200">
                <a:solidFill>
                  <a:srgbClr val="002570"/>
                </a:solidFill>
                <a:latin typeface="OpenDyslexicAlta" panose="00000500000000000000" pitchFamily="50" charset="0"/>
                <a:ea typeface="+mn-ea"/>
                <a:cs typeface="+mn-cs"/>
              </a:defRPr>
            </a:lvl4pPr>
            <a:lvl5pPr marL="2057400" indent="-228600" algn="l" defTabSz="914400" rtl="0" eaLnBrk="1" latinLnBrk="0" hangingPunct="1">
              <a:lnSpc>
                <a:spcPct val="90000"/>
              </a:lnSpc>
              <a:spcBef>
                <a:spcPts val="500"/>
              </a:spcBef>
              <a:spcAft>
                <a:spcPts val="1800"/>
              </a:spcAft>
              <a:buFont typeface="Arial" panose="020B0604020202020204" pitchFamily="34" charset="0"/>
              <a:buChar char="•"/>
              <a:defRPr sz="2400" kern="1200">
                <a:solidFill>
                  <a:srgbClr val="002570"/>
                </a:solidFill>
                <a:latin typeface="OpenDyslexicAlta" panose="00000500000000000000" pitchFamily="50"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Aft>
                <a:spcPts val="600"/>
              </a:spcAft>
              <a:buNone/>
            </a:pPr>
            <a:r>
              <a:rPr lang="en-GB" sz="2700" b="1" noProof="0" dirty="0">
                <a:solidFill>
                  <a:srgbClr val="C00000"/>
                </a:solidFill>
              </a:rPr>
              <a:t>Malware</a:t>
            </a:r>
            <a:r>
              <a:rPr lang="en-GB" sz="2700" noProof="0" dirty="0"/>
              <a:t> is harmful software designed to damage or disrupt a computer system, such as a virus that spreads through files.</a:t>
            </a:r>
          </a:p>
          <a:p>
            <a:pPr marL="0" indent="0">
              <a:spcAft>
                <a:spcPts val="600"/>
              </a:spcAft>
              <a:buNone/>
            </a:pPr>
            <a:r>
              <a:rPr lang="en-GB" sz="2700" b="1" noProof="0" dirty="0">
                <a:solidFill>
                  <a:srgbClr val="C00000"/>
                </a:solidFill>
              </a:rPr>
              <a:t>Social engineering </a:t>
            </a:r>
            <a:r>
              <a:rPr lang="en-GB" sz="2700" noProof="0" dirty="0"/>
              <a:t>is when someone manipulates people into revealing sensitive information, often by pretending to be someone they trust.</a:t>
            </a:r>
          </a:p>
          <a:p>
            <a:pPr marL="0" indent="0">
              <a:spcAft>
                <a:spcPts val="600"/>
              </a:spcAft>
              <a:buNone/>
            </a:pPr>
            <a:r>
              <a:rPr lang="en-GB" sz="2700" b="1" noProof="0" dirty="0">
                <a:solidFill>
                  <a:srgbClr val="C00000"/>
                </a:solidFill>
              </a:rPr>
              <a:t>Phishing</a:t>
            </a:r>
            <a:r>
              <a:rPr lang="en-GB" sz="2700" noProof="0" dirty="0"/>
              <a:t> is a type of social engineering that tricks people into giving away personal information by pretending to be a trustworthy source, such as a fake email from a bank.</a:t>
            </a:r>
          </a:p>
          <a:p>
            <a:pPr marL="0" indent="0">
              <a:spcAft>
                <a:spcPts val="600"/>
              </a:spcAft>
              <a:buNone/>
            </a:pPr>
            <a:r>
              <a:rPr lang="en-GB" sz="2700" b="1" noProof="0" dirty="0">
                <a:solidFill>
                  <a:srgbClr val="C00000"/>
                </a:solidFill>
              </a:rPr>
              <a:t>Ethical hacking </a:t>
            </a:r>
            <a:r>
              <a:rPr lang="en-GB" sz="2700" noProof="0" dirty="0"/>
              <a:t>involves testing computer systems to find weaknesses. It is done with permission to improve security.</a:t>
            </a:r>
          </a:p>
        </p:txBody>
      </p:sp>
    </p:spTree>
    <p:extLst>
      <p:ext uri="{BB962C8B-B14F-4D97-AF65-F5344CB8AC3E}">
        <p14:creationId xmlns:p14="http://schemas.microsoft.com/office/powerpoint/2010/main" val="31489822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8586AD-244C-8AC1-86E7-3D084F4401D8}"/>
              </a:ext>
            </a:extLst>
          </p:cNvPr>
          <p:cNvSpPr>
            <a:spLocks noGrp="1"/>
          </p:cNvSpPr>
          <p:nvPr>
            <p:ph type="title"/>
          </p:nvPr>
        </p:nvSpPr>
        <p:spPr/>
        <p:txBody>
          <a:bodyPr/>
          <a:lstStyle/>
          <a:p>
            <a:r>
              <a:rPr lang="en-GB" noProof="0" dirty="0"/>
              <a:t>What do you already know?</a:t>
            </a:r>
          </a:p>
        </p:txBody>
      </p:sp>
      <p:sp>
        <p:nvSpPr>
          <p:cNvPr id="3" name="Content Placeholder 2">
            <a:extLst>
              <a:ext uri="{FF2B5EF4-FFF2-40B4-BE49-F238E27FC236}">
                <a16:creationId xmlns:a16="http://schemas.microsoft.com/office/drawing/2014/main" id="{F0FC761F-680C-8008-5001-6739C23BF339}"/>
              </a:ext>
            </a:extLst>
          </p:cNvPr>
          <p:cNvSpPr>
            <a:spLocks noGrp="1"/>
          </p:cNvSpPr>
          <p:nvPr>
            <p:ph idx="1"/>
          </p:nvPr>
        </p:nvSpPr>
        <p:spPr/>
        <p:txBody>
          <a:bodyPr>
            <a:normAutofit lnSpcReduction="10000"/>
          </a:bodyPr>
          <a:lstStyle/>
          <a:p>
            <a:r>
              <a:rPr lang="en-GB" noProof="0" dirty="0"/>
              <a:t>You understand the importance of creating strong passwords and how to use password managers.</a:t>
            </a:r>
          </a:p>
          <a:p>
            <a:r>
              <a:rPr lang="en-GB" noProof="0" dirty="0"/>
              <a:t>You are familiar with basic computer systems, including hardware, software and the way data flows through a network.</a:t>
            </a:r>
          </a:p>
          <a:p>
            <a:r>
              <a:rPr lang="en-GB" noProof="0" dirty="0"/>
              <a:t>You have also explored how algorithms can solve problems and how to debug simple programming errors.</a:t>
            </a:r>
          </a:p>
        </p:txBody>
      </p:sp>
    </p:spTree>
    <p:extLst>
      <p:ext uri="{BB962C8B-B14F-4D97-AF65-F5344CB8AC3E}">
        <p14:creationId xmlns:p14="http://schemas.microsoft.com/office/powerpoint/2010/main" val="37599628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Rounded Corners 5">
            <a:extLst>
              <a:ext uri="{FF2B5EF4-FFF2-40B4-BE49-F238E27FC236}">
                <a16:creationId xmlns:a16="http://schemas.microsoft.com/office/drawing/2014/main" id="{3B66E799-D9B4-A6C8-BAFB-22007923A781}"/>
              </a:ext>
            </a:extLst>
          </p:cNvPr>
          <p:cNvSpPr/>
          <p:nvPr/>
        </p:nvSpPr>
        <p:spPr>
          <a:xfrm>
            <a:off x="413992" y="1428750"/>
            <a:ext cx="11364016" cy="763571"/>
          </a:xfrm>
          <a:prstGeom prst="round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2" name="Title 1">
            <a:extLst>
              <a:ext uri="{FF2B5EF4-FFF2-40B4-BE49-F238E27FC236}">
                <a16:creationId xmlns:a16="http://schemas.microsoft.com/office/drawing/2014/main" id="{80CD4A36-A530-71B9-E5F7-5307B39D6DC4}"/>
              </a:ext>
            </a:extLst>
          </p:cNvPr>
          <p:cNvSpPr>
            <a:spLocks noGrp="1"/>
          </p:cNvSpPr>
          <p:nvPr>
            <p:ph type="title"/>
          </p:nvPr>
        </p:nvSpPr>
        <p:spPr/>
        <p:txBody>
          <a:bodyPr/>
          <a:lstStyle/>
          <a:p>
            <a:r>
              <a:rPr lang="en-GB" noProof="0" dirty="0"/>
              <a:t>Steps to success</a:t>
            </a:r>
          </a:p>
        </p:txBody>
      </p:sp>
      <p:sp>
        <p:nvSpPr>
          <p:cNvPr id="3" name="Content Placeholder 2">
            <a:extLst>
              <a:ext uri="{FF2B5EF4-FFF2-40B4-BE49-F238E27FC236}">
                <a16:creationId xmlns:a16="http://schemas.microsoft.com/office/drawing/2014/main" id="{5CEDC0B2-9F40-1C8A-C33B-787DDB6DCEC4}"/>
              </a:ext>
            </a:extLst>
          </p:cNvPr>
          <p:cNvSpPr>
            <a:spLocks noGrp="1"/>
          </p:cNvSpPr>
          <p:nvPr>
            <p:ph idx="1"/>
          </p:nvPr>
        </p:nvSpPr>
        <p:spPr>
          <a:xfrm>
            <a:off x="413992" y="1581149"/>
            <a:ext cx="10749308" cy="4685481"/>
          </a:xfrm>
        </p:spPr>
        <p:txBody>
          <a:bodyPr/>
          <a:lstStyle/>
          <a:p>
            <a:pPr marL="809625" indent="-723900">
              <a:buClr>
                <a:srgbClr val="C00000"/>
              </a:buClr>
              <a:buSzPct val="107000"/>
              <a:buFont typeface="+mj-lt"/>
              <a:buAutoNum type="arabicPeriod"/>
            </a:pPr>
            <a:r>
              <a:rPr lang="en-GB" sz="3600" noProof="0" dirty="0"/>
              <a:t>Malware</a:t>
            </a:r>
          </a:p>
          <a:p>
            <a:pPr marL="809625" indent="-723900">
              <a:buClr>
                <a:srgbClr val="C00000"/>
              </a:buClr>
              <a:buSzPct val="107000"/>
              <a:buFont typeface="+mj-lt"/>
              <a:buAutoNum type="arabicPeriod"/>
            </a:pPr>
            <a:r>
              <a:rPr lang="en-GB" sz="3600" noProof="0" dirty="0"/>
              <a:t>Social engineering</a:t>
            </a:r>
          </a:p>
          <a:p>
            <a:pPr marL="809625" indent="-723900">
              <a:buClr>
                <a:srgbClr val="C00000"/>
              </a:buClr>
              <a:buSzPct val="107000"/>
              <a:buFont typeface="+mj-lt"/>
              <a:buAutoNum type="arabicPeriod"/>
            </a:pPr>
            <a:r>
              <a:rPr lang="en-GB" sz="3600" noProof="0" dirty="0"/>
              <a:t>Hacking</a:t>
            </a:r>
          </a:p>
          <a:p>
            <a:endParaRPr lang="en-GB" noProof="0" dirty="0"/>
          </a:p>
        </p:txBody>
      </p:sp>
    </p:spTree>
    <p:extLst>
      <p:ext uri="{BB962C8B-B14F-4D97-AF65-F5344CB8AC3E}">
        <p14:creationId xmlns:p14="http://schemas.microsoft.com/office/powerpoint/2010/main" val="34349383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7C15442-47A6-8269-B2FC-CDAB290F753D}"/>
              </a:ext>
            </a:extLst>
          </p:cNvPr>
          <p:cNvSpPr>
            <a:spLocks noGrp="1"/>
          </p:cNvSpPr>
          <p:nvPr>
            <p:ph idx="1"/>
          </p:nvPr>
        </p:nvSpPr>
        <p:spPr/>
        <p:txBody>
          <a:bodyPr>
            <a:noAutofit/>
          </a:bodyPr>
          <a:lstStyle/>
          <a:p>
            <a:r>
              <a:rPr lang="en-GB" sz="2400" noProof="0" dirty="0"/>
              <a:t>You’ve received an email from an online shop you’ve used before. It says there’s an issue with your recent order and asks you to click a link to update your payment details. The email looks professional but is unexpected as you have not ordered anything from them recently.</a:t>
            </a:r>
          </a:p>
          <a:p>
            <a:r>
              <a:rPr lang="en-GB" sz="2400" noProof="0" dirty="0"/>
              <a:t>What would you check in the email to decide if it’s safe to click the link?</a:t>
            </a:r>
          </a:p>
          <a:p>
            <a:r>
              <a:rPr lang="en-GB" sz="2400" b="1" noProof="0" dirty="0">
                <a:solidFill>
                  <a:srgbClr val="C00000"/>
                </a:solidFill>
              </a:rPr>
              <a:t>Check the sender’s email address to see if it matches the shop’s official domain. Do not click the link in the email. Instead, go to the shop’s official website by typing the address into your browser and log in to your account to check for any issues. If you are unsure, contact the shop’s customer service using the details on their official website.</a:t>
            </a:r>
          </a:p>
        </p:txBody>
      </p:sp>
      <p:sp>
        <p:nvSpPr>
          <p:cNvPr id="2" name="Title 1">
            <a:extLst>
              <a:ext uri="{FF2B5EF4-FFF2-40B4-BE49-F238E27FC236}">
                <a16:creationId xmlns:a16="http://schemas.microsoft.com/office/drawing/2014/main" id="{93F4EDDF-DA3A-23EB-AF41-ED5529DB04E8}"/>
              </a:ext>
            </a:extLst>
          </p:cNvPr>
          <p:cNvSpPr>
            <a:spLocks noGrp="1"/>
          </p:cNvSpPr>
          <p:nvPr>
            <p:ph type="title"/>
          </p:nvPr>
        </p:nvSpPr>
        <p:spPr/>
        <p:txBody>
          <a:bodyPr/>
          <a:lstStyle/>
          <a:p>
            <a:r>
              <a:rPr lang="en-GB" noProof="0" dirty="0"/>
              <a:t>Malware</a:t>
            </a:r>
          </a:p>
        </p:txBody>
      </p:sp>
    </p:spTree>
    <p:extLst>
      <p:ext uri="{BB962C8B-B14F-4D97-AF65-F5344CB8AC3E}">
        <p14:creationId xmlns:p14="http://schemas.microsoft.com/office/powerpoint/2010/main" val="28921866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337B85-0E53-1B93-4302-60E21864029A}"/>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A67EEBD-A84E-8A5D-28A2-091EF824DA4F}"/>
              </a:ext>
            </a:extLst>
          </p:cNvPr>
          <p:cNvSpPr>
            <a:spLocks noGrp="1"/>
          </p:cNvSpPr>
          <p:nvPr>
            <p:ph idx="1"/>
          </p:nvPr>
        </p:nvSpPr>
        <p:spPr/>
        <p:txBody>
          <a:bodyPr>
            <a:normAutofit fontScale="85000" lnSpcReduction="20000"/>
          </a:bodyPr>
          <a:lstStyle/>
          <a:p>
            <a:r>
              <a:rPr lang="en-GB" noProof="0" dirty="0"/>
              <a:t>While browsing a website, a pop-up appears saying you’ve been selected for a special giveaway. It asks you to click a button to claim your reward. </a:t>
            </a:r>
          </a:p>
          <a:p>
            <a:r>
              <a:rPr lang="en-GB" noProof="0" dirty="0"/>
              <a:t>What steps would you take to check if this pop-up is legitimate or a potential threat?</a:t>
            </a:r>
          </a:p>
          <a:p>
            <a:r>
              <a:rPr lang="en-GB" b="1" noProof="0" dirty="0">
                <a:solidFill>
                  <a:srgbClr val="C00000"/>
                </a:solidFill>
              </a:rPr>
              <a:t>Close the pop-up without clicking on anything. Do not enter any personal information. Check if the giveaway is mentioned on the company’s official website by typing the address directly into your browser. If you are unsure, contact the company using the contact details on their official website to ask if the giveaway is real.</a:t>
            </a:r>
          </a:p>
        </p:txBody>
      </p:sp>
      <p:sp>
        <p:nvSpPr>
          <p:cNvPr id="2" name="Title 1">
            <a:extLst>
              <a:ext uri="{FF2B5EF4-FFF2-40B4-BE49-F238E27FC236}">
                <a16:creationId xmlns:a16="http://schemas.microsoft.com/office/drawing/2014/main" id="{75A3EA14-F215-3329-7E83-13E5EE2E95F5}"/>
              </a:ext>
            </a:extLst>
          </p:cNvPr>
          <p:cNvSpPr>
            <a:spLocks noGrp="1"/>
          </p:cNvSpPr>
          <p:nvPr>
            <p:ph type="title"/>
          </p:nvPr>
        </p:nvSpPr>
        <p:spPr/>
        <p:txBody>
          <a:bodyPr/>
          <a:lstStyle/>
          <a:p>
            <a:r>
              <a:rPr lang="en-GB" noProof="0" dirty="0"/>
              <a:t>Malware</a:t>
            </a:r>
          </a:p>
        </p:txBody>
      </p:sp>
    </p:spTree>
    <p:extLst>
      <p:ext uri="{BB962C8B-B14F-4D97-AF65-F5344CB8AC3E}">
        <p14:creationId xmlns:p14="http://schemas.microsoft.com/office/powerpoint/2010/main" val="19888383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8E053A-DF82-929C-F42F-26BAA8EE3442}"/>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343A799-6200-E728-5DA0-D0838C2B40F4}"/>
              </a:ext>
            </a:extLst>
          </p:cNvPr>
          <p:cNvSpPr>
            <a:spLocks noGrp="1"/>
          </p:cNvSpPr>
          <p:nvPr>
            <p:ph idx="1"/>
          </p:nvPr>
        </p:nvSpPr>
        <p:spPr>
          <a:xfrm>
            <a:off x="3400746" y="1313894"/>
            <a:ext cx="8458173" cy="5220469"/>
          </a:xfrm>
        </p:spPr>
        <p:txBody>
          <a:bodyPr>
            <a:normAutofit lnSpcReduction="10000"/>
          </a:bodyPr>
          <a:lstStyle/>
          <a:p>
            <a:r>
              <a:rPr lang="en-GB" sz="2800" noProof="0" dirty="0"/>
              <a:t>A USB stick is left in the school computer room. A student decides to plug it into their laptop to check what’s on it. After opening a file, the laptop starts acting strangely.</a:t>
            </a:r>
          </a:p>
          <a:p>
            <a:r>
              <a:rPr lang="en-GB" sz="2800" noProof="0" dirty="0"/>
              <a:t>What could happen when using an unknown USB stick and what should you do instead?</a:t>
            </a:r>
          </a:p>
          <a:p>
            <a:r>
              <a:rPr lang="en-GB" sz="2800" b="1" noProof="0" dirty="0">
                <a:solidFill>
                  <a:srgbClr val="C00000"/>
                </a:solidFill>
              </a:rPr>
              <a:t>Do not plug in unknown USB sticks, as they can contain malware that could harm your computer or steal your information. Instead, give the USB stick to a teacher or a member of the IT staff straight away.</a:t>
            </a:r>
          </a:p>
        </p:txBody>
      </p:sp>
      <p:sp>
        <p:nvSpPr>
          <p:cNvPr id="2" name="Title 1">
            <a:extLst>
              <a:ext uri="{FF2B5EF4-FFF2-40B4-BE49-F238E27FC236}">
                <a16:creationId xmlns:a16="http://schemas.microsoft.com/office/drawing/2014/main" id="{628423FC-9F3C-68B9-2CD6-9118F129B013}"/>
              </a:ext>
            </a:extLst>
          </p:cNvPr>
          <p:cNvSpPr>
            <a:spLocks noGrp="1"/>
          </p:cNvSpPr>
          <p:nvPr>
            <p:ph type="title"/>
          </p:nvPr>
        </p:nvSpPr>
        <p:spPr/>
        <p:txBody>
          <a:bodyPr/>
          <a:lstStyle/>
          <a:p>
            <a:r>
              <a:rPr lang="en-GB" noProof="0" dirty="0"/>
              <a:t>Malware</a:t>
            </a:r>
          </a:p>
        </p:txBody>
      </p:sp>
      <p:pic>
        <p:nvPicPr>
          <p:cNvPr id="5" name="Picture 4" descr="A red USB stick&#10;">
            <a:extLst>
              <a:ext uri="{FF2B5EF4-FFF2-40B4-BE49-F238E27FC236}">
                <a16:creationId xmlns:a16="http://schemas.microsoft.com/office/drawing/2014/main" id="{E3DF91FC-5F54-13EC-84CA-ACEA99104E92}"/>
              </a:ext>
            </a:extLst>
          </p:cNvPr>
          <p:cNvPicPr>
            <a:picLocks noChangeAspect="1"/>
          </p:cNvPicPr>
          <p:nvPr/>
        </p:nvPicPr>
        <p:blipFill>
          <a:blip r:embed="rId2">
            <a:extLst>
              <a:ext uri="{28A0092B-C50C-407E-A947-70E740481C1C}">
                <a14:useLocalDpi xmlns:a14="http://schemas.microsoft.com/office/drawing/2010/main" val="0"/>
              </a:ext>
            </a:extLst>
          </a:blip>
          <a:srcRect t="21123" b="19159"/>
          <a:stretch/>
        </p:blipFill>
        <p:spPr>
          <a:xfrm>
            <a:off x="-191785" y="2054832"/>
            <a:ext cx="3977682" cy="2969232"/>
          </a:xfrm>
          <a:prstGeom prst="rect">
            <a:avLst/>
          </a:prstGeom>
        </p:spPr>
      </p:pic>
    </p:spTree>
    <p:extLst>
      <p:ext uri="{BB962C8B-B14F-4D97-AF65-F5344CB8AC3E}">
        <p14:creationId xmlns:p14="http://schemas.microsoft.com/office/powerpoint/2010/main" val="22541733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58EBD7-359F-C3A8-9E03-D8659867AEB0}"/>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DA52A32-E211-22D9-E23A-BEE3D3AFB37E}"/>
              </a:ext>
            </a:extLst>
          </p:cNvPr>
          <p:cNvSpPr>
            <a:spLocks noGrp="1"/>
          </p:cNvSpPr>
          <p:nvPr>
            <p:ph idx="1"/>
          </p:nvPr>
        </p:nvSpPr>
        <p:spPr/>
        <p:txBody>
          <a:bodyPr>
            <a:normAutofit lnSpcReduction="10000"/>
          </a:bodyPr>
          <a:lstStyle/>
          <a:p>
            <a:r>
              <a:rPr lang="en-GB" sz="2800" noProof="0" dirty="0"/>
              <a:t>You’ve received a message on social media from someone claiming to be a brother of a friend of yours. They ask you to share your email address to help them with something urgent but you’ve never heard of them before.</a:t>
            </a:r>
          </a:p>
          <a:p>
            <a:r>
              <a:rPr lang="en-GB" sz="2800" noProof="0" dirty="0"/>
              <a:t>How can you tell if this person is who they say they are, and what should you do next?</a:t>
            </a:r>
          </a:p>
          <a:p>
            <a:r>
              <a:rPr lang="en-GB" sz="2800" b="1" noProof="0" dirty="0">
                <a:solidFill>
                  <a:srgbClr val="C00000"/>
                </a:solidFill>
              </a:rPr>
              <a:t>Do not share your email address with someone you do not know, even if they say they are related to your friend. Instead, contact your friend directly using a method you trust, such as speaking to them in person or sending them a message, to check if the request is real.</a:t>
            </a:r>
          </a:p>
        </p:txBody>
      </p:sp>
      <p:sp>
        <p:nvSpPr>
          <p:cNvPr id="2" name="Title 1">
            <a:extLst>
              <a:ext uri="{FF2B5EF4-FFF2-40B4-BE49-F238E27FC236}">
                <a16:creationId xmlns:a16="http://schemas.microsoft.com/office/drawing/2014/main" id="{6E0957C9-71AA-5455-39B1-D4C237B66463}"/>
              </a:ext>
            </a:extLst>
          </p:cNvPr>
          <p:cNvSpPr>
            <a:spLocks noGrp="1"/>
          </p:cNvSpPr>
          <p:nvPr>
            <p:ph type="title"/>
          </p:nvPr>
        </p:nvSpPr>
        <p:spPr/>
        <p:txBody>
          <a:bodyPr/>
          <a:lstStyle/>
          <a:p>
            <a:r>
              <a:rPr lang="en-GB" noProof="0" dirty="0"/>
              <a:t>Malware</a:t>
            </a:r>
          </a:p>
        </p:txBody>
      </p:sp>
    </p:spTree>
    <p:extLst>
      <p:ext uri="{BB962C8B-B14F-4D97-AF65-F5344CB8AC3E}">
        <p14:creationId xmlns:p14="http://schemas.microsoft.com/office/powerpoint/2010/main" val="28507783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030B7A-8066-91D9-69EB-33ECDC9E65AE}"/>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3FC47C5-D1D3-B993-0C15-07B987E529E4}"/>
              </a:ext>
            </a:extLst>
          </p:cNvPr>
          <p:cNvSpPr>
            <a:spLocks noGrp="1"/>
          </p:cNvSpPr>
          <p:nvPr>
            <p:ph idx="1"/>
          </p:nvPr>
        </p:nvSpPr>
        <p:spPr/>
        <p:txBody>
          <a:bodyPr>
            <a:normAutofit fontScale="92500" lnSpcReduction="20000"/>
          </a:bodyPr>
          <a:lstStyle/>
          <a:p>
            <a:r>
              <a:rPr lang="en-GB" sz="3200" noProof="0" dirty="0"/>
              <a:t>You come across a website offering free downloads of expensive software. The website looks a bit unprofessional and your browser gives a warning that the site might not be secure.</a:t>
            </a:r>
          </a:p>
          <a:p>
            <a:r>
              <a:rPr lang="en-GB" sz="3200" noProof="0" dirty="0"/>
              <a:t>Why might downloading software from an untrusted website be risky and what should you do to stay safe?</a:t>
            </a:r>
          </a:p>
          <a:p>
            <a:r>
              <a:rPr lang="en-GB" sz="3200" b="1" noProof="0" dirty="0">
                <a:solidFill>
                  <a:srgbClr val="C00000"/>
                </a:solidFill>
              </a:rPr>
              <a:t>Avoid downloading software from untrusted websites, as it could install harmful malware on your computer or steal your personal information. To stay safe, only download software from official or verified sources, such as the company’s own website or trusted app stores.</a:t>
            </a:r>
          </a:p>
        </p:txBody>
      </p:sp>
      <p:sp>
        <p:nvSpPr>
          <p:cNvPr id="2" name="Title 1">
            <a:extLst>
              <a:ext uri="{FF2B5EF4-FFF2-40B4-BE49-F238E27FC236}">
                <a16:creationId xmlns:a16="http://schemas.microsoft.com/office/drawing/2014/main" id="{6A12692B-4226-1012-6310-68BC0412188B}"/>
              </a:ext>
            </a:extLst>
          </p:cNvPr>
          <p:cNvSpPr>
            <a:spLocks noGrp="1"/>
          </p:cNvSpPr>
          <p:nvPr>
            <p:ph type="title"/>
          </p:nvPr>
        </p:nvSpPr>
        <p:spPr/>
        <p:txBody>
          <a:bodyPr/>
          <a:lstStyle/>
          <a:p>
            <a:r>
              <a:rPr lang="en-GB" noProof="0" dirty="0"/>
              <a:t>Malware</a:t>
            </a:r>
          </a:p>
        </p:txBody>
      </p:sp>
    </p:spTree>
    <p:extLst>
      <p:ext uri="{BB962C8B-B14F-4D97-AF65-F5344CB8AC3E}">
        <p14:creationId xmlns:p14="http://schemas.microsoft.com/office/powerpoint/2010/main" val="15780380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F4EDDF-DA3A-23EB-AF41-ED5529DB04E8}"/>
              </a:ext>
            </a:extLst>
          </p:cNvPr>
          <p:cNvSpPr>
            <a:spLocks noGrp="1"/>
          </p:cNvSpPr>
          <p:nvPr>
            <p:ph type="title"/>
          </p:nvPr>
        </p:nvSpPr>
        <p:spPr/>
        <p:txBody>
          <a:bodyPr/>
          <a:lstStyle/>
          <a:p>
            <a:r>
              <a:rPr lang="en-GB" noProof="0" dirty="0"/>
              <a:t>Malware</a:t>
            </a:r>
          </a:p>
        </p:txBody>
      </p:sp>
      <p:sp>
        <p:nvSpPr>
          <p:cNvPr id="3" name="Content Placeholder 2">
            <a:extLst>
              <a:ext uri="{FF2B5EF4-FFF2-40B4-BE49-F238E27FC236}">
                <a16:creationId xmlns:a16="http://schemas.microsoft.com/office/drawing/2014/main" id="{37C15442-47A6-8269-B2FC-CDAB290F753D}"/>
              </a:ext>
            </a:extLst>
          </p:cNvPr>
          <p:cNvSpPr>
            <a:spLocks noGrp="1"/>
          </p:cNvSpPr>
          <p:nvPr>
            <p:ph idx="1"/>
          </p:nvPr>
        </p:nvSpPr>
        <p:spPr/>
        <p:txBody>
          <a:bodyPr/>
          <a:lstStyle/>
          <a:p>
            <a:r>
              <a:rPr lang="en-GB" b="1" noProof="0" dirty="0">
                <a:solidFill>
                  <a:srgbClr val="C00000"/>
                </a:solidFill>
              </a:rPr>
              <a:t>Malware</a:t>
            </a:r>
            <a:r>
              <a:rPr lang="en-GB" noProof="0" dirty="0"/>
              <a:t> is harmful software designed to damage or disrupt computers, steal data or gain unauthorised access to systems.</a:t>
            </a:r>
          </a:p>
          <a:p>
            <a:r>
              <a:rPr lang="en-GB" noProof="0" dirty="0"/>
              <a:t>It can spread through emails, downloads, USB sticks or even websites.</a:t>
            </a:r>
          </a:p>
          <a:p>
            <a:r>
              <a:rPr lang="en-GB" noProof="0" dirty="0"/>
              <a:t>Protecting yourself from malware is important to keep your data and devices safe.</a:t>
            </a:r>
          </a:p>
        </p:txBody>
      </p:sp>
    </p:spTree>
    <p:extLst>
      <p:ext uri="{BB962C8B-B14F-4D97-AF65-F5344CB8AC3E}">
        <p14:creationId xmlns:p14="http://schemas.microsoft.com/office/powerpoint/2010/main" val="29737744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06B386-0290-C850-FA9D-9A65A3FA483B}"/>
              </a:ext>
            </a:extLst>
          </p:cNvPr>
          <p:cNvSpPr>
            <a:spLocks noGrp="1"/>
          </p:cNvSpPr>
          <p:nvPr>
            <p:ph type="title"/>
          </p:nvPr>
        </p:nvSpPr>
        <p:spPr/>
        <p:txBody>
          <a:bodyPr/>
          <a:lstStyle/>
          <a:p>
            <a:r>
              <a:rPr lang="en-GB" noProof="0" dirty="0"/>
              <a:t>Malware</a:t>
            </a:r>
          </a:p>
        </p:txBody>
      </p:sp>
      <p:sp>
        <p:nvSpPr>
          <p:cNvPr id="3" name="Content Placeholder 2">
            <a:extLst>
              <a:ext uri="{FF2B5EF4-FFF2-40B4-BE49-F238E27FC236}">
                <a16:creationId xmlns:a16="http://schemas.microsoft.com/office/drawing/2014/main" id="{5A135CA9-2FA1-8D40-86D6-7A2A6A7ED003}"/>
              </a:ext>
            </a:extLst>
          </p:cNvPr>
          <p:cNvSpPr>
            <a:spLocks noGrp="1"/>
          </p:cNvSpPr>
          <p:nvPr>
            <p:ph idx="1"/>
          </p:nvPr>
        </p:nvSpPr>
        <p:spPr/>
        <p:txBody>
          <a:bodyPr/>
          <a:lstStyle/>
          <a:p>
            <a:r>
              <a:rPr lang="en-GB" b="1" noProof="0" dirty="0"/>
              <a:t>Viruses: </a:t>
            </a:r>
            <a:r>
              <a:rPr lang="en-GB" noProof="0" dirty="0"/>
              <a:t>Like as a human virus, it spreads from file to file or device to device. For example, a virus on a USB stick infecting your school computer.</a:t>
            </a:r>
          </a:p>
          <a:p>
            <a:r>
              <a:rPr lang="en-GB" b="1" noProof="0" dirty="0"/>
              <a:t>Ransomware: </a:t>
            </a:r>
            <a:r>
              <a:rPr lang="en-GB" noProof="0" dirty="0"/>
              <a:t>Locks your files and demands money to unlock them. For example, a business unable to access important documents unless they pay.</a:t>
            </a:r>
          </a:p>
        </p:txBody>
      </p:sp>
    </p:spTree>
    <p:extLst>
      <p:ext uri="{BB962C8B-B14F-4D97-AF65-F5344CB8AC3E}">
        <p14:creationId xmlns:p14="http://schemas.microsoft.com/office/powerpoint/2010/main" val="34090505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E8DF5D-A31B-153F-1E00-10C46DB5B3C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580D77B-BDA6-9390-CDA5-6CA75BE44E8D}"/>
              </a:ext>
            </a:extLst>
          </p:cNvPr>
          <p:cNvSpPr>
            <a:spLocks noGrp="1"/>
          </p:cNvSpPr>
          <p:nvPr>
            <p:ph type="title"/>
          </p:nvPr>
        </p:nvSpPr>
        <p:spPr/>
        <p:txBody>
          <a:bodyPr/>
          <a:lstStyle/>
          <a:p>
            <a:r>
              <a:rPr lang="en-GB" noProof="0" dirty="0"/>
              <a:t>Malware</a:t>
            </a:r>
          </a:p>
        </p:txBody>
      </p:sp>
      <p:sp>
        <p:nvSpPr>
          <p:cNvPr id="3" name="Content Placeholder 2">
            <a:extLst>
              <a:ext uri="{FF2B5EF4-FFF2-40B4-BE49-F238E27FC236}">
                <a16:creationId xmlns:a16="http://schemas.microsoft.com/office/drawing/2014/main" id="{0C1E7152-76B6-15F1-51DC-7FA1D69AA70E}"/>
              </a:ext>
            </a:extLst>
          </p:cNvPr>
          <p:cNvSpPr>
            <a:spLocks noGrp="1"/>
          </p:cNvSpPr>
          <p:nvPr>
            <p:ph idx="1"/>
          </p:nvPr>
        </p:nvSpPr>
        <p:spPr/>
        <p:txBody>
          <a:bodyPr/>
          <a:lstStyle/>
          <a:p>
            <a:r>
              <a:rPr lang="en-GB" b="1" noProof="0" dirty="0"/>
              <a:t>Trojans: </a:t>
            </a:r>
            <a:r>
              <a:rPr lang="en-GB" noProof="0" dirty="0"/>
              <a:t>Pretend to be useful software but secretly cause harm. For example, a fake game download that steals your passwords.</a:t>
            </a:r>
          </a:p>
          <a:p>
            <a:r>
              <a:rPr lang="en-GB" b="1" noProof="0" dirty="0"/>
              <a:t>Spyware: </a:t>
            </a:r>
            <a:r>
              <a:rPr lang="en-GB" noProof="0" dirty="0"/>
              <a:t>Secretly monitors what you do on your computer. For example, it might track your online activity to steal your bank details.</a:t>
            </a:r>
          </a:p>
        </p:txBody>
      </p:sp>
    </p:spTree>
    <p:extLst>
      <p:ext uri="{BB962C8B-B14F-4D97-AF65-F5344CB8AC3E}">
        <p14:creationId xmlns:p14="http://schemas.microsoft.com/office/powerpoint/2010/main" val="37858930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33C7E8A6-37BF-9512-57B0-11B6AD3AFCB6}"/>
              </a:ext>
            </a:extLst>
          </p:cNvPr>
          <p:cNvSpPr>
            <a:spLocks noGrp="1"/>
          </p:cNvSpPr>
          <p:nvPr>
            <p:ph idx="1"/>
          </p:nvPr>
        </p:nvSpPr>
        <p:spPr/>
        <p:txBody>
          <a:bodyPr>
            <a:normAutofit fontScale="92500"/>
          </a:bodyPr>
          <a:lstStyle/>
          <a:p>
            <a:pPr>
              <a:lnSpc>
                <a:spcPct val="100000"/>
              </a:lnSpc>
            </a:pPr>
            <a:r>
              <a:rPr lang="en-GB" noProof="0" dirty="0"/>
              <a:t>You are a malware detective tasked with solving four cybercrime cases. Each case involves a different type of malware.</a:t>
            </a:r>
          </a:p>
          <a:p>
            <a:pPr>
              <a:lnSpc>
                <a:spcPct val="100000"/>
              </a:lnSpc>
            </a:pPr>
            <a:r>
              <a:rPr lang="en-GB" noProof="0" dirty="0"/>
              <a:t>Read the clues on the worksheet and answer the questions to identify the type of malware and explain your reasoning.</a:t>
            </a:r>
          </a:p>
          <a:p>
            <a:pPr>
              <a:lnSpc>
                <a:spcPct val="100000"/>
              </a:lnSpc>
            </a:pPr>
            <a:r>
              <a:rPr lang="en-GB" noProof="0" dirty="0"/>
              <a:t>Then, suggest a solution or precaution to help prevent the attack from happening again.</a:t>
            </a:r>
          </a:p>
        </p:txBody>
      </p:sp>
      <p:sp>
        <p:nvSpPr>
          <p:cNvPr id="2" name="Title 1">
            <a:extLst>
              <a:ext uri="{FF2B5EF4-FFF2-40B4-BE49-F238E27FC236}">
                <a16:creationId xmlns:a16="http://schemas.microsoft.com/office/drawing/2014/main" id="{B4D7CD02-A60B-E789-22E5-2B2FAC3055C8}"/>
              </a:ext>
            </a:extLst>
          </p:cNvPr>
          <p:cNvSpPr>
            <a:spLocks noGrp="1"/>
          </p:cNvSpPr>
          <p:nvPr>
            <p:ph type="title"/>
          </p:nvPr>
        </p:nvSpPr>
        <p:spPr/>
        <p:txBody>
          <a:bodyPr/>
          <a:lstStyle/>
          <a:p>
            <a:r>
              <a:rPr lang="en-GB" noProof="0" dirty="0"/>
              <a:t>1: Malware</a:t>
            </a:r>
          </a:p>
        </p:txBody>
      </p:sp>
    </p:spTree>
    <p:extLst>
      <p:ext uri="{BB962C8B-B14F-4D97-AF65-F5344CB8AC3E}">
        <p14:creationId xmlns:p14="http://schemas.microsoft.com/office/powerpoint/2010/main" val="30496535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DC81655-7437-7ECC-56B8-0E7C6A5AD263}"/>
              </a:ext>
            </a:extLst>
          </p:cNvPr>
          <p:cNvSpPr>
            <a:spLocks noGrp="1"/>
          </p:cNvSpPr>
          <p:nvPr>
            <p:ph idx="1"/>
          </p:nvPr>
        </p:nvSpPr>
        <p:spPr/>
        <p:txBody>
          <a:bodyPr>
            <a:normAutofit fontScale="77500" lnSpcReduction="20000"/>
          </a:bodyPr>
          <a:lstStyle/>
          <a:p>
            <a:pPr>
              <a:spcAft>
                <a:spcPts val="600"/>
              </a:spcAft>
            </a:pPr>
            <a:r>
              <a:rPr lang="en-GB" b="1" noProof="0" dirty="0"/>
              <a:t>Case 1: The School Network Shutdown</a:t>
            </a:r>
          </a:p>
          <a:p>
            <a:pPr>
              <a:spcAft>
                <a:spcPts val="600"/>
              </a:spcAft>
            </a:pPr>
            <a:r>
              <a:rPr lang="en-GB" noProof="0" dirty="0"/>
              <a:t>What type of malware is responsible for this attack?</a:t>
            </a:r>
          </a:p>
          <a:p>
            <a:pPr>
              <a:spcAft>
                <a:spcPts val="600"/>
              </a:spcAft>
            </a:pPr>
            <a:r>
              <a:rPr lang="en-GB" b="1" noProof="0" dirty="0">
                <a:solidFill>
                  <a:srgbClr val="C00000"/>
                </a:solidFill>
              </a:rPr>
              <a:t>A virus.</a:t>
            </a:r>
          </a:p>
          <a:p>
            <a:pPr>
              <a:spcAft>
                <a:spcPts val="600"/>
              </a:spcAft>
            </a:pPr>
            <a:r>
              <a:rPr lang="en-GB" noProof="0" dirty="0"/>
              <a:t>Explain how this malware works and why it caused the school network to shut down.</a:t>
            </a:r>
          </a:p>
          <a:p>
            <a:pPr>
              <a:spcAft>
                <a:spcPts val="600"/>
              </a:spcAft>
            </a:pPr>
            <a:r>
              <a:rPr lang="en-GB" b="1" noProof="0" dirty="0">
                <a:solidFill>
                  <a:srgbClr val="C00000"/>
                </a:solidFill>
              </a:rPr>
              <a:t>A virus spreads between files or devices. It can cause errors and slow down the system, which may lead to the network shutting down.</a:t>
            </a:r>
          </a:p>
          <a:p>
            <a:pPr>
              <a:spcAft>
                <a:spcPts val="600"/>
              </a:spcAft>
            </a:pPr>
            <a:r>
              <a:rPr lang="en-GB" noProof="0" dirty="0"/>
              <a:t>What steps could the school take to prevent this from happening again?</a:t>
            </a:r>
          </a:p>
          <a:p>
            <a:pPr>
              <a:spcAft>
                <a:spcPts val="600"/>
              </a:spcAft>
            </a:pPr>
            <a:r>
              <a:rPr lang="en-GB" b="1" noProof="0" dirty="0">
                <a:solidFill>
                  <a:srgbClr val="C00000"/>
                </a:solidFill>
              </a:rPr>
              <a:t>The school should use antivirus software and make sure that no one plugs in unknown USB sticks.</a:t>
            </a:r>
          </a:p>
        </p:txBody>
      </p:sp>
      <p:sp>
        <p:nvSpPr>
          <p:cNvPr id="3" name="Title 2">
            <a:extLst>
              <a:ext uri="{FF2B5EF4-FFF2-40B4-BE49-F238E27FC236}">
                <a16:creationId xmlns:a16="http://schemas.microsoft.com/office/drawing/2014/main" id="{178CFB4E-6EE9-D693-75C7-D5AE4A387539}"/>
              </a:ext>
            </a:extLst>
          </p:cNvPr>
          <p:cNvSpPr>
            <a:spLocks noGrp="1"/>
          </p:cNvSpPr>
          <p:nvPr>
            <p:ph type="title"/>
          </p:nvPr>
        </p:nvSpPr>
        <p:spPr/>
        <p:txBody>
          <a:bodyPr/>
          <a:lstStyle/>
          <a:p>
            <a:r>
              <a:rPr lang="en-GB" noProof="0" dirty="0"/>
              <a:t>1: Malware </a:t>
            </a:r>
            <a:r>
              <a:rPr lang="en-GB" noProof="0" dirty="0">
                <a:solidFill>
                  <a:srgbClr val="C00000"/>
                </a:solidFill>
              </a:rPr>
              <a:t>ANSWERS</a:t>
            </a:r>
          </a:p>
        </p:txBody>
      </p:sp>
    </p:spTree>
    <p:extLst>
      <p:ext uri="{BB962C8B-B14F-4D97-AF65-F5344CB8AC3E}">
        <p14:creationId xmlns:p14="http://schemas.microsoft.com/office/powerpoint/2010/main" val="32060976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2" end="2"/>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
                                            <p:txEl>
                                              <p:pRg st="4" end="4"/>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94D284-4076-F348-1A30-97FC743335EE}"/>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BFE0043-138E-8AE5-00BB-838FD84DE4E9}"/>
              </a:ext>
            </a:extLst>
          </p:cNvPr>
          <p:cNvSpPr>
            <a:spLocks noGrp="1"/>
          </p:cNvSpPr>
          <p:nvPr>
            <p:ph idx="1"/>
          </p:nvPr>
        </p:nvSpPr>
        <p:spPr/>
        <p:txBody>
          <a:bodyPr>
            <a:noAutofit/>
          </a:bodyPr>
          <a:lstStyle/>
          <a:p>
            <a:pPr>
              <a:lnSpc>
                <a:spcPct val="70000"/>
              </a:lnSpc>
              <a:spcAft>
                <a:spcPts val="600"/>
              </a:spcAft>
            </a:pPr>
            <a:r>
              <a:rPr lang="en-GB" sz="2400" b="1" noProof="0" dirty="0"/>
              <a:t>Case 2: The Locked Files Mystery</a:t>
            </a:r>
          </a:p>
          <a:p>
            <a:pPr>
              <a:lnSpc>
                <a:spcPct val="70000"/>
              </a:lnSpc>
              <a:spcAft>
                <a:spcPts val="600"/>
              </a:spcAft>
            </a:pPr>
            <a:r>
              <a:rPr lang="en-GB" sz="2400" noProof="0" dirty="0"/>
              <a:t>What type of malware is responsible for this attack?</a:t>
            </a:r>
          </a:p>
          <a:p>
            <a:pPr>
              <a:lnSpc>
                <a:spcPct val="70000"/>
              </a:lnSpc>
              <a:spcAft>
                <a:spcPts val="600"/>
              </a:spcAft>
            </a:pPr>
            <a:r>
              <a:rPr lang="en-GB" sz="2400" b="1" noProof="0" dirty="0">
                <a:solidFill>
                  <a:srgbClr val="C00000"/>
                </a:solidFill>
              </a:rPr>
              <a:t>Ransomware.</a:t>
            </a:r>
          </a:p>
          <a:p>
            <a:pPr>
              <a:lnSpc>
                <a:spcPct val="70000"/>
              </a:lnSpc>
              <a:spcAft>
                <a:spcPts val="600"/>
              </a:spcAft>
            </a:pPr>
            <a:r>
              <a:rPr lang="en-GB" sz="2400" noProof="0" dirty="0"/>
              <a:t>Explain why this malware is effective and what damage it can cause.</a:t>
            </a:r>
          </a:p>
          <a:p>
            <a:pPr>
              <a:lnSpc>
                <a:spcPct val="70000"/>
              </a:lnSpc>
              <a:spcAft>
                <a:spcPts val="600"/>
              </a:spcAft>
            </a:pPr>
            <a:r>
              <a:rPr lang="en-GB" sz="2400" b="1" noProof="0" dirty="0">
                <a:solidFill>
                  <a:srgbClr val="C00000"/>
                </a:solidFill>
              </a:rPr>
              <a:t>Ransomware locks files and demands payment to unlock them, which makes important data inaccessible. This is effective because people or businesses may feel they have no choice but to pay to get their files back.</a:t>
            </a:r>
          </a:p>
          <a:p>
            <a:pPr>
              <a:lnSpc>
                <a:spcPct val="70000"/>
              </a:lnSpc>
              <a:spcAft>
                <a:spcPts val="600"/>
              </a:spcAft>
            </a:pPr>
            <a:r>
              <a:rPr lang="en-GB" sz="2400" noProof="0" dirty="0"/>
              <a:t>What advice would you give the business to recover their files and avoid this in the future?</a:t>
            </a:r>
          </a:p>
          <a:p>
            <a:pPr>
              <a:lnSpc>
                <a:spcPct val="70000"/>
              </a:lnSpc>
              <a:spcAft>
                <a:spcPts val="600"/>
              </a:spcAft>
            </a:pPr>
            <a:r>
              <a:rPr lang="en-GB" sz="2400" b="1" noProof="0" dirty="0">
                <a:solidFill>
                  <a:srgbClr val="C00000"/>
                </a:solidFill>
              </a:rPr>
              <a:t>The business should use regular backups so they can restore their files without paying the ransom. They should also install strong security software and train staff to avoid suspicious links or attachments.</a:t>
            </a:r>
          </a:p>
        </p:txBody>
      </p:sp>
      <p:sp>
        <p:nvSpPr>
          <p:cNvPr id="3" name="Title 2">
            <a:extLst>
              <a:ext uri="{FF2B5EF4-FFF2-40B4-BE49-F238E27FC236}">
                <a16:creationId xmlns:a16="http://schemas.microsoft.com/office/drawing/2014/main" id="{BEAD2340-16FC-7528-3DD3-2811D4F29C3A}"/>
              </a:ext>
            </a:extLst>
          </p:cNvPr>
          <p:cNvSpPr>
            <a:spLocks noGrp="1"/>
          </p:cNvSpPr>
          <p:nvPr>
            <p:ph type="title"/>
          </p:nvPr>
        </p:nvSpPr>
        <p:spPr/>
        <p:txBody>
          <a:bodyPr/>
          <a:lstStyle/>
          <a:p>
            <a:r>
              <a:rPr lang="en-GB" noProof="0" dirty="0"/>
              <a:t>1: Malware </a:t>
            </a:r>
            <a:r>
              <a:rPr lang="en-GB" noProof="0" dirty="0">
                <a:solidFill>
                  <a:srgbClr val="C00000"/>
                </a:solidFill>
              </a:rPr>
              <a:t>ANSWERS</a:t>
            </a:r>
          </a:p>
        </p:txBody>
      </p:sp>
    </p:spTree>
    <p:extLst>
      <p:ext uri="{BB962C8B-B14F-4D97-AF65-F5344CB8AC3E}">
        <p14:creationId xmlns:p14="http://schemas.microsoft.com/office/powerpoint/2010/main" val="170318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2" end="2"/>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
                                            <p:txEl>
                                              <p:pRg st="4" end="4"/>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86997D-958A-08BB-AA7B-2B9331501BD7}"/>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BC2652A1-E2A3-900F-1696-C213BF3FB5C5}"/>
              </a:ext>
            </a:extLst>
          </p:cNvPr>
          <p:cNvSpPr>
            <a:spLocks noGrp="1"/>
          </p:cNvSpPr>
          <p:nvPr>
            <p:ph idx="1"/>
          </p:nvPr>
        </p:nvSpPr>
        <p:spPr/>
        <p:txBody>
          <a:bodyPr>
            <a:noAutofit/>
          </a:bodyPr>
          <a:lstStyle/>
          <a:p>
            <a:pPr>
              <a:lnSpc>
                <a:spcPct val="70000"/>
              </a:lnSpc>
              <a:spcAft>
                <a:spcPts val="600"/>
              </a:spcAft>
            </a:pPr>
            <a:r>
              <a:rPr lang="en-GB" sz="2400" b="1" noProof="0" dirty="0"/>
              <a:t>Case 3: The Fake Game Trap</a:t>
            </a:r>
          </a:p>
          <a:p>
            <a:pPr>
              <a:lnSpc>
                <a:spcPct val="70000"/>
              </a:lnSpc>
              <a:spcAft>
                <a:spcPts val="600"/>
              </a:spcAft>
            </a:pPr>
            <a:r>
              <a:rPr lang="en-GB" sz="2400" noProof="0" dirty="0"/>
              <a:t>What type of malware is responsible for this attack?</a:t>
            </a:r>
          </a:p>
          <a:p>
            <a:pPr>
              <a:lnSpc>
                <a:spcPct val="70000"/>
              </a:lnSpc>
              <a:spcAft>
                <a:spcPts val="600"/>
              </a:spcAft>
            </a:pPr>
            <a:r>
              <a:rPr lang="en-GB" sz="2400" b="1" noProof="0" dirty="0">
                <a:solidFill>
                  <a:srgbClr val="C00000"/>
                </a:solidFill>
              </a:rPr>
              <a:t>A trojan.</a:t>
            </a:r>
          </a:p>
          <a:p>
            <a:pPr>
              <a:lnSpc>
                <a:spcPct val="70000"/>
              </a:lnSpc>
              <a:spcAft>
                <a:spcPts val="600"/>
              </a:spcAft>
            </a:pPr>
            <a:r>
              <a:rPr lang="en-GB" sz="2400" noProof="0" dirty="0"/>
              <a:t>Explain how this malware tricked the student and what damage it caused.</a:t>
            </a:r>
          </a:p>
          <a:p>
            <a:pPr>
              <a:lnSpc>
                <a:spcPct val="70000"/>
              </a:lnSpc>
              <a:spcAft>
                <a:spcPts val="600"/>
              </a:spcAft>
            </a:pPr>
            <a:r>
              <a:rPr lang="en-GB" sz="2400" b="1" noProof="0" dirty="0">
                <a:solidFill>
                  <a:srgbClr val="C00000"/>
                </a:solidFill>
              </a:rPr>
              <a:t>The trojan pretended to be a game, so the student thought it was safe to download. Once installed, it stole passwords and made the computer run slowly.</a:t>
            </a:r>
          </a:p>
          <a:p>
            <a:pPr>
              <a:lnSpc>
                <a:spcPct val="70000"/>
              </a:lnSpc>
              <a:spcAft>
                <a:spcPts val="600"/>
              </a:spcAft>
            </a:pPr>
            <a:r>
              <a:rPr lang="en-GB" sz="2400" noProof="0" dirty="0"/>
              <a:t>What should the student do to protect their computer and personal information?</a:t>
            </a:r>
          </a:p>
          <a:p>
            <a:pPr>
              <a:lnSpc>
                <a:spcPct val="70000"/>
              </a:lnSpc>
              <a:spcAft>
                <a:spcPts val="600"/>
              </a:spcAft>
            </a:pPr>
            <a:r>
              <a:rPr lang="en-GB" sz="2400" b="1" noProof="0" dirty="0">
                <a:solidFill>
                  <a:srgbClr val="C00000"/>
                </a:solidFill>
              </a:rPr>
              <a:t>The student should only download software from trusted websites and check reviews before installing anything. They should also use security software and avoid clicking on suspicious links or adverts.</a:t>
            </a:r>
          </a:p>
        </p:txBody>
      </p:sp>
      <p:sp>
        <p:nvSpPr>
          <p:cNvPr id="3" name="Title 2">
            <a:extLst>
              <a:ext uri="{FF2B5EF4-FFF2-40B4-BE49-F238E27FC236}">
                <a16:creationId xmlns:a16="http://schemas.microsoft.com/office/drawing/2014/main" id="{FF310869-05F3-3665-739E-157DFE36C9B7}"/>
              </a:ext>
            </a:extLst>
          </p:cNvPr>
          <p:cNvSpPr>
            <a:spLocks noGrp="1"/>
          </p:cNvSpPr>
          <p:nvPr>
            <p:ph type="title"/>
          </p:nvPr>
        </p:nvSpPr>
        <p:spPr/>
        <p:txBody>
          <a:bodyPr/>
          <a:lstStyle/>
          <a:p>
            <a:r>
              <a:rPr lang="en-GB" noProof="0" dirty="0"/>
              <a:t>1: Malware </a:t>
            </a:r>
            <a:r>
              <a:rPr lang="en-GB" noProof="0" dirty="0">
                <a:solidFill>
                  <a:srgbClr val="C00000"/>
                </a:solidFill>
              </a:rPr>
              <a:t>ANSWERS</a:t>
            </a:r>
          </a:p>
        </p:txBody>
      </p:sp>
    </p:spTree>
    <p:extLst>
      <p:ext uri="{BB962C8B-B14F-4D97-AF65-F5344CB8AC3E}">
        <p14:creationId xmlns:p14="http://schemas.microsoft.com/office/powerpoint/2010/main" val="26947465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2" end="2"/>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
                                            <p:txEl>
                                              <p:pRg st="4" end="4"/>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95EF68-C17B-36BD-B6AD-7163CCC0C3E5}"/>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BF60730-6C0C-A5A0-5ECA-08BB89757143}"/>
              </a:ext>
            </a:extLst>
          </p:cNvPr>
          <p:cNvSpPr>
            <a:spLocks noGrp="1"/>
          </p:cNvSpPr>
          <p:nvPr>
            <p:ph idx="1"/>
          </p:nvPr>
        </p:nvSpPr>
        <p:spPr/>
        <p:txBody>
          <a:bodyPr>
            <a:noAutofit/>
          </a:bodyPr>
          <a:lstStyle/>
          <a:p>
            <a:pPr>
              <a:lnSpc>
                <a:spcPct val="70000"/>
              </a:lnSpc>
              <a:spcAft>
                <a:spcPts val="600"/>
              </a:spcAft>
            </a:pPr>
            <a:r>
              <a:rPr lang="en-GB" sz="2400" b="1" noProof="0" dirty="0"/>
              <a:t>Case 4: The Sneaky Spy</a:t>
            </a:r>
          </a:p>
          <a:p>
            <a:pPr>
              <a:lnSpc>
                <a:spcPct val="70000"/>
              </a:lnSpc>
              <a:spcAft>
                <a:spcPts val="600"/>
              </a:spcAft>
            </a:pPr>
            <a:r>
              <a:rPr lang="en-GB" sz="2400" noProof="0" dirty="0"/>
              <a:t>What type of malware is responsible for this attack?</a:t>
            </a:r>
          </a:p>
          <a:p>
            <a:pPr>
              <a:lnSpc>
                <a:spcPct val="70000"/>
              </a:lnSpc>
              <a:spcAft>
                <a:spcPts val="600"/>
              </a:spcAft>
            </a:pPr>
            <a:r>
              <a:rPr lang="en-GB" sz="2400" b="1" noProof="0" dirty="0">
                <a:solidFill>
                  <a:srgbClr val="C00000"/>
                </a:solidFill>
              </a:rPr>
              <a:t>Spyware.</a:t>
            </a:r>
          </a:p>
          <a:p>
            <a:pPr>
              <a:lnSpc>
                <a:spcPct val="70000"/>
              </a:lnSpc>
              <a:spcAft>
                <a:spcPts val="600"/>
              </a:spcAft>
            </a:pPr>
            <a:r>
              <a:rPr lang="en-GB" sz="2400" noProof="0" dirty="0"/>
              <a:t>Explain how this malware operates and why it is dangerous.</a:t>
            </a:r>
          </a:p>
          <a:p>
            <a:pPr>
              <a:lnSpc>
                <a:spcPct val="70000"/>
              </a:lnSpc>
              <a:spcAft>
                <a:spcPts val="600"/>
              </a:spcAft>
            </a:pPr>
            <a:r>
              <a:rPr lang="en-GB" sz="2400" b="1" noProof="0" dirty="0">
                <a:solidFill>
                  <a:srgbClr val="C00000"/>
                </a:solidFill>
              </a:rPr>
              <a:t>Spyware secretly tracks what you do on your computer and can steal personal information such as passwords. This is dangerous because someone could use your details to access your accounts or steal your identity.</a:t>
            </a:r>
          </a:p>
          <a:p>
            <a:pPr>
              <a:lnSpc>
                <a:spcPct val="70000"/>
              </a:lnSpc>
              <a:spcAft>
                <a:spcPts val="600"/>
              </a:spcAft>
            </a:pPr>
            <a:r>
              <a:rPr lang="en-GB" sz="2400" noProof="0" dirty="0"/>
              <a:t>What tools or actions can the teacher use to detect and remove this malware?</a:t>
            </a:r>
          </a:p>
          <a:p>
            <a:pPr>
              <a:lnSpc>
                <a:spcPct val="70000"/>
              </a:lnSpc>
              <a:spcAft>
                <a:spcPts val="600"/>
              </a:spcAft>
            </a:pPr>
            <a:r>
              <a:rPr lang="en-GB" sz="2400" b="1" noProof="0" dirty="0">
                <a:solidFill>
                  <a:srgbClr val="C00000"/>
                </a:solidFill>
              </a:rPr>
              <a:t>The teacher should use anti-spyware software and regularly check for unusual activity on the computer, such as unexpected pop-ups or changes to settings. Keeping software up to date also helps protect against spyware.</a:t>
            </a:r>
          </a:p>
        </p:txBody>
      </p:sp>
      <p:sp>
        <p:nvSpPr>
          <p:cNvPr id="3" name="Title 2">
            <a:extLst>
              <a:ext uri="{FF2B5EF4-FFF2-40B4-BE49-F238E27FC236}">
                <a16:creationId xmlns:a16="http://schemas.microsoft.com/office/drawing/2014/main" id="{92A6E0F2-4F65-1357-5020-700C1BF058F8}"/>
              </a:ext>
            </a:extLst>
          </p:cNvPr>
          <p:cNvSpPr>
            <a:spLocks noGrp="1"/>
          </p:cNvSpPr>
          <p:nvPr>
            <p:ph type="title"/>
          </p:nvPr>
        </p:nvSpPr>
        <p:spPr/>
        <p:txBody>
          <a:bodyPr/>
          <a:lstStyle/>
          <a:p>
            <a:r>
              <a:rPr lang="en-GB" noProof="0" dirty="0"/>
              <a:t>1: Malware </a:t>
            </a:r>
            <a:r>
              <a:rPr lang="en-GB" noProof="0" dirty="0">
                <a:solidFill>
                  <a:srgbClr val="C00000"/>
                </a:solidFill>
              </a:rPr>
              <a:t>ANSWERS</a:t>
            </a:r>
          </a:p>
        </p:txBody>
      </p:sp>
    </p:spTree>
    <p:extLst>
      <p:ext uri="{BB962C8B-B14F-4D97-AF65-F5344CB8AC3E}">
        <p14:creationId xmlns:p14="http://schemas.microsoft.com/office/powerpoint/2010/main" val="8513018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2" end="2"/>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
                                            <p:txEl>
                                              <p:pRg st="4" end="4"/>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E3F290-2486-C745-C789-9832D69A5285}"/>
            </a:ext>
          </a:extLst>
        </p:cNvPr>
        <p:cNvGrpSpPr/>
        <p:nvPr/>
      </p:nvGrpSpPr>
      <p:grpSpPr>
        <a:xfrm>
          <a:off x="0" y="0"/>
          <a:ext cx="0" cy="0"/>
          <a:chOff x="0" y="0"/>
          <a:chExt cx="0" cy="0"/>
        </a:xfrm>
      </p:grpSpPr>
      <p:sp>
        <p:nvSpPr>
          <p:cNvPr id="6" name="Rectangle: Rounded Corners 5">
            <a:extLst>
              <a:ext uri="{FF2B5EF4-FFF2-40B4-BE49-F238E27FC236}">
                <a16:creationId xmlns:a16="http://schemas.microsoft.com/office/drawing/2014/main" id="{79F143D7-BEEC-A600-08BC-988D4DB455F0}"/>
              </a:ext>
            </a:extLst>
          </p:cNvPr>
          <p:cNvSpPr/>
          <p:nvPr/>
        </p:nvSpPr>
        <p:spPr>
          <a:xfrm>
            <a:off x="413992" y="2281505"/>
            <a:ext cx="11364016" cy="763571"/>
          </a:xfrm>
          <a:prstGeom prst="round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2" name="Title 1">
            <a:extLst>
              <a:ext uri="{FF2B5EF4-FFF2-40B4-BE49-F238E27FC236}">
                <a16:creationId xmlns:a16="http://schemas.microsoft.com/office/drawing/2014/main" id="{259B4DEB-207C-F5FB-5972-D72DE8E69454}"/>
              </a:ext>
            </a:extLst>
          </p:cNvPr>
          <p:cNvSpPr>
            <a:spLocks noGrp="1"/>
          </p:cNvSpPr>
          <p:nvPr>
            <p:ph type="title"/>
          </p:nvPr>
        </p:nvSpPr>
        <p:spPr/>
        <p:txBody>
          <a:bodyPr/>
          <a:lstStyle/>
          <a:p>
            <a:r>
              <a:rPr lang="en-GB" noProof="0" dirty="0"/>
              <a:t>Steps to success</a:t>
            </a:r>
          </a:p>
        </p:txBody>
      </p:sp>
      <p:sp>
        <p:nvSpPr>
          <p:cNvPr id="3" name="Content Placeholder 2">
            <a:extLst>
              <a:ext uri="{FF2B5EF4-FFF2-40B4-BE49-F238E27FC236}">
                <a16:creationId xmlns:a16="http://schemas.microsoft.com/office/drawing/2014/main" id="{75C38835-4514-30EB-AC6A-51102B27888F}"/>
              </a:ext>
            </a:extLst>
          </p:cNvPr>
          <p:cNvSpPr>
            <a:spLocks noGrp="1"/>
          </p:cNvSpPr>
          <p:nvPr>
            <p:ph idx="1"/>
          </p:nvPr>
        </p:nvSpPr>
        <p:spPr>
          <a:xfrm>
            <a:off x="413992" y="1581149"/>
            <a:ext cx="10749308" cy="4685481"/>
          </a:xfrm>
        </p:spPr>
        <p:txBody>
          <a:bodyPr/>
          <a:lstStyle/>
          <a:p>
            <a:pPr marL="809625" indent="-723900">
              <a:buClr>
                <a:srgbClr val="C00000"/>
              </a:buClr>
              <a:buSzPct val="107000"/>
              <a:buFont typeface="+mj-lt"/>
              <a:buAutoNum type="arabicPeriod"/>
            </a:pPr>
            <a:r>
              <a:rPr lang="en-GB" sz="3600" noProof="0" dirty="0"/>
              <a:t>Malware</a:t>
            </a:r>
          </a:p>
          <a:p>
            <a:pPr marL="809625" indent="-723900">
              <a:buClr>
                <a:srgbClr val="C00000"/>
              </a:buClr>
              <a:buSzPct val="107000"/>
              <a:buFont typeface="+mj-lt"/>
              <a:buAutoNum type="arabicPeriod"/>
            </a:pPr>
            <a:r>
              <a:rPr lang="en-GB" sz="3600" noProof="0" dirty="0"/>
              <a:t>Social engineering</a:t>
            </a:r>
          </a:p>
          <a:p>
            <a:pPr marL="809625" indent="-723900">
              <a:buClr>
                <a:srgbClr val="C00000"/>
              </a:buClr>
              <a:buSzPct val="107000"/>
              <a:buFont typeface="+mj-lt"/>
              <a:buAutoNum type="arabicPeriod"/>
            </a:pPr>
            <a:r>
              <a:rPr lang="en-GB" sz="3600" noProof="0" dirty="0"/>
              <a:t>Hacking</a:t>
            </a:r>
          </a:p>
          <a:p>
            <a:endParaRPr lang="en-GB" noProof="0" dirty="0"/>
          </a:p>
        </p:txBody>
      </p:sp>
    </p:spTree>
    <p:extLst>
      <p:ext uri="{BB962C8B-B14F-4D97-AF65-F5344CB8AC3E}">
        <p14:creationId xmlns:p14="http://schemas.microsoft.com/office/powerpoint/2010/main" val="5471602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EF6608-9169-34D8-A2D3-183F3F9F30A4}"/>
              </a:ext>
            </a:extLst>
          </p:cNvPr>
          <p:cNvSpPr>
            <a:spLocks noGrp="1"/>
          </p:cNvSpPr>
          <p:nvPr>
            <p:ph type="title"/>
          </p:nvPr>
        </p:nvSpPr>
        <p:spPr/>
        <p:txBody>
          <a:bodyPr/>
          <a:lstStyle/>
          <a:p>
            <a:r>
              <a:rPr lang="en-GB" noProof="0" dirty="0"/>
              <a:t>Social engineering</a:t>
            </a:r>
          </a:p>
        </p:txBody>
      </p:sp>
      <p:sp>
        <p:nvSpPr>
          <p:cNvPr id="3" name="Content Placeholder 2">
            <a:extLst>
              <a:ext uri="{FF2B5EF4-FFF2-40B4-BE49-F238E27FC236}">
                <a16:creationId xmlns:a16="http://schemas.microsoft.com/office/drawing/2014/main" id="{A4BC3781-C30A-D4E1-79D5-C3AB48C9222B}"/>
              </a:ext>
            </a:extLst>
          </p:cNvPr>
          <p:cNvSpPr>
            <a:spLocks noGrp="1"/>
          </p:cNvSpPr>
          <p:nvPr>
            <p:ph idx="1"/>
          </p:nvPr>
        </p:nvSpPr>
        <p:spPr/>
        <p:txBody>
          <a:bodyPr/>
          <a:lstStyle/>
          <a:p>
            <a:r>
              <a:rPr lang="en-GB" b="1" noProof="0" dirty="0">
                <a:solidFill>
                  <a:srgbClr val="C00000"/>
                </a:solidFill>
              </a:rPr>
              <a:t>Social engineering </a:t>
            </a:r>
            <a:r>
              <a:rPr lang="en-GB" noProof="0" dirty="0"/>
              <a:t>is when someone tricks or manipulates people into sharing personal information or doing something they shouldn’t, such as giving away passwords or clicking on harmful links.</a:t>
            </a:r>
          </a:p>
          <a:p>
            <a:r>
              <a:rPr lang="en-GB" noProof="0" dirty="0"/>
              <a:t>It often relies on emotions such as fear, trust or urgency, to make people act quickly without thinking.</a:t>
            </a:r>
          </a:p>
        </p:txBody>
      </p:sp>
    </p:spTree>
    <p:extLst>
      <p:ext uri="{BB962C8B-B14F-4D97-AF65-F5344CB8AC3E}">
        <p14:creationId xmlns:p14="http://schemas.microsoft.com/office/powerpoint/2010/main" val="7178909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AF5721-FD3F-9298-DDAE-BBD2F0D58C22}"/>
              </a:ext>
            </a:extLst>
          </p:cNvPr>
          <p:cNvSpPr>
            <a:spLocks noGrp="1"/>
          </p:cNvSpPr>
          <p:nvPr>
            <p:ph type="title"/>
          </p:nvPr>
        </p:nvSpPr>
        <p:spPr/>
        <p:txBody>
          <a:bodyPr/>
          <a:lstStyle/>
          <a:p>
            <a:r>
              <a:rPr lang="en-GB" noProof="0" dirty="0"/>
              <a:t>Social engineering</a:t>
            </a:r>
          </a:p>
        </p:txBody>
      </p:sp>
      <p:sp>
        <p:nvSpPr>
          <p:cNvPr id="3" name="Content Placeholder 2">
            <a:extLst>
              <a:ext uri="{FF2B5EF4-FFF2-40B4-BE49-F238E27FC236}">
                <a16:creationId xmlns:a16="http://schemas.microsoft.com/office/drawing/2014/main" id="{6C67E499-A4C3-7409-F735-F891265AAD5E}"/>
              </a:ext>
            </a:extLst>
          </p:cNvPr>
          <p:cNvSpPr>
            <a:spLocks noGrp="1"/>
          </p:cNvSpPr>
          <p:nvPr>
            <p:ph idx="1"/>
          </p:nvPr>
        </p:nvSpPr>
        <p:spPr/>
        <p:txBody>
          <a:bodyPr/>
          <a:lstStyle/>
          <a:p>
            <a:r>
              <a:rPr lang="en-GB" noProof="0" dirty="0"/>
              <a:t>Examples of social engineering are:</a:t>
            </a:r>
          </a:p>
          <a:p>
            <a:pPr marL="1023938" indent="-571500">
              <a:buFont typeface="Arial" panose="020B0604020202020204" pitchFamily="34" charset="0"/>
              <a:buChar char="•"/>
            </a:pPr>
            <a:r>
              <a:rPr lang="en-GB" noProof="0" dirty="0"/>
              <a:t>A caller pretending to be IT support who asks for your password.</a:t>
            </a:r>
          </a:p>
          <a:p>
            <a:pPr marL="1023938" indent="-571500">
              <a:buFont typeface="Arial" panose="020B0604020202020204" pitchFamily="34" charset="0"/>
              <a:buChar char="•"/>
            </a:pPr>
            <a:r>
              <a:rPr lang="en-GB" noProof="0" dirty="0"/>
              <a:t>A fake delivery text message that asks you to pay a small fee to release your parcel.</a:t>
            </a:r>
          </a:p>
        </p:txBody>
      </p:sp>
    </p:spTree>
    <p:extLst>
      <p:ext uri="{BB962C8B-B14F-4D97-AF65-F5344CB8AC3E}">
        <p14:creationId xmlns:p14="http://schemas.microsoft.com/office/powerpoint/2010/main" val="19165836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3CDE124-05C6-E572-1990-52FE2A1543FE}"/>
              </a:ext>
            </a:extLst>
          </p:cNvPr>
          <p:cNvSpPr>
            <a:spLocks noGrp="1"/>
          </p:cNvSpPr>
          <p:nvPr>
            <p:ph type="title"/>
          </p:nvPr>
        </p:nvSpPr>
        <p:spPr/>
        <p:txBody>
          <a:bodyPr/>
          <a:lstStyle/>
          <a:p>
            <a:r>
              <a:rPr lang="en-GB" noProof="0" dirty="0"/>
              <a:t>Social engineering</a:t>
            </a:r>
          </a:p>
        </p:txBody>
      </p:sp>
      <p:sp>
        <p:nvSpPr>
          <p:cNvPr id="5" name="Content Placeholder 4">
            <a:extLst>
              <a:ext uri="{FF2B5EF4-FFF2-40B4-BE49-F238E27FC236}">
                <a16:creationId xmlns:a16="http://schemas.microsoft.com/office/drawing/2014/main" id="{4908F50A-9816-DCFC-076E-A5772C91A9CD}"/>
              </a:ext>
            </a:extLst>
          </p:cNvPr>
          <p:cNvSpPr>
            <a:spLocks noGrp="1"/>
          </p:cNvSpPr>
          <p:nvPr>
            <p:ph idx="1"/>
          </p:nvPr>
        </p:nvSpPr>
        <p:spPr/>
        <p:txBody>
          <a:bodyPr>
            <a:normAutofit/>
          </a:bodyPr>
          <a:lstStyle/>
          <a:p>
            <a:r>
              <a:rPr lang="en-GB" b="1" noProof="0" dirty="0">
                <a:solidFill>
                  <a:srgbClr val="C00000"/>
                </a:solidFill>
              </a:rPr>
              <a:t>Phishing</a:t>
            </a:r>
            <a:r>
              <a:rPr lang="en-GB" noProof="0" dirty="0"/>
              <a:t> emails are fake messages that trick you into sharing personal information such as passwords or bank details.</a:t>
            </a:r>
          </a:p>
          <a:p>
            <a:r>
              <a:rPr lang="en-GB" noProof="0" dirty="0"/>
              <a:t>They often look like they are from trusted companies, such as banks or online shops.</a:t>
            </a:r>
          </a:p>
          <a:p>
            <a:r>
              <a:rPr lang="en-GB" noProof="0" dirty="0"/>
              <a:t>Clues to spot: look out for urgent language or suspicious links.</a:t>
            </a:r>
          </a:p>
        </p:txBody>
      </p:sp>
    </p:spTree>
    <p:extLst>
      <p:ext uri="{BB962C8B-B14F-4D97-AF65-F5344CB8AC3E}">
        <p14:creationId xmlns:p14="http://schemas.microsoft.com/office/powerpoint/2010/main" val="28573932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uiExpand="1"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5A4719-EFF8-286F-92AE-E1A889AB68C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3F952D0-B375-42A3-E619-688B94596A56}"/>
              </a:ext>
            </a:extLst>
          </p:cNvPr>
          <p:cNvSpPr>
            <a:spLocks noGrp="1"/>
          </p:cNvSpPr>
          <p:nvPr>
            <p:ph type="title"/>
          </p:nvPr>
        </p:nvSpPr>
        <p:spPr/>
        <p:txBody>
          <a:bodyPr/>
          <a:lstStyle/>
          <a:p>
            <a:r>
              <a:rPr lang="en-GB" noProof="0" dirty="0"/>
              <a:t>Social engineering</a:t>
            </a:r>
          </a:p>
        </p:txBody>
      </p:sp>
      <p:sp>
        <p:nvSpPr>
          <p:cNvPr id="3" name="Content Placeholder 2">
            <a:extLst>
              <a:ext uri="{FF2B5EF4-FFF2-40B4-BE49-F238E27FC236}">
                <a16:creationId xmlns:a16="http://schemas.microsoft.com/office/drawing/2014/main" id="{948E81F8-B131-4AC1-CA65-2D58FF18E3CA}"/>
              </a:ext>
            </a:extLst>
          </p:cNvPr>
          <p:cNvSpPr>
            <a:spLocks noGrp="1"/>
          </p:cNvSpPr>
          <p:nvPr>
            <p:ph idx="1"/>
          </p:nvPr>
        </p:nvSpPr>
        <p:spPr>
          <a:xfrm>
            <a:off x="8393987" y="1313895"/>
            <a:ext cx="3464932" cy="4952736"/>
          </a:xfrm>
        </p:spPr>
        <p:txBody>
          <a:bodyPr>
            <a:normAutofit/>
          </a:bodyPr>
          <a:lstStyle/>
          <a:p>
            <a:r>
              <a:rPr lang="en-GB" noProof="0" dirty="0"/>
              <a:t>Phrases such as urgent, temporarily suspended or permanent suspension are designed to create panic.</a:t>
            </a:r>
          </a:p>
        </p:txBody>
      </p:sp>
      <p:sp>
        <p:nvSpPr>
          <p:cNvPr id="4" name="Rectangle 3">
            <a:extLst>
              <a:ext uri="{FF2B5EF4-FFF2-40B4-BE49-F238E27FC236}">
                <a16:creationId xmlns:a16="http://schemas.microsoft.com/office/drawing/2014/main" id="{AA51BC4D-430F-77D2-B7C1-1BA00D6343DF}"/>
              </a:ext>
            </a:extLst>
          </p:cNvPr>
          <p:cNvSpPr/>
          <p:nvPr/>
        </p:nvSpPr>
        <p:spPr>
          <a:xfrm>
            <a:off x="413993" y="1313894"/>
            <a:ext cx="7712865" cy="511772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8" name="TextBox 7">
            <a:extLst>
              <a:ext uri="{FF2B5EF4-FFF2-40B4-BE49-F238E27FC236}">
                <a16:creationId xmlns:a16="http://schemas.microsoft.com/office/drawing/2014/main" id="{A56D9936-D9F1-5D92-9588-43CFE2477171}"/>
              </a:ext>
            </a:extLst>
          </p:cNvPr>
          <p:cNvSpPr txBox="1"/>
          <p:nvPr/>
        </p:nvSpPr>
        <p:spPr>
          <a:xfrm>
            <a:off x="520356" y="1375447"/>
            <a:ext cx="7500138" cy="4955203"/>
          </a:xfrm>
          <a:prstGeom prst="rect">
            <a:avLst/>
          </a:prstGeom>
          <a:noFill/>
        </p:spPr>
        <p:txBody>
          <a:bodyPr wrap="square" rtlCol="0">
            <a:spAutoFit/>
          </a:bodyPr>
          <a:lstStyle/>
          <a:p>
            <a:r>
              <a:rPr lang="en-GB" sz="1600" b="1" noProof="0" dirty="0"/>
              <a:t>Subject: </a:t>
            </a:r>
            <a:r>
              <a:rPr lang="en-GB" sz="1600" b="0" i="0" noProof="0" dirty="0">
                <a:solidFill>
                  <a:srgbClr val="000000"/>
                </a:solidFill>
                <a:effectLst/>
                <a:latin typeface="Arial" panose="020B0604020202020204" pitchFamily="34" charset="0"/>
              </a:rPr>
              <a:t>Urgent: Account Verification Required</a:t>
            </a:r>
            <a:endParaRPr lang="en-GB" sz="1600" noProof="0" dirty="0"/>
          </a:p>
          <a:p>
            <a:endParaRPr lang="en-GB" sz="1500" noProof="0" dirty="0"/>
          </a:p>
          <a:p>
            <a:r>
              <a:rPr lang="en-GB" sz="1500" noProof="0" dirty="0"/>
              <a:t>Dear customer,</a:t>
            </a:r>
          </a:p>
          <a:p>
            <a:endParaRPr lang="en-GB" sz="1500" noProof="0" dirty="0"/>
          </a:p>
          <a:p>
            <a:r>
              <a:rPr lang="en-GB" sz="1500" noProof="0" dirty="0"/>
              <a:t>We noticed some unusual activity on your account and, as a precaution, we have temporarily suspended access. To restore your account and ensure your security, please verify your details by clicking the link below:</a:t>
            </a:r>
          </a:p>
          <a:p>
            <a:endParaRPr lang="en-GB" sz="1500" noProof="0" dirty="0"/>
          </a:p>
          <a:p>
            <a:r>
              <a:rPr lang="en-GB" sz="1500" b="1" u="sng" noProof="0" dirty="0">
                <a:solidFill>
                  <a:schemeClr val="accent1"/>
                </a:solidFill>
              </a:rPr>
              <a:t>Verify My Account Now (http://secure-login-verification123.com)</a:t>
            </a:r>
          </a:p>
          <a:p>
            <a:endParaRPr lang="en-GB" sz="1500" noProof="0" dirty="0"/>
          </a:p>
          <a:p>
            <a:r>
              <a:rPr lang="en-GB" sz="1500" noProof="0" dirty="0"/>
              <a:t>Please complete this verification within 24 hours to avoid permanent suspension of your account. If you fail to do so, your account may be permanently disabled.</a:t>
            </a:r>
          </a:p>
          <a:p>
            <a:endParaRPr lang="en-GB" sz="1500" noProof="0" dirty="0"/>
          </a:p>
          <a:p>
            <a:r>
              <a:rPr lang="en-GB" sz="1500" noProof="0" dirty="0"/>
              <a:t>If you have any questions, please contact our support team at </a:t>
            </a:r>
            <a:r>
              <a:rPr lang="en-GB" sz="1500" b="1" u="sng" noProof="0" dirty="0">
                <a:solidFill>
                  <a:schemeClr val="accent1"/>
                </a:solidFill>
              </a:rPr>
              <a:t>support@secure-login123.com</a:t>
            </a:r>
            <a:r>
              <a:rPr lang="en-GB" sz="1500" noProof="0" dirty="0"/>
              <a:t>.</a:t>
            </a:r>
          </a:p>
          <a:p>
            <a:endParaRPr lang="en-GB" sz="1500" noProof="0" dirty="0"/>
          </a:p>
          <a:p>
            <a:r>
              <a:rPr lang="en-GB" sz="1500" noProof="0" dirty="0"/>
              <a:t>Thank you for your prompt attention to this matter.</a:t>
            </a:r>
          </a:p>
          <a:p>
            <a:endParaRPr lang="en-GB" sz="1500" noProof="0" dirty="0"/>
          </a:p>
          <a:p>
            <a:r>
              <a:rPr lang="en-GB" sz="1500" noProof="0" dirty="0"/>
              <a:t>Kind regards,</a:t>
            </a:r>
          </a:p>
          <a:p>
            <a:r>
              <a:rPr lang="en-GB" sz="1500" noProof="0" dirty="0"/>
              <a:t>Customer Support Team</a:t>
            </a:r>
          </a:p>
          <a:p>
            <a:r>
              <a:rPr lang="en-GB" sz="1500" noProof="0" dirty="0"/>
              <a:t>Login123</a:t>
            </a:r>
          </a:p>
        </p:txBody>
      </p:sp>
      <p:sp>
        <p:nvSpPr>
          <p:cNvPr id="9" name="TextBox 8">
            <a:extLst>
              <a:ext uri="{FF2B5EF4-FFF2-40B4-BE49-F238E27FC236}">
                <a16:creationId xmlns:a16="http://schemas.microsoft.com/office/drawing/2014/main" id="{7DCE7A60-1497-4868-56A1-308D028444F4}"/>
              </a:ext>
            </a:extLst>
          </p:cNvPr>
          <p:cNvSpPr txBox="1"/>
          <p:nvPr/>
        </p:nvSpPr>
        <p:spPr>
          <a:xfrm>
            <a:off x="6802754" y="1900719"/>
            <a:ext cx="1380611" cy="307777"/>
          </a:xfrm>
          <a:prstGeom prst="rect">
            <a:avLst/>
          </a:prstGeom>
          <a:noFill/>
        </p:spPr>
        <p:txBody>
          <a:bodyPr wrap="square" rtlCol="0">
            <a:spAutoFit/>
          </a:bodyPr>
          <a:lstStyle/>
          <a:p>
            <a:pPr algn="ctr"/>
            <a:r>
              <a:rPr lang="en-GB" sz="1400" noProof="0" dirty="0"/>
              <a:t>Today 9:10 AM</a:t>
            </a:r>
          </a:p>
        </p:txBody>
      </p:sp>
      <p:pic>
        <p:nvPicPr>
          <p:cNvPr id="10" name="Picture 9">
            <a:extLst>
              <a:ext uri="{FF2B5EF4-FFF2-40B4-BE49-F238E27FC236}">
                <a16:creationId xmlns:a16="http://schemas.microsoft.com/office/drawing/2014/main" id="{667734C0-3734-6DE2-0126-6B332DC7A33C}"/>
              </a:ext>
              <a:ext uri="{C183D7F6-B498-43B3-948B-1728B52AA6E4}">
                <adec:decorative xmlns:adec="http://schemas.microsoft.com/office/drawing/2017/decorative" val="1"/>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7178328" y="1375447"/>
            <a:ext cx="672694" cy="521417"/>
          </a:xfrm>
          <a:prstGeom prst="rect">
            <a:avLst/>
          </a:prstGeom>
        </p:spPr>
      </p:pic>
      <p:sp>
        <p:nvSpPr>
          <p:cNvPr id="5" name="Rectangle: Rounded Corners 4">
            <a:extLst>
              <a:ext uri="{FF2B5EF4-FFF2-40B4-BE49-F238E27FC236}">
                <a16:creationId xmlns:a16="http://schemas.microsoft.com/office/drawing/2014/main" id="{5D6B4D48-5BFD-D8FE-CF98-C8B6D392E10A}"/>
              </a:ext>
              <a:ext uri="{C183D7F6-B498-43B3-948B-1728B52AA6E4}">
                <adec:decorative xmlns:adec="http://schemas.microsoft.com/office/drawing/2017/decorative" val="1"/>
              </a:ext>
            </a:extLst>
          </p:cNvPr>
          <p:cNvSpPr/>
          <p:nvPr/>
        </p:nvSpPr>
        <p:spPr>
          <a:xfrm>
            <a:off x="1377592" y="1405227"/>
            <a:ext cx="672695" cy="279735"/>
          </a:xfrm>
          <a:prstGeom prst="roundRect">
            <a:avLst/>
          </a:prstGeom>
          <a:solidFill>
            <a:srgbClr val="C00000">
              <a:alpha val="14118"/>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6" name="Rectangle: Rounded Corners 5">
            <a:extLst>
              <a:ext uri="{FF2B5EF4-FFF2-40B4-BE49-F238E27FC236}">
                <a16:creationId xmlns:a16="http://schemas.microsoft.com/office/drawing/2014/main" id="{EA9E716C-1DAC-0E87-8ED1-32710CFD5EDD}"/>
              </a:ext>
              <a:ext uri="{C183D7F6-B498-43B3-948B-1728B52AA6E4}">
                <adec:decorative xmlns:adec="http://schemas.microsoft.com/office/drawing/2017/decorative" val="1"/>
              </a:ext>
            </a:extLst>
          </p:cNvPr>
          <p:cNvSpPr/>
          <p:nvPr/>
        </p:nvSpPr>
        <p:spPr>
          <a:xfrm>
            <a:off x="520356" y="2554221"/>
            <a:ext cx="2017361" cy="279735"/>
          </a:xfrm>
          <a:prstGeom prst="roundRect">
            <a:avLst/>
          </a:prstGeom>
          <a:solidFill>
            <a:srgbClr val="C00000">
              <a:alpha val="14118"/>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7" name="Rectangle: Rounded Corners 6">
            <a:extLst>
              <a:ext uri="{FF2B5EF4-FFF2-40B4-BE49-F238E27FC236}">
                <a16:creationId xmlns:a16="http://schemas.microsoft.com/office/drawing/2014/main" id="{362740A4-7E68-BAD0-BCAF-CC188CA690E2}"/>
              </a:ext>
              <a:ext uri="{C183D7F6-B498-43B3-948B-1728B52AA6E4}">
                <adec:decorative xmlns:adec="http://schemas.microsoft.com/office/drawing/2017/decorative" val="1"/>
              </a:ext>
            </a:extLst>
          </p:cNvPr>
          <p:cNvSpPr/>
          <p:nvPr/>
        </p:nvSpPr>
        <p:spPr>
          <a:xfrm>
            <a:off x="5262635" y="3678205"/>
            <a:ext cx="1915693" cy="279735"/>
          </a:xfrm>
          <a:prstGeom prst="roundRect">
            <a:avLst/>
          </a:prstGeom>
          <a:solidFill>
            <a:srgbClr val="C00000">
              <a:alpha val="14118"/>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1" name="Rectangle: Rounded Corners 10">
            <a:extLst>
              <a:ext uri="{FF2B5EF4-FFF2-40B4-BE49-F238E27FC236}">
                <a16:creationId xmlns:a16="http://schemas.microsoft.com/office/drawing/2014/main" id="{FFA1B8BA-E2E2-8FD7-4F19-A8874767D978}"/>
              </a:ext>
              <a:ext uri="{C183D7F6-B498-43B3-948B-1728B52AA6E4}">
                <adec:decorative xmlns:adec="http://schemas.microsoft.com/office/drawing/2017/decorative" val="1"/>
              </a:ext>
            </a:extLst>
          </p:cNvPr>
          <p:cNvSpPr/>
          <p:nvPr/>
        </p:nvSpPr>
        <p:spPr>
          <a:xfrm>
            <a:off x="4621255" y="3937392"/>
            <a:ext cx="1915693" cy="279735"/>
          </a:xfrm>
          <a:prstGeom prst="roundRect">
            <a:avLst/>
          </a:prstGeom>
          <a:solidFill>
            <a:srgbClr val="C00000">
              <a:alpha val="14118"/>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Tree>
    <p:extLst>
      <p:ext uri="{BB962C8B-B14F-4D97-AF65-F5344CB8AC3E}">
        <p14:creationId xmlns:p14="http://schemas.microsoft.com/office/powerpoint/2010/main" val="25732470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5" grpId="0" animBg="1"/>
      <p:bldP spid="6" grpId="0" animBg="1"/>
      <p:bldP spid="7" grpId="0" animBg="1"/>
      <p:bldP spid="11"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96A85D-E51A-8376-008E-01F1C7BDEF95}"/>
              </a:ext>
            </a:extLst>
          </p:cNvPr>
          <p:cNvSpPr>
            <a:spLocks noGrp="1"/>
          </p:cNvSpPr>
          <p:nvPr>
            <p:ph type="title"/>
          </p:nvPr>
        </p:nvSpPr>
        <p:spPr/>
        <p:txBody>
          <a:bodyPr/>
          <a:lstStyle/>
          <a:p>
            <a:r>
              <a:rPr lang="en-GB" noProof="0" dirty="0"/>
              <a:t>Social engineering</a:t>
            </a:r>
          </a:p>
        </p:txBody>
      </p:sp>
      <p:sp>
        <p:nvSpPr>
          <p:cNvPr id="3" name="Content Placeholder 2">
            <a:extLst>
              <a:ext uri="{FF2B5EF4-FFF2-40B4-BE49-F238E27FC236}">
                <a16:creationId xmlns:a16="http://schemas.microsoft.com/office/drawing/2014/main" id="{150E4B37-7862-2098-1E09-046C455037B3}"/>
              </a:ext>
            </a:extLst>
          </p:cNvPr>
          <p:cNvSpPr>
            <a:spLocks noGrp="1"/>
          </p:cNvSpPr>
          <p:nvPr>
            <p:ph idx="1"/>
          </p:nvPr>
        </p:nvSpPr>
        <p:spPr>
          <a:xfrm>
            <a:off x="8393987" y="1313895"/>
            <a:ext cx="3464932" cy="4952736"/>
          </a:xfrm>
        </p:spPr>
        <p:txBody>
          <a:bodyPr>
            <a:normAutofit/>
          </a:bodyPr>
          <a:lstStyle/>
          <a:p>
            <a:r>
              <a:rPr lang="en-GB" noProof="0" dirty="0"/>
              <a:t>It doesn’t address the recipient by name properly, which is unusual for real companies.</a:t>
            </a:r>
          </a:p>
        </p:txBody>
      </p:sp>
      <p:sp>
        <p:nvSpPr>
          <p:cNvPr id="4" name="Rectangle 3">
            <a:extLst>
              <a:ext uri="{FF2B5EF4-FFF2-40B4-BE49-F238E27FC236}">
                <a16:creationId xmlns:a16="http://schemas.microsoft.com/office/drawing/2014/main" id="{8EAAD90B-8B49-6220-D82E-CBA50150AB31}"/>
              </a:ext>
            </a:extLst>
          </p:cNvPr>
          <p:cNvSpPr/>
          <p:nvPr/>
        </p:nvSpPr>
        <p:spPr>
          <a:xfrm>
            <a:off x="413993" y="1313894"/>
            <a:ext cx="7712865" cy="511772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8" name="TextBox 7">
            <a:extLst>
              <a:ext uri="{FF2B5EF4-FFF2-40B4-BE49-F238E27FC236}">
                <a16:creationId xmlns:a16="http://schemas.microsoft.com/office/drawing/2014/main" id="{3016B08A-C62F-BC62-A2AB-084B496D9BA1}"/>
              </a:ext>
            </a:extLst>
          </p:cNvPr>
          <p:cNvSpPr txBox="1"/>
          <p:nvPr/>
        </p:nvSpPr>
        <p:spPr>
          <a:xfrm>
            <a:off x="520356" y="1375447"/>
            <a:ext cx="7500138" cy="4955203"/>
          </a:xfrm>
          <a:prstGeom prst="rect">
            <a:avLst/>
          </a:prstGeom>
          <a:noFill/>
        </p:spPr>
        <p:txBody>
          <a:bodyPr wrap="square" rtlCol="0">
            <a:spAutoFit/>
          </a:bodyPr>
          <a:lstStyle/>
          <a:p>
            <a:r>
              <a:rPr lang="en-GB" sz="1600" b="1" noProof="0" dirty="0"/>
              <a:t>Subject: </a:t>
            </a:r>
            <a:r>
              <a:rPr lang="en-GB" sz="1600" b="0" i="0" noProof="0" dirty="0">
                <a:solidFill>
                  <a:srgbClr val="000000"/>
                </a:solidFill>
                <a:effectLst/>
                <a:latin typeface="Arial" panose="020B0604020202020204" pitchFamily="34" charset="0"/>
              </a:rPr>
              <a:t>Urgent: Account Verification Required</a:t>
            </a:r>
            <a:endParaRPr lang="en-GB" sz="1600" noProof="0" dirty="0"/>
          </a:p>
          <a:p>
            <a:endParaRPr lang="en-GB" sz="1500" noProof="0" dirty="0"/>
          </a:p>
          <a:p>
            <a:r>
              <a:rPr lang="en-GB" sz="1500" noProof="0" dirty="0"/>
              <a:t>Dear customer,</a:t>
            </a:r>
          </a:p>
          <a:p>
            <a:endParaRPr lang="en-GB" sz="1500" noProof="0" dirty="0"/>
          </a:p>
          <a:p>
            <a:r>
              <a:rPr lang="en-GB" sz="1500" noProof="0" dirty="0"/>
              <a:t>We noticed some unusual activity on your account and, as a precaution, we have temporarily suspended access. To restore your account and ensure your security, please verify your details by clicking the link below:</a:t>
            </a:r>
          </a:p>
          <a:p>
            <a:endParaRPr lang="en-GB" sz="1500" noProof="0" dirty="0"/>
          </a:p>
          <a:p>
            <a:r>
              <a:rPr lang="en-GB" sz="1500" b="1" u="sng" noProof="0" dirty="0">
                <a:solidFill>
                  <a:schemeClr val="accent1"/>
                </a:solidFill>
              </a:rPr>
              <a:t>Verify My Account Now (http://secure-login-verification123.com)</a:t>
            </a:r>
          </a:p>
          <a:p>
            <a:endParaRPr lang="en-GB" sz="1500" noProof="0" dirty="0"/>
          </a:p>
          <a:p>
            <a:r>
              <a:rPr lang="en-GB" sz="1500" noProof="0" dirty="0"/>
              <a:t>Please complete this verification within 24 hours to avoid permanent suspension of your account. If you fail to do so, your account may be permanently disabled.</a:t>
            </a:r>
          </a:p>
          <a:p>
            <a:endParaRPr lang="en-GB" sz="1500" noProof="0" dirty="0"/>
          </a:p>
          <a:p>
            <a:r>
              <a:rPr lang="en-GB" sz="1500" noProof="0" dirty="0"/>
              <a:t>If you have any questions, please contact our support team at </a:t>
            </a:r>
            <a:r>
              <a:rPr lang="en-GB" sz="1500" b="1" u="sng" noProof="0" dirty="0">
                <a:solidFill>
                  <a:schemeClr val="accent1"/>
                </a:solidFill>
              </a:rPr>
              <a:t>support@secure-login123.com</a:t>
            </a:r>
            <a:r>
              <a:rPr lang="en-GB" sz="1500" noProof="0" dirty="0"/>
              <a:t>.</a:t>
            </a:r>
          </a:p>
          <a:p>
            <a:endParaRPr lang="en-GB" sz="1500" noProof="0" dirty="0"/>
          </a:p>
          <a:p>
            <a:r>
              <a:rPr lang="en-GB" sz="1500" noProof="0" dirty="0"/>
              <a:t>Thank you for your prompt attention to this matter.</a:t>
            </a:r>
          </a:p>
          <a:p>
            <a:endParaRPr lang="en-GB" sz="1500" noProof="0" dirty="0"/>
          </a:p>
          <a:p>
            <a:r>
              <a:rPr lang="en-GB" sz="1500" noProof="0" dirty="0"/>
              <a:t>Kind regards,</a:t>
            </a:r>
          </a:p>
          <a:p>
            <a:r>
              <a:rPr lang="en-GB" sz="1500" noProof="0" dirty="0"/>
              <a:t>Customer Support Team</a:t>
            </a:r>
          </a:p>
          <a:p>
            <a:r>
              <a:rPr lang="en-GB" sz="1500" noProof="0" dirty="0"/>
              <a:t>Login123</a:t>
            </a:r>
          </a:p>
        </p:txBody>
      </p:sp>
      <p:sp>
        <p:nvSpPr>
          <p:cNvPr id="9" name="TextBox 8">
            <a:extLst>
              <a:ext uri="{FF2B5EF4-FFF2-40B4-BE49-F238E27FC236}">
                <a16:creationId xmlns:a16="http://schemas.microsoft.com/office/drawing/2014/main" id="{B2D37826-B727-B277-9046-A2952079C9DD}"/>
              </a:ext>
            </a:extLst>
          </p:cNvPr>
          <p:cNvSpPr txBox="1"/>
          <p:nvPr/>
        </p:nvSpPr>
        <p:spPr>
          <a:xfrm>
            <a:off x="6802754" y="1900719"/>
            <a:ext cx="1380611" cy="307777"/>
          </a:xfrm>
          <a:prstGeom prst="rect">
            <a:avLst/>
          </a:prstGeom>
          <a:noFill/>
        </p:spPr>
        <p:txBody>
          <a:bodyPr wrap="square" rtlCol="0">
            <a:spAutoFit/>
          </a:bodyPr>
          <a:lstStyle/>
          <a:p>
            <a:pPr algn="ctr"/>
            <a:r>
              <a:rPr lang="en-GB" sz="1400" noProof="0" dirty="0"/>
              <a:t>Today 9:10 AM</a:t>
            </a:r>
          </a:p>
        </p:txBody>
      </p:sp>
      <p:pic>
        <p:nvPicPr>
          <p:cNvPr id="10" name="Picture 9">
            <a:extLst>
              <a:ext uri="{FF2B5EF4-FFF2-40B4-BE49-F238E27FC236}">
                <a16:creationId xmlns:a16="http://schemas.microsoft.com/office/drawing/2014/main" id="{B5EFF269-4178-E7C3-9586-D49D67A9BF7D}"/>
              </a:ext>
              <a:ext uri="{C183D7F6-B498-43B3-948B-1728B52AA6E4}">
                <adec:decorative xmlns:adec="http://schemas.microsoft.com/office/drawing/2017/decorative" val="1"/>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7178328" y="1375447"/>
            <a:ext cx="672694" cy="521417"/>
          </a:xfrm>
          <a:prstGeom prst="rect">
            <a:avLst/>
          </a:prstGeom>
        </p:spPr>
      </p:pic>
      <p:sp>
        <p:nvSpPr>
          <p:cNvPr id="14" name="Rectangle: Rounded Corners 13">
            <a:extLst>
              <a:ext uri="{FF2B5EF4-FFF2-40B4-BE49-F238E27FC236}">
                <a16:creationId xmlns:a16="http://schemas.microsoft.com/office/drawing/2014/main" id="{61DCDAB0-2DB3-1AE3-2C7B-96A02A8ACC78}"/>
              </a:ext>
              <a:ext uri="{C183D7F6-B498-43B3-948B-1728B52AA6E4}">
                <adec:decorative xmlns:adec="http://schemas.microsoft.com/office/drawing/2017/decorative" val="1"/>
              </a:ext>
            </a:extLst>
          </p:cNvPr>
          <p:cNvSpPr/>
          <p:nvPr/>
        </p:nvSpPr>
        <p:spPr>
          <a:xfrm>
            <a:off x="520357" y="1876316"/>
            <a:ext cx="1380612" cy="279735"/>
          </a:xfrm>
          <a:prstGeom prst="roundRect">
            <a:avLst/>
          </a:prstGeom>
          <a:solidFill>
            <a:srgbClr val="C00000">
              <a:alpha val="14118"/>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Tree>
    <p:extLst>
      <p:ext uri="{BB962C8B-B14F-4D97-AF65-F5344CB8AC3E}">
        <p14:creationId xmlns:p14="http://schemas.microsoft.com/office/powerpoint/2010/main" val="148184679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699383-DBC8-2AF2-43FC-7A4FBDFC270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7F50819-96FD-234C-99FF-38A3DB3B7AE9}"/>
              </a:ext>
            </a:extLst>
          </p:cNvPr>
          <p:cNvSpPr>
            <a:spLocks noGrp="1"/>
          </p:cNvSpPr>
          <p:nvPr>
            <p:ph type="title"/>
          </p:nvPr>
        </p:nvSpPr>
        <p:spPr/>
        <p:txBody>
          <a:bodyPr/>
          <a:lstStyle/>
          <a:p>
            <a:r>
              <a:rPr lang="en-GB" noProof="0" dirty="0"/>
              <a:t>Social engineering</a:t>
            </a:r>
          </a:p>
        </p:txBody>
      </p:sp>
      <p:sp>
        <p:nvSpPr>
          <p:cNvPr id="3" name="Content Placeholder 2">
            <a:extLst>
              <a:ext uri="{FF2B5EF4-FFF2-40B4-BE49-F238E27FC236}">
                <a16:creationId xmlns:a16="http://schemas.microsoft.com/office/drawing/2014/main" id="{FD3F2249-7CAF-D73E-54C1-389AC7D383AF}"/>
              </a:ext>
            </a:extLst>
          </p:cNvPr>
          <p:cNvSpPr>
            <a:spLocks noGrp="1"/>
          </p:cNvSpPr>
          <p:nvPr>
            <p:ph idx="1"/>
          </p:nvPr>
        </p:nvSpPr>
        <p:spPr>
          <a:xfrm>
            <a:off x="8393987" y="1313895"/>
            <a:ext cx="3464932" cy="4952736"/>
          </a:xfrm>
        </p:spPr>
        <p:txBody>
          <a:bodyPr>
            <a:normAutofit/>
          </a:bodyPr>
          <a:lstStyle/>
          <a:p>
            <a:r>
              <a:rPr lang="en-GB" sz="3200" noProof="0" dirty="0"/>
              <a:t>The URL doesn’t match the company’s official website, for example, it is not secure or uses a strange domain name.</a:t>
            </a:r>
          </a:p>
        </p:txBody>
      </p:sp>
      <p:sp>
        <p:nvSpPr>
          <p:cNvPr id="4" name="Rectangle 3">
            <a:extLst>
              <a:ext uri="{FF2B5EF4-FFF2-40B4-BE49-F238E27FC236}">
                <a16:creationId xmlns:a16="http://schemas.microsoft.com/office/drawing/2014/main" id="{458EA661-92D1-A571-9B42-2EEECA17A784}"/>
              </a:ext>
            </a:extLst>
          </p:cNvPr>
          <p:cNvSpPr/>
          <p:nvPr/>
        </p:nvSpPr>
        <p:spPr>
          <a:xfrm>
            <a:off x="413993" y="1313894"/>
            <a:ext cx="7712865" cy="511772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8" name="TextBox 7">
            <a:extLst>
              <a:ext uri="{FF2B5EF4-FFF2-40B4-BE49-F238E27FC236}">
                <a16:creationId xmlns:a16="http://schemas.microsoft.com/office/drawing/2014/main" id="{9A24B042-0C53-0EE9-2899-5734427B0A58}"/>
              </a:ext>
            </a:extLst>
          </p:cNvPr>
          <p:cNvSpPr txBox="1"/>
          <p:nvPr/>
        </p:nvSpPr>
        <p:spPr>
          <a:xfrm>
            <a:off x="520356" y="1375447"/>
            <a:ext cx="7500138" cy="4955203"/>
          </a:xfrm>
          <a:prstGeom prst="rect">
            <a:avLst/>
          </a:prstGeom>
          <a:noFill/>
        </p:spPr>
        <p:txBody>
          <a:bodyPr wrap="square" rtlCol="0">
            <a:spAutoFit/>
          </a:bodyPr>
          <a:lstStyle/>
          <a:p>
            <a:r>
              <a:rPr lang="en-GB" sz="1600" b="1" noProof="0" dirty="0"/>
              <a:t>Subject: </a:t>
            </a:r>
            <a:r>
              <a:rPr lang="en-GB" sz="1600" b="0" i="0" noProof="0" dirty="0">
                <a:solidFill>
                  <a:srgbClr val="000000"/>
                </a:solidFill>
                <a:effectLst/>
                <a:latin typeface="Arial" panose="020B0604020202020204" pitchFamily="34" charset="0"/>
              </a:rPr>
              <a:t>Urgent: Account Verification Required</a:t>
            </a:r>
            <a:endParaRPr lang="en-GB" sz="1600" noProof="0" dirty="0"/>
          </a:p>
          <a:p>
            <a:endParaRPr lang="en-GB" sz="1500" noProof="0" dirty="0"/>
          </a:p>
          <a:p>
            <a:r>
              <a:rPr lang="en-GB" sz="1500" noProof="0" dirty="0"/>
              <a:t>Dear customer,</a:t>
            </a:r>
          </a:p>
          <a:p>
            <a:endParaRPr lang="en-GB" sz="1500" noProof="0" dirty="0"/>
          </a:p>
          <a:p>
            <a:r>
              <a:rPr lang="en-GB" sz="1500" noProof="0" dirty="0"/>
              <a:t>We noticed some unusual activity on your account and, as a precaution, we have temporarily suspended access. To restore your account and ensure your security, please verify your details by clicking the link below:</a:t>
            </a:r>
          </a:p>
          <a:p>
            <a:endParaRPr lang="en-GB" sz="1500" noProof="0" dirty="0"/>
          </a:p>
          <a:p>
            <a:r>
              <a:rPr lang="en-GB" sz="1500" b="1" u="sng" noProof="0" dirty="0">
                <a:solidFill>
                  <a:schemeClr val="accent1"/>
                </a:solidFill>
              </a:rPr>
              <a:t>Verify My Account Now (http://secure-login-verification123.com)</a:t>
            </a:r>
          </a:p>
          <a:p>
            <a:endParaRPr lang="en-GB" sz="1500" noProof="0" dirty="0"/>
          </a:p>
          <a:p>
            <a:r>
              <a:rPr lang="en-GB" sz="1500" noProof="0" dirty="0"/>
              <a:t>Please complete this verification within 24 hours to avoid permanent suspension of your account. If you fail to do so, your account may be permanently disabled.</a:t>
            </a:r>
          </a:p>
          <a:p>
            <a:endParaRPr lang="en-GB" sz="1500" noProof="0" dirty="0"/>
          </a:p>
          <a:p>
            <a:r>
              <a:rPr lang="en-GB" sz="1500" noProof="0" dirty="0"/>
              <a:t>If you have any questions, please contact our support team at </a:t>
            </a:r>
            <a:r>
              <a:rPr lang="en-GB" sz="1500" b="1" u="sng" noProof="0" dirty="0">
                <a:solidFill>
                  <a:schemeClr val="accent1"/>
                </a:solidFill>
              </a:rPr>
              <a:t>support@secure-login123.com</a:t>
            </a:r>
            <a:r>
              <a:rPr lang="en-GB" sz="1500" noProof="0" dirty="0"/>
              <a:t>.</a:t>
            </a:r>
          </a:p>
          <a:p>
            <a:endParaRPr lang="en-GB" sz="1500" noProof="0" dirty="0"/>
          </a:p>
          <a:p>
            <a:r>
              <a:rPr lang="en-GB" sz="1500" noProof="0" dirty="0"/>
              <a:t>Thank you for your prompt attention to this matter.</a:t>
            </a:r>
          </a:p>
          <a:p>
            <a:endParaRPr lang="en-GB" sz="1500" noProof="0" dirty="0"/>
          </a:p>
          <a:p>
            <a:r>
              <a:rPr lang="en-GB" sz="1500" noProof="0" dirty="0"/>
              <a:t>Kind regards,</a:t>
            </a:r>
          </a:p>
          <a:p>
            <a:r>
              <a:rPr lang="en-GB" sz="1500" noProof="0" dirty="0"/>
              <a:t>Customer Support Team</a:t>
            </a:r>
          </a:p>
          <a:p>
            <a:r>
              <a:rPr lang="en-GB" sz="1500" noProof="0" dirty="0"/>
              <a:t>Login123</a:t>
            </a:r>
          </a:p>
        </p:txBody>
      </p:sp>
      <p:sp>
        <p:nvSpPr>
          <p:cNvPr id="9" name="TextBox 8">
            <a:extLst>
              <a:ext uri="{FF2B5EF4-FFF2-40B4-BE49-F238E27FC236}">
                <a16:creationId xmlns:a16="http://schemas.microsoft.com/office/drawing/2014/main" id="{4554861F-EB10-3A5B-7586-7DED5B0ED7E9}"/>
              </a:ext>
            </a:extLst>
          </p:cNvPr>
          <p:cNvSpPr txBox="1"/>
          <p:nvPr/>
        </p:nvSpPr>
        <p:spPr>
          <a:xfrm>
            <a:off x="6802754" y="1900719"/>
            <a:ext cx="1380611" cy="307777"/>
          </a:xfrm>
          <a:prstGeom prst="rect">
            <a:avLst/>
          </a:prstGeom>
          <a:noFill/>
        </p:spPr>
        <p:txBody>
          <a:bodyPr wrap="square" rtlCol="0">
            <a:spAutoFit/>
          </a:bodyPr>
          <a:lstStyle/>
          <a:p>
            <a:pPr algn="ctr"/>
            <a:r>
              <a:rPr lang="en-GB" sz="1400" noProof="0" dirty="0"/>
              <a:t>Today 9:10 AM</a:t>
            </a:r>
          </a:p>
        </p:txBody>
      </p:sp>
      <p:pic>
        <p:nvPicPr>
          <p:cNvPr id="10" name="Picture 9">
            <a:extLst>
              <a:ext uri="{FF2B5EF4-FFF2-40B4-BE49-F238E27FC236}">
                <a16:creationId xmlns:a16="http://schemas.microsoft.com/office/drawing/2014/main" id="{3E0BD70C-F9E2-4F98-F196-74403E8E4C49}"/>
              </a:ext>
              <a:ext uri="{C183D7F6-B498-43B3-948B-1728B52AA6E4}">
                <adec:decorative xmlns:adec="http://schemas.microsoft.com/office/drawing/2017/decorative" val="1"/>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7178328" y="1375447"/>
            <a:ext cx="672694" cy="521417"/>
          </a:xfrm>
          <a:prstGeom prst="rect">
            <a:avLst/>
          </a:prstGeom>
        </p:spPr>
      </p:pic>
      <p:sp>
        <p:nvSpPr>
          <p:cNvPr id="5" name="Rectangle: Rounded Corners 4">
            <a:extLst>
              <a:ext uri="{FF2B5EF4-FFF2-40B4-BE49-F238E27FC236}">
                <a16:creationId xmlns:a16="http://schemas.microsoft.com/office/drawing/2014/main" id="{0EE02435-615F-4832-46A4-58AC343C80BD}"/>
              </a:ext>
              <a:ext uri="{C183D7F6-B498-43B3-948B-1728B52AA6E4}">
                <adec:decorative xmlns:adec="http://schemas.microsoft.com/office/drawing/2017/decorative" val="1"/>
              </a:ext>
            </a:extLst>
          </p:cNvPr>
          <p:cNvSpPr/>
          <p:nvPr/>
        </p:nvSpPr>
        <p:spPr>
          <a:xfrm>
            <a:off x="2575188" y="3231457"/>
            <a:ext cx="3692048" cy="279735"/>
          </a:xfrm>
          <a:prstGeom prst="roundRect">
            <a:avLst/>
          </a:prstGeom>
          <a:solidFill>
            <a:srgbClr val="C00000">
              <a:alpha val="14118"/>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Tree>
    <p:extLst>
      <p:ext uri="{BB962C8B-B14F-4D97-AF65-F5344CB8AC3E}">
        <p14:creationId xmlns:p14="http://schemas.microsoft.com/office/powerpoint/2010/main" val="296595288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3280C7-38B2-AFA2-745B-2A78E752E424}"/>
              </a:ext>
            </a:extLst>
          </p:cNvPr>
          <p:cNvSpPr>
            <a:spLocks noGrp="1"/>
          </p:cNvSpPr>
          <p:nvPr>
            <p:ph type="title"/>
          </p:nvPr>
        </p:nvSpPr>
        <p:spPr/>
        <p:txBody>
          <a:bodyPr/>
          <a:lstStyle/>
          <a:p>
            <a:r>
              <a:rPr lang="en-GB" noProof="0" dirty="0"/>
              <a:t>Social engineering</a:t>
            </a:r>
          </a:p>
        </p:txBody>
      </p:sp>
      <p:sp>
        <p:nvSpPr>
          <p:cNvPr id="3" name="Content Placeholder 2">
            <a:extLst>
              <a:ext uri="{FF2B5EF4-FFF2-40B4-BE49-F238E27FC236}">
                <a16:creationId xmlns:a16="http://schemas.microsoft.com/office/drawing/2014/main" id="{70675F0C-E2A5-404A-97D1-BC07826BBA3D}"/>
              </a:ext>
            </a:extLst>
          </p:cNvPr>
          <p:cNvSpPr>
            <a:spLocks noGrp="1"/>
          </p:cNvSpPr>
          <p:nvPr>
            <p:ph idx="1"/>
          </p:nvPr>
        </p:nvSpPr>
        <p:spPr/>
        <p:txBody>
          <a:bodyPr>
            <a:normAutofit/>
          </a:bodyPr>
          <a:lstStyle/>
          <a:p>
            <a:pPr>
              <a:spcAft>
                <a:spcPts val="600"/>
              </a:spcAft>
            </a:pPr>
            <a:r>
              <a:rPr lang="en-GB" noProof="0" dirty="0"/>
              <a:t>Fake websites are designed to look real but steal your personal or payment information.</a:t>
            </a:r>
          </a:p>
          <a:p>
            <a:pPr>
              <a:spcAft>
                <a:spcPts val="600"/>
              </a:spcAft>
            </a:pPr>
            <a:r>
              <a:rPr lang="en-GB" noProof="0" dirty="0"/>
              <a:t>Clues to spot:</a:t>
            </a:r>
          </a:p>
          <a:p>
            <a:pPr marL="893763" indent="-441325">
              <a:spcAft>
                <a:spcPts val="600"/>
              </a:spcAft>
              <a:buFont typeface="Arial" panose="020B0604020202020204" pitchFamily="34" charset="0"/>
              <a:buChar char="•"/>
            </a:pPr>
            <a:r>
              <a:rPr lang="en-GB" noProof="0" dirty="0"/>
              <a:t>Strange web addresses, for example, www.bank-login123.com.</a:t>
            </a:r>
          </a:p>
          <a:p>
            <a:pPr marL="893763" indent="-441325">
              <a:spcAft>
                <a:spcPts val="600"/>
              </a:spcAft>
              <a:buFont typeface="Arial" panose="020B0604020202020204" pitchFamily="34" charset="0"/>
              <a:buChar char="•"/>
            </a:pPr>
            <a:r>
              <a:rPr lang="en-GB" noProof="0" dirty="0"/>
              <a:t>Poor design or offers that seem too good to be true.</a:t>
            </a:r>
          </a:p>
        </p:txBody>
      </p:sp>
    </p:spTree>
    <p:extLst>
      <p:ext uri="{BB962C8B-B14F-4D97-AF65-F5344CB8AC3E}">
        <p14:creationId xmlns:p14="http://schemas.microsoft.com/office/powerpoint/2010/main" val="25764173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03D74E-9134-B4FE-CBFE-DABA9AFA1A3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F67D59D-760F-99BA-01FA-9FEFD0D19AAA}"/>
              </a:ext>
            </a:extLst>
          </p:cNvPr>
          <p:cNvSpPr>
            <a:spLocks noGrp="1"/>
          </p:cNvSpPr>
          <p:nvPr>
            <p:ph type="title"/>
          </p:nvPr>
        </p:nvSpPr>
        <p:spPr/>
        <p:txBody>
          <a:bodyPr/>
          <a:lstStyle/>
          <a:p>
            <a:r>
              <a:rPr lang="en-GB" noProof="0" dirty="0"/>
              <a:t>Social engineering</a:t>
            </a:r>
          </a:p>
        </p:txBody>
      </p:sp>
      <p:sp>
        <p:nvSpPr>
          <p:cNvPr id="3" name="Content Placeholder 2">
            <a:extLst>
              <a:ext uri="{FF2B5EF4-FFF2-40B4-BE49-F238E27FC236}">
                <a16:creationId xmlns:a16="http://schemas.microsoft.com/office/drawing/2014/main" id="{50918E53-7882-5870-2002-E8521D0A502C}"/>
              </a:ext>
            </a:extLst>
          </p:cNvPr>
          <p:cNvSpPr>
            <a:spLocks noGrp="1"/>
          </p:cNvSpPr>
          <p:nvPr>
            <p:ph idx="1"/>
          </p:nvPr>
        </p:nvSpPr>
        <p:spPr>
          <a:xfrm>
            <a:off x="8393987" y="1313895"/>
            <a:ext cx="3464932" cy="4952736"/>
          </a:xfrm>
        </p:spPr>
        <p:txBody>
          <a:bodyPr>
            <a:normAutofit/>
          </a:bodyPr>
          <a:lstStyle/>
          <a:p>
            <a:r>
              <a:rPr lang="en-GB" sz="3200" noProof="0" dirty="0"/>
              <a:t>The website uses http instead of https, which means it is not secure.</a:t>
            </a:r>
          </a:p>
        </p:txBody>
      </p:sp>
      <p:sp>
        <p:nvSpPr>
          <p:cNvPr id="4" name="Rectangle 3">
            <a:extLst>
              <a:ext uri="{FF2B5EF4-FFF2-40B4-BE49-F238E27FC236}">
                <a16:creationId xmlns:a16="http://schemas.microsoft.com/office/drawing/2014/main" id="{E6C132CD-43D2-1576-94A9-C094D4CBD15C}"/>
              </a:ext>
            </a:extLst>
          </p:cNvPr>
          <p:cNvSpPr/>
          <p:nvPr/>
        </p:nvSpPr>
        <p:spPr>
          <a:xfrm>
            <a:off x="413993" y="1313894"/>
            <a:ext cx="7712865" cy="511772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8" name="TextBox 7">
            <a:extLst>
              <a:ext uri="{FF2B5EF4-FFF2-40B4-BE49-F238E27FC236}">
                <a16:creationId xmlns:a16="http://schemas.microsoft.com/office/drawing/2014/main" id="{40A66DBA-84D7-F2AE-E8C2-2FC1D37FC45A}"/>
              </a:ext>
            </a:extLst>
          </p:cNvPr>
          <p:cNvSpPr txBox="1"/>
          <p:nvPr/>
        </p:nvSpPr>
        <p:spPr>
          <a:xfrm>
            <a:off x="1460928" y="2026089"/>
            <a:ext cx="6559566" cy="523220"/>
          </a:xfrm>
          <a:prstGeom prst="rect">
            <a:avLst/>
          </a:prstGeom>
          <a:noFill/>
        </p:spPr>
        <p:txBody>
          <a:bodyPr wrap="square" rtlCol="0">
            <a:spAutoFit/>
          </a:bodyPr>
          <a:lstStyle/>
          <a:p>
            <a:pPr algn="ctr">
              <a:buNone/>
            </a:pPr>
            <a:r>
              <a:rPr lang="en-GB" sz="2800" b="1" i="0" noProof="0" dirty="0">
                <a:solidFill>
                  <a:srgbClr val="111827"/>
                </a:solidFill>
                <a:effectLst/>
                <a:latin typeface="Arial" panose="020B0604020202020204" pitchFamily="34" charset="0"/>
              </a:rPr>
              <a:t>Welcome to Secure Login Verification</a:t>
            </a:r>
            <a:endParaRPr lang="en-GB" sz="2800" b="1" i="0" noProof="0" dirty="0">
              <a:solidFill>
                <a:srgbClr val="000000"/>
              </a:solidFill>
              <a:effectLst/>
              <a:latin typeface="Arial" panose="020B0604020202020204" pitchFamily="34" charset="0"/>
            </a:endParaRPr>
          </a:p>
        </p:txBody>
      </p:sp>
      <p:sp>
        <p:nvSpPr>
          <p:cNvPr id="5" name="Rectangle: Rounded Corners 4">
            <a:extLst>
              <a:ext uri="{FF2B5EF4-FFF2-40B4-BE49-F238E27FC236}">
                <a16:creationId xmlns:a16="http://schemas.microsoft.com/office/drawing/2014/main" id="{AEBAB5AD-48E6-D44C-6AC3-49016F9EC497}"/>
              </a:ext>
              <a:ext uri="{C183D7F6-B498-43B3-948B-1728B52AA6E4}">
                <adec:decorative xmlns:adec="http://schemas.microsoft.com/office/drawing/2017/decorative" val="1"/>
              </a:ext>
            </a:extLst>
          </p:cNvPr>
          <p:cNvSpPr/>
          <p:nvPr/>
        </p:nvSpPr>
        <p:spPr>
          <a:xfrm>
            <a:off x="1808252" y="1364299"/>
            <a:ext cx="3692048" cy="279735"/>
          </a:xfrm>
          <a:prstGeom prst="roundRect">
            <a:avLst/>
          </a:prstGeom>
          <a:solidFill>
            <a:srgbClr val="C00000">
              <a:alpha val="14118"/>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6" name="TextBox 5">
            <a:extLst>
              <a:ext uri="{FF2B5EF4-FFF2-40B4-BE49-F238E27FC236}">
                <a16:creationId xmlns:a16="http://schemas.microsoft.com/office/drawing/2014/main" id="{470F9156-A6D6-433D-0D12-E40FD92DA50E}"/>
              </a:ext>
            </a:extLst>
          </p:cNvPr>
          <p:cNvSpPr txBox="1"/>
          <p:nvPr/>
        </p:nvSpPr>
        <p:spPr>
          <a:xfrm>
            <a:off x="1808252" y="1327560"/>
            <a:ext cx="6212242" cy="338554"/>
          </a:xfrm>
          <a:prstGeom prst="rect">
            <a:avLst/>
          </a:prstGeom>
          <a:noFill/>
        </p:spPr>
        <p:txBody>
          <a:bodyPr wrap="square" rtlCol="0">
            <a:spAutoFit/>
          </a:bodyPr>
          <a:lstStyle/>
          <a:p>
            <a:pPr algn="l">
              <a:buNone/>
            </a:pPr>
            <a:r>
              <a:rPr lang="en-GB" sz="1600" i="0" noProof="0" dirty="0">
                <a:solidFill>
                  <a:srgbClr val="111827"/>
                </a:solidFill>
                <a:effectLst/>
                <a:latin typeface="Arial" panose="020B0604020202020204" pitchFamily="34" charset="0"/>
              </a:rPr>
              <a:t>http://secure-login-verification123.com</a:t>
            </a:r>
            <a:endParaRPr lang="en-GB" sz="1600" i="0" noProof="0" dirty="0">
              <a:solidFill>
                <a:srgbClr val="000000"/>
              </a:solidFill>
              <a:effectLst/>
              <a:latin typeface="Arial" panose="020B0604020202020204" pitchFamily="34" charset="0"/>
            </a:endParaRPr>
          </a:p>
        </p:txBody>
      </p:sp>
      <p:pic>
        <p:nvPicPr>
          <p:cNvPr id="13" name="Picture 12">
            <a:extLst>
              <a:ext uri="{FF2B5EF4-FFF2-40B4-BE49-F238E27FC236}">
                <a16:creationId xmlns:a16="http://schemas.microsoft.com/office/drawing/2014/main" id="{D60F96C5-A0A7-6C30-F7B5-06D68E992D6D}"/>
              </a:ext>
            </a:extLst>
          </p:cNvPr>
          <p:cNvPicPr>
            <a:picLocks noChangeAspect="1"/>
          </p:cNvPicPr>
          <p:nvPr/>
        </p:nvPicPr>
        <p:blipFill>
          <a:blip r:embed="rId2"/>
          <a:stretch>
            <a:fillRect/>
          </a:stretch>
        </p:blipFill>
        <p:spPr>
          <a:xfrm>
            <a:off x="434886" y="1334890"/>
            <a:ext cx="1267002" cy="276264"/>
          </a:xfrm>
          <a:prstGeom prst="rect">
            <a:avLst/>
          </a:prstGeom>
        </p:spPr>
      </p:pic>
      <p:pic>
        <p:nvPicPr>
          <p:cNvPr id="15" name="Picture 14">
            <a:extLst>
              <a:ext uri="{FF2B5EF4-FFF2-40B4-BE49-F238E27FC236}">
                <a16:creationId xmlns:a16="http://schemas.microsoft.com/office/drawing/2014/main" id="{05489B5F-3CFC-65F2-118E-9B1D8265AB88}"/>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675845" y="1885734"/>
            <a:ext cx="785083" cy="782667"/>
          </a:xfrm>
          <a:prstGeom prst="rect">
            <a:avLst/>
          </a:prstGeom>
        </p:spPr>
      </p:pic>
      <p:sp>
        <p:nvSpPr>
          <p:cNvPr id="16" name="TextBox 15">
            <a:extLst>
              <a:ext uri="{FF2B5EF4-FFF2-40B4-BE49-F238E27FC236}">
                <a16:creationId xmlns:a16="http://schemas.microsoft.com/office/drawing/2014/main" id="{50E8A92C-643A-78A7-11DE-926B96764F68}"/>
              </a:ext>
            </a:extLst>
          </p:cNvPr>
          <p:cNvSpPr txBox="1"/>
          <p:nvPr/>
        </p:nvSpPr>
        <p:spPr>
          <a:xfrm>
            <a:off x="520356" y="2921682"/>
            <a:ext cx="7500138" cy="3185487"/>
          </a:xfrm>
          <a:prstGeom prst="rect">
            <a:avLst/>
          </a:prstGeom>
          <a:noFill/>
        </p:spPr>
        <p:txBody>
          <a:bodyPr wrap="square" rtlCol="0">
            <a:spAutoFit/>
          </a:bodyPr>
          <a:lstStyle/>
          <a:p>
            <a:r>
              <a:rPr lang="en-GB" sz="1600" b="0" i="0" noProof="0" dirty="0">
                <a:solidFill>
                  <a:srgbClr val="000000"/>
                </a:solidFill>
                <a:effectLst/>
                <a:latin typeface="Times New Roman" panose="02020603050405020304" pitchFamily="18" charset="0"/>
                <a:cs typeface="Times New Roman" panose="02020603050405020304" pitchFamily="18" charset="0"/>
              </a:rPr>
              <a:t>Your security is our </a:t>
            </a:r>
            <a:r>
              <a:rPr lang="en-GB" sz="1600" b="0" i="0" noProof="0" dirty="0" err="1">
                <a:solidFill>
                  <a:srgbClr val="000000"/>
                </a:solidFill>
                <a:effectLst/>
                <a:latin typeface="Times New Roman" panose="02020603050405020304" pitchFamily="18" charset="0"/>
                <a:cs typeface="Times New Roman" panose="02020603050405020304" pitchFamily="18" charset="0"/>
              </a:rPr>
              <a:t>priorty</a:t>
            </a:r>
            <a:r>
              <a:rPr lang="en-GB" sz="1600" b="0" i="0" noProof="0" dirty="0">
                <a:solidFill>
                  <a:srgbClr val="000000"/>
                </a:solidFill>
                <a:effectLst/>
                <a:latin typeface="Times New Roman" panose="02020603050405020304" pitchFamily="18" charset="0"/>
                <a:cs typeface="Times New Roman" panose="02020603050405020304" pitchFamily="18" charset="0"/>
              </a:rPr>
              <a:t>. Please verify your account details to continue using our services.</a:t>
            </a:r>
          </a:p>
          <a:p>
            <a:endParaRPr lang="en-GB" sz="1600" noProof="0" dirty="0">
              <a:solidFill>
                <a:srgbClr val="000000"/>
              </a:solidFill>
              <a:latin typeface="Arial" panose="020B0604020202020204" pitchFamily="34" charset="0"/>
            </a:endParaRPr>
          </a:p>
          <a:p>
            <a:r>
              <a:rPr lang="en-GB" sz="1600" b="1" i="0" noProof="0" dirty="0">
                <a:solidFill>
                  <a:srgbClr val="000000"/>
                </a:solidFill>
                <a:effectLst/>
                <a:latin typeface="Arial" panose="020B0604020202020204" pitchFamily="34" charset="0"/>
              </a:rPr>
              <a:t>Account Verification Form</a:t>
            </a:r>
          </a:p>
          <a:p>
            <a:endParaRPr lang="en-GB" sz="1600" b="0" i="0" noProof="0" dirty="0">
              <a:solidFill>
                <a:srgbClr val="000000"/>
              </a:solidFill>
              <a:effectLst/>
              <a:latin typeface="Arial" panose="020B0604020202020204" pitchFamily="34" charset="0"/>
            </a:endParaRPr>
          </a:p>
          <a:p>
            <a:pPr marL="360363" lvl="1" algn="l">
              <a:spcAft>
                <a:spcPts val="600"/>
              </a:spcAft>
            </a:pPr>
            <a:r>
              <a:rPr lang="en-GB" sz="1600" noProof="0" dirty="0">
                <a:solidFill>
                  <a:srgbClr val="000000"/>
                </a:solidFill>
                <a:latin typeface="Arial" panose="020B0604020202020204" pitchFamily="34" charset="0"/>
              </a:rPr>
              <a:t>Full Name</a:t>
            </a:r>
          </a:p>
          <a:p>
            <a:pPr marL="360363" lvl="1" algn="l">
              <a:spcAft>
                <a:spcPts val="600"/>
              </a:spcAft>
            </a:pPr>
            <a:r>
              <a:rPr lang="en-GB" sz="1600" noProof="0" dirty="0">
                <a:solidFill>
                  <a:srgbClr val="000000"/>
                </a:solidFill>
                <a:latin typeface="Arial" panose="020B0604020202020204" pitchFamily="34" charset="0"/>
              </a:rPr>
              <a:t>Date of Birth</a:t>
            </a:r>
          </a:p>
          <a:p>
            <a:pPr marL="360363" lvl="1" algn="l">
              <a:spcAft>
                <a:spcPts val="600"/>
              </a:spcAft>
            </a:pPr>
            <a:r>
              <a:rPr lang="en-GB" sz="1600" noProof="0" dirty="0">
                <a:solidFill>
                  <a:srgbClr val="000000"/>
                </a:solidFill>
                <a:latin typeface="Arial" panose="020B0604020202020204" pitchFamily="34" charset="0"/>
              </a:rPr>
              <a:t>Email Address</a:t>
            </a:r>
          </a:p>
          <a:p>
            <a:pPr marL="360363" lvl="1" algn="l">
              <a:spcAft>
                <a:spcPts val="600"/>
              </a:spcAft>
            </a:pPr>
            <a:r>
              <a:rPr lang="en-GB" sz="1600" noProof="0" dirty="0">
                <a:solidFill>
                  <a:srgbClr val="000000"/>
                </a:solidFill>
                <a:latin typeface="Arial" panose="020B0604020202020204" pitchFamily="34" charset="0"/>
              </a:rPr>
              <a:t>Password</a:t>
            </a:r>
          </a:p>
          <a:p>
            <a:pPr marL="360363" lvl="1" algn="l">
              <a:spcAft>
                <a:spcPts val="600"/>
              </a:spcAft>
            </a:pPr>
            <a:r>
              <a:rPr lang="en-GB" sz="1600" noProof="0" dirty="0">
                <a:solidFill>
                  <a:srgbClr val="000000"/>
                </a:solidFill>
                <a:latin typeface="Arial" panose="020B0604020202020204" pitchFamily="34" charset="0"/>
              </a:rPr>
              <a:t>Credit Card Number</a:t>
            </a:r>
          </a:p>
          <a:p>
            <a:pPr marL="360363" lvl="1" algn="l">
              <a:spcAft>
                <a:spcPts val="600"/>
              </a:spcAft>
            </a:pPr>
            <a:r>
              <a:rPr lang="en-GB" sz="1600" noProof="0" dirty="0">
                <a:solidFill>
                  <a:srgbClr val="000000"/>
                </a:solidFill>
                <a:latin typeface="Arial" panose="020B0604020202020204" pitchFamily="34" charset="0"/>
              </a:rPr>
              <a:t>CVV Code</a:t>
            </a:r>
          </a:p>
        </p:txBody>
      </p:sp>
      <p:sp>
        <p:nvSpPr>
          <p:cNvPr id="18" name="Rectangle 17">
            <a:extLst>
              <a:ext uri="{FF2B5EF4-FFF2-40B4-BE49-F238E27FC236}">
                <a16:creationId xmlns:a16="http://schemas.microsoft.com/office/drawing/2014/main" id="{C110F028-63C7-1F6E-3BE0-7B789B2FE337}"/>
              </a:ext>
            </a:extLst>
          </p:cNvPr>
          <p:cNvSpPr/>
          <p:nvPr/>
        </p:nvSpPr>
        <p:spPr>
          <a:xfrm>
            <a:off x="2845942" y="4185653"/>
            <a:ext cx="2835667" cy="250298"/>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9" name="Rectangle 18">
            <a:extLst>
              <a:ext uri="{FF2B5EF4-FFF2-40B4-BE49-F238E27FC236}">
                <a16:creationId xmlns:a16="http://schemas.microsoft.com/office/drawing/2014/main" id="{A654588D-2BDC-1F26-BCF5-ED44D19986D7}"/>
              </a:ext>
            </a:extLst>
          </p:cNvPr>
          <p:cNvSpPr/>
          <p:nvPr/>
        </p:nvSpPr>
        <p:spPr>
          <a:xfrm>
            <a:off x="2845941" y="4504649"/>
            <a:ext cx="2835667" cy="250298"/>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20" name="Rectangle 19">
            <a:extLst>
              <a:ext uri="{FF2B5EF4-FFF2-40B4-BE49-F238E27FC236}">
                <a16:creationId xmlns:a16="http://schemas.microsoft.com/office/drawing/2014/main" id="{AAB04906-E641-5960-C348-B5B14CE697D1}"/>
              </a:ext>
            </a:extLst>
          </p:cNvPr>
          <p:cNvSpPr/>
          <p:nvPr/>
        </p:nvSpPr>
        <p:spPr>
          <a:xfrm>
            <a:off x="2845940" y="4823645"/>
            <a:ext cx="2835667" cy="250298"/>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21" name="Rectangle 20">
            <a:extLst>
              <a:ext uri="{FF2B5EF4-FFF2-40B4-BE49-F238E27FC236}">
                <a16:creationId xmlns:a16="http://schemas.microsoft.com/office/drawing/2014/main" id="{EDED5689-6298-22FB-15AD-96434981166D}"/>
              </a:ext>
            </a:extLst>
          </p:cNvPr>
          <p:cNvSpPr/>
          <p:nvPr/>
        </p:nvSpPr>
        <p:spPr>
          <a:xfrm>
            <a:off x="2845939" y="5142641"/>
            <a:ext cx="2835667" cy="250298"/>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22" name="Rectangle 21">
            <a:extLst>
              <a:ext uri="{FF2B5EF4-FFF2-40B4-BE49-F238E27FC236}">
                <a16:creationId xmlns:a16="http://schemas.microsoft.com/office/drawing/2014/main" id="{08DFD15D-AEED-C0A3-46F4-C0591EDE09DF}"/>
              </a:ext>
            </a:extLst>
          </p:cNvPr>
          <p:cNvSpPr/>
          <p:nvPr/>
        </p:nvSpPr>
        <p:spPr>
          <a:xfrm>
            <a:off x="2845938" y="5461637"/>
            <a:ext cx="2835667" cy="250298"/>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23" name="Rectangle 22">
            <a:extLst>
              <a:ext uri="{FF2B5EF4-FFF2-40B4-BE49-F238E27FC236}">
                <a16:creationId xmlns:a16="http://schemas.microsoft.com/office/drawing/2014/main" id="{37B74375-3C1C-78C2-2D85-761E0FE1BC02}"/>
              </a:ext>
            </a:extLst>
          </p:cNvPr>
          <p:cNvSpPr/>
          <p:nvPr/>
        </p:nvSpPr>
        <p:spPr>
          <a:xfrm>
            <a:off x="2845937" y="5780633"/>
            <a:ext cx="2835667" cy="250298"/>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24" name="Rectangle: Rounded Corners 23">
            <a:extLst>
              <a:ext uri="{FF2B5EF4-FFF2-40B4-BE49-F238E27FC236}">
                <a16:creationId xmlns:a16="http://schemas.microsoft.com/office/drawing/2014/main" id="{EDE89893-6084-88FC-FE25-0AF89D8E8DEB}"/>
              </a:ext>
            </a:extLst>
          </p:cNvPr>
          <p:cNvSpPr/>
          <p:nvPr/>
        </p:nvSpPr>
        <p:spPr>
          <a:xfrm>
            <a:off x="6335533" y="5780633"/>
            <a:ext cx="1565288" cy="485998"/>
          </a:xfrm>
          <a:prstGeom prst="roundRect">
            <a:avLst/>
          </a:prstGeom>
          <a:solidFill>
            <a:srgbClr val="0070C0"/>
          </a:solid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noProof="0" dirty="0">
                <a:latin typeface="Aptos ExtraBold" panose="020F0502020204030204" pitchFamily="34" charset="0"/>
              </a:rPr>
              <a:t>Verify Now</a:t>
            </a:r>
          </a:p>
        </p:txBody>
      </p:sp>
    </p:spTree>
    <p:extLst>
      <p:ext uri="{BB962C8B-B14F-4D97-AF65-F5344CB8AC3E}">
        <p14:creationId xmlns:p14="http://schemas.microsoft.com/office/powerpoint/2010/main" val="4737841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5"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D16E5F-FDA9-AEE2-AF5F-CD15B76F0FA3}"/>
            </a:ext>
          </a:extLst>
        </p:cNvPr>
        <p:cNvGrpSpPr/>
        <p:nvPr/>
      </p:nvGrpSpPr>
      <p:grpSpPr>
        <a:xfrm>
          <a:off x="0" y="0"/>
          <a:ext cx="0" cy="0"/>
          <a:chOff x="0" y="0"/>
          <a:chExt cx="0" cy="0"/>
        </a:xfrm>
      </p:grpSpPr>
      <p:sp>
        <p:nvSpPr>
          <p:cNvPr id="7" name="Rectangle 6">
            <a:extLst>
              <a:ext uri="{FF2B5EF4-FFF2-40B4-BE49-F238E27FC236}">
                <a16:creationId xmlns:a16="http://schemas.microsoft.com/office/drawing/2014/main" id="{8C2E1E60-A0EC-7DE4-97A5-2A7B63A998EA}"/>
              </a:ext>
            </a:extLst>
          </p:cNvPr>
          <p:cNvSpPr/>
          <p:nvPr/>
        </p:nvSpPr>
        <p:spPr>
          <a:xfrm>
            <a:off x="413993" y="1313894"/>
            <a:ext cx="7712865" cy="511772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7" name="TextBox 16">
            <a:extLst>
              <a:ext uri="{FF2B5EF4-FFF2-40B4-BE49-F238E27FC236}">
                <a16:creationId xmlns:a16="http://schemas.microsoft.com/office/drawing/2014/main" id="{E1AB7AA1-CC1F-4504-8ED5-589EE2B38F1B}"/>
              </a:ext>
            </a:extLst>
          </p:cNvPr>
          <p:cNvSpPr txBox="1"/>
          <p:nvPr/>
        </p:nvSpPr>
        <p:spPr>
          <a:xfrm>
            <a:off x="520356" y="2921682"/>
            <a:ext cx="7500138" cy="3185487"/>
          </a:xfrm>
          <a:prstGeom prst="rect">
            <a:avLst/>
          </a:prstGeom>
          <a:noFill/>
        </p:spPr>
        <p:txBody>
          <a:bodyPr wrap="square" rtlCol="0">
            <a:spAutoFit/>
          </a:bodyPr>
          <a:lstStyle/>
          <a:p>
            <a:r>
              <a:rPr lang="en-GB" sz="1600" b="0" i="0" noProof="0" dirty="0">
                <a:solidFill>
                  <a:srgbClr val="000000"/>
                </a:solidFill>
                <a:effectLst/>
                <a:latin typeface="Times New Roman" panose="02020603050405020304" pitchFamily="18" charset="0"/>
                <a:cs typeface="Times New Roman" panose="02020603050405020304" pitchFamily="18" charset="0"/>
              </a:rPr>
              <a:t>Your security is our </a:t>
            </a:r>
            <a:r>
              <a:rPr lang="en-GB" sz="1600" b="0" i="0" noProof="0" dirty="0" err="1">
                <a:solidFill>
                  <a:srgbClr val="000000"/>
                </a:solidFill>
                <a:effectLst/>
                <a:latin typeface="Times New Roman" panose="02020603050405020304" pitchFamily="18" charset="0"/>
                <a:cs typeface="Times New Roman" panose="02020603050405020304" pitchFamily="18" charset="0"/>
              </a:rPr>
              <a:t>priorty</a:t>
            </a:r>
            <a:r>
              <a:rPr lang="en-GB" sz="1600" b="0" i="0" noProof="0" dirty="0">
                <a:solidFill>
                  <a:srgbClr val="000000"/>
                </a:solidFill>
                <a:effectLst/>
                <a:latin typeface="Times New Roman" panose="02020603050405020304" pitchFamily="18" charset="0"/>
                <a:cs typeface="Times New Roman" panose="02020603050405020304" pitchFamily="18" charset="0"/>
              </a:rPr>
              <a:t>. Please verify your account details to continue using our services.</a:t>
            </a:r>
          </a:p>
          <a:p>
            <a:endParaRPr lang="en-GB" sz="1600" noProof="0" dirty="0">
              <a:solidFill>
                <a:srgbClr val="000000"/>
              </a:solidFill>
              <a:latin typeface="Arial" panose="020B0604020202020204" pitchFamily="34" charset="0"/>
            </a:endParaRPr>
          </a:p>
          <a:p>
            <a:r>
              <a:rPr lang="en-GB" sz="1600" b="1" i="0" noProof="0" dirty="0">
                <a:solidFill>
                  <a:srgbClr val="000000"/>
                </a:solidFill>
                <a:effectLst/>
                <a:latin typeface="Arial" panose="020B0604020202020204" pitchFamily="34" charset="0"/>
              </a:rPr>
              <a:t>Account Verification Form</a:t>
            </a:r>
          </a:p>
          <a:p>
            <a:endParaRPr lang="en-GB" sz="1600" b="0" i="0" noProof="0" dirty="0">
              <a:solidFill>
                <a:srgbClr val="000000"/>
              </a:solidFill>
              <a:effectLst/>
              <a:latin typeface="Arial" panose="020B0604020202020204" pitchFamily="34" charset="0"/>
            </a:endParaRPr>
          </a:p>
          <a:p>
            <a:pPr marL="360363" lvl="1" algn="l">
              <a:spcAft>
                <a:spcPts val="600"/>
              </a:spcAft>
            </a:pPr>
            <a:r>
              <a:rPr lang="en-GB" sz="1600" noProof="0" dirty="0">
                <a:solidFill>
                  <a:srgbClr val="000000"/>
                </a:solidFill>
                <a:latin typeface="Arial" panose="020B0604020202020204" pitchFamily="34" charset="0"/>
              </a:rPr>
              <a:t>Full Name</a:t>
            </a:r>
          </a:p>
          <a:p>
            <a:pPr marL="360363" lvl="1" algn="l">
              <a:spcAft>
                <a:spcPts val="600"/>
              </a:spcAft>
            </a:pPr>
            <a:r>
              <a:rPr lang="en-GB" sz="1600" noProof="0" dirty="0">
                <a:solidFill>
                  <a:srgbClr val="000000"/>
                </a:solidFill>
                <a:latin typeface="Arial" panose="020B0604020202020204" pitchFamily="34" charset="0"/>
              </a:rPr>
              <a:t>Date of Birth</a:t>
            </a:r>
          </a:p>
          <a:p>
            <a:pPr marL="360363" lvl="1" algn="l">
              <a:spcAft>
                <a:spcPts val="600"/>
              </a:spcAft>
            </a:pPr>
            <a:r>
              <a:rPr lang="en-GB" sz="1600" noProof="0" dirty="0">
                <a:solidFill>
                  <a:srgbClr val="000000"/>
                </a:solidFill>
                <a:latin typeface="Arial" panose="020B0604020202020204" pitchFamily="34" charset="0"/>
              </a:rPr>
              <a:t>Email Address</a:t>
            </a:r>
          </a:p>
          <a:p>
            <a:pPr marL="360363" lvl="1" algn="l">
              <a:spcAft>
                <a:spcPts val="600"/>
              </a:spcAft>
            </a:pPr>
            <a:r>
              <a:rPr lang="en-GB" sz="1600" noProof="0" dirty="0">
                <a:solidFill>
                  <a:srgbClr val="000000"/>
                </a:solidFill>
                <a:latin typeface="Arial" panose="020B0604020202020204" pitchFamily="34" charset="0"/>
              </a:rPr>
              <a:t>Password</a:t>
            </a:r>
          </a:p>
          <a:p>
            <a:pPr marL="360363" lvl="1" algn="l">
              <a:spcAft>
                <a:spcPts val="600"/>
              </a:spcAft>
            </a:pPr>
            <a:r>
              <a:rPr lang="en-GB" sz="1600" noProof="0" dirty="0">
                <a:solidFill>
                  <a:srgbClr val="000000"/>
                </a:solidFill>
                <a:latin typeface="Arial" panose="020B0604020202020204" pitchFamily="34" charset="0"/>
              </a:rPr>
              <a:t>Credit Card Number</a:t>
            </a:r>
          </a:p>
          <a:p>
            <a:pPr marL="360363" lvl="1" algn="l">
              <a:spcAft>
                <a:spcPts val="600"/>
              </a:spcAft>
            </a:pPr>
            <a:r>
              <a:rPr lang="en-GB" sz="1600" noProof="0" dirty="0">
                <a:solidFill>
                  <a:srgbClr val="000000"/>
                </a:solidFill>
                <a:latin typeface="Arial" panose="020B0604020202020204" pitchFamily="34" charset="0"/>
              </a:rPr>
              <a:t>CVV Code</a:t>
            </a:r>
          </a:p>
        </p:txBody>
      </p:sp>
      <p:sp>
        <p:nvSpPr>
          <p:cNvPr id="11" name="TextBox 10">
            <a:extLst>
              <a:ext uri="{FF2B5EF4-FFF2-40B4-BE49-F238E27FC236}">
                <a16:creationId xmlns:a16="http://schemas.microsoft.com/office/drawing/2014/main" id="{DDDC5CD0-678D-6DF7-4E2D-9E5422D5F0FB}"/>
              </a:ext>
            </a:extLst>
          </p:cNvPr>
          <p:cNvSpPr txBox="1"/>
          <p:nvPr/>
        </p:nvSpPr>
        <p:spPr>
          <a:xfrm>
            <a:off x="1808252" y="1334890"/>
            <a:ext cx="6212242" cy="338554"/>
          </a:xfrm>
          <a:prstGeom prst="rect">
            <a:avLst/>
          </a:prstGeom>
          <a:noFill/>
        </p:spPr>
        <p:txBody>
          <a:bodyPr wrap="square" rtlCol="0">
            <a:spAutoFit/>
          </a:bodyPr>
          <a:lstStyle/>
          <a:p>
            <a:pPr algn="l">
              <a:buNone/>
            </a:pPr>
            <a:r>
              <a:rPr lang="en-GB" sz="1600" i="0" noProof="0" dirty="0">
                <a:solidFill>
                  <a:srgbClr val="111827"/>
                </a:solidFill>
                <a:effectLst/>
                <a:latin typeface="Arial" panose="020B0604020202020204" pitchFamily="34" charset="0"/>
              </a:rPr>
              <a:t>http://secure-login-verification123.com</a:t>
            </a:r>
            <a:endParaRPr lang="en-GB" sz="1600" i="0" noProof="0" dirty="0">
              <a:solidFill>
                <a:srgbClr val="000000"/>
              </a:solidFill>
              <a:effectLst/>
              <a:latin typeface="Arial" panose="020B0604020202020204" pitchFamily="34" charset="0"/>
            </a:endParaRPr>
          </a:p>
        </p:txBody>
      </p:sp>
      <p:sp>
        <p:nvSpPr>
          <p:cNvPr id="2" name="Title 1">
            <a:extLst>
              <a:ext uri="{FF2B5EF4-FFF2-40B4-BE49-F238E27FC236}">
                <a16:creationId xmlns:a16="http://schemas.microsoft.com/office/drawing/2014/main" id="{2CC5851E-0284-BE49-93E1-43CE256EAC10}"/>
              </a:ext>
            </a:extLst>
          </p:cNvPr>
          <p:cNvSpPr>
            <a:spLocks noGrp="1"/>
          </p:cNvSpPr>
          <p:nvPr>
            <p:ph type="title"/>
          </p:nvPr>
        </p:nvSpPr>
        <p:spPr/>
        <p:txBody>
          <a:bodyPr/>
          <a:lstStyle/>
          <a:p>
            <a:r>
              <a:rPr lang="en-GB" noProof="0" dirty="0"/>
              <a:t>Social engineering</a:t>
            </a:r>
          </a:p>
        </p:txBody>
      </p:sp>
      <p:sp>
        <p:nvSpPr>
          <p:cNvPr id="3" name="Content Placeholder 2">
            <a:extLst>
              <a:ext uri="{FF2B5EF4-FFF2-40B4-BE49-F238E27FC236}">
                <a16:creationId xmlns:a16="http://schemas.microsoft.com/office/drawing/2014/main" id="{6A2728BC-2D69-9390-69B0-FD53004E1E93}"/>
              </a:ext>
            </a:extLst>
          </p:cNvPr>
          <p:cNvSpPr>
            <a:spLocks noGrp="1"/>
          </p:cNvSpPr>
          <p:nvPr>
            <p:ph idx="1"/>
          </p:nvPr>
        </p:nvSpPr>
        <p:spPr>
          <a:xfrm>
            <a:off x="8393987" y="1313895"/>
            <a:ext cx="3464932" cy="4952736"/>
          </a:xfrm>
        </p:spPr>
        <p:txBody>
          <a:bodyPr>
            <a:normAutofit/>
          </a:bodyPr>
          <a:lstStyle/>
          <a:p>
            <a:r>
              <a:rPr lang="en-GB" sz="3200" noProof="0" dirty="0"/>
              <a:t>The web address doesn’t match the name of the real company. </a:t>
            </a:r>
          </a:p>
        </p:txBody>
      </p:sp>
      <p:sp>
        <p:nvSpPr>
          <p:cNvPr id="9" name="TextBox 8">
            <a:extLst>
              <a:ext uri="{FF2B5EF4-FFF2-40B4-BE49-F238E27FC236}">
                <a16:creationId xmlns:a16="http://schemas.microsoft.com/office/drawing/2014/main" id="{E0094161-EDF1-B6F9-7BA9-100D04BCE95E}"/>
              </a:ext>
            </a:extLst>
          </p:cNvPr>
          <p:cNvSpPr txBox="1"/>
          <p:nvPr/>
        </p:nvSpPr>
        <p:spPr>
          <a:xfrm>
            <a:off x="1460928" y="2026089"/>
            <a:ext cx="6559566" cy="523220"/>
          </a:xfrm>
          <a:prstGeom prst="rect">
            <a:avLst/>
          </a:prstGeom>
          <a:noFill/>
        </p:spPr>
        <p:txBody>
          <a:bodyPr wrap="square" rtlCol="0">
            <a:spAutoFit/>
          </a:bodyPr>
          <a:lstStyle/>
          <a:p>
            <a:pPr algn="ctr">
              <a:buNone/>
            </a:pPr>
            <a:r>
              <a:rPr lang="en-GB" sz="2800" b="1" i="0" noProof="0" dirty="0">
                <a:solidFill>
                  <a:srgbClr val="111827"/>
                </a:solidFill>
                <a:effectLst/>
                <a:latin typeface="Arial" panose="020B0604020202020204" pitchFamily="34" charset="0"/>
              </a:rPr>
              <a:t>Welcome to Secure Login Verification</a:t>
            </a:r>
            <a:endParaRPr lang="en-GB" sz="2800" b="1" i="0" noProof="0" dirty="0">
              <a:solidFill>
                <a:srgbClr val="000000"/>
              </a:solidFill>
              <a:effectLst/>
              <a:latin typeface="Arial" panose="020B0604020202020204" pitchFamily="34" charset="0"/>
            </a:endParaRPr>
          </a:p>
        </p:txBody>
      </p:sp>
      <p:sp>
        <p:nvSpPr>
          <p:cNvPr id="10" name="Rectangle: Rounded Corners 9">
            <a:extLst>
              <a:ext uri="{FF2B5EF4-FFF2-40B4-BE49-F238E27FC236}">
                <a16:creationId xmlns:a16="http://schemas.microsoft.com/office/drawing/2014/main" id="{4EE07D55-190A-337C-2888-F549D650C4A3}"/>
              </a:ext>
              <a:ext uri="{C183D7F6-B498-43B3-948B-1728B52AA6E4}">
                <adec:decorative xmlns:adec="http://schemas.microsoft.com/office/drawing/2017/decorative" val="1"/>
              </a:ext>
            </a:extLst>
          </p:cNvPr>
          <p:cNvSpPr/>
          <p:nvPr/>
        </p:nvSpPr>
        <p:spPr>
          <a:xfrm>
            <a:off x="1808252" y="1338190"/>
            <a:ext cx="3657600" cy="300205"/>
          </a:xfrm>
          <a:prstGeom prst="roundRect">
            <a:avLst/>
          </a:prstGeom>
          <a:solidFill>
            <a:srgbClr val="C00000">
              <a:alpha val="14118"/>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pic>
        <p:nvPicPr>
          <p:cNvPr id="12" name="Picture 11">
            <a:extLst>
              <a:ext uri="{FF2B5EF4-FFF2-40B4-BE49-F238E27FC236}">
                <a16:creationId xmlns:a16="http://schemas.microsoft.com/office/drawing/2014/main" id="{2D16873E-33CA-99D0-709D-B373C7D197DC}"/>
              </a:ext>
            </a:extLst>
          </p:cNvPr>
          <p:cNvPicPr>
            <a:picLocks noChangeAspect="1"/>
          </p:cNvPicPr>
          <p:nvPr/>
        </p:nvPicPr>
        <p:blipFill>
          <a:blip r:embed="rId2"/>
          <a:stretch>
            <a:fillRect/>
          </a:stretch>
        </p:blipFill>
        <p:spPr>
          <a:xfrm>
            <a:off x="434886" y="1334890"/>
            <a:ext cx="1267002" cy="276264"/>
          </a:xfrm>
          <a:prstGeom prst="rect">
            <a:avLst/>
          </a:prstGeom>
        </p:spPr>
      </p:pic>
      <p:pic>
        <p:nvPicPr>
          <p:cNvPr id="14" name="Picture 13">
            <a:extLst>
              <a:ext uri="{FF2B5EF4-FFF2-40B4-BE49-F238E27FC236}">
                <a16:creationId xmlns:a16="http://schemas.microsoft.com/office/drawing/2014/main" id="{F04FE744-4750-6947-CF90-A2A73331C782}"/>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675845" y="1885734"/>
            <a:ext cx="785083" cy="782667"/>
          </a:xfrm>
          <a:prstGeom prst="rect">
            <a:avLst/>
          </a:prstGeom>
        </p:spPr>
      </p:pic>
      <p:sp>
        <p:nvSpPr>
          <p:cNvPr id="25" name="Rectangle 24">
            <a:extLst>
              <a:ext uri="{FF2B5EF4-FFF2-40B4-BE49-F238E27FC236}">
                <a16:creationId xmlns:a16="http://schemas.microsoft.com/office/drawing/2014/main" id="{91586A50-94A4-CF44-7D55-8B8D4C9CA08D}"/>
              </a:ext>
            </a:extLst>
          </p:cNvPr>
          <p:cNvSpPr/>
          <p:nvPr/>
        </p:nvSpPr>
        <p:spPr>
          <a:xfrm>
            <a:off x="2845942" y="4185653"/>
            <a:ext cx="2835667" cy="250298"/>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26" name="Rectangle 25">
            <a:extLst>
              <a:ext uri="{FF2B5EF4-FFF2-40B4-BE49-F238E27FC236}">
                <a16:creationId xmlns:a16="http://schemas.microsoft.com/office/drawing/2014/main" id="{53B4A47C-4DBD-EAF2-53F9-C65FA37F31C0}"/>
              </a:ext>
            </a:extLst>
          </p:cNvPr>
          <p:cNvSpPr/>
          <p:nvPr/>
        </p:nvSpPr>
        <p:spPr>
          <a:xfrm>
            <a:off x="2845941" y="4504649"/>
            <a:ext cx="2835667" cy="250298"/>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27" name="Rectangle 26">
            <a:extLst>
              <a:ext uri="{FF2B5EF4-FFF2-40B4-BE49-F238E27FC236}">
                <a16:creationId xmlns:a16="http://schemas.microsoft.com/office/drawing/2014/main" id="{947A5822-C880-13F5-5579-6A0C5A7EF90A}"/>
              </a:ext>
            </a:extLst>
          </p:cNvPr>
          <p:cNvSpPr/>
          <p:nvPr/>
        </p:nvSpPr>
        <p:spPr>
          <a:xfrm>
            <a:off x="2845940" y="4823645"/>
            <a:ext cx="2835667" cy="250298"/>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28" name="Rectangle 27">
            <a:extLst>
              <a:ext uri="{FF2B5EF4-FFF2-40B4-BE49-F238E27FC236}">
                <a16:creationId xmlns:a16="http://schemas.microsoft.com/office/drawing/2014/main" id="{16D22FBA-BC6C-5281-70AF-AC645BCA8D0B}"/>
              </a:ext>
            </a:extLst>
          </p:cNvPr>
          <p:cNvSpPr/>
          <p:nvPr/>
        </p:nvSpPr>
        <p:spPr>
          <a:xfrm>
            <a:off x="2845939" y="5142641"/>
            <a:ext cx="2835667" cy="250298"/>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29" name="Rectangle 28">
            <a:extLst>
              <a:ext uri="{FF2B5EF4-FFF2-40B4-BE49-F238E27FC236}">
                <a16:creationId xmlns:a16="http://schemas.microsoft.com/office/drawing/2014/main" id="{4310934C-A5E0-12B7-C9EF-F8CCBB888C33}"/>
              </a:ext>
            </a:extLst>
          </p:cNvPr>
          <p:cNvSpPr/>
          <p:nvPr/>
        </p:nvSpPr>
        <p:spPr>
          <a:xfrm>
            <a:off x="2845938" y="5461637"/>
            <a:ext cx="2835667" cy="250298"/>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30" name="Rectangle 29">
            <a:extLst>
              <a:ext uri="{FF2B5EF4-FFF2-40B4-BE49-F238E27FC236}">
                <a16:creationId xmlns:a16="http://schemas.microsoft.com/office/drawing/2014/main" id="{D7BF9A22-7F2F-7DDE-02CC-F56EAE421EBB}"/>
              </a:ext>
            </a:extLst>
          </p:cNvPr>
          <p:cNvSpPr/>
          <p:nvPr/>
        </p:nvSpPr>
        <p:spPr>
          <a:xfrm>
            <a:off x="2845937" y="5780633"/>
            <a:ext cx="2835667" cy="250298"/>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31" name="Rectangle: Rounded Corners 30">
            <a:extLst>
              <a:ext uri="{FF2B5EF4-FFF2-40B4-BE49-F238E27FC236}">
                <a16:creationId xmlns:a16="http://schemas.microsoft.com/office/drawing/2014/main" id="{EB076D0E-6246-428D-6A58-AC771AA2176D}"/>
              </a:ext>
            </a:extLst>
          </p:cNvPr>
          <p:cNvSpPr/>
          <p:nvPr/>
        </p:nvSpPr>
        <p:spPr>
          <a:xfrm>
            <a:off x="6335533" y="5780633"/>
            <a:ext cx="1565288" cy="485998"/>
          </a:xfrm>
          <a:prstGeom prst="roundRect">
            <a:avLst/>
          </a:prstGeom>
          <a:solidFill>
            <a:srgbClr val="0070C0"/>
          </a:solid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noProof="0" dirty="0">
                <a:latin typeface="Aptos ExtraBold" panose="020F0502020204030204" pitchFamily="34" charset="0"/>
              </a:rPr>
              <a:t>Verify Now</a:t>
            </a:r>
          </a:p>
        </p:txBody>
      </p:sp>
    </p:spTree>
    <p:extLst>
      <p:ext uri="{BB962C8B-B14F-4D97-AF65-F5344CB8AC3E}">
        <p14:creationId xmlns:p14="http://schemas.microsoft.com/office/powerpoint/2010/main" val="349052784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BE555D-1D7B-EAC5-5C8E-7DF87AC85181}"/>
            </a:ext>
          </a:extLst>
        </p:cNvPr>
        <p:cNvGrpSpPr/>
        <p:nvPr/>
      </p:nvGrpSpPr>
      <p:grpSpPr>
        <a:xfrm>
          <a:off x="0" y="0"/>
          <a:ext cx="0" cy="0"/>
          <a:chOff x="0" y="0"/>
          <a:chExt cx="0" cy="0"/>
        </a:xfrm>
      </p:grpSpPr>
      <p:sp>
        <p:nvSpPr>
          <p:cNvPr id="7" name="Rectangle 6">
            <a:extLst>
              <a:ext uri="{FF2B5EF4-FFF2-40B4-BE49-F238E27FC236}">
                <a16:creationId xmlns:a16="http://schemas.microsoft.com/office/drawing/2014/main" id="{1E14AF7F-E09A-9281-F8F0-AF468D98A793}"/>
              </a:ext>
            </a:extLst>
          </p:cNvPr>
          <p:cNvSpPr/>
          <p:nvPr/>
        </p:nvSpPr>
        <p:spPr>
          <a:xfrm>
            <a:off x="413993" y="1313894"/>
            <a:ext cx="7712865" cy="511772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1" name="TextBox 10">
            <a:extLst>
              <a:ext uri="{FF2B5EF4-FFF2-40B4-BE49-F238E27FC236}">
                <a16:creationId xmlns:a16="http://schemas.microsoft.com/office/drawing/2014/main" id="{DBF87824-FD9B-2579-DBBB-BF7CE9B169F1}"/>
              </a:ext>
            </a:extLst>
          </p:cNvPr>
          <p:cNvSpPr txBox="1"/>
          <p:nvPr/>
        </p:nvSpPr>
        <p:spPr>
          <a:xfrm>
            <a:off x="1808252" y="1334890"/>
            <a:ext cx="6212242" cy="338554"/>
          </a:xfrm>
          <a:prstGeom prst="rect">
            <a:avLst/>
          </a:prstGeom>
          <a:noFill/>
        </p:spPr>
        <p:txBody>
          <a:bodyPr wrap="square" rtlCol="0">
            <a:spAutoFit/>
          </a:bodyPr>
          <a:lstStyle/>
          <a:p>
            <a:pPr algn="l">
              <a:buNone/>
            </a:pPr>
            <a:r>
              <a:rPr lang="en-GB" sz="1600" i="0" noProof="0" dirty="0">
                <a:solidFill>
                  <a:srgbClr val="111827"/>
                </a:solidFill>
                <a:effectLst/>
                <a:latin typeface="Arial" panose="020B0604020202020204" pitchFamily="34" charset="0"/>
              </a:rPr>
              <a:t>http://secure-login-verification123.com</a:t>
            </a:r>
            <a:endParaRPr lang="en-GB" sz="1600" i="0" noProof="0" dirty="0">
              <a:solidFill>
                <a:srgbClr val="000000"/>
              </a:solidFill>
              <a:effectLst/>
              <a:latin typeface="Arial" panose="020B0604020202020204" pitchFamily="34" charset="0"/>
            </a:endParaRPr>
          </a:p>
        </p:txBody>
      </p:sp>
      <p:sp>
        <p:nvSpPr>
          <p:cNvPr id="2" name="Title 1">
            <a:extLst>
              <a:ext uri="{FF2B5EF4-FFF2-40B4-BE49-F238E27FC236}">
                <a16:creationId xmlns:a16="http://schemas.microsoft.com/office/drawing/2014/main" id="{2C8C9507-9437-9407-2ADA-580E4087101C}"/>
              </a:ext>
            </a:extLst>
          </p:cNvPr>
          <p:cNvSpPr>
            <a:spLocks noGrp="1"/>
          </p:cNvSpPr>
          <p:nvPr>
            <p:ph type="title"/>
          </p:nvPr>
        </p:nvSpPr>
        <p:spPr/>
        <p:txBody>
          <a:bodyPr/>
          <a:lstStyle/>
          <a:p>
            <a:r>
              <a:rPr lang="en-GB" noProof="0" dirty="0"/>
              <a:t>Social engineering</a:t>
            </a:r>
          </a:p>
        </p:txBody>
      </p:sp>
      <p:sp>
        <p:nvSpPr>
          <p:cNvPr id="3" name="Content Placeholder 2">
            <a:extLst>
              <a:ext uri="{FF2B5EF4-FFF2-40B4-BE49-F238E27FC236}">
                <a16:creationId xmlns:a16="http://schemas.microsoft.com/office/drawing/2014/main" id="{7304532B-237C-F196-6726-CEF436DD4C5C}"/>
              </a:ext>
            </a:extLst>
          </p:cNvPr>
          <p:cNvSpPr>
            <a:spLocks noGrp="1"/>
          </p:cNvSpPr>
          <p:nvPr>
            <p:ph idx="1"/>
          </p:nvPr>
        </p:nvSpPr>
        <p:spPr>
          <a:xfrm>
            <a:off x="8393987" y="1313895"/>
            <a:ext cx="3464932" cy="4952736"/>
          </a:xfrm>
        </p:spPr>
        <p:txBody>
          <a:bodyPr>
            <a:normAutofit/>
          </a:bodyPr>
          <a:lstStyle/>
          <a:p>
            <a:r>
              <a:rPr lang="en-GB" sz="3200" noProof="0" dirty="0"/>
              <a:t>It asks for sensitive details such as credit card numbers, which legitimate verification sites do not require.</a:t>
            </a:r>
          </a:p>
        </p:txBody>
      </p:sp>
      <p:sp>
        <p:nvSpPr>
          <p:cNvPr id="9" name="TextBox 8">
            <a:extLst>
              <a:ext uri="{FF2B5EF4-FFF2-40B4-BE49-F238E27FC236}">
                <a16:creationId xmlns:a16="http://schemas.microsoft.com/office/drawing/2014/main" id="{AD67E0FC-3351-64B7-CD7B-B293C41B6D0C}"/>
              </a:ext>
            </a:extLst>
          </p:cNvPr>
          <p:cNvSpPr txBox="1"/>
          <p:nvPr/>
        </p:nvSpPr>
        <p:spPr>
          <a:xfrm>
            <a:off x="1460928" y="2026089"/>
            <a:ext cx="6559566" cy="523220"/>
          </a:xfrm>
          <a:prstGeom prst="rect">
            <a:avLst/>
          </a:prstGeom>
          <a:noFill/>
        </p:spPr>
        <p:txBody>
          <a:bodyPr wrap="square" rtlCol="0">
            <a:spAutoFit/>
          </a:bodyPr>
          <a:lstStyle/>
          <a:p>
            <a:pPr algn="ctr">
              <a:buNone/>
            </a:pPr>
            <a:r>
              <a:rPr lang="en-GB" sz="2800" b="1" i="0" noProof="0" dirty="0">
                <a:solidFill>
                  <a:srgbClr val="111827"/>
                </a:solidFill>
                <a:effectLst/>
                <a:latin typeface="Arial" panose="020B0604020202020204" pitchFamily="34" charset="0"/>
              </a:rPr>
              <a:t>Welcome to Secure Login Verification</a:t>
            </a:r>
            <a:endParaRPr lang="en-GB" sz="2800" b="1" i="0" noProof="0" dirty="0">
              <a:solidFill>
                <a:srgbClr val="000000"/>
              </a:solidFill>
              <a:effectLst/>
              <a:latin typeface="Arial" panose="020B0604020202020204" pitchFamily="34" charset="0"/>
            </a:endParaRPr>
          </a:p>
        </p:txBody>
      </p:sp>
      <p:sp>
        <p:nvSpPr>
          <p:cNvPr id="10" name="Rectangle: Rounded Corners 9">
            <a:extLst>
              <a:ext uri="{FF2B5EF4-FFF2-40B4-BE49-F238E27FC236}">
                <a16:creationId xmlns:a16="http://schemas.microsoft.com/office/drawing/2014/main" id="{429235BD-B4EA-302F-663A-16A907DF3470}"/>
              </a:ext>
              <a:ext uri="{C183D7F6-B498-43B3-948B-1728B52AA6E4}">
                <adec:decorative xmlns:adec="http://schemas.microsoft.com/office/drawing/2017/decorative" val="1"/>
              </a:ext>
            </a:extLst>
          </p:cNvPr>
          <p:cNvSpPr/>
          <p:nvPr/>
        </p:nvSpPr>
        <p:spPr>
          <a:xfrm>
            <a:off x="893550" y="5372757"/>
            <a:ext cx="1952387" cy="743667"/>
          </a:xfrm>
          <a:prstGeom prst="roundRect">
            <a:avLst/>
          </a:prstGeom>
          <a:solidFill>
            <a:srgbClr val="C00000">
              <a:alpha val="14118"/>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pic>
        <p:nvPicPr>
          <p:cNvPr id="12" name="Picture 11">
            <a:extLst>
              <a:ext uri="{FF2B5EF4-FFF2-40B4-BE49-F238E27FC236}">
                <a16:creationId xmlns:a16="http://schemas.microsoft.com/office/drawing/2014/main" id="{32176659-BE1E-2DFF-1A7E-7454AB12FF5B}"/>
              </a:ext>
            </a:extLst>
          </p:cNvPr>
          <p:cNvPicPr>
            <a:picLocks noChangeAspect="1"/>
          </p:cNvPicPr>
          <p:nvPr/>
        </p:nvPicPr>
        <p:blipFill>
          <a:blip r:embed="rId2"/>
          <a:stretch>
            <a:fillRect/>
          </a:stretch>
        </p:blipFill>
        <p:spPr>
          <a:xfrm>
            <a:off x="434886" y="1334890"/>
            <a:ext cx="1267002" cy="276264"/>
          </a:xfrm>
          <a:prstGeom prst="rect">
            <a:avLst/>
          </a:prstGeom>
        </p:spPr>
      </p:pic>
      <p:pic>
        <p:nvPicPr>
          <p:cNvPr id="14" name="Picture 13">
            <a:extLst>
              <a:ext uri="{FF2B5EF4-FFF2-40B4-BE49-F238E27FC236}">
                <a16:creationId xmlns:a16="http://schemas.microsoft.com/office/drawing/2014/main" id="{C328A0A8-7608-F46C-43BB-C78461CCEA70}"/>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675845" y="1885734"/>
            <a:ext cx="785083" cy="782667"/>
          </a:xfrm>
          <a:prstGeom prst="rect">
            <a:avLst/>
          </a:prstGeom>
        </p:spPr>
      </p:pic>
      <p:sp>
        <p:nvSpPr>
          <p:cNvPr id="17" name="TextBox 16">
            <a:extLst>
              <a:ext uri="{FF2B5EF4-FFF2-40B4-BE49-F238E27FC236}">
                <a16:creationId xmlns:a16="http://schemas.microsoft.com/office/drawing/2014/main" id="{3E231567-1F42-822F-C784-F29AA9416D53}"/>
              </a:ext>
            </a:extLst>
          </p:cNvPr>
          <p:cNvSpPr txBox="1"/>
          <p:nvPr/>
        </p:nvSpPr>
        <p:spPr>
          <a:xfrm>
            <a:off x="520356" y="2921682"/>
            <a:ext cx="7500138" cy="3185487"/>
          </a:xfrm>
          <a:prstGeom prst="rect">
            <a:avLst/>
          </a:prstGeom>
          <a:noFill/>
        </p:spPr>
        <p:txBody>
          <a:bodyPr wrap="square" rtlCol="0">
            <a:spAutoFit/>
          </a:bodyPr>
          <a:lstStyle/>
          <a:p>
            <a:r>
              <a:rPr lang="en-GB" sz="1600" b="0" i="0" noProof="0" dirty="0">
                <a:solidFill>
                  <a:srgbClr val="000000"/>
                </a:solidFill>
                <a:effectLst/>
                <a:latin typeface="Times New Roman" panose="02020603050405020304" pitchFamily="18" charset="0"/>
                <a:cs typeface="Times New Roman" panose="02020603050405020304" pitchFamily="18" charset="0"/>
              </a:rPr>
              <a:t>Your security is our </a:t>
            </a:r>
            <a:r>
              <a:rPr lang="en-GB" sz="1600" b="0" i="0" noProof="0" dirty="0" err="1">
                <a:solidFill>
                  <a:srgbClr val="000000"/>
                </a:solidFill>
                <a:effectLst/>
                <a:latin typeface="Times New Roman" panose="02020603050405020304" pitchFamily="18" charset="0"/>
                <a:cs typeface="Times New Roman" panose="02020603050405020304" pitchFamily="18" charset="0"/>
              </a:rPr>
              <a:t>priorty</a:t>
            </a:r>
            <a:r>
              <a:rPr lang="en-GB" sz="1600" b="0" i="0" noProof="0" dirty="0">
                <a:solidFill>
                  <a:srgbClr val="000000"/>
                </a:solidFill>
                <a:effectLst/>
                <a:latin typeface="Times New Roman" panose="02020603050405020304" pitchFamily="18" charset="0"/>
                <a:cs typeface="Times New Roman" panose="02020603050405020304" pitchFamily="18" charset="0"/>
              </a:rPr>
              <a:t>. Please verify your account details to continue using our services.</a:t>
            </a:r>
          </a:p>
          <a:p>
            <a:endParaRPr lang="en-GB" sz="1600" noProof="0" dirty="0">
              <a:solidFill>
                <a:srgbClr val="000000"/>
              </a:solidFill>
              <a:latin typeface="Arial" panose="020B0604020202020204" pitchFamily="34" charset="0"/>
            </a:endParaRPr>
          </a:p>
          <a:p>
            <a:r>
              <a:rPr lang="en-GB" sz="1600" b="1" i="0" noProof="0" dirty="0">
                <a:solidFill>
                  <a:srgbClr val="000000"/>
                </a:solidFill>
                <a:effectLst/>
                <a:latin typeface="Arial" panose="020B0604020202020204" pitchFamily="34" charset="0"/>
              </a:rPr>
              <a:t>Account Verification Form</a:t>
            </a:r>
          </a:p>
          <a:p>
            <a:endParaRPr lang="en-GB" sz="1600" b="0" i="0" noProof="0" dirty="0">
              <a:solidFill>
                <a:srgbClr val="000000"/>
              </a:solidFill>
              <a:effectLst/>
              <a:latin typeface="Arial" panose="020B0604020202020204" pitchFamily="34" charset="0"/>
            </a:endParaRPr>
          </a:p>
          <a:p>
            <a:pPr marL="360363" lvl="1" algn="l">
              <a:spcAft>
                <a:spcPts val="600"/>
              </a:spcAft>
            </a:pPr>
            <a:r>
              <a:rPr lang="en-GB" sz="1600" noProof="0" dirty="0">
                <a:solidFill>
                  <a:srgbClr val="000000"/>
                </a:solidFill>
                <a:latin typeface="Arial" panose="020B0604020202020204" pitchFamily="34" charset="0"/>
              </a:rPr>
              <a:t>Full Name</a:t>
            </a:r>
          </a:p>
          <a:p>
            <a:pPr marL="360363" lvl="1" algn="l">
              <a:spcAft>
                <a:spcPts val="600"/>
              </a:spcAft>
            </a:pPr>
            <a:r>
              <a:rPr lang="en-GB" sz="1600" noProof="0" dirty="0">
                <a:solidFill>
                  <a:srgbClr val="000000"/>
                </a:solidFill>
                <a:latin typeface="Arial" panose="020B0604020202020204" pitchFamily="34" charset="0"/>
              </a:rPr>
              <a:t>Date of Birth</a:t>
            </a:r>
          </a:p>
          <a:p>
            <a:pPr marL="360363" lvl="1" algn="l">
              <a:spcAft>
                <a:spcPts val="600"/>
              </a:spcAft>
            </a:pPr>
            <a:r>
              <a:rPr lang="en-GB" sz="1600" noProof="0" dirty="0">
                <a:solidFill>
                  <a:srgbClr val="000000"/>
                </a:solidFill>
                <a:latin typeface="Arial" panose="020B0604020202020204" pitchFamily="34" charset="0"/>
              </a:rPr>
              <a:t>Email Address</a:t>
            </a:r>
          </a:p>
          <a:p>
            <a:pPr marL="360363" lvl="1" algn="l">
              <a:spcAft>
                <a:spcPts val="600"/>
              </a:spcAft>
            </a:pPr>
            <a:r>
              <a:rPr lang="en-GB" sz="1600" noProof="0" dirty="0">
                <a:solidFill>
                  <a:srgbClr val="000000"/>
                </a:solidFill>
                <a:latin typeface="Arial" panose="020B0604020202020204" pitchFamily="34" charset="0"/>
              </a:rPr>
              <a:t>Password</a:t>
            </a:r>
          </a:p>
          <a:p>
            <a:pPr marL="360363" lvl="1" algn="l">
              <a:spcAft>
                <a:spcPts val="600"/>
              </a:spcAft>
            </a:pPr>
            <a:r>
              <a:rPr lang="en-GB" sz="1600" noProof="0" dirty="0">
                <a:solidFill>
                  <a:srgbClr val="000000"/>
                </a:solidFill>
                <a:latin typeface="Arial" panose="020B0604020202020204" pitchFamily="34" charset="0"/>
              </a:rPr>
              <a:t>Credit Card Number</a:t>
            </a:r>
          </a:p>
          <a:p>
            <a:pPr marL="360363" lvl="1" algn="l">
              <a:spcAft>
                <a:spcPts val="600"/>
              </a:spcAft>
            </a:pPr>
            <a:r>
              <a:rPr lang="en-GB" sz="1600" noProof="0" dirty="0">
                <a:solidFill>
                  <a:srgbClr val="000000"/>
                </a:solidFill>
                <a:latin typeface="Arial" panose="020B0604020202020204" pitchFamily="34" charset="0"/>
              </a:rPr>
              <a:t>CVV Code</a:t>
            </a:r>
          </a:p>
        </p:txBody>
      </p:sp>
      <p:sp>
        <p:nvSpPr>
          <p:cNvPr id="25" name="Rectangle 24">
            <a:extLst>
              <a:ext uri="{FF2B5EF4-FFF2-40B4-BE49-F238E27FC236}">
                <a16:creationId xmlns:a16="http://schemas.microsoft.com/office/drawing/2014/main" id="{8C00C4E8-454E-16E5-4B1A-48DB851E5A39}"/>
              </a:ext>
            </a:extLst>
          </p:cNvPr>
          <p:cNvSpPr/>
          <p:nvPr/>
        </p:nvSpPr>
        <p:spPr>
          <a:xfrm>
            <a:off x="2845942" y="4185653"/>
            <a:ext cx="2835667" cy="250298"/>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26" name="Rectangle 25">
            <a:extLst>
              <a:ext uri="{FF2B5EF4-FFF2-40B4-BE49-F238E27FC236}">
                <a16:creationId xmlns:a16="http://schemas.microsoft.com/office/drawing/2014/main" id="{02E8D3EC-27E1-4C4C-4CE5-1BC43E4DEA20}"/>
              </a:ext>
            </a:extLst>
          </p:cNvPr>
          <p:cNvSpPr/>
          <p:nvPr/>
        </p:nvSpPr>
        <p:spPr>
          <a:xfrm>
            <a:off x="2845941" y="4504649"/>
            <a:ext cx="2835667" cy="250298"/>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27" name="Rectangle 26">
            <a:extLst>
              <a:ext uri="{FF2B5EF4-FFF2-40B4-BE49-F238E27FC236}">
                <a16:creationId xmlns:a16="http://schemas.microsoft.com/office/drawing/2014/main" id="{F1A5D21D-C38D-788B-0DAE-EB603B2EB6CC}"/>
              </a:ext>
            </a:extLst>
          </p:cNvPr>
          <p:cNvSpPr/>
          <p:nvPr/>
        </p:nvSpPr>
        <p:spPr>
          <a:xfrm>
            <a:off x="2845940" y="4823645"/>
            <a:ext cx="2835667" cy="250298"/>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28" name="Rectangle 27">
            <a:extLst>
              <a:ext uri="{FF2B5EF4-FFF2-40B4-BE49-F238E27FC236}">
                <a16:creationId xmlns:a16="http://schemas.microsoft.com/office/drawing/2014/main" id="{337FBB04-70E6-B0FF-D5D1-C854AEB37E93}"/>
              </a:ext>
            </a:extLst>
          </p:cNvPr>
          <p:cNvSpPr/>
          <p:nvPr/>
        </p:nvSpPr>
        <p:spPr>
          <a:xfrm>
            <a:off x="2845939" y="5142641"/>
            <a:ext cx="2835667" cy="250298"/>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29" name="Rectangle 28">
            <a:extLst>
              <a:ext uri="{FF2B5EF4-FFF2-40B4-BE49-F238E27FC236}">
                <a16:creationId xmlns:a16="http://schemas.microsoft.com/office/drawing/2014/main" id="{827D6D28-3E63-3C48-9468-5EBB41FA15DB}"/>
              </a:ext>
            </a:extLst>
          </p:cNvPr>
          <p:cNvSpPr/>
          <p:nvPr/>
        </p:nvSpPr>
        <p:spPr>
          <a:xfrm>
            <a:off x="2845938" y="5461637"/>
            <a:ext cx="2835667" cy="250298"/>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30" name="Rectangle 29">
            <a:extLst>
              <a:ext uri="{FF2B5EF4-FFF2-40B4-BE49-F238E27FC236}">
                <a16:creationId xmlns:a16="http://schemas.microsoft.com/office/drawing/2014/main" id="{9A9E0925-C49C-EB57-8800-6675ED5C3DB0}"/>
              </a:ext>
            </a:extLst>
          </p:cNvPr>
          <p:cNvSpPr/>
          <p:nvPr/>
        </p:nvSpPr>
        <p:spPr>
          <a:xfrm>
            <a:off x="2845937" y="5780633"/>
            <a:ext cx="2835667" cy="250298"/>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31" name="Rectangle: Rounded Corners 30">
            <a:extLst>
              <a:ext uri="{FF2B5EF4-FFF2-40B4-BE49-F238E27FC236}">
                <a16:creationId xmlns:a16="http://schemas.microsoft.com/office/drawing/2014/main" id="{34B9E719-3128-76DC-231A-F9BACF6E5ACD}"/>
              </a:ext>
            </a:extLst>
          </p:cNvPr>
          <p:cNvSpPr/>
          <p:nvPr/>
        </p:nvSpPr>
        <p:spPr>
          <a:xfrm>
            <a:off x="6335533" y="5780633"/>
            <a:ext cx="1565288" cy="485998"/>
          </a:xfrm>
          <a:prstGeom prst="roundRect">
            <a:avLst/>
          </a:prstGeom>
          <a:solidFill>
            <a:srgbClr val="0070C0"/>
          </a:solid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noProof="0" dirty="0">
                <a:latin typeface="Aptos ExtraBold" panose="020F0502020204030204" pitchFamily="34" charset="0"/>
              </a:rPr>
              <a:t>Verify Now</a:t>
            </a:r>
          </a:p>
        </p:txBody>
      </p:sp>
    </p:spTree>
    <p:extLst>
      <p:ext uri="{BB962C8B-B14F-4D97-AF65-F5344CB8AC3E}">
        <p14:creationId xmlns:p14="http://schemas.microsoft.com/office/powerpoint/2010/main" val="358885611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6FD992-9276-2272-2298-0076B83A4413}"/>
            </a:ext>
          </a:extLst>
        </p:cNvPr>
        <p:cNvGrpSpPr/>
        <p:nvPr/>
      </p:nvGrpSpPr>
      <p:grpSpPr>
        <a:xfrm>
          <a:off x="0" y="0"/>
          <a:ext cx="0" cy="0"/>
          <a:chOff x="0" y="0"/>
          <a:chExt cx="0" cy="0"/>
        </a:xfrm>
      </p:grpSpPr>
      <p:sp>
        <p:nvSpPr>
          <p:cNvPr id="7" name="Rectangle 6">
            <a:extLst>
              <a:ext uri="{FF2B5EF4-FFF2-40B4-BE49-F238E27FC236}">
                <a16:creationId xmlns:a16="http://schemas.microsoft.com/office/drawing/2014/main" id="{C05462C0-97C5-1FFA-9280-61027E19E1DE}"/>
              </a:ext>
            </a:extLst>
          </p:cNvPr>
          <p:cNvSpPr/>
          <p:nvPr/>
        </p:nvSpPr>
        <p:spPr>
          <a:xfrm>
            <a:off x="413993" y="1313894"/>
            <a:ext cx="7712865" cy="511772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7" name="TextBox 16">
            <a:extLst>
              <a:ext uri="{FF2B5EF4-FFF2-40B4-BE49-F238E27FC236}">
                <a16:creationId xmlns:a16="http://schemas.microsoft.com/office/drawing/2014/main" id="{0584ED74-1707-72BF-1309-FA1099E6F843}"/>
              </a:ext>
            </a:extLst>
          </p:cNvPr>
          <p:cNvSpPr txBox="1"/>
          <p:nvPr/>
        </p:nvSpPr>
        <p:spPr>
          <a:xfrm>
            <a:off x="520356" y="2921682"/>
            <a:ext cx="7500138" cy="3185487"/>
          </a:xfrm>
          <a:prstGeom prst="rect">
            <a:avLst/>
          </a:prstGeom>
          <a:noFill/>
        </p:spPr>
        <p:txBody>
          <a:bodyPr wrap="square" rtlCol="0">
            <a:spAutoFit/>
          </a:bodyPr>
          <a:lstStyle/>
          <a:p>
            <a:r>
              <a:rPr lang="en-GB" sz="1600" b="0" i="0" noProof="0" dirty="0">
                <a:solidFill>
                  <a:srgbClr val="000000"/>
                </a:solidFill>
                <a:effectLst/>
                <a:latin typeface="Times New Roman" panose="02020603050405020304" pitchFamily="18" charset="0"/>
                <a:cs typeface="Times New Roman" panose="02020603050405020304" pitchFamily="18" charset="0"/>
              </a:rPr>
              <a:t>Your security is our </a:t>
            </a:r>
            <a:r>
              <a:rPr lang="en-GB" sz="1600" b="0" i="0" noProof="0" dirty="0" err="1">
                <a:solidFill>
                  <a:srgbClr val="000000"/>
                </a:solidFill>
                <a:effectLst/>
                <a:latin typeface="Times New Roman" panose="02020603050405020304" pitchFamily="18" charset="0"/>
                <a:cs typeface="Times New Roman" panose="02020603050405020304" pitchFamily="18" charset="0"/>
              </a:rPr>
              <a:t>priorty</a:t>
            </a:r>
            <a:r>
              <a:rPr lang="en-GB" sz="1600" b="0" i="0" noProof="0" dirty="0">
                <a:solidFill>
                  <a:srgbClr val="000000"/>
                </a:solidFill>
                <a:effectLst/>
                <a:latin typeface="Times New Roman" panose="02020603050405020304" pitchFamily="18" charset="0"/>
                <a:cs typeface="Times New Roman" panose="02020603050405020304" pitchFamily="18" charset="0"/>
              </a:rPr>
              <a:t>. Please verify your account details to continue using our services.</a:t>
            </a:r>
          </a:p>
          <a:p>
            <a:endParaRPr lang="en-GB" sz="1600" noProof="0" dirty="0">
              <a:solidFill>
                <a:srgbClr val="000000"/>
              </a:solidFill>
              <a:latin typeface="Arial" panose="020B0604020202020204" pitchFamily="34" charset="0"/>
            </a:endParaRPr>
          </a:p>
          <a:p>
            <a:r>
              <a:rPr lang="en-GB" sz="1600" b="1" i="0" noProof="0" dirty="0">
                <a:solidFill>
                  <a:srgbClr val="000000"/>
                </a:solidFill>
                <a:effectLst/>
                <a:latin typeface="Arial" panose="020B0604020202020204" pitchFamily="34" charset="0"/>
              </a:rPr>
              <a:t>Account Verification Form</a:t>
            </a:r>
          </a:p>
          <a:p>
            <a:endParaRPr lang="en-GB" sz="1600" b="0" i="0" noProof="0" dirty="0">
              <a:solidFill>
                <a:srgbClr val="000000"/>
              </a:solidFill>
              <a:effectLst/>
              <a:latin typeface="Arial" panose="020B0604020202020204" pitchFamily="34" charset="0"/>
            </a:endParaRPr>
          </a:p>
          <a:p>
            <a:pPr marL="360363" lvl="1" algn="l">
              <a:spcAft>
                <a:spcPts val="600"/>
              </a:spcAft>
            </a:pPr>
            <a:r>
              <a:rPr lang="en-GB" sz="1600" noProof="0" dirty="0">
                <a:solidFill>
                  <a:srgbClr val="000000"/>
                </a:solidFill>
                <a:latin typeface="Arial" panose="020B0604020202020204" pitchFamily="34" charset="0"/>
              </a:rPr>
              <a:t>Full Name</a:t>
            </a:r>
          </a:p>
          <a:p>
            <a:pPr marL="360363" lvl="1" algn="l">
              <a:spcAft>
                <a:spcPts val="600"/>
              </a:spcAft>
            </a:pPr>
            <a:r>
              <a:rPr lang="en-GB" sz="1600" noProof="0" dirty="0">
                <a:solidFill>
                  <a:srgbClr val="000000"/>
                </a:solidFill>
                <a:latin typeface="Arial" panose="020B0604020202020204" pitchFamily="34" charset="0"/>
              </a:rPr>
              <a:t>Date of Birth</a:t>
            </a:r>
          </a:p>
          <a:p>
            <a:pPr marL="360363" lvl="1" algn="l">
              <a:spcAft>
                <a:spcPts val="600"/>
              </a:spcAft>
            </a:pPr>
            <a:r>
              <a:rPr lang="en-GB" sz="1600" noProof="0" dirty="0">
                <a:solidFill>
                  <a:srgbClr val="000000"/>
                </a:solidFill>
                <a:latin typeface="Arial" panose="020B0604020202020204" pitchFamily="34" charset="0"/>
              </a:rPr>
              <a:t>Email Address</a:t>
            </a:r>
          </a:p>
          <a:p>
            <a:pPr marL="360363" lvl="1" algn="l">
              <a:spcAft>
                <a:spcPts val="600"/>
              </a:spcAft>
            </a:pPr>
            <a:r>
              <a:rPr lang="en-GB" sz="1600" noProof="0" dirty="0">
                <a:solidFill>
                  <a:srgbClr val="000000"/>
                </a:solidFill>
                <a:latin typeface="Arial" panose="020B0604020202020204" pitchFamily="34" charset="0"/>
              </a:rPr>
              <a:t>Password</a:t>
            </a:r>
          </a:p>
          <a:p>
            <a:pPr marL="360363" lvl="1" algn="l">
              <a:spcAft>
                <a:spcPts val="600"/>
              </a:spcAft>
            </a:pPr>
            <a:r>
              <a:rPr lang="en-GB" sz="1600" noProof="0" dirty="0">
                <a:solidFill>
                  <a:srgbClr val="000000"/>
                </a:solidFill>
                <a:latin typeface="Arial" panose="020B0604020202020204" pitchFamily="34" charset="0"/>
              </a:rPr>
              <a:t>Credit Card Number</a:t>
            </a:r>
          </a:p>
          <a:p>
            <a:pPr marL="360363" lvl="1" algn="l">
              <a:spcAft>
                <a:spcPts val="600"/>
              </a:spcAft>
            </a:pPr>
            <a:r>
              <a:rPr lang="en-GB" sz="1600" noProof="0" dirty="0">
                <a:solidFill>
                  <a:srgbClr val="000000"/>
                </a:solidFill>
                <a:latin typeface="Arial" panose="020B0604020202020204" pitchFamily="34" charset="0"/>
              </a:rPr>
              <a:t>CVV Code</a:t>
            </a:r>
          </a:p>
        </p:txBody>
      </p:sp>
      <p:sp>
        <p:nvSpPr>
          <p:cNvPr id="11" name="TextBox 10">
            <a:extLst>
              <a:ext uri="{FF2B5EF4-FFF2-40B4-BE49-F238E27FC236}">
                <a16:creationId xmlns:a16="http://schemas.microsoft.com/office/drawing/2014/main" id="{9386B7EE-B611-B395-B8FA-61D968DEEF41}"/>
              </a:ext>
            </a:extLst>
          </p:cNvPr>
          <p:cNvSpPr txBox="1"/>
          <p:nvPr/>
        </p:nvSpPr>
        <p:spPr>
          <a:xfrm>
            <a:off x="1808252" y="1334890"/>
            <a:ext cx="6212242" cy="338554"/>
          </a:xfrm>
          <a:prstGeom prst="rect">
            <a:avLst/>
          </a:prstGeom>
          <a:noFill/>
        </p:spPr>
        <p:txBody>
          <a:bodyPr wrap="square" rtlCol="0">
            <a:spAutoFit/>
          </a:bodyPr>
          <a:lstStyle/>
          <a:p>
            <a:pPr algn="l">
              <a:buNone/>
            </a:pPr>
            <a:r>
              <a:rPr lang="en-GB" sz="1600" i="0" noProof="0" dirty="0">
                <a:solidFill>
                  <a:srgbClr val="111827"/>
                </a:solidFill>
                <a:effectLst/>
                <a:latin typeface="Arial" panose="020B0604020202020204" pitchFamily="34" charset="0"/>
              </a:rPr>
              <a:t>http://secure-login-verification123.com</a:t>
            </a:r>
            <a:endParaRPr lang="en-GB" sz="1600" i="0" noProof="0" dirty="0">
              <a:solidFill>
                <a:srgbClr val="000000"/>
              </a:solidFill>
              <a:effectLst/>
              <a:latin typeface="Arial" panose="020B0604020202020204" pitchFamily="34" charset="0"/>
            </a:endParaRPr>
          </a:p>
        </p:txBody>
      </p:sp>
      <p:sp>
        <p:nvSpPr>
          <p:cNvPr id="2" name="Title 1">
            <a:extLst>
              <a:ext uri="{FF2B5EF4-FFF2-40B4-BE49-F238E27FC236}">
                <a16:creationId xmlns:a16="http://schemas.microsoft.com/office/drawing/2014/main" id="{A58D4668-05E3-090B-354D-53DF65C362EC}"/>
              </a:ext>
            </a:extLst>
          </p:cNvPr>
          <p:cNvSpPr>
            <a:spLocks noGrp="1"/>
          </p:cNvSpPr>
          <p:nvPr>
            <p:ph type="title"/>
          </p:nvPr>
        </p:nvSpPr>
        <p:spPr/>
        <p:txBody>
          <a:bodyPr/>
          <a:lstStyle/>
          <a:p>
            <a:r>
              <a:rPr lang="en-GB" noProof="0" dirty="0"/>
              <a:t>Social engineering</a:t>
            </a:r>
          </a:p>
        </p:txBody>
      </p:sp>
      <p:sp>
        <p:nvSpPr>
          <p:cNvPr id="3" name="Content Placeholder 2">
            <a:extLst>
              <a:ext uri="{FF2B5EF4-FFF2-40B4-BE49-F238E27FC236}">
                <a16:creationId xmlns:a16="http://schemas.microsoft.com/office/drawing/2014/main" id="{43203271-2B45-48EE-8647-5BFFCCEE4883}"/>
              </a:ext>
            </a:extLst>
          </p:cNvPr>
          <p:cNvSpPr>
            <a:spLocks noGrp="1"/>
          </p:cNvSpPr>
          <p:nvPr>
            <p:ph idx="1"/>
          </p:nvPr>
        </p:nvSpPr>
        <p:spPr>
          <a:xfrm>
            <a:off x="8393987" y="1313895"/>
            <a:ext cx="3464932" cy="4952736"/>
          </a:xfrm>
        </p:spPr>
        <p:txBody>
          <a:bodyPr>
            <a:normAutofit/>
          </a:bodyPr>
          <a:lstStyle/>
          <a:p>
            <a:r>
              <a:rPr lang="en-GB" sz="3200" noProof="0" dirty="0"/>
              <a:t>The website has mismatched fonts, unofficial logos and spelling errors, such as “Your security is our </a:t>
            </a:r>
            <a:r>
              <a:rPr lang="en-GB" sz="3200" u="wavyDbl" noProof="0" dirty="0" err="1">
                <a:uFill>
                  <a:solidFill>
                    <a:srgbClr val="FF0000"/>
                  </a:solidFill>
                </a:uFill>
              </a:rPr>
              <a:t>priorty</a:t>
            </a:r>
            <a:r>
              <a:rPr lang="en-GB" sz="3200" noProof="0" dirty="0"/>
              <a:t>.”</a:t>
            </a:r>
          </a:p>
        </p:txBody>
      </p:sp>
      <p:sp>
        <p:nvSpPr>
          <p:cNvPr id="9" name="TextBox 8">
            <a:extLst>
              <a:ext uri="{FF2B5EF4-FFF2-40B4-BE49-F238E27FC236}">
                <a16:creationId xmlns:a16="http://schemas.microsoft.com/office/drawing/2014/main" id="{6204FD0A-8A26-FF48-F2D3-15257502DBD4}"/>
              </a:ext>
            </a:extLst>
          </p:cNvPr>
          <p:cNvSpPr txBox="1"/>
          <p:nvPr/>
        </p:nvSpPr>
        <p:spPr>
          <a:xfrm>
            <a:off x="1460928" y="2026089"/>
            <a:ext cx="6559566" cy="523220"/>
          </a:xfrm>
          <a:prstGeom prst="rect">
            <a:avLst/>
          </a:prstGeom>
          <a:noFill/>
        </p:spPr>
        <p:txBody>
          <a:bodyPr wrap="square" rtlCol="0">
            <a:spAutoFit/>
          </a:bodyPr>
          <a:lstStyle/>
          <a:p>
            <a:pPr algn="ctr">
              <a:buNone/>
            </a:pPr>
            <a:r>
              <a:rPr lang="en-GB" sz="2800" b="1" i="0" noProof="0" dirty="0">
                <a:solidFill>
                  <a:srgbClr val="111827"/>
                </a:solidFill>
                <a:effectLst/>
                <a:latin typeface="Arial" panose="020B0604020202020204" pitchFamily="34" charset="0"/>
              </a:rPr>
              <a:t>Welcome to Secure Login Verification</a:t>
            </a:r>
            <a:endParaRPr lang="en-GB" sz="2800" b="1" i="0" noProof="0" dirty="0">
              <a:solidFill>
                <a:srgbClr val="000000"/>
              </a:solidFill>
              <a:effectLst/>
              <a:latin typeface="Arial" panose="020B0604020202020204" pitchFamily="34" charset="0"/>
            </a:endParaRPr>
          </a:p>
        </p:txBody>
      </p:sp>
      <p:sp>
        <p:nvSpPr>
          <p:cNvPr id="10" name="Rectangle: Rounded Corners 9">
            <a:extLst>
              <a:ext uri="{FF2B5EF4-FFF2-40B4-BE49-F238E27FC236}">
                <a16:creationId xmlns:a16="http://schemas.microsoft.com/office/drawing/2014/main" id="{7BB82638-0650-2D13-7164-1B1BA0260337}"/>
              </a:ext>
              <a:ext uri="{C183D7F6-B498-43B3-948B-1728B52AA6E4}">
                <adec:decorative xmlns:adec="http://schemas.microsoft.com/office/drawing/2017/decorative" val="1"/>
              </a:ext>
            </a:extLst>
          </p:cNvPr>
          <p:cNvSpPr/>
          <p:nvPr/>
        </p:nvSpPr>
        <p:spPr>
          <a:xfrm>
            <a:off x="520356" y="2888606"/>
            <a:ext cx="7174988" cy="669108"/>
          </a:xfrm>
          <a:prstGeom prst="roundRect">
            <a:avLst/>
          </a:prstGeom>
          <a:solidFill>
            <a:srgbClr val="C00000">
              <a:alpha val="14118"/>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pic>
        <p:nvPicPr>
          <p:cNvPr id="12" name="Picture 11">
            <a:extLst>
              <a:ext uri="{FF2B5EF4-FFF2-40B4-BE49-F238E27FC236}">
                <a16:creationId xmlns:a16="http://schemas.microsoft.com/office/drawing/2014/main" id="{2686E4A7-87B2-22EA-D692-152FA7A5EA06}"/>
              </a:ext>
            </a:extLst>
          </p:cNvPr>
          <p:cNvPicPr>
            <a:picLocks noChangeAspect="1"/>
          </p:cNvPicPr>
          <p:nvPr/>
        </p:nvPicPr>
        <p:blipFill>
          <a:blip r:embed="rId2"/>
          <a:stretch>
            <a:fillRect/>
          </a:stretch>
        </p:blipFill>
        <p:spPr>
          <a:xfrm>
            <a:off x="434886" y="1334890"/>
            <a:ext cx="1267002" cy="276264"/>
          </a:xfrm>
          <a:prstGeom prst="rect">
            <a:avLst/>
          </a:prstGeom>
        </p:spPr>
      </p:pic>
      <p:pic>
        <p:nvPicPr>
          <p:cNvPr id="14" name="Picture 13">
            <a:extLst>
              <a:ext uri="{FF2B5EF4-FFF2-40B4-BE49-F238E27FC236}">
                <a16:creationId xmlns:a16="http://schemas.microsoft.com/office/drawing/2014/main" id="{1B06B185-C4FF-1714-C6D7-777B4162D995}"/>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675845" y="1885734"/>
            <a:ext cx="785083" cy="782667"/>
          </a:xfrm>
          <a:prstGeom prst="rect">
            <a:avLst/>
          </a:prstGeom>
        </p:spPr>
      </p:pic>
      <p:sp>
        <p:nvSpPr>
          <p:cNvPr id="25" name="Rectangle 24">
            <a:extLst>
              <a:ext uri="{FF2B5EF4-FFF2-40B4-BE49-F238E27FC236}">
                <a16:creationId xmlns:a16="http://schemas.microsoft.com/office/drawing/2014/main" id="{EB54C9A6-533E-539F-B3D5-FB21E0D99FE8}"/>
              </a:ext>
            </a:extLst>
          </p:cNvPr>
          <p:cNvSpPr/>
          <p:nvPr/>
        </p:nvSpPr>
        <p:spPr>
          <a:xfrm>
            <a:off x="2845942" y="4185653"/>
            <a:ext cx="2835667" cy="250298"/>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26" name="Rectangle 25">
            <a:extLst>
              <a:ext uri="{FF2B5EF4-FFF2-40B4-BE49-F238E27FC236}">
                <a16:creationId xmlns:a16="http://schemas.microsoft.com/office/drawing/2014/main" id="{34BBF861-BE2E-63A1-3D51-F58265873D01}"/>
              </a:ext>
            </a:extLst>
          </p:cNvPr>
          <p:cNvSpPr/>
          <p:nvPr/>
        </p:nvSpPr>
        <p:spPr>
          <a:xfrm>
            <a:off x="2845941" y="4504649"/>
            <a:ext cx="2835667" cy="250298"/>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27" name="Rectangle 26">
            <a:extLst>
              <a:ext uri="{FF2B5EF4-FFF2-40B4-BE49-F238E27FC236}">
                <a16:creationId xmlns:a16="http://schemas.microsoft.com/office/drawing/2014/main" id="{A399E9CA-EC86-472D-F633-57502CEFB074}"/>
              </a:ext>
            </a:extLst>
          </p:cNvPr>
          <p:cNvSpPr/>
          <p:nvPr/>
        </p:nvSpPr>
        <p:spPr>
          <a:xfrm>
            <a:off x="2845940" y="4823645"/>
            <a:ext cx="2835667" cy="250298"/>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28" name="Rectangle 27">
            <a:extLst>
              <a:ext uri="{FF2B5EF4-FFF2-40B4-BE49-F238E27FC236}">
                <a16:creationId xmlns:a16="http://schemas.microsoft.com/office/drawing/2014/main" id="{6AE431E9-2AF4-9D96-A9C3-4A4DDAB1617B}"/>
              </a:ext>
            </a:extLst>
          </p:cNvPr>
          <p:cNvSpPr/>
          <p:nvPr/>
        </p:nvSpPr>
        <p:spPr>
          <a:xfrm>
            <a:off x="2845939" y="5142641"/>
            <a:ext cx="2835667" cy="250298"/>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29" name="Rectangle 28">
            <a:extLst>
              <a:ext uri="{FF2B5EF4-FFF2-40B4-BE49-F238E27FC236}">
                <a16:creationId xmlns:a16="http://schemas.microsoft.com/office/drawing/2014/main" id="{5F6F6C73-C86D-3F8D-2DCF-E2F2B6E2B2F8}"/>
              </a:ext>
            </a:extLst>
          </p:cNvPr>
          <p:cNvSpPr/>
          <p:nvPr/>
        </p:nvSpPr>
        <p:spPr>
          <a:xfrm>
            <a:off x="2845938" y="5461637"/>
            <a:ext cx="2835667" cy="250298"/>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30" name="Rectangle 29">
            <a:extLst>
              <a:ext uri="{FF2B5EF4-FFF2-40B4-BE49-F238E27FC236}">
                <a16:creationId xmlns:a16="http://schemas.microsoft.com/office/drawing/2014/main" id="{748BFF8F-54EC-F723-41F7-A2A0DC97EAAD}"/>
              </a:ext>
            </a:extLst>
          </p:cNvPr>
          <p:cNvSpPr/>
          <p:nvPr/>
        </p:nvSpPr>
        <p:spPr>
          <a:xfrm>
            <a:off x="2845937" y="5780633"/>
            <a:ext cx="2835667" cy="250298"/>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31" name="Rectangle: Rounded Corners 30">
            <a:extLst>
              <a:ext uri="{FF2B5EF4-FFF2-40B4-BE49-F238E27FC236}">
                <a16:creationId xmlns:a16="http://schemas.microsoft.com/office/drawing/2014/main" id="{0A2EF583-1047-CB46-A3C3-862EE729F95F}"/>
              </a:ext>
            </a:extLst>
          </p:cNvPr>
          <p:cNvSpPr/>
          <p:nvPr/>
        </p:nvSpPr>
        <p:spPr>
          <a:xfrm>
            <a:off x="6335533" y="5780633"/>
            <a:ext cx="1565288" cy="485998"/>
          </a:xfrm>
          <a:prstGeom prst="roundRect">
            <a:avLst/>
          </a:prstGeom>
          <a:solidFill>
            <a:srgbClr val="0070C0"/>
          </a:solid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noProof="0" dirty="0">
                <a:latin typeface="Aptos ExtraBold" panose="020F0502020204030204" pitchFamily="34" charset="0"/>
              </a:rPr>
              <a:t>Verify Now</a:t>
            </a:r>
          </a:p>
        </p:txBody>
      </p:sp>
      <p:sp>
        <p:nvSpPr>
          <p:cNvPr id="4" name="Rectangle: Rounded Corners 3">
            <a:extLst>
              <a:ext uri="{FF2B5EF4-FFF2-40B4-BE49-F238E27FC236}">
                <a16:creationId xmlns:a16="http://schemas.microsoft.com/office/drawing/2014/main" id="{B2205877-6B0F-3E04-AD29-106CFCBE3A95}"/>
              </a:ext>
              <a:ext uri="{C183D7F6-B498-43B3-948B-1728B52AA6E4}">
                <adec:decorative xmlns:adec="http://schemas.microsoft.com/office/drawing/2017/decorative" val="1"/>
              </a:ext>
            </a:extLst>
          </p:cNvPr>
          <p:cNvSpPr/>
          <p:nvPr/>
        </p:nvSpPr>
        <p:spPr>
          <a:xfrm>
            <a:off x="686119" y="1852714"/>
            <a:ext cx="785083" cy="848706"/>
          </a:xfrm>
          <a:prstGeom prst="roundRect">
            <a:avLst/>
          </a:prstGeom>
          <a:solidFill>
            <a:srgbClr val="C00000">
              <a:alpha val="14118"/>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Tree>
    <p:extLst>
      <p:ext uri="{BB962C8B-B14F-4D97-AF65-F5344CB8AC3E}">
        <p14:creationId xmlns:p14="http://schemas.microsoft.com/office/powerpoint/2010/main" val="229597215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778831D-F3E3-C9D4-1CFE-21B963717C08}"/>
              </a:ext>
            </a:extLst>
          </p:cNvPr>
          <p:cNvSpPr>
            <a:spLocks noGrp="1"/>
          </p:cNvSpPr>
          <p:nvPr>
            <p:ph idx="1"/>
          </p:nvPr>
        </p:nvSpPr>
        <p:spPr/>
        <p:txBody>
          <a:bodyPr>
            <a:normAutofit fontScale="92500"/>
          </a:bodyPr>
          <a:lstStyle/>
          <a:p>
            <a:r>
              <a:rPr lang="en-GB" noProof="0" dirty="0"/>
              <a:t>Why is it important to verify the source of an email or message?</a:t>
            </a:r>
          </a:p>
          <a:p>
            <a:r>
              <a:rPr lang="en-GB" b="1" noProof="0" dirty="0">
                <a:solidFill>
                  <a:srgbClr val="C00000"/>
                </a:solidFill>
              </a:rPr>
              <a:t>To make sure it is genuine and not a scam trying to trick you into giving away personal information or clicking on harmful links.</a:t>
            </a:r>
          </a:p>
          <a:p>
            <a:r>
              <a:rPr lang="en-GB" noProof="0" dirty="0"/>
              <a:t>What is phishing trying to steal?</a:t>
            </a:r>
          </a:p>
          <a:p>
            <a:r>
              <a:rPr lang="en-GB" b="1" noProof="0" dirty="0">
                <a:solidFill>
                  <a:srgbClr val="C00000"/>
                </a:solidFill>
              </a:rPr>
              <a:t>Phishing tries to steal sensitive information such as passwords, bank details or personal data.</a:t>
            </a:r>
          </a:p>
        </p:txBody>
      </p:sp>
      <p:sp>
        <p:nvSpPr>
          <p:cNvPr id="2" name="Title 1">
            <a:extLst>
              <a:ext uri="{FF2B5EF4-FFF2-40B4-BE49-F238E27FC236}">
                <a16:creationId xmlns:a16="http://schemas.microsoft.com/office/drawing/2014/main" id="{EF673FA3-7C90-4C12-6D6E-61B0FE7975D6}"/>
              </a:ext>
            </a:extLst>
          </p:cNvPr>
          <p:cNvSpPr>
            <a:spLocks noGrp="1"/>
          </p:cNvSpPr>
          <p:nvPr>
            <p:ph type="title"/>
          </p:nvPr>
        </p:nvSpPr>
        <p:spPr/>
        <p:txBody>
          <a:bodyPr/>
          <a:lstStyle/>
          <a:p>
            <a:r>
              <a:rPr lang="en-GB" noProof="0" dirty="0"/>
              <a:t>Social engineering</a:t>
            </a:r>
          </a:p>
        </p:txBody>
      </p:sp>
    </p:spTree>
    <p:extLst>
      <p:ext uri="{BB962C8B-B14F-4D97-AF65-F5344CB8AC3E}">
        <p14:creationId xmlns:p14="http://schemas.microsoft.com/office/powerpoint/2010/main" val="14283873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AD1DC7-CA5F-F9C8-781D-DC2B163866BE}"/>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6C27B69-0D6D-D44B-858F-8690CF1266FE}"/>
              </a:ext>
            </a:extLst>
          </p:cNvPr>
          <p:cNvSpPr>
            <a:spLocks noGrp="1"/>
          </p:cNvSpPr>
          <p:nvPr>
            <p:ph idx="1"/>
          </p:nvPr>
        </p:nvSpPr>
        <p:spPr/>
        <p:txBody>
          <a:bodyPr>
            <a:normAutofit/>
          </a:bodyPr>
          <a:lstStyle/>
          <a:p>
            <a:r>
              <a:rPr lang="en-GB" noProof="0" dirty="0"/>
              <a:t>Which of these are signs of phishing - urgent language, misspellings, HTTPS or personalisation?</a:t>
            </a:r>
          </a:p>
          <a:p>
            <a:r>
              <a:rPr lang="en-GB" b="1" noProof="0" dirty="0">
                <a:solidFill>
                  <a:srgbClr val="C00000"/>
                </a:solidFill>
              </a:rPr>
              <a:t>Urgent language and misspellings are signs of phishing, while HTTPS and personalisation are usually signs of a legitimate message.</a:t>
            </a:r>
          </a:p>
          <a:p>
            <a:endParaRPr lang="en-GB" noProof="0" dirty="0"/>
          </a:p>
        </p:txBody>
      </p:sp>
      <p:sp>
        <p:nvSpPr>
          <p:cNvPr id="2" name="Title 1">
            <a:extLst>
              <a:ext uri="{FF2B5EF4-FFF2-40B4-BE49-F238E27FC236}">
                <a16:creationId xmlns:a16="http://schemas.microsoft.com/office/drawing/2014/main" id="{229611A8-9639-2AC2-0786-0317136134FC}"/>
              </a:ext>
            </a:extLst>
          </p:cNvPr>
          <p:cNvSpPr>
            <a:spLocks noGrp="1"/>
          </p:cNvSpPr>
          <p:nvPr>
            <p:ph type="title"/>
          </p:nvPr>
        </p:nvSpPr>
        <p:spPr/>
        <p:txBody>
          <a:bodyPr/>
          <a:lstStyle/>
          <a:p>
            <a:r>
              <a:rPr lang="en-GB" noProof="0" dirty="0"/>
              <a:t>Social engineering</a:t>
            </a:r>
          </a:p>
        </p:txBody>
      </p:sp>
    </p:spTree>
    <p:extLst>
      <p:ext uri="{BB962C8B-B14F-4D97-AF65-F5344CB8AC3E}">
        <p14:creationId xmlns:p14="http://schemas.microsoft.com/office/powerpoint/2010/main" val="10320718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D82C2307-CA04-1409-AFBE-4FFCB9522AFC}"/>
              </a:ext>
            </a:extLst>
          </p:cNvPr>
          <p:cNvSpPr>
            <a:spLocks noGrp="1"/>
          </p:cNvSpPr>
          <p:nvPr>
            <p:ph idx="1"/>
          </p:nvPr>
        </p:nvSpPr>
        <p:spPr/>
        <p:txBody>
          <a:bodyPr>
            <a:normAutofit lnSpcReduction="10000"/>
          </a:bodyPr>
          <a:lstStyle/>
          <a:p>
            <a:r>
              <a:rPr lang="en-GB" noProof="0" dirty="0"/>
              <a:t>You receive a phone call from someone claiming to be from your school’s IT department. They say your account has been hacked and ask for your password to fix it immediately.</a:t>
            </a:r>
          </a:p>
          <a:p>
            <a:pPr marL="742950" indent="-742950">
              <a:buFont typeface="+mj-lt"/>
              <a:buAutoNum type="arabicPeriod"/>
            </a:pPr>
            <a:r>
              <a:rPr lang="en-GB" noProof="0" dirty="0"/>
              <a:t>Write down the action you would take instead of giving them your password.</a:t>
            </a:r>
          </a:p>
          <a:p>
            <a:pPr marL="742950" indent="-742950">
              <a:buFont typeface="+mj-lt"/>
              <a:buAutoNum type="arabicPeriod"/>
            </a:pPr>
            <a:r>
              <a:rPr lang="en-GB" noProof="0" dirty="0"/>
              <a:t>Explain why you should never share your password over the phone.</a:t>
            </a:r>
          </a:p>
        </p:txBody>
      </p:sp>
      <p:sp>
        <p:nvSpPr>
          <p:cNvPr id="2" name="Title 1">
            <a:extLst>
              <a:ext uri="{FF2B5EF4-FFF2-40B4-BE49-F238E27FC236}">
                <a16:creationId xmlns:a16="http://schemas.microsoft.com/office/drawing/2014/main" id="{19614661-6AD8-FD6D-AF32-091B0E286C35}"/>
              </a:ext>
            </a:extLst>
          </p:cNvPr>
          <p:cNvSpPr>
            <a:spLocks noGrp="1"/>
          </p:cNvSpPr>
          <p:nvPr>
            <p:ph type="title"/>
          </p:nvPr>
        </p:nvSpPr>
        <p:spPr/>
        <p:txBody>
          <a:bodyPr/>
          <a:lstStyle/>
          <a:p>
            <a:r>
              <a:rPr lang="en-GB" noProof="0" dirty="0"/>
              <a:t>2: Social engineering</a:t>
            </a:r>
          </a:p>
        </p:txBody>
      </p:sp>
    </p:spTree>
    <p:extLst>
      <p:ext uri="{BB962C8B-B14F-4D97-AF65-F5344CB8AC3E}">
        <p14:creationId xmlns:p14="http://schemas.microsoft.com/office/powerpoint/2010/main" val="150922371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7A727D-F582-48BC-A667-F271A87C5DBD}"/>
            </a:ext>
          </a:extLst>
        </p:cNvPr>
        <p:cNvGrpSpPr/>
        <p:nvPr/>
      </p:nvGrpSpPr>
      <p:grpSpPr>
        <a:xfrm>
          <a:off x="0" y="0"/>
          <a:ext cx="0" cy="0"/>
          <a:chOff x="0" y="0"/>
          <a:chExt cx="0" cy="0"/>
        </a:xfrm>
      </p:grpSpPr>
      <p:sp>
        <p:nvSpPr>
          <p:cNvPr id="4" name="Content Placeholder 3">
            <a:extLst>
              <a:ext uri="{FF2B5EF4-FFF2-40B4-BE49-F238E27FC236}">
                <a16:creationId xmlns:a16="http://schemas.microsoft.com/office/drawing/2014/main" id="{51D67627-6A3C-2CC6-94FD-1B84083AC43F}"/>
              </a:ext>
            </a:extLst>
          </p:cNvPr>
          <p:cNvSpPr>
            <a:spLocks noGrp="1"/>
          </p:cNvSpPr>
          <p:nvPr>
            <p:ph idx="1"/>
          </p:nvPr>
        </p:nvSpPr>
        <p:spPr/>
        <p:txBody>
          <a:bodyPr>
            <a:normAutofit fontScale="92500" lnSpcReduction="20000"/>
          </a:bodyPr>
          <a:lstStyle/>
          <a:p>
            <a:pPr marL="742950" indent="-742950">
              <a:buFont typeface="+mj-lt"/>
              <a:buAutoNum type="arabicPeriod"/>
            </a:pPr>
            <a:r>
              <a:rPr lang="en-GB" noProof="0" dirty="0"/>
              <a:t>Write down the action you would take instead of giving them your password.</a:t>
            </a:r>
          </a:p>
          <a:p>
            <a:pPr marL="719138"/>
            <a:r>
              <a:rPr lang="en-GB" b="1" noProof="0" dirty="0">
                <a:solidFill>
                  <a:srgbClr val="C00000"/>
                </a:solidFill>
              </a:rPr>
              <a:t>I would hang up and report the call to the IT department directly.</a:t>
            </a:r>
          </a:p>
          <a:p>
            <a:pPr marL="742950" indent="-742950">
              <a:buFont typeface="+mj-lt"/>
              <a:buAutoNum type="arabicPeriod" startAt="2"/>
            </a:pPr>
            <a:r>
              <a:rPr lang="en-GB" noProof="0" dirty="0"/>
              <a:t>Explain why you should never share your password over the phone.</a:t>
            </a:r>
          </a:p>
          <a:p>
            <a:pPr marL="719138"/>
            <a:r>
              <a:rPr lang="en-GB" b="1" noProof="0" dirty="0">
                <a:solidFill>
                  <a:srgbClr val="C00000"/>
                </a:solidFill>
              </a:rPr>
              <a:t>Genuine IT staff will never ask for your password. Sharing it could compromise your account and allow someone to access your personal information.</a:t>
            </a:r>
          </a:p>
        </p:txBody>
      </p:sp>
      <p:sp>
        <p:nvSpPr>
          <p:cNvPr id="2" name="Title 1">
            <a:extLst>
              <a:ext uri="{FF2B5EF4-FFF2-40B4-BE49-F238E27FC236}">
                <a16:creationId xmlns:a16="http://schemas.microsoft.com/office/drawing/2014/main" id="{5A89CAE0-4F70-70D1-455B-D7180C2EC340}"/>
              </a:ext>
            </a:extLst>
          </p:cNvPr>
          <p:cNvSpPr>
            <a:spLocks noGrp="1"/>
          </p:cNvSpPr>
          <p:nvPr>
            <p:ph type="title"/>
          </p:nvPr>
        </p:nvSpPr>
        <p:spPr/>
        <p:txBody>
          <a:bodyPr/>
          <a:lstStyle/>
          <a:p>
            <a:r>
              <a:rPr lang="en-GB" sz="4400" noProof="0" dirty="0"/>
              <a:t>2: Social engineering </a:t>
            </a:r>
            <a:r>
              <a:rPr lang="en-GB" sz="4400" noProof="0" dirty="0">
                <a:solidFill>
                  <a:srgbClr val="C00000"/>
                </a:solidFill>
              </a:rPr>
              <a:t>ANSWERS</a:t>
            </a:r>
          </a:p>
        </p:txBody>
      </p:sp>
    </p:spTree>
    <p:extLst>
      <p:ext uri="{BB962C8B-B14F-4D97-AF65-F5344CB8AC3E}">
        <p14:creationId xmlns:p14="http://schemas.microsoft.com/office/powerpoint/2010/main" val="4428042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87C491-F774-8AE3-A8DA-0B91AE613D74}"/>
            </a:ext>
          </a:extLst>
        </p:cNvPr>
        <p:cNvGrpSpPr/>
        <p:nvPr/>
      </p:nvGrpSpPr>
      <p:grpSpPr>
        <a:xfrm>
          <a:off x="0" y="0"/>
          <a:ext cx="0" cy="0"/>
          <a:chOff x="0" y="0"/>
          <a:chExt cx="0" cy="0"/>
        </a:xfrm>
      </p:grpSpPr>
      <p:sp>
        <p:nvSpPr>
          <p:cNvPr id="6" name="Rectangle: Rounded Corners 5">
            <a:extLst>
              <a:ext uri="{FF2B5EF4-FFF2-40B4-BE49-F238E27FC236}">
                <a16:creationId xmlns:a16="http://schemas.microsoft.com/office/drawing/2014/main" id="{03A09D39-3684-14BE-0ADC-FE989121DE45}"/>
              </a:ext>
            </a:extLst>
          </p:cNvPr>
          <p:cNvSpPr/>
          <p:nvPr/>
        </p:nvSpPr>
        <p:spPr>
          <a:xfrm>
            <a:off x="280428" y="3139770"/>
            <a:ext cx="11364016" cy="763571"/>
          </a:xfrm>
          <a:prstGeom prst="round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2" name="Title 1">
            <a:extLst>
              <a:ext uri="{FF2B5EF4-FFF2-40B4-BE49-F238E27FC236}">
                <a16:creationId xmlns:a16="http://schemas.microsoft.com/office/drawing/2014/main" id="{48D1AD36-02A5-27AB-B2FA-F811DCFDDD9E}"/>
              </a:ext>
            </a:extLst>
          </p:cNvPr>
          <p:cNvSpPr>
            <a:spLocks noGrp="1"/>
          </p:cNvSpPr>
          <p:nvPr>
            <p:ph type="title"/>
          </p:nvPr>
        </p:nvSpPr>
        <p:spPr/>
        <p:txBody>
          <a:bodyPr/>
          <a:lstStyle/>
          <a:p>
            <a:r>
              <a:rPr lang="en-GB" noProof="0" dirty="0"/>
              <a:t>Steps to success</a:t>
            </a:r>
          </a:p>
        </p:txBody>
      </p:sp>
      <p:sp>
        <p:nvSpPr>
          <p:cNvPr id="3" name="Content Placeholder 2">
            <a:extLst>
              <a:ext uri="{FF2B5EF4-FFF2-40B4-BE49-F238E27FC236}">
                <a16:creationId xmlns:a16="http://schemas.microsoft.com/office/drawing/2014/main" id="{9BAC321D-6C2B-EFC4-AF5A-7E0D155A9411}"/>
              </a:ext>
            </a:extLst>
          </p:cNvPr>
          <p:cNvSpPr>
            <a:spLocks noGrp="1"/>
          </p:cNvSpPr>
          <p:nvPr>
            <p:ph idx="1"/>
          </p:nvPr>
        </p:nvSpPr>
        <p:spPr>
          <a:xfrm>
            <a:off x="413992" y="1581149"/>
            <a:ext cx="10749308" cy="4685481"/>
          </a:xfrm>
        </p:spPr>
        <p:txBody>
          <a:bodyPr/>
          <a:lstStyle/>
          <a:p>
            <a:pPr marL="809625" indent="-723900">
              <a:buClr>
                <a:srgbClr val="C00000"/>
              </a:buClr>
              <a:buSzPct val="107000"/>
              <a:buFont typeface="+mj-lt"/>
              <a:buAutoNum type="arabicPeriod"/>
            </a:pPr>
            <a:r>
              <a:rPr lang="en-GB" sz="3600" noProof="0" dirty="0"/>
              <a:t>Malware</a:t>
            </a:r>
          </a:p>
          <a:p>
            <a:pPr marL="809625" indent="-723900">
              <a:buClr>
                <a:srgbClr val="C00000"/>
              </a:buClr>
              <a:buSzPct val="107000"/>
              <a:buFont typeface="+mj-lt"/>
              <a:buAutoNum type="arabicPeriod"/>
            </a:pPr>
            <a:r>
              <a:rPr lang="en-GB" sz="3600" noProof="0" dirty="0"/>
              <a:t>Social engineering</a:t>
            </a:r>
          </a:p>
          <a:p>
            <a:pPr marL="809625" indent="-723900">
              <a:buClr>
                <a:srgbClr val="C00000"/>
              </a:buClr>
              <a:buSzPct val="107000"/>
              <a:buFont typeface="+mj-lt"/>
              <a:buAutoNum type="arabicPeriod"/>
            </a:pPr>
            <a:r>
              <a:rPr lang="en-GB" sz="3600" noProof="0" dirty="0"/>
              <a:t>Hacking</a:t>
            </a:r>
          </a:p>
          <a:p>
            <a:endParaRPr lang="en-GB" noProof="0" dirty="0"/>
          </a:p>
        </p:txBody>
      </p:sp>
    </p:spTree>
    <p:extLst>
      <p:ext uri="{BB962C8B-B14F-4D97-AF65-F5344CB8AC3E}">
        <p14:creationId xmlns:p14="http://schemas.microsoft.com/office/powerpoint/2010/main" val="20644274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B593B02-DEB6-CF37-7DCD-65A929E961E7}"/>
              </a:ext>
            </a:extLst>
          </p:cNvPr>
          <p:cNvSpPr>
            <a:spLocks noGrp="1"/>
          </p:cNvSpPr>
          <p:nvPr>
            <p:ph type="title"/>
          </p:nvPr>
        </p:nvSpPr>
        <p:spPr/>
        <p:txBody>
          <a:bodyPr/>
          <a:lstStyle/>
          <a:p>
            <a:r>
              <a:rPr lang="en-GB" noProof="0" dirty="0"/>
              <a:t>Hacking</a:t>
            </a:r>
          </a:p>
        </p:txBody>
      </p:sp>
      <p:sp>
        <p:nvSpPr>
          <p:cNvPr id="5" name="Content Placeholder 4">
            <a:extLst>
              <a:ext uri="{FF2B5EF4-FFF2-40B4-BE49-F238E27FC236}">
                <a16:creationId xmlns:a16="http://schemas.microsoft.com/office/drawing/2014/main" id="{29D85CA3-DAE3-93CA-31AB-C5243871CEE1}"/>
              </a:ext>
            </a:extLst>
          </p:cNvPr>
          <p:cNvSpPr>
            <a:spLocks noGrp="1"/>
          </p:cNvSpPr>
          <p:nvPr>
            <p:ph idx="1"/>
          </p:nvPr>
        </p:nvSpPr>
        <p:spPr/>
        <p:txBody>
          <a:bodyPr/>
          <a:lstStyle/>
          <a:p>
            <a:r>
              <a:rPr lang="en-GB" noProof="0" dirty="0"/>
              <a:t>Hacking is the process of gaining unauthorised access to a computer system, network or data.</a:t>
            </a:r>
          </a:p>
          <a:p>
            <a:r>
              <a:rPr lang="en-GB" noProof="0" dirty="0"/>
              <a:t>Hackers use their technical skills to bypass security systems, but their intentions can vary.</a:t>
            </a:r>
          </a:p>
        </p:txBody>
      </p:sp>
    </p:spTree>
    <p:extLst>
      <p:ext uri="{BB962C8B-B14F-4D97-AF65-F5344CB8AC3E}">
        <p14:creationId xmlns:p14="http://schemas.microsoft.com/office/powerpoint/2010/main" val="18001169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uiExpand="1" build="p"/>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61F9E6-23DA-12A1-B9A8-2278A32B2D71}"/>
              </a:ext>
            </a:extLst>
          </p:cNvPr>
          <p:cNvSpPr>
            <a:spLocks noGrp="1"/>
          </p:cNvSpPr>
          <p:nvPr>
            <p:ph type="title"/>
          </p:nvPr>
        </p:nvSpPr>
        <p:spPr/>
        <p:txBody>
          <a:bodyPr/>
          <a:lstStyle/>
          <a:p>
            <a:r>
              <a:rPr lang="en-GB" noProof="0" dirty="0"/>
              <a:t>Hacking</a:t>
            </a:r>
          </a:p>
        </p:txBody>
      </p:sp>
      <p:sp>
        <p:nvSpPr>
          <p:cNvPr id="3" name="Content Placeholder 2">
            <a:extLst>
              <a:ext uri="{FF2B5EF4-FFF2-40B4-BE49-F238E27FC236}">
                <a16:creationId xmlns:a16="http://schemas.microsoft.com/office/drawing/2014/main" id="{6C489DD7-AA36-C43A-DEF6-8879A07AF1AE}"/>
              </a:ext>
            </a:extLst>
          </p:cNvPr>
          <p:cNvSpPr>
            <a:spLocks noGrp="1"/>
          </p:cNvSpPr>
          <p:nvPr>
            <p:ph idx="1"/>
          </p:nvPr>
        </p:nvSpPr>
        <p:spPr>
          <a:xfrm>
            <a:off x="2075380" y="1313895"/>
            <a:ext cx="9783539" cy="4952736"/>
          </a:xfrm>
        </p:spPr>
        <p:txBody>
          <a:bodyPr>
            <a:normAutofit fontScale="92500"/>
          </a:bodyPr>
          <a:lstStyle/>
          <a:p>
            <a:r>
              <a:rPr lang="en-GB" b="1" noProof="0" dirty="0"/>
              <a:t>White Hat Hackers (Ethical Hackers): </a:t>
            </a:r>
            <a:r>
              <a:rPr lang="en-GB" noProof="0" dirty="0"/>
              <a:t>Use hacking skills to help protect systems and improve security.</a:t>
            </a:r>
          </a:p>
          <a:p>
            <a:r>
              <a:rPr lang="en-GB" b="1" noProof="0" dirty="0"/>
              <a:t>Black Hat Hackers (Malicious Hackers): </a:t>
            </a:r>
            <a:r>
              <a:rPr lang="en-GB" noProof="0" dirty="0"/>
              <a:t>Use hacking skills to cause harm, steal data or break the law.</a:t>
            </a:r>
          </a:p>
          <a:p>
            <a:r>
              <a:rPr lang="en-GB" b="1" noProof="0" dirty="0"/>
              <a:t>Grey Hat Hackers: </a:t>
            </a:r>
            <a:r>
              <a:rPr lang="en-GB" noProof="0" dirty="0"/>
              <a:t>Operate between the two, sometimes hacking without permission but without malicious intent.</a:t>
            </a:r>
          </a:p>
        </p:txBody>
      </p:sp>
      <p:pic>
        <p:nvPicPr>
          <p:cNvPr id="9" name="Picture 8" descr="White hat">
            <a:extLst>
              <a:ext uri="{FF2B5EF4-FFF2-40B4-BE49-F238E27FC236}">
                <a16:creationId xmlns:a16="http://schemas.microsoft.com/office/drawing/2014/main" id="{CED983BA-D457-228E-9825-EF12BECFF961}"/>
              </a:ext>
            </a:extLst>
          </p:cNvPr>
          <p:cNvPicPr>
            <a:picLocks noChangeAspect="1"/>
          </p:cNvPicPr>
          <p:nvPr/>
        </p:nvPicPr>
        <p:blipFill>
          <a:blip r:embed="rId2">
            <a:extLst>
              <a:ext uri="{28A0092B-C50C-407E-A947-70E740481C1C}">
                <a14:useLocalDpi xmlns:a14="http://schemas.microsoft.com/office/drawing/2010/main" val="0"/>
              </a:ext>
            </a:extLst>
          </a:blip>
          <a:srcRect l="24657" r="33021" b="65872"/>
          <a:stretch/>
        </p:blipFill>
        <p:spPr>
          <a:xfrm>
            <a:off x="413993" y="1200879"/>
            <a:ext cx="1509709" cy="1521772"/>
          </a:xfrm>
          <a:prstGeom prst="rect">
            <a:avLst/>
          </a:prstGeom>
        </p:spPr>
      </p:pic>
      <p:pic>
        <p:nvPicPr>
          <p:cNvPr id="10" name="Picture 9" descr="Black hat">
            <a:extLst>
              <a:ext uri="{FF2B5EF4-FFF2-40B4-BE49-F238E27FC236}">
                <a16:creationId xmlns:a16="http://schemas.microsoft.com/office/drawing/2014/main" id="{22F4B814-2989-C8B6-502E-6B94C2F1D6A5}"/>
              </a:ext>
            </a:extLst>
          </p:cNvPr>
          <p:cNvPicPr>
            <a:picLocks noChangeAspect="1"/>
          </p:cNvPicPr>
          <p:nvPr/>
        </p:nvPicPr>
        <p:blipFill>
          <a:blip r:embed="rId2">
            <a:extLst>
              <a:ext uri="{28A0092B-C50C-407E-A947-70E740481C1C}">
                <a14:useLocalDpi xmlns:a14="http://schemas.microsoft.com/office/drawing/2010/main" val="0"/>
              </a:ext>
            </a:extLst>
          </a:blip>
          <a:srcRect l="24945" t="65981" r="32733" b="1253"/>
          <a:stretch/>
        </p:blipFill>
        <p:spPr>
          <a:xfrm>
            <a:off x="413990" y="2937667"/>
            <a:ext cx="1509709" cy="1460999"/>
          </a:xfrm>
          <a:prstGeom prst="rect">
            <a:avLst/>
          </a:prstGeom>
        </p:spPr>
      </p:pic>
      <p:pic>
        <p:nvPicPr>
          <p:cNvPr id="11" name="Picture 10" descr="Grey hat">
            <a:extLst>
              <a:ext uri="{FF2B5EF4-FFF2-40B4-BE49-F238E27FC236}">
                <a16:creationId xmlns:a16="http://schemas.microsoft.com/office/drawing/2014/main" id="{AF5D50B8-72AC-8B1E-E715-5DE921AE7410}"/>
              </a:ext>
            </a:extLst>
          </p:cNvPr>
          <p:cNvPicPr>
            <a:picLocks noChangeAspect="1"/>
          </p:cNvPicPr>
          <p:nvPr/>
        </p:nvPicPr>
        <p:blipFill>
          <a:blip r:embed="rId2">
            <a:extLst>
              <a:ext uri="{28A0092B-C50C-407E-A947-70E740481C1C}">
                <a14:useLocalDpi xmlns:a14="http://schemas.microsoft.com/office/drawing/2010/main" val="0"/>
              </a:ext>
            </a:extLst>
          </a:blip>
          <a:srcRect l="24301" t="33751" r="33377" b="34146"/>
          <a:stretch/>
        </p:blipFill>
        <p:spPr>
          <a:xfrm>
            <a:off x="413991" y="4613683"/>
            <a:ext cx="1509709" cy="1431517"/>
          </a:xfrm>
          <a:prstGeom prst="rect">
            <a:avLst/>
          </a:prstGeom>
        </p:spPr>
      </p:pic>
    </p:spTree>
    <p:extLst>
      <p:ext uri="{BB962C8B-B14F-4D97-AF65-F5344CB8AC3E}">
        <p14:creationId xmlns:p14="http://schemas.microsoft.com/office/powerpoint/2010/main" val="15934531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D14A95-AB3C-72ED-6F82-3489AB2FAC22}"/>
              </a:ext>
            </a:extLst>
          </p:cNvPr>
          <p:cNvSpPr>
            <a:spLocks noGrp="1"/>
          </p:cNvSpPr>
          <p:nvPr>
            <p:ph type="title"/>
          </p:nvPr>
        </p:nvSpPr>
        <p:spPr/>
        <p:txBody>
          <a:bodyPr/>
          <a:lstStyle/>
          <a:p>
            <a:r>
              <a:rPr lang="en-GB" noProof="0" dirty="0"/>
              <a:t>Hacking</a:t>
            </a:r>
          </a:p>
        </p:txBody>
      </p:sp>
      <p:sp>
        <p:nvSpPr>
          <p:cNvPr id="3" name="Content Placeholder 2">
            <a:extLst>
              <a:ext uri="{FF2B5EF4-FFF2-40B4-BE49-F238E27FC236}">
                <a16:creationId xmlns:a16="http://schemas.microsoft.com/office/drawing/2014/main" id="{922A5219-B681-31C5-36CA-BC54BB85A975}"/>
              </a:ext>
            </a:extLst>
          </p:cNvPr>
          <p:cNvSpPr>
            <a:spLocks noGrp="1"/>
          </p:cNvSpPr>
          <p:nvPr>
            <p:ph idx="1"/>
          </p:nvPr>
        </p:nvSpPr>
        <p:spPr/>
        <p:txBody>
          <a:bodyPr>
            <a:normAutofit/>
          </a:bodyPr>
          <a:lstStyle/>
          <a:p>
            <a:pPr>
              <a:spcAft>
                <a:spcPts val="600"/>
              </a:spcAft>
            </a:pPr>
            <a:r>
              <a:rPr lang="en-GB" b="1" noProof="0" dirty="0"/>
              <a:t>Ethical hackers (white hats):</a:t>
            </a:r>
          </a:p>
          <a:p>
            <a:pPr>
              <a:spcAft>
                <a:spcPts val="600"/>
              </a:spcAft>
            </a:pPr>
            <a:r>
              <a:rPr lang="en-GB" noProof="0" dirty="0"/>
              <a:t>Work with permission to find weaknesses in systems and help improve security.</a:t>
            </a:r>
          </a:p>
          <a:p>
            <a:pPr>
              <a:spcAft>
                <a:spcPts val="600"/>
              </a:spcAft>
            </a:pPr>
            <a:r>
              <a:rPr lang="en-GB" noProof="0" dirty="0"/>
              <a:t>Help organisations protect data and prevent attacks.</a:t>
            </a:r>
          </a:p>
          <a:p>
            <a:pPr>
              <a:spcAft>
                <a:spcPts val="600"/>
              </a:spcAft>
            </a:pPr>
            <a:r>
              <a:rPr lang="en-GB" noProof="0" dirty="0"/>
              <a:t>They follow the law and ethical guidelines.</a:t>
            </a:r>
          </a:p>
        </p:txBody>
      </p:sp>
      <p:pic>
        <p:nvPicPr>
          <p:cNvPr id="5" name="Picture 4" descr="White hat">
            <a:extLst>
              <a:ext uri="{FF2B5EF4-FFF2-40B4-BE49-F238E27FC236}">
                <a16:creationId xmlns:a16="http://schemas.microsoft.com/office/drawing/2014/main" id="{E3DF59EF-FC1E-47C5-71DD-37E4F4C770E8}"/>
              </a:ext>
            </a:extLst>
          </p:cNvPr>
          <p:cNvPicPr>
            <a:picLocks noChangeAspect="1"/>
          </p:cNvPicPr>
          <p:nvPr/>
        </p:nvPicPr>
        <p:blipFill>
          <a:blip r:embed="rId2">
            <a:extLst>
              <a:ext uri="{28A0092B-C50C-407E-A947-70E740481C1C}">
                <a14:useLocalDpi xmlns:a14="http://schemas.microsoft.com/office/drawing/2010/main" val="0"/>
              </a:ext>
            </a:extLst>
          </a:blip>
          <a:srcRect l="24657" r="33021" b="65872"/>
          <a:stretch/>
        </p:blipFill>
        <p:spPr>
          <a:xfrm>
            <a:off x="10072343" y="343629"/>
            <a:ext cx="1509709" cy="1521772"/>
          </a:xfrm>
          <a:prstGeom prst="rect">
            <a:avLst/>
          </a:prstGeom>
        </p:spPr>
      </p:pic>
    </p:spTree>
    <p:extLst>
      <p:ext uri="{BB962C8B-B14F-4D97-AF65-F5344CB8AC3E}">
        <p14:creationId xmlns:p14="http://schemas.microsoft.com/office/powerpoint/2010/main" val="12815285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DEA346-E0A7-367B-1922-2A9D32D2E62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D68DCF6-038F-4E3F-9B44-3359003F3137}"/>
              </a:ext>
            </a:extLst>
          </p:cNvPr>
          <p:cNvSpPr>
            <a:spLocks noGrp="1"/>
          </p:cNvSpPr>
          <p:nvPr>
            <p:ph type="title"/>
          </p:nvPr>
        </p:nvSpPr>
        <p:spPr/>
        <p:txBody>
          <a:bodyPr/>
          <a:lstStyle/>
          <a:p>
            <a:r>
              <a:rPr lang="en-GB" noProof="0" dirty="0"/>
              <a:t>Hacking</a:t>
            </a:r>
          </a:p>
        </p:txBody>
      </p:sp>
      <p:sp>
        <p:nvSpPr>
          <p:cNvPr id="3" name="Content Placeholder 2">
            <a:extLst>
              <a:ext uri="{FF2B5EF4-FFF2-40B4-BE49-F238E27FC236}">
                <a16:creationId xmlns:a16="http://schemas.microsoft.com/office/drawing/2014/main" id="{E10B5D28-B12F-7460-11CD-5E6194190482}"/>
              </a:ext>
            </a:extLst>
          </p:cNvPr>
          <p:cNvSpPr>
            <a:spLocks noGrp="1"/>
          </p:cNvSpPr>
          <p:nvPr>
            <p:ph idx="1"/>
          </p:nvPr>
        </p:nvSpPr>
        <p:spPr/>
        <p:txBody>
          <a:bodyPr>
            <a:normAutofit/>
          </a:bodyPr>
          <a:lstStyle/>
          <a:p>
            <a:pPr>
              <a:spcAft>
                <a:spcPts val="600"/>
              </a:spcAft>
            </a:pPr>
            <a:r>
              <a:rPr lang="en-GB" b="1" noProof="0" dirty="0"/>
              <a:t>Malicious hackers (black hats):</a:t>
            </a:r>
          </a:p>
          <a:p>
            <a:pPr>
              <a:spcAft>
                <a:spcPts val="600"/>
              </a:spcAft>
            </a:pPr>
            <a:r>
              <a:rPr lang="en-GB" noProof="0" dirty="0"/>
              <a:t>Break into systems without permission to steal data or cause damage.</a:t>
            </a:r>
          </a:p>
          <a:p>
            <a:pPr>
              <a:spcAft>
                <a:spcPts val="600"/>
              </a:spcAft>
            </a:pPr>
            <a:r>
              <a:rPr lang="en-GB" noProof="0" dirty="0"/>
              <a:t>Use hacking skills for illegal activities such as spreading malware or stealing money.</a:t>
            </a:r>
          </a:p>
          <a:p>
            <a:pPr>
              <a:spcAft>
                <a:spcPts val="600"/>
              </a:spcAft>
            </a:pPr>
            <a:r>
              <a:rPr lang="en-GB" noProof="0" dirty="0"/>
              <a:t>They prioritise personal gain over others’ safety.</a:t>
            </a:r>
          </a:p>
        </p:txBody>
      </p:sp>
      <p:pic>
        <p:nvPicPr>
          <p:cNvPr id="6" name="Picture 5" descr="Black hat">
            <a:extLst>
              <a:ext uri="{FF2B5EF4-FFF2-40B4-BE49-F238E27FC236}">
                <a16:creationId xmlns:a16="http://schemas.microsoft.com/office/drawing/2014/main" id="{55A56780-E891-D177-5F18-F1C0E4A338D5}"/>
              </a:ext>
            </a:extLst>
          </p:cNvPr>
          <p:cNvPicPr>
            <a:picLocks noChangeAspect="1"/>
          </p:cNvPicPr>
          <p:nvPr/>
        </p:nvPicPr>
        <p:blipFill>
          <a:blip r:embed="rId2">
            <a:extLst>
              <a:ext uri="{28A0092B-C50C-407E-A947-70E740481C1C}">
                <a14:useLocalDpi xmlns:a14="http://schemas.microsoft.com/office/drawing/2010/main" val="0"/>
              </a:ext>
            </a:extLst>
          </a:blip>
          <a:srcRect l="24945" t="65981" r="32733" b="1253"/>
          <a:stretch/>
        </p:blipFill>
        <p:spPr>
          <a:xfrm>
            <a:off x="10072342" y="404402"/>
            <a:ext cx="1509709" cy="1460999"/>
          </a:xfrm>
          <a:prstGeom prst="rect">
            <a:avLst/>
          </a:prstGeom>
        </p:spPr>
      </p:pic>
    </p:spTree>
    <p:extLst>
      <p:ext uri="{BB962C8B-B14F-4D97-AF65-F5344CB8AC3E}">
        <p14:creationId xmlns:p14="http://schemas.microsoft.com/office/powerpoint/2010/main" val="482856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D4EF7C-E7E0-336C-9563-681EB3D70873}"/>
              </a:ext>
            </a:extLst>
          </p:cNvPr>
          <p:cNvSpPr>
            <a:spLocks noGrp="1"/>
          </p:cNvSpPr>
          <p:nvPr>
            <p:ph type="title"/>
          </p:nvPr>
        </p:nvSpPr>
        <p:spPr/>
        <p:txBody>
          <a:bodyPr/>
          <a:lstStyle/>
          <a:p>
            <a:r>
              <a:rPr lang="en-GB" noProof="0" dirty="0"/>
              <a:t>Hacking</a:t>
            </a:r>
          </a:p>
        </p:txBody>
      </p:sp>
      <p:sp>
        <p:nvSpPr>
          <p:cNvPr id="3" name="Content Placeholder 2">
            <a:extLst>
              <a:ext uri="{FF2B5EF4-FFF2-40B4-BE49-F238E27FC236}">
                <a16:creationId xmlns:a16="http://schemas.microsoft.com/office/drawing/2014/main" id="{B7E42CA2-79C6-B080-B4D3-CDAD11241070}"/>
              </a:ext>
            </a:extLst>
          </p:cNvPr>
          <p:cNvSpPr>
            <a:spLocks noGrp="1"/>
          </p:cNvSpPr>
          <p:nvPr>
            <p:ph idx="1"/>
          </p:nvPr>
        </p:nvSpPr>
        <p:spPr/>
        <p:txBody>
          <a:bodyPr>
            <a:normAutofit fontScale="92500" lnSpcReduction="20000"/>
          </a:bodyPr>
          <a:lstStyle/>
          <a:p>
            <a:r>
              <a:rPr lang="en-GB" noProof="0" dirty="0"/>
              <a:t>Ethical hackers protect organisations by:</a:t>
            </a:r>
          </a:p>
          <a:p>
            <a:r>
              <a:rPr lang="en-GB" noProof="0" dirty="0"/>
              <a:t>Identifying vulnerabilities before malicious hackers can exploit them.</a:t>
            </a:r>
          </a:p>
          <a:p>
            <a:r>
              <a:rPr lang="en-GB" noProof="0" dirty="0"/>
              <a:t>Testing security systems to ensure they are strong and reliable.</a:t>
            </a:r>
          </a:p>
          <a:p>
            <a:r>
              <a:rPr lang="en-GB" noProof="0" dirty="0"/>
              <a:t>Helping companies comply with cybersecurity laws and standards.</a:t>
            </a:r>
          </a:p>
          <a:p>
            <a:r>
              <a:rPr lang="en-GB" noProof="0" dirty="0"/>
              <a:t>Without ethical hacking, organisations are at greater risk of data breaches and financial loss.</a:t>
            </a:r>
          </a:p>
        </p:txBody>
      </p:sp>
      <p:pic>
        <p:nvPicPr>
          <p:cNvPr id="4" name="Picture 3" descr="White hat">
            <a:extLst>
              <a:ext uri="{FF2B5EF4-FFF2-40B4-BE49-F238E27FC236}">
                <a16:creationId xmlns:a16="http://schemas.microsoft.com/office/drawing/2014/main" id="{2715108A-E39E-0C32-2B01-7880B4D05DB4}"/>
              </a:ext>
            </a:extLst>
          </p:cNvPr>
          <p:cNvPicPr>
            <a:picLocks noChangeAspect="1"/>
          </p:cNvPicPr>
          <p:nvPr/>
        </p:nvPicPr>
        <p:blipFill>
          <a:blip r:embed="rId2">
            <a:extLst>
              <a:ext uri="{28A0092B-C50C-407E-A947-70E740481C1C}">
                <a14:useLocalDpi xmlns:a14="http://schemas.microsoft.com/office/drawing/2010/main" val="0"/>
              </a:ext>
            </a:extLst>
          </a:blip>
          <a:srcRect l="24657" r="33021" b="65872"/>
          <a:stretch/>
        </p:blipFill>
        <p:spPr>
          <a:xfrm>
            <a:off x="10072343" y="343629"/>
            <a:ext cx="1509709" cy="1521772"/>
          </a:xfrm>
          <a:prstGeom prst="rect">
            <a:avLst/>
          </a:prstGeom>
        </p:spPr>
      </p:pic>
    </p:spTree>
    <p:extLst>
      <p:ext uri="{BB962C8B-B14F-4D97-AF65-F5344CB8AC3E}">
        <p14:creationId xmlns:p14="http://schemas.microsoft.com/office/powerpoint/2010/main" val="37568750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3C15BD-E8AE-AB75-1CFF-5D000E3E3A1C}"/>
              </a:ext>
            </a:extLst>
          </p:cNvPr>
          <p:cNvSpPr>
            <a:spLocks noGrp="1"/>
          </p:cNvSpPr>
          <p:nvPr>
            <p:ph type="title"/>
          </p:nvPr>
        </p:nvSpPr>
        <p:spPr/>
        <p:txBody>
          <a:bodyPr/>
          <a:lstStyle/>
          <a:p>
            <a:r>
              <a:rPr lang="en-GB" noProof="0" dirty="0"/>
              <a:t>Hacking</a:t>
            </a:r>
          </a:p>
        </p:txBody>
      </p:sp>
      <p:sp>
        <p:nvSpPr>
          <p:cNvPr id="3" name="Content Placeholder 2">
            <a:extLst>
              <a:ext uri="{FF2B5EF4-FFF2-40B4-BE49-F238E27FC236}">
                <a16:creationId xmlns:a16="http://schemas.microsoft.com/office/drawing/2014/main" id="{13EB1EE8-35A9-E88C-9F63-09988A4EEF0D}"/>
              </a:ext>
            </a:extLst>
          </p:cNvPr>
          <p:cNvSpPr>
            <a:spLocks noGrp="1"/>
          </p:cNvSpPr>
          <p:nvPr>
            <p:ph idx="1"/>
          </p:nvPr>
        </p:nvSpPr>
        <p:spPr/>
        <p:txBody>
          <a:bodyPr/>
          <a:lstStyle/>
          <a:p>
            <a:r>
              <a:rPr lang="en-GB" b="1" noProof="0" dirty="0"/>
              <a:t>Example 1: </a:t>
            </a:r>
            <a:r>
              <a:rPr lang="en-GB" noProof="0" dirty="0"/>
              <a:t>Ethical hackers find flaws </a:t>
            </a:r>
            <a:br>
              <a:rPr lang="en-GB" noProof="0" dirty="0"/>
            </a:br>
            <a:r>
              <a:rPr lang="en-GB" noProof="0" dirty="0"/>
              <a:t>in online banking systems, ensuring </a:t>
            </a:r>
            <a:br>
              <a:rPr lang="en-GB" noProof="0" dirty="0"/>
            </a:br>
            <a:r>
              <a:rPr lang="en-GB" noProof="0" dirty="0"/>
              <a:t>customer accounts remain secure.</a:t>
            </a:r>
          </a:p>
          <a:p>
            <a:r>
              <a:rPr lang="en-GB" b="1" noProof="0" dirty="0"/>
              <a:t>Example 2: </a:t>
            </a:r>
            <a:r>
              <a:rPr lang="en-GB" noProof="0" dirty="0"/>
              <a:t>Companies hire ethical hackers to test their websites and prevent data leaks.</a:t>
            </a:r>
          </a:p>
          <a:p>
            <a:r>
              <a:rPr lang="en-GB" b="1" noProof="0" dirty="0"/>
              <a:t>Example 3: </a:t>
            </a:r>
            <a:r>
              <a:rPr lang="en-GB" noProof="0" dirty="0"/>
              <a:t>Governments use ethical hackers to protect national security from cyber threats.</a:t>
            </a:r>
          </a:p>
        </p:txBody>
      </p:sp>
      <p:pic>
        <p:nvPicPr>
          <p:cNvPr id="4" name="Picture 3" descr="White hat">
            <a:extLst>
              <a:ext uri="{FF2B5EF4-FFF2-40B4-BE49-F238E27FC236}">
                <a16:creationId xmlns:a16="http://schemas.microsoft.com/office/drawing/2014/main" id="{6AE42E5E-0814-02CF-5455-BA6AEDA012AA}"/>
              </a:ext>
            </a:extLst>
          </p:cNvPr>
          <p:cNvPicPr>
            <a:picLocks noChangeAspect="1"/>
          </p:cNvPicPr>
          <p:nvPr/>
        </p:nvPicPr>
        <p:blipFill>
          <a:blip r:embed="rId2">
            <a:extLst>
              <a:ext uri="{28A0092B-C50C-407E-A947-70E740481C1C}">
                <a14:useLocalDpi xmlns:a14="http://schemas.microsoft.com/office/drawing/2010/main" val="0"/>
              </a:ext>
            </a:extLst>
          </a:blip>
          <a:srcRect l="24657" r="33021" b="65872"/>
          <a:stretch/>
        </p:blipFill>
        <p:spPr>
          <a:xfrm>
            <a:off x="10072343" y="343629"/>
            <a:ext cx="1509709" cy="1521772"/>
          </a:xfrm>
          <a:prstGeom prst="rect">
            <a:avLst/>
          </a:prstGeom>
        </p:spPr>
      </p:pic>
    </p:spTree>
    <p:extLst>
      <p:ext uri="{BB962C8B-B14F-4D97-AF65-F5344CB8AC3E}">
        <p14:creationId xmlns:p14="http://schemas.microsoft.com/office/powerpoint/2010/main" val="14388830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1CFEBF7-3533-42A3-B84C-BAB367F7E601}"/>
              </a:ext>
            </a:extLst>
          </p:cNvPr>
          <p:cNvSpPr>
            <a:spLocks noGrp="1"/>
          </p:cNvSpPr>
          <p:nvPr>
            <p:ph idx="1"/>
          </p:nvPr>
        </p:nvSpPr>
        <p:spPr/>
        <p:txBody>
          <a:bodyPr/>
          <a:lstStyle/>
          <a:p>
            <a:r>
              <a:rPr lang="en-GB" noProof="0" dirty="0"/>
              <a:t>Match up the types of hacker to their description:</a:t>
            </a:r>
          </a:p>
        </p:txBody>
      </p:sp>
      <p:sp>
        <p:nvSpPr>
          <p:cNvPr id="2" name="Title 1">
            <a:extLst>
              <a:ext uri="{FF2B5EF4-FFF2-40B4-BE49-F238E27FC236}">
                <a16:creationId xmlns:a16="http://schemas.microsoft.com/office/drawing/2014/main" id="{3468276F-55E9-C987-B7C8-7121766FA77E}"/>
              </a:ext>
            </a:extLst>
          </p:cNvPr>
          <p:cNvSpPr>
            <a:spLocks noGrp="1"/>
          </p:cNvSpPr>
          <p:nvPr>
            <p:ph type="title"/>
          </p:nvPr>
        </p:nvSpPr>
        <p:spPr/>
        <p:txBody>
          <a:bodyPr/>
          <a:lstStyle/>
          <a:p>
            <a:r>
              <a:rPr lang="en-GB" noProof="0" dirty="0"/>
              <a:t>Hacking</a:t>
            </a:r>
          </a:p>
        </p:txBody>
      </p:sp>
      <p:sp>
        <p:nvSpPr>
          <p:cNvPr id="4" name="TextBox 3">
            <a:extLst>
              <a:ext uri="{FF2B5EF4-FFF2-40B4-BE49-F238E27FC236}">
                <a16:creationId xmlns:a16="http://schemas.microsoft.com/office/drawing/2014/main" id="{C228D49F-0253-ADD3-519A-11E02E264C32}"/>
              </a:ext>
            </a:extLst>
          </p:cNvPr>
          <p:cNvSpPr txBox="1"/>
          <p:nvPr/>
        </p:nvSpPr>
        <p:spPr>
          <a:xfrm>
            <a:off x="144519" y="4071433"/>
            <a:ext cx="3560310" cy="2276008"/>
          </a:xfrm>
          <a:prstGeom prst="rect">
            <a:avLst/>
          </a:prstGeom>
          <a:noFill/>
        </p:spPr>
        <p:txBody>
          <a:bodyPr wrap="square" rtlCol="0">
            <a:spAutoFit/>
          </a:bodyPr>
          <a:lstStyle/>
          <a:p>
            <a:pPr algn="ctr">
              <a:lnSpc>
                <a:spcPct val="80000"/>
              </a:lnSpc>
            </a:pPr>
            <a:r>
              <a:rPr lang="en-GB" sz="2200" noProof="0" dirty="0">
                <a:solidFill>
                  <a:srgbClr val="002570"/>
                </a:solidFill>
                <a:latin typeface="OpenDyslexicAlta" panose="00000500000000000000" pitchFamily="50" charset="0"/>
              </a:rPr>
              <a:t>This hacker works without permission but does not intend to cause harm. They might find security flaws and report them but their actions are still unauthorised.</a:t>
            </a:r>
          </a:p>
        </p:txBody>
      </p:sp>
      <p:sp>
        <p:nvSpPr>
          <p:cNvPr id="5" name="TextBox 4">
            <a:extLst>
              <a:ext uri="{FF2B5EF4-FFF2-40B4-BE49-F238E27FC236}">
                <a16:creationId xmlns:a16="http://schemas.microsoft.com/office/drawing/2014/main" id="{5315721B-FD38-4C70-A25F-1AD9B3CD6B3D}"/>
              </a:ext>
            </a:extLst>
          </p:cNvPr>
          <p:cNvSpPr txBox="1"/>
          <p:nvPr/>
        </p:nvSpPr>
        <p:spPr>
          <a:xfrm>
            <a:off x="4221564" y="4070532"/>
            <a:ext cx="3560310" cy="2005164"/>
          </a:xfrm>
          <a:prstGeom prst="rect">
            <a:avLst/>
          </a:prstGeom>
          <a:noFill/>
        </p:spPr>
        <p:txBody>
          <a:bodyPr wrap="square" rtlCol="0">
            <a:spAutoFit/>
          </a:bodyPr>
          <a:lstStyle/>
          <a:p>
            <a:pPr algn="ctr">
              <a:lnSpc>
                <a:spcPct val="80000"/>
              </a:lnSpc>
            </a:pPr>
            <a:r>
              <a:rPr lang="en-GB" sz="2200" noProof="0" dirty="0">
                <a:solidFill>
                  <a:srgbClr val="002570"/>
                </a:solidFill>
                <a:latin typeface="OpenDyslexicAlta" panose="00000500000000000000" pitchFamily="50" charset="0"/>
              </a:rPr>
              <a:t>This hacker breaks into systems without permission to steal data, spread malware or cause damage. Their actions are illegal and harmful.</a:t>
            </a:r>
          </a:p>
        </p:txBody>
      </p:sp>
      <p:sp>
        <p:nvSpPr>
          <p:cNvPr id="6" name="TextBox 5">
            <a:extLst>
              <a:ext uri="{FF2B5EF4-FFF2-40B4-BE49-F238E27FC236}">
                <a16:creationId xmlns:a16="http://schemas.microsoft.com/office/drawing/2014/main" id="{DFD15AF2-F8B3-969C-4457-23AE3A215584}"/>
              </a:ext>
            </a:extLst>
          </p:cNvPr>
          <p:cNvSpPr txBox="1"/>
          <p:nvPr/>
        </p:nvSpPr>
        <p:spPr>
          <a:xfrm>
            <a:off x="8298609" y="4069631"/>
            <a:ext cx="3560310" cy="2005164"/>
          </a:xfrm>
          <a:prstGeom prst="rect">
            <a:avLst/>
          </a:prstGeom>
          <a:noFill/>
        </p:spPr>
        <p:txBody>
          <a:bodyPr wrap="square" rtlCol="0">
            <a:spAutoFit/>
          </a:bodyPr>
          <a:lstStyle/>
          <a:p>
            <a:pPr algn="ctr">
              <a:lnSpc>
                <a:spcPct val="80000"/>
              </a:lnSpc>
            </a:pPr>
            <a:r>
              <a:rPr lang="en-GB" sz="2200" noProof="0" dirty="0">
                <a:solidFill>
                  <a:srgbClr val="002570"/>
                </a:solidFill>
                <a:latin typeface="OpenDyslexicAlta" panose="00000500000000000000" pitchFamily="50" charset="0"/>
              </a:rPr>
              <a:t>This hacker is hired by companies to test their security systems. They only hack with permission and help prevent cyberattacks.</a:t>
            </a:r>
          </a:p>
        </p:txBody>
      </p:sp>
      <p:sp>
        <p:nvSpPr>
          <p:cNvPr id="7" name="TextBox 6">
            <a:extLst>
              <a:ext uri="{FF2B5EF4-FFF2-40B4-BE49-F238E27FC236}">
                <a16:creationId xmlns:a16="http://schemas.microsoft.com/office/drawing/2014/main" id="{E8A3C0FC-880E-96AA-D4DB-A56D0C7A21DF}"/>
              </a:ext>
            </a:extLst>
          </p:cNvPr>
          <p:cNvSpPr txBox="1"/>
          <p:nvPr/>
        </p:nvSpPr>
        <p:spPr>
          <a:xfrm>
            <a:off x="588517" y="2710482"/>
            <a:ext cx="2672313" cy="406265"/>
          </a:xfrm>
          <a:prstGeom prst="rect">
            <a:avLst/>
          </a:prstGeom>
          <a:noFill/>
        </p:spPr>
        <p:txBody>
          <a:bodyPr wrap="square" rtlCol="0">
            <a:spAutoFit/>
          </a:bodyPr>
          <a:lstStyle/>
          <a:p>
            <a:pPr algn="ctr">
              <a:lnSpc>
                <a:spcPct val="80000"/>
              </a:lnSpc>
            </a:pPr>
            <a:r>
              <a:rPr lang="en-GB" sz="2400" b="1" noProof="0" dirty="0">
                <a:solidFill>
                  <a:srgbClr val="002570"/>
                </a:solidFill>
                <a:latin typeface="OpenDyslexicAlta" panose="00000500000000000000" pitchFamily="50" charset="0"/>
              </a:rPr>
              <a:t>White hat</a:t>
            </a:r>
          </a:p>
        </p:txBody>
      </p:sp>
      <p:sp>
        <p:nvSpPr>
          <p:cNvPr id="8" name="TextBox 7">
            <a:extLst>
              <a:ext uri="{FF2B5EF4-FFF2-40B4-BE49-F238E27FC236}">
                <a16:creationId xmlns:a16="http://schemas.microsoft.com/office/drawing/2014/main" id="{36570CBB-AB62-6114-FE9C-0CB039E047C8}"/>
              </a:ext>
            </a:extLst>
          </p:cNvPr>
          <p:cNvSpPr txBox="1"/>
          <p:nvPr/>
        </p:nvSpPr>
        <p:spPr>
          <a:xfrm>
            <a:off x="4665562" y="2710483"/>
            <a:ext cx="2672313" cy="406265"/>
          </a:xfrm>
          <a:prstGeom prst="rect">
            <a:avLst/>
          </a:prstGeom>
          <a:noFill/>
        </p:spPr>
        <p:txBody>
          <a:bodyPr wrap="square" rtlCol="0">
            <a:spAutoFit/>
          </a:bodyPr>
          <a:lstStyle/>
          <a:p>
            <a:pPr algn="ctr">
              <a:lnSpc>
                <a:spcPct val="80000"/>
              </a:lnSpc>
            </a:pPr>
            <a:r>
              <a:rPr lang="en-GB" sz="2400" b="1" noProof="0" dirty="0">
                <a:solidFill>
                  <a:srgbClr val="002570"/>
                </a:solidFill>
                <a:latin typeface="OpenDyslexicAlta" panose="00000500000000000000" pitchFamily="50" charset="0"/>
              </a:rPr>
              <a:t>Grey hat</a:t>
            </a:r>
          </a:p>
        </p:txBody>
      </p:sp>
      <p:sp>
        <p:nvSpPr>
          <p:cNvPr id="9" name="TextBox 8">
            <a:extLst>
              <a:ext uri="{FF2B5EF4-FFF2-40B4-BE49-F238E27FC236}">
                <a16:creationId xmlns:a16="http://schemas.microsoft.com/office/drawing/2014/main" id="{2C50B258-5775-3B5F-28DD-32942548F504}"/>
              </a:ext>
            </a:extLst>
          </p:cNvPr>
          <p:cNvSpPr txBox="1"/>
          <p:nvPr/>
        </p:nvSpPr>
        <p:spPr>
          <a:xfrm>
            <a:off x="8742607" y="2710482"/>
            <a:ext cx="2672313" cy="406265"/>
          </a:xfrm>
          <a:prstGeom prst="rect">
            <a:avLst/>
          </a:prstGeom>
          <a:noFill/>
        </p:spPr>
        <p:txBody>
          <a:bodyPr wrap="square" rtlCol="0">
            <a:spAutoFit/>
          </a:bodyPr>
          <a:lstStyle/>
          <a:p>
            <a:pPr algn="ctr">
              <a:lnSpc>
                <a:spcPct val="80000"/>
              </a:lnSpc>
            </a:pPr>
            <a:r>
              <a:rPr lang="en-GB" sz="2400" b="1" noProof="0" dirty="0">
                <a:solidFill>
                  <a:srgbClr val="002570"/>
                </a:solidFill>
                <a:latin typeface="OpenDyslexicAlta" panose="00000500000000000000" pitchFamily="50" charset="0"/>
              </a:rPr>
              <a:t>Black hat</a:t>
            </a:r>
          </a:p>
        </p:txBody>
      </p:sp>
      <p:cxnSp>
        <p:nvCxnSpPr>
          <p:cNvPr id="11" name="Straight Connector 10">
            <a:extLst>
              <a:ext uri="{FF2B5EF4-FFF2-40B4-BE49-F238E27FC236}">
                <a16:creationId xmlns:a16="http://schemas.microsoft.com/office/drawing/2014/main" id="{04CB7679-8A05-E69E-AA4D-36796A6A0DEB}"/>
              </a:ext>
            </a:extLst>
          </p:cNvPr>
          <p:cNvCxnSpPr>
            <a:cxnSpLocks/>
            <a:endCxn id="6" idx="0"/>
          </p:cNvCxnSpPr>
          <p:nvPr/>
        </p:nvCxnSpPr>
        <p:spPr>
          <a:xfrm>
            <a:off x="2774022" y="2913614"/>
            <a:ext cx="7304742" cy="1156017"/>
          </a:xfrm>
          <a:prstGeom prst="line">
            <a:avLst/>
          </a:prstGeom>
          <a:ln w="57150">
            <a:solidFill>
              <a:srgbClr val="C00000"/>
            </a:solidFill>
          </a:ln>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AD29F868-8ED9-D4B3-DB23-067518D50319}"/>
              </a:ext>
            </a:extLst>
          </p:cNvPr>
          <p:cNvCxnSpPr>
            <a:cxnSpLocks/>
            <a:endCxn id="4" idx="0"/>
          </p:cNvCxnSpPr>
          <p:nvPr/>
        </p:nvCxnSpPr>
        <p:spPr>
          <a:xfrm flipH="1">
            <a:off x="1924674" y="2910010"/>
            <a:ext cx="3242660" cy="1161423"/>
          </a:xfrm>
          <a:prstGeom prst="line">
            <a:avLst/>
          </a:prstGeom>
          <a:ln w="57150">
            <a:solidFill>
              <a:srgbClr val="C00000"/>
            </a:solidFill>
          </a:ln>
        </p:spPr>
        <p:style>
          <a:lnRef idx="2">
            <a:schemeClr val="accent1"/>
          </a:lnRef>
          <a:fillRef idx="0">
            <a:schemeClr val="accent1"/>
          </a:fillRef>
          <a:effectRef idx="1">
            <a:schemeClr val="accent1"/>
          </a:effectRef>
          <a:fontRef idx="minor">
            <a:schemeClr val="tx1"/>
          </a:fontRef>
        </p:style>
      </p:cxnSp>
      <p:cxnSp>
        <p:nvCxnSpPr>
          <p:cNvPr id="16" name="Straight Connector 15">
            <a:extLst>
              <a:ext uri="{FF2B5EF4-FFF2-40B4-BE49-F238E27FC236}">
                <a16:creationId xmlns:a16="http://schemas.microsoft.com/office/drawing/2014/main" id="{33B28D1B-E1D7-1B8C-A246-17B3EA95CE57}"/>
              </a:ext>
            </a:extLst>
          </p:cNvPr>
          <p:cNvCxnSpPr>
            <a:cxnSpLocks/>
            <a:endCxn id="5" idx="0"/>
          </p:cNvCxnSpPr>
          <p:nvPr/>
        </p:nvCxnSpPr>
        <p:spPr>
          <a:xfrm flipH="1">
            <a:off x="6001719" y="2911812"/>
            <a:ext cx="3184887" cy="1158720"/>
          </a:xfrm>
          <a:prstGeom prst="line">
            <a:avLst/>
          </a:prstGeom>
          <a:ln w="57150">
            <a:solidFill>
              <a:srgbClr val="C00000"/>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4339577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3135AED0-FEA2-D94F-9AF1-515EA2CAFD3D}"/>
              </a:ext>
            </a:extLst>
          </p:cNvPr>
          <p:cNvSpPr>
            <a:spLocks noGrp="1"/>
          </p:cNvSpPr>
          <p:nvPr>
            <p:ph idx="1"/>
          </p:nvPr>
        </p:nvSpPr>
        <p:spPr/>
        <p:txBody>
          <a:bodyPr/>
          <a:lstStyle/>
          <a:p>
            <a:r>
              <a:rPr lang="en-GB" noProof="0" dirty="0"/>
              <a:t>Complete the tables to explain the motivation and the consequences to the owner of the account for each type of hacker.</a:t>
            </a:r>
          </a:p>
        </p:txBody>
      </p:sp>
      <p:sp>
        <p:nvSpPr>
          <p:cNvPr id="4" name="Title 3">
            <a:extLst>
              <a:ext uri="{FF2B5EF4-FFF2-40B4-BE49-F238E27FC236}">
                <a16:creationId xmlns:a16="http://schemas.microsoft.com/office/drawing/2014/main" id="{79FA7D9D-62C4-C63F-9258-17BE94E3B407}"/>
              </a:ext>
            </a:extLst>
          </p:cNvPr>
          <p:cNvSpPr>
            <a:spLocks noGrp="1"/>
          </p:cNvSpPr>
          <p:nvPr>
            <p:ph type="title"/>
          </p:nvPr>
        </p:nvSpPr>
        <p:spPr/>
        <p:txBody>
          <a:bodyPr/>
          <a:lstStyle/>
          <a:p>
            <a:r>
              <a:rPr lang="en-GB" noProof="0" dirty="0"/>
              <a:t>3: Hacking</a:t>
            </a:r>
          </a:p>
        </p:txBody>
      </p:sp>
    </p:spTree>
    <p:extLst>
      <p:ext uri="{BB962C8B-B14F-4D97-AF65-F5344CB8AC3E}">
        <p14:creationId xmlns:p14="http://schemas.microsoft.com/office/powerpoint/2010/main" val="200533351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4F084C-2420-7770-C4B3-E24F4BDA482D}"/>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DF30EFE7-789C-3738-687E-25B42ED38874}"/>
              </a:ext>
            </a:extLst>
          </p:cNvPr>
          <p:cNvSpPr>
            <a:spLocks noGrp="1"/>
          </p:cNvSpPr>
          <p:nvPr>
            <p:ph type="title"/>
          </p:nvPr>
        </p:nvSpPr>
        <p:spPr/>
        <p:txBody>
          <a:bodyPr/>
          <a:lstStyle/>
          <a:p>
            <a:r>
              <a:rPr lang="en-GB" noProof="0" dirty="0"/>
              <a:t>3: Hacking </a:t>
            </a:r>
            <a:r>
              <a:rPr lang="en-GB" noProof="0" dirty="0">
                <a:solidFill>
                  <a:srgbClr val="C00000"/>
                </a:solidFill>
              </a:rPr>
              <a:t>ANSWERS</a:t>
            </a:r>
          </a:p>
        </p:txBody>
      </p:sp>
      <p:graphicFrame>
        <p:nvGraphicFramePr>
          <p:cNvPr id="2" name="Table 1">
            <a:extLst>
              <a:ext uri="{FF2B5EF4-FFF2-40B4-BE49-F238E27FC236}">
                <a16:creationId xmlns:a16="http://schemas.microsoft.com/office/drawing/2014/main" id="{306E7D7F-BC32-3A03-280E-E6FFBEDF5EC7}"/>
              </a:ext>
            </a:extLst>
          </p:cNvPr>
          <p:cNvGraphicFramePr>
            <a:graphicFrameLocks noGrp="1"/>
          </p:cNvGraphicFramePr>
          <p:nvPr>
            <p:extLst>
              <p:ext uri="{D42A27DB-BD31-4B8C-83A1-F6EECF244321}">
                <p14:modId xmlns:p14="http://schemas.microsoft.com/office/powerpoint/2010/main" val="2533637359"/>
              </p:ext>
            </p:extLst>
          </p:nvPr>
        </p:nvGraphicFramePr>
        <p:xfrm>
          <a:off x="455089" y="1253449"/>
          <a:ext cx="11093064" cy="5373701"/>
        </p:xfrm>
        <a:graphic>
          <a:graphicData uri="http://schemas.openxmlformats.org/drawingml/2006/table">
            <a:tbl>
              <a:tblPr firstRow="1" firstCol="1" bandRow="1">
                <a:tableStyleId>{5C22544A-7EE6-4342-B048-85BDC9FD1C3A}</a:tableStyleId>
              </a:tblPr>
              <a:tblGrid>
                <a:gridCol w="2610856">
                  <a:extLst>
                    <a:ext uri="{9D8B030D-6E8A-4147-A177-3AD203B41FA5}">
                      <a16:colId xmlns:a16="http://schemas.microsoft.com/office/drawing/2014/main" val="4213912871"/>
                    </a:ext>
                  </a:extLst>
                </a:gridCol>
                <a:gridCol w="8482208">
                  <a:extLst>
                    <a:ext uri="{9D8B030D-6E8A-4147-A177-3AD203B41FA5}">
                      <a16:colId xmlns:a16="http://schemas.microsoft.com/office/drawing/2014/main" val="2034064283"/>
                    </a:ext>
                  </a:extLst>
                </a:gridCol>
              </a:tblGrid>
              <a:tr h="729464">
                <a:tc>
                  <a:txBody>
                    <a:bodyPr/>
                    <a:lstStyle/>
                    <a:p>
                      <a:pPr>
                        <a:lnSpc>
                          <a:spcPct val="115000"/>
                        </a:lnSpc>
                        <a:spcAft>
                          <a:spcPts val="800"/>
                        </a:spcAft>
                        <a:buNone/>
                      </a:pPr>
                      <a:r>
                        <a:rPr lang="en-GB" sz="2000" kern="1200" noProof="0" dirty="0">
                          <a:solidFill>
                            <a:schemeClr val="bg1"/>
                          </a:solidFill>
                          <a:latin typeface="OpenDyslexicAlta" panose="00000500000000000000" pitchFamily="50" charset="0"/>
                          <a:ea typeface="+mn-ea"/>
                          <a:cs typeface="+mn-cs"/>
                        </a:rPr>
                        <a:t>Type of hacker</a:t>
                      </a:r>
                    </a:p>
                  </a:txBody>
                  <a:tcPr marL="68580" marR="68580" marT="0" marB="0" anchor="ctr">
                    <a:lnB w="12700" cap="flat" cmpd="sng" algn="ctr">
                      <a:solidFill>
                        <a:srgbClr val="002570"/>
                      </a:solidFill>
                      <a:prstDash val="solid"/>
                      <a:round/>
                      <a:headEnd type="none" w="med" len="med"/>
                      <a:tailEnd type="none" w="med" len="med"/>
                    </a:lnB>
                    <a:solidFill>
                      <a:srgbClr val="002570"/>
                    </a:solidFill>
                  </a:tcPr>
                </a:tc>
                <a:tc>
                  <a:txBody>
                    <a:bodyPr/>
                    <a:lstStyle/>
                    <a:p>
                      <a:pPr>
                        <a:lnSpc>
                          <a:spcPct val="115000"/>
                        </a:lnSpc>
                        <a:spcAft>
                          <a:spcPts val="800"/>
                        </a:spcAft>
                        <a:buNone/>
                      </a:pPr>
                      <a:r>
                        <a:rPr lang="en-GB" sz="2000" kern="1200" noProof="0" dirty="0">
                          <a:solidFill>
                            <a:schemeClr val="bg1"/>
                          </a:solidFill>
                          <a:latin typeface="OpenDyslexicAlta" panose="00000500000000000000" pitchFamily="50" charset="0"/>
                          <a:ea typeface="+mn-ea"/>
                          <a:cs typeface="+mn-cs"/>
                        </a:rPr>
                        <a:t>What motivates them?</a:t>
                      </a:r>
                    </a:p>
                  </a:txBody>
                  <a:tcPr marL="68580" marR="68580" marT="0" marB="0" anchor="ctr">
                    <a:lnB w="12700" cap="flat" cmpd="sng" algn="ctr">
                      <a:solidFill>
                        <a:srgbClr val="002570"/>
                      </a:solidFill>
                      <a:prstDash val="solid"/>
                      <a:round/>
                      <a:headEnd type="none" w="med" len="med"/>
                      <a:tailEnd type="none" w="med" len="med"/>
                    </a:lnB>
                    <a:solidFill>
                      <a:srgbClr val="002570"/>
                    </a:solidFill>
                  </a:tcPr>
                </a:tc>
                <a:extLst>
                  <a:ext uri="{0D108BD9-81ED-4DB2-BD59-A6C34878D82A}">
                    <a16:rowId xmlns:a16="http://schemas.microsoft.com/office/drawing/2014/main" val="3326509521"/>
                  </a:ext>
                </a:extLst>
              </a:tr>
              <a:tr h="1548079">
                <a:tc>
                  <a:txBody>
                    <a:bodyPr/>
                    <a:lstStyle/>
                    <a:p>
                      <a:pPr marL="0" algn="ctr" defTabSz="914400" rtl="0" eaLnBrk="1" latinLnBrk="0" hangingPunct="1">
                        <a:lnSpc>
                          <a:spcPct val="115000"/>
                        </a:lnSpc>
                        <a:spcAft>
                          <a:spcPts val="800"/>
                        </a:spcAft>
                        <a:buNone/>
                      </a:pPr>
                      <a:r>
                        <a:rPr lang="en-GB" sz="2800" kern="1200" noProof="0" dirty="0">
                          <a:solidFill>
                            <a:srgbClr val="002570"/>
                          </a:solidFill>
                          <a:latin typeface="OpenDyslexicAlta" panose="00000500000000000000" pitchFamily="50" charset="0"/>
                          <a:ea typeface="+mn-ea"/>
                          <a:cs typeface="+mn-cs"/>
                        </a:rPr>
                        <a:t>White hat</a:t>
                      </a:r>
                    </a:p>
                  </a:txBody>
                  <a:tcPr marL="68580" marR="68580" marT="0" marB="0" anchor="ctr">
                    <a:lnL w="12700" cap="flat" cmpd="sng" algn="ctr">
                      <a:solidFill>
                        <a:srgbClr val="002570"/>
                      </a:solidFill>
                      <a:prstDash val="solid"/>
                      <a:round/>
                      <a:headEnd type="none" w="med" len="med"/>
                      <a:tailEnd type="none" w="med" len="med"/>
                    </a:lnL>
                    <a:lnR w="12700" cap="flat" cmpd="sng" algn="ctr">
                      <a:solidFill>
                        <a:srgbClr val="002570"/>
                      </a:solidFill>
                      <a:prstDash val="solid"/>
                      <a:round/>
                      <a:headEnd type="none" w="med" len="med"/>
                      <a:tailEnd type="none" w="med" len="med"/>
                    </a:lnR>
                    <a:lnT w="12700" cap="flat" cmpd="sng" algn="ctr">
                      <a:solidFill>
                        <a:srgbClr val="002570"/>
                      </a:solidFill>
                      <a:prstDash val="solid"/>
                      <a:round/>
                      <a:headEnd type="none" w="med" len="med"/>
                      <a:tailEnd type="none" w="med" len="med"/>
                    </a:lnT>
                    <a:lnB w="12700" cap="flat" cmpd="sng" algn="ctr">
                      <a:solidFill>
                        <a:srgbClr val="002570"/>
                      </a:solidFill>
                      <a:prstDash val="solid"/>
                      <a:round/>
                      <a:headEnd type="none" w="med" len="med"/>
                      <a:tailEnd type="none" w="med" len="med"/>
                    </a:lnB>
                    <a:solidFill>
                      <a:schemeClr val="bg1">
                        <a:lumMod val="85000"/>
                      </a:schemeClr>
                    </a:solidFill>
                  </a:tcPr>
                </a:tc>
                <a:tc>
                  <a:txBody>
                    <a:bodyPr/>
                    <a:lstStyle/>
                    <a:p>
                      <a:pPr>
                        <a:lnSpc>
                          <a:spcPct val="115000"/>
                        </a:lnSpc>
                        <a:spcAft>
                          <a:spcPts val="800"/>
                        </a:spcAft>
                        <a:buNone/>
                      </a:pPr>
                      <a:r>
                        <a:rPr lang="en-GB" sz="2800" b="1" kern="1200" noProof="0" dirty="0">
                          <a:solidFill>
                            <a:srgbClr val="C00000"/>
                          </a:solidFill>
                          <a:latin typeface="OpenDyslexicAlta" panose="00000500000000000000" pitchFamily="50" charset="0"/>
                          <a:ea typeface="+mn-ea"/>
                          <a:cs typeface="+mn-cs"/>
                        </a:rPr>
                        <a:t>To help improve security and protect systems from cyberattacks.</a:t>
                      </a:r>
                    </a:p>
                  </a:txBody>
                  <a:tcPr marL="68580" marR="68580" marT="0" marB="0" anchor="ctr">
                    <a:lnL w="12700" cap="flat" cmpd="sng" algn="ctr">
                      <a:solidFill>
                        <a:srgbClr val="002570"/>
                      </a:solidFill>
                      <a:prstDash val="solid"/>
                      <a:round/>
                      <a:headEnd type="none" w="med" len="med"/>
                      <a:tailEnd type="none" w="med" len="med"/>
                    </a:lnL>
                    <a:lnR w="12700" cap="flat" cmpd="sng" algn="ctr">
                      <a:solidFill>
                        <a:srgbClr val="002570"/>
                      </a:solidFill>
                      <a:prstDash val="solid"/>
                      <a:round/>
                      <a:headEnd type="none" w="med" len="med"/>
                      <a:tailEnd type="none" w="med" len="med"/>
                    </a:lnR>
                    <a:lnT w="12700" cap="flat" cmpd="sng" algn="ctr">
                      <a:solidFill>
                        <a:srgbClr val="002570"/>
                      </a:solidFill>
                      <a:prstDash val="solid"/>
                      <a:round/>
                      <a:headEnd type="none" w="med" len="med"/>
                      <a:tailEnd type="none" w="med" len="med"/>
                    </a:lnT>
                    <a:lnB w="12700" cap="flat" cmpd="sng" algn="ctr">
                      <a:solidFill>
                        <a:srgbClr val="00257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473626605"/>
                  </a:ext>
                </a:extLst>
              </a:tr>
              <a:tr h="1548079">
                <a:tc>
                  <a:txBody>
                    <a:bodyPr/>
                    <a:lstStyle/>
                    <a:p>
                      <a:pPr marL="0" algn="ctr" defTabSz="914400" rtl="0" eaLnBrk="1" latinLnBrk="0" hangingPunct="1">
                        <a:lnSpc>
                          <a:spcPct val="115000"/>
                        </a:lnSpc>
                        <a:spcAft>
                          <a:spcPts val="800"/>
                        </a:spcAft>
                        <a:buNone/>
                      </a:pPr>
                      <a:r>
                        <a:rPr lang="en-GB" sz="2800" kern="1200" noProof="0" dirty="0">
                          <a:solidFill>
                            <a:srgbClr val="002570"/>
                          </a:solidFill>
                          <a:latin typeface="OpenDyslexicAlta" panose="00000500000000000000" pitchFamily="50" charset="0"/>
                          <a:ea typeface="+mn-ea"/>
                          <a:cs typeface="+mn-cs"/>
                        </a:rPr>
                        <a:t>Grey hat</a:t>
                      </a:r>
                    </a:p>
                  </a:txBody>
                  <a:tcPr marL="68580" marR="68580" marT="0" marB="0" anchor="ctr">
                    <a:lnL w="12700" cap="flat" cmpd="sng" algn="ctr">
                      <a:solidFill>
                        <a:srgbClr val="002570"/>
                      </a:solidFill>
                      <a:prstDash val="solid"/>
                      <a:round/>
                      <a:headEnd type="none" w="med" len="med"/>
                      <a:tailEnd type="none" w="med" len="med"/>
                    </a:lnL>
                    <a:lnR w="12700" cap="flat" cmpd="sng" algn="ctr">
                      <a:solidFill>
                        <a:srgbClr val="002570"/>
                      </a:solidFill>
                      <a:prstDash val="solid"/>
                      <a:round/>
                      <a:headEnd type="none" w="med" len="med"/>
                      <a:tailEnd type="none" w="med" len="med"/>
                    </a:lnR>
                    <a:lnT w="12700" cap="flat" cmpd="sng" algn="ctr">
                      <a:solidFill>
                        <a:srgbClr val="002570"/>
                      </a:solidFill>
                      <a:prstDash val="solid"/>
                      <a:round/>
                      <a:headEnd type="none" w="med" len="med"/>
                      <a:tailEnd type="none" w="med" len="med"/>
                    </a:lnT>
                    <a:lnB w="12700" cap="flat" cmpd="sng" algn="ctr">
                      <a:solidFill>
                        <a:srgbClr val="002570"/>
                      </a:solidFill>
                      <a:prstDash val="solid"/>
                      <a:round/>
                      <a:headEnd type="none" w="med" len="med"/>
                      <a:tailEnd type="none" w="med" len="med"/>
                    </a:lnB>
                    <a:solidFill>
                      <a:schemeClr val="bg1">
                        <a:lumMod val="95000"/>
                      </a:schemeClr>
                    </a:solidFill>
                  </a:tcPr>
                </a:tc>
                <a:tc>
                  <a:txBody>
                    <a:bodyPr/>
                    <a:lstStyle/>
                    <a:p>
                      <a:pPr>
                        <a:lnSpc>
                          <a:spcPct val="115000"/>
                        </a:lnSpc>
                        <a:spcAft>
                          <a:spcPts val="800"/>
                        </a:spcAft>
                        <a:buNone/>
                      </a:pPr>
                      <a:r>
                        <a:rPr lang="en-GB" sz="2800" b="1" kern="1200" noProof="0" dirty="0">
                          <a:solidFill>
                            <a:srgbClr val="C00000"/>
                          </a:solidFill>
                          <a:latin typeface="OpenDyslexicAlta" panose="00000500000000000000" pitchFamily="50" charset="0"/>
                          <a:ea typeface="+mn-ea"/>
                          <a:cs typeface="+mn-cs"/>
                        </a:rPr>
                        <a:t>To explore vulnerabilities out of curiosity, sometimes without permission but without malicious intent.</a:t>
                      </a:r>
                    </a:p>
                  </a:txBody>
                  <a:tcPr marL="68580" marR="68580" marT="0" marB="0" anchor="ctr">
                    <a:lnL w="12700" cap="flat" cmpd="sng" algn="ctr">
                      <a:solidFill>
                        <a:srgbClr val="002570"/>
                      </a:solidFill>
                      <a:prstDash val="solid"/>
                      <a:round/>
                      <a:headEnd type="none" w="med" len="med"/>
                      <a:tailEnd type="none" w="med" len="med"/>
                    </a:lnL>
                    <a:lnR w="12700" cap="flat" cmpd="sng" algn="ctr">
                      <a:solidFill>
                        <a:srgbClr val="002570"/>
                      </a:solidFill>
                      <a:prstDash val="solid"/>
                      <a:round/>
                      <a:headEnd type="none" w="med" len="med"/>
                      <a:tailEnd type="none" w="med" len="med"/>
                    </a:lnR>
                    <a:lnT w="12700" cap="flat" cmpd="sng" algn="ctr">
                      <a:solidFill>
                        <a:srgbClr val="002570"/>
                      </a:solidFill>
                      <a:prstDash val="solid"/>
                      <a:round/>
                      <a:headEnd type="none" w="med" len="med"/>
                      <a:tailEnd type="none" w="med" len="med"/>
                    </a:lnT>
                    <a:lnB w="12700" cap="flat" cmpd="sng" algn="ctr">
                      <a:solidFill>
                        <a:srgbClr val="002570"/>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3027431980"/>
                  </a:ext>
                </a:extLst>
              </a:tr>
              <a:tr h="1548079">
                <a:tc>
                  <a:txBody>
                    <a:bodyPr/>
                    <a:lstStyle/>
                    <a:p>
                      <a:pPr marL="0" algn="ctr" defTabSz="914400" rtl="0" eaLnBrk="1" latinLnBrk="0" hangingPunct="1">
                        <a:lnSpc>
                          <a:spcPct val="115000"/>
                        </a:lnSpc>
                        <a:spcAft>
                          <a:spcPts val="800"/>
                        </a:spcAft>
                        <a:buNone/>
                      </a:pPr>
                      <a:r>
                        <a:rPr lang="en-GB" sz="2800" kern="1200" noProof="0" dirty="0">
                          <a:solidFill>
                            <a:srgbClr val="002570"/>
                          </a:solidFill>
                          <a:latin typeface="OpenDyslexicAlta" panose="00000500000000000000" pitchFamily="50" charset="0"/>
                          <a:ea typeface="+mn-ea"/>
                          <a:cs typeface="+mn-cs"/>
                        </a:rPr>
                        <a:t>Black hat</a:t>
                      </a:r>
                    </a:p>
                  </a:txBody>
                  <a:tcPr marL="68580" marR="68580" marT="0" marB="0" anchor="ctr">
                    <a:lnL w="12700" cap="flat" cmpd="sng" algn="ctr">
                      <a:solidFill>
                        <a:srgbClr val="002570"/>
                      </a:solidFill>
                      <a:prstDash val="solid"/>
                      <a:round/>
                      <a:headEnd type="none" w="med" len="med"/>
                      <a:tailEnd type="none" w="med" len="med"/>
                    </a:lnL>
                    <a:lnR w="12700" cap="flat" cmpd="sng" algn="ctr">
                      <a:solidFill>
                        <a:srgbClr val="002570"/>
                      </a:solidFill>
                      <a:prstDash val="solid"/>
                      <a:round/>
                      <a:headEnd type="none" w="med" len="med"/>
                      <a:tailEnd type="none" w="med" len="med"/>
                    </a:lnR>
                    <a:lnT w="12700" cap="flat" cmpd="sng" algn="ctr">
                      <a:solidFill>
                        <a:srgbClr val="002570"/>
                      </a:solidFill>
                      <a:prstDash val="solid"/>
                      <a:round/>
                      <a:headEnd type="none" w="med" len="med"/>
                      <a:tailEnd type="none" w="med" len="med"/>
                    </a:lnT>
                    <a:lnB w="12700" cap="flat" cmpd="sng" algn="ctr">
                      <a:solidFill>
                        <a:srgbClr val="002570"/>
                      </a:solidFill>
                      <a:prstDash val="solid"/>
                      <a:round/>
                      <a:headEnd type="none" w="med" len="med"/>
                      <a:tailEnd type="none" w="med" len="med"/>
                    </a:lnB>
                    <a:solidFill>
                      <a:schemeClr val="bg1">
                        <a:lumMod val="85000"/>
                      </a:schemeClr>
                    </a:solidFill>
                  </a:tcPr>
                </a:tc>
                <a:tc>
                  <a:txBody>
                    <a:bodyPr/>
                    <a:lstStyle/>
                    <a:p>
                      <a:pPr>
                        <a:lnSpc>
                          <a:spcPct val="115000"/>
                        </a:lnSpc>
                        <a:spcAft>
                          <a:spcPts val="800"/>
                        </a:spcAft>
                        <a:buNone/>
                      </a:pPr>
                      <a:r>
                        <a:rPr lang="en-GB" sz="2800" b="1" kern="1200" noProof="0" dirty="0">
                          <a:solidFill>
                            <a:srgbClr val="C00000"/>
                          </a:solidFill>
                          <a:latin typeface="OpenDyslexicAlta" panose="00000500000000000000" pitchFamily="50" charset="0"/>
                          <a:ea typeface="+mn-ea"/>
                          <a:cs typeface="+mn-cs"/>
                        </a:rPr>
                        <a:t>To steal data, cause damage or gain personal profit illegally.</a:t>
                      </a:r>
                    </a:p>
                  </a:txBody>
                  <a:tcPr marL="68580" marR="68580" marT="0" marB="0" anchor="ctr">
                    <a:lnL w="12700" cap="flat" cmpd="sng" algn="ctr">
                      <a:solidFill>
                        <a:srgbClr val="002570"/>
                      </a:solidFill>
                      <a:prstDash val="solid"/>
                      <a:round/>
                      <a:headEnd type="none" w="med" len="med"/>
                      <a:tailEnd type="none" w="med" len="med"/>
                    </a:lnL>
                    <a:lnR w="12700" cap="flat" cmpd="sng" algn="ctr">
                      <a:solidFill>
                        <a:srgbClr val="002570"/>
                      </a:solidFill>
                      <a:prstDash val="solid"/>
                      <a:round/>
                      <a:headEnd type="none" w="med" len="med"/>
                      <a:tailEnd type="none" w="med" len="med"/>
                    </a:lnR>
                    <a:lnT w="12700" cap="flat" cmpd="sng" algn="ctr">
                      <a:solidFill>
                        <a:srgbClr val="002570"/>
                      </a:solidFill>
                      <a:prstDash val="solid"/>
                      <a:round/>
                      <a:headEnd type="none" w="med" len="med"/>
                      <a:tailEnd type="none" w="med" len="med"/>
                    </a:lnT>
                    <a:lnB w="12700" cap="flat" cmpd="sng" algn="ctr">
                      <a:solidFill>
                        <a:srgbClr val="00257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532337677"/>
                  </a:ext>
                </a:extLst>
              </a:tr>
            </a:tbl>
          </a:graphicData>
        </a:graphic>
      </p:graphicFrame>
      <p:sp>
        <p:nvSpPr>
          <p:cNvPr id="3" name="Rectangle 2">
            <a:extLst>
              <a:ext uri="{FF2B5EF4-FFF2-40B4-BE49-F238E27FC236}">
                <a16:creationId xmlns:a16="http://schemas.microsoft.com/office/drawing/2014/main" id="{1E39BA72-681C-C5E3-9E97-93526F4548E7}"/>
              </a:ext>
            </a:extLst>
          </p:cNvPr>
          <p:cNvSpPr/>
          <p:nvPr/>
        </p:nvSpPr>
        <p:spPr>
          <a:xfrm>
            <a:off x="3102796" y="2075380"/>
            <a:ext cx="8301519" cy="1353620"/>
          </a:xfrm>
          <a:prstGeom prst="rect">
            <a:avLst/>
          </a:prstGeom>
          <a:solidFill>
            <a:srgbClr val="D9D9D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Rectangle 4">
            <a:extLst>
              <a:ext uri="{FF2B5EF4-FFF2-40B4-BE49-F238E27FC236}">
                <a16:creationId xmlns:a16="http://schemas.microsoft.com/office/drawing/2014/main" id="{2A0DBEE6-D759-AD9C-D5A9-0AEC5436BA15}"/>
              </a:ext>
            </a:extLst>
          </p:cNvPr>
          <p:cNvSpPr/>
          <p:nvPr/>
        </p:nvSpPr>
        <p:spPr>
          <a:xfrm>
            <a:off x="3102795" y="3588007"/>
            <a:ext cx="8301519" cy="1353620"/>
          </a:xfrm>
          <a:prstGeom prst="rect">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Rectangle 5">
            <a:extLst>
              <a:ext uri="{FF2B5EF4-FFF2-40B4-BE49-F238E27FC236}">
                <a16:creationId xmlns:a16="http://schemas.microsoft.com/office/drawing/2014/main" id="{9AA1E787-A994-51B2-A1DD-54F7B11D45A9}"/>
              </a:ext>
            </a:extLst>
          </p:cNvPr>
          <p:cNvSpPr/>
          <p:nvPr/>
        </p:nvSpPr>
        <p:spPr>
          <a:xfrm>
            <a:off x="3102795" y="5100635"/>
            <a:ext cx="8301519" cy="1353620"/>
          </a:xfrm>
          <a:prstGeom prst="rect">
            <a:avLst/>
          </a:prstGeom>
          <a:solidFill>
            <a:srgbClr val="D9D9D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765388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hidden"/>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hidden"/>
                                      </p:to>
                                    </p:set>
                                  </p:childTnLst>
                                </p:cTn>
                              </p:par>
                            </p:childTnLst>
                          </p:cTn>
                        </p:par>
                      </p:childTnLst>
                    </p:cTn>
                  </p:par>
                  <p:par>
                    <p:cTn id="11" fill="hold">
                      <p:stCondLst>
                        <p:cond delay="indefinite"/>
                      </p:stCondLst>
                      <p:childTnLst>
                        <p:par>
                          <p:cTn id="12" fill="hold">
                            <p:stCondLst>
                              <p:cond delay="0"/>
                            </p:stCondLst>
                            <p:childTnLst>
                              <p:par>
                                <p:cTn id="13" presetID="1" presetClass="exit"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5" grpId="0" animBg="1"/>
      <p:bldP spid="6" grpId="0" animBg="1"/>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67FA9F-6842-D59A-F67A-DD2C06A42F4C}"/>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2E552004-4F86-77C4-6F5C-1F977AC86AA8}"/>
              </a:ext>
            </a:extLst>
          </p:cNvPr>
          <p:cNvSpPr>
            <a:spLocks noGrp="1"/>
          </p:cNvSpPr>
          <p:nvPr>
            <p:ph type="title"/>
          </p:nvPr>
        </p:nvSpPr>
        <p:spPr/>
        <p:txBody>
          <a:bodyPr/>
          <a:lstStyle/>
          <a:p>
            <a:r>
              <a:rPr lang="en-GB" noProof="0" dirty="0"/>
              <a:t>3: Hacking </a:t>
            </a:r>
            <a:r>
              <a:rPr lang="en-GB" noProof="0" dirty="0">
                <a:solidFill>
                  <a:srgbClr val="C00000"/>
                </a:solidFill>
              </a:rPr>
              <a:t>ANSWERS</a:t>
            </a:r>
          </a:p>
        </p:txBody>
      </p:sp>
      <p:graphicFrame>
        <p:nvGraphicFramePr>
          <p:cNvPr id="2" name="Table 1">
            <a:extLst>
              <a:ext uri="{FF2B5EF4-FFF2-40B4-BE49-F238E27FC236}">
                <a16:creationId xmlns:a16="http://schemas.microsoft.com/office/drawing/2014/main" id="{40C27082-7508-D42C-3BBE-7AD511A18D33}"/>
              </a:ext>
            </a:extLst>
          </p:cNvPr>
          <p:cNvGraphicFramePr>
            <a:graphicFrameLocks noGrp="1"/>
          </p:cNvGraphicFramePr>
          <p:nvPr>
            <p:extLst>
              <p:ext uri="{D42A27DB-BD31-4B8C-83A1-F6EECF244321}">
                <p14:modId xmlns:p14="http://schemas.microsoft.com/office/powerpoint/2010/main" val="2482709546"/>
              </p:ext>
            </p:extLst>
          </p:nvPr>
        </p:nvGraphicFramePr>
        <p:xfrm>
          <a:off x="455089" y="1253449"/>
          <a:ext cx="11093064" cy="5373701"/>
        </p:xfrm>
        <a:graphic>
          <a:graphicData uri="http://schemas.openxmlformats.org/drawingml/2006/table">
            <a:tbl>
              <a:tblPr firstRow="1" firstCol="1" bandRow="1">
                <a:tableStyleId>{5C22544A-7EE6-4342-B048-85BDC9FD1C3A}</a:tableStyleId>
              </a:tblPr>
              <a:tblGrid>
                <a:gridCol w="2610856">
                  <a:extLst>
                    <a:ext uri="{9D8B030D-6E8A-4147-A177-3AD203B41FA5}">
                      <a16:colId xmlns:a16="http://schemas.microsoft.com/office/drawing/2014/main" val="4213912871"/>
                    </a:ext>
                  </a:extLst>
                </a:gridCol>
                <a:gridCol w="8482208">
                  <a:extLst>
                    <a:ext uri="{9D8B030D-6E8A-4147-A177-3AD203B41FA5}">
                      <a16:colId xmlns:a16="http://schemas.microsoft.com/office/drawing/2014/main" val="2034064283"/>
                    </a:ext>
                  </a:extLst>
                </a:gridCol>
              </a:tblGrid>
              <a:tr h="729464">
                <a:tc>
                  <a:txBody>
                    <a:bodyPr/>
                    <a:lstStyle/>
                    <a:p>
                      <a:pPr>
                        <a:lnSpc>
                          <a:spcPct val="115000"/>
                        </a:lnSpc>
                        <a:spcAft>
                          <a:spcPts val="800"/>
                        </a:spcAft>
                        <a:buNone/>
                      </a:pPr>
                      <a:r>
                        <a:rPr lang="en-GB" sz="2000" kern="1200" noProof="0" dirty="0">
                          <a:solidFill>
                            <a:schemeClr val="bg1"/>
                          </a:solidFill>
                          <a:latin typeface="OpenDyslexicAlta" panose="00000500000000000000" pitchFamily="50" charset="0"/>
                          <a:ea typeface="+mn-ea"/>
                          <a:cs typeface="+mn-cs"/>
                        </a:rPr>
                        <a:t>Type of hacker</a:t>
                      </a:r>
                    </a:p>
                  </a:txBody>
                  <a:tcPr marL="68580" marR="68580" marT="0" marB="0" anchor="ctr">
                    <a:lnB w="12700" cap="flat" cmpd="sng" algn="ctr">
                      <a:solidFill>
                        <a:srgbClr val="002570"/>
                      </a:solidFill>
                      <a:prstDash val="solid"/>
                      <a:round/>
                      <a:headEnd type="none" w="med" len="med"/>
                      <a:tailEnd type="none" w="med" len="med"/>
                    </a:lnB>
                    <a:solidFill>
                      <a:srgbClr val="002570"/>
                    </a:solidFill>
                  </a:tcPr>
                </a:tc>
                <a:tc>
                  <a:txBody>
                    <a:bodyPr/>
                    <a:lstStyle/>
                    <a:p>
                      <a:pPr>
                        <a:lnSpc>
                          <a:spcPct val="115000"/>
                        </a:lnSpc>
                        <a:spcAft>
                          <a:spcPts val="800"/>
                        </a:spcAft>
                        <a:buNone/>
                      </a:pPr>
                      <a:r>
                        <a:rPr lang="en-GB" sz="2000" kern="1200" noProof="0" dirty="0">
                          <a:solidFill>
                            <a:schemeClr val="bg1"/>
                          </a:solidFill>
                          <a:latin typeface="OpenDyslexicAlta" panose="00000500000000000000" pitchFamily="50" charset="0"/>
                          <a:ea typeface="+mn-ea"/>
                          <a:cs typeface="+mn-cs"/>
                        </a:rPr>
                        <a:t>What are the consequences to the owner?</a:t>
                      </a:r>
                    </a:p>
                  </a:txBody>
                  <a:tcPr marL="68580" marR="68580" marT="0" marB="0" anchor="ctr">
                    <a:lnB w="12700" cap="flat" cmpd="sng" algn="ctr">
                      <a:solidFill>
                        <a:srgbClr val="002570"/>
                      </a:solidFill>
                      <a:prstDash val="solid"/>
                      <a:round/>
                      <a:headEnd type="none" w="med" len="med"/>
                      <a:tailEnd type="none" w="med" len="med"/>
                    </a:lnB>
                    <a:solidFill>
                      <a:srgbClr val="002570"/>
                    </a:solidFill>
                  </a:tcPr>
                </a:tc>
                <a:extLst>
                  <a:ext uri="{0D108BD9-81ED-4DB2-BD59-A6C34878D82A}">
                    <a16:rowId xmlns:a16="http://schemas.microsoft.com/office/drawing/2014/main" val="3326509521"/>
                  </a:ext>
                </a:extLst>
              </a:tr>
              <a:tr h="1548079">
                <a:tc>
                  <a:txBody>
                    <a:bodyPr/>
                    <a:lstStyle/>
                    <a:p>
                      <a:pPr marL="0" algn="ctr" defTabSz="914400" rtl="0" eaLnBrk="1" latinLnBrk="0" hangingPunct="1">
                        <a:lnSpc>
                          <a:spcPct val="115000"/>
                        </a:lnSpc>
                        <a:spcAft>
                          <a:spcPts val="800"/>
                        </a:spcAft>
                        <a:buNone/>
                      </a:pPr>
                      <a:r>
                        <a:rPr lang="en-GB" sz="2800" kern="1200" noProof="0" dirty="0">
                          <a:solidFill>
                            <a:srgbClr val="002570"/>
                          </a:solidFill>
                          <a:latin typeface="OpenDyslexicAlta" panose="00000500000000000000" pitchFamily="50" charset="0"/>
                          <a:ea typeface="+mn-ea"/>
                          <a:cs typeface="+mn-cs"/>
                        </a:rPr>
                        <a:t>White hat</a:t>
                      </a:r>
                    </a:p>
                  </a:txBody>
                  <a:tcPr marL="68580" marR="68580" marT="0" marB="0" anchor="ctr">
                    <a:lnL w="12700" cap="flat" cmpd="sng" algn="ctr">
                      <a:solidFill>
                        <a:srgbClr val="002570"/>
                      </a:solidFill>
                      <a:prstDash val="solid"/>
                      <a:round/>
                      <a:headEnd type="none" w="med" len="med"/>
                      <a:tailEnd type="none" w="med" len="med"/>
                    </a:lnL>
                    <a:lnR w="12700" cap="flat" cmpd="sng" algn="ctr">
                      <a:solidFill>
                        <a:srgbClr val="002570"/>
                      </a:solidFill>
                      <a:prstDash val="solid"/>
                      <a:round/>
                      <a:headEnd type="none" w="med" len="med"/>
                      <a:tailEnd type="none" w="med" len="med"/>
                    </a:lnR>
                    <a:lnT w="12700" cap="flat" cmpd="sng" algn="ctr">
                      <a:solidFill>
                        <a:srgbClr val="002570"/>
                      </a:solidFill>
                      <a:prstDash val="solid"/>
                      <a:round/>
                      <a:headEnd type="none" w="med" len="med"/>
                      <a:tailEnd type="none" w="med" len="med"/>
                    </a:lnT>
                    <a:lnB w="12700" cap="flat" cmpd="sng" algn="ctr">
                      <a:solidFill>
                        <a:srgbClr val="002570"/>
                      </a:solidFill>
                      <a:prstDash val="solid"/>
                      <a:round/>
                      <a:headEnd type="none" w="med" len="med"/>
                      <a:tailEnd type="none" w="med" len="med"/>
                    </a:lnB>
                    <a:solidFill>
                      <a:schemeClr val="bg1">
                        <a:lumMod val="85000"/>
                      </a:schemeClr>
                    </a:solidFill>
                  </a:tcPr>
                </a:tc>
                <a:tc>
                  <a:txBody>
                    <a:bodyPr/>
                    <a:lstStyle/>
                    <a:p>
                      <a:pPr>
                        <a:lnSpc>
                          <a:spcPct val="115000"/>
                        </a:lnSpc>
                        <a:spcAft>
                          <a:spcPts val="800"/>
                        </a:spcAft>
                        <a:buNone/>
                      </a:pPr>
                      <a:r>
                        <a:rPr lang="en-GB" sz="2800" b="1" kern="1200" noProof="0" dirty="0">
                          <a:solidFill>
                            <a:srgbClr val="C00000"/>
                          </a:solidFill>
                          <a:latin typeface="OpenDyslexicAlta" panose="00000500000000000000" pitchFamily="50" charset="0"/>
                          <a:ea typeface="+mn-ea"/>
                          <a:cs typeface="+mn-cs"/>
                        </a:rPr>
                        <a:t>The account owner benefits from stronger security and reduced risk of attacks.</a:t>
                      </a:r>
                    </a:p>
                  </a:txBody>
                  <a:tcPr marL="68580" marR="68580" marT="0" marB="0" anchor="ctr">
                    <a:lnL w="12700" cap="flat" cmpd="sng" algn="ctr">
                      <a:solidFill>
                        <a:srgbClr val="002570"/>
                      </a:solidFill>
                      <a:prstDash val="solid"/>
                      <a:round/>
                      <a:headEnd type="none" w="med" len="med"/>
                      <a:tailEnd type="none" w="med" len="med"/>
                    </a:lnL>
                    <a:lnR w="12700" cap="flat" cmpd="sng" algn="ctr">
                      <a:solidFill>
                        <a:srgbClr val="002570"/>
                      </a:solidFill>
                      <a:prstDash val="solid"/>
                      <a:round/>
                      <a:headEnd type="none" w="med" len="med"/>
                      <a:tailEnd type="none" w="med" len="med"/>
                    </a:lnR>
                    <a:lnT w="12700" cap="flat" cmpd="sng" algn="ctr">
                      <a:solidFill>
                        <a:srgbClr val="002570"/>
                      </a:solidFill>
                      <a:prstDash val="solid"/>
                      <a:round/>
                      <a:headEnd type="none" w="med" len="med"/>
                      <a:tailEnd type="none" w="med" len="med"/>
                    </a:lnT>
                    <a:lnB w="12700" cap="flat" cmpd="sng" algn="ctr">
                      <a:solidFill>
                        <a:srgbClr val="00257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473626605"/>
                  </a:ext>
                </a:extLst>
              </a:tr>
              <a:tr h="1548079">
                <a:tc>
                  <a:txBody>
                    <a:bodyPr/>
                    <a:lstStyle/>
                    <a:p>
                      <a:pPr marL="0" algn="ctr" defTabSz="914400" rtl="0" eaLnBrk="1" latinLnBrk="0" hangingPunct="1">
                        <a:lnSpc>
                          <a:spcPct val="115000"/>
                        </a:lnSpc>
                        <a:spcAft>
                          <a:spcPts val="800"/>
                        </a:spcAft>
                        <a:buNone/>
                      </a:pPr>
                      <a:r>
                        <a:rPr lang="en-GB" sz="2800" kern="1200" noProof="0" dirty="0">
                          <a:solidFill>
                            <a:srgbClr val="002570"/>
                          </a:solidFill>
                          <a:latin typeface="OpenDyslexicAlta" panose="00000500000000000000" pitchFamily="50" charset="0"/>
                          <a:ea typeface="+mn-ea"/>
                          <a:cs typeface="+mn-cs"/>
                        </a:rPr>
                        <a:t>Grey hat</a:t>
                      </a:r>
                    </a:p>
                  </a:txBody>
                  <a:tcPr marL="68580" marR="68580" marT="0" marB="0" anchor="ctr">
                    <a:lnL w="12700" cap="flat" cmpd="sng" algn="ctr">
                      <a:solidFill>
                        <a:srgbClr val="002570"/>
                      </a:solidFill>
                      <a:prstDash val="solid"/>
                      <a:round/>
                      <a:headEnd type="none" w="med" len="med"/>
                      <a:tailEnd type="none" w="med" len="med"/>
                    </a:lnL>
                    <a:lnR w="12700" cap="flat" cmpd="sng" algn="ctr">
                      <a:solidFill>
                        <a:srgbClr val="002570"/>
                      </a:solidFill>
                      <a:prstDash val="solid"/>
                      <a:round/>
                      <a:headEnd type="none" w="med" len="med"/>
                      <a:tailEnd type="none" w="med" len="med"/>
                    </a:lnR>
                    <a:lnT w="12700" cap="flat" cmpd="sng" algn="ctr">
                      <a:solidFill>
                        <a:srgbClr val="002570"/>
                      </a:solidFill>
                      <a:prstDash val="solid"/>
                      <a:round/>
                      <a:headEnd type="none" w="med" len="med"/>
                      <a:tailEnd type="none" w="med" len="med"/>
                    </a:lnT>
                    <a:lnB w="12700" cap="flat" cmpd="sng" algn="ctr">
                      <a:solidFill>
                        <a:srgbClr val="002570"/>
                      </a:solidFill>
                      <a:prstDash val="solid"/>
                      <a:round/>
                      <a:headEnd type="none" w="med" len="med"/>
                      <a:tailEnd type="none" w="med" len="med"/>
                    </a:lnB>
                    <a:solidFill>
                      <a:schemeClr val="bg1">
                        <a:lumMod val="95000"/>
                      </a:schemeClr>
                    </a:solidFill>
                  </a:tcPr>
                </a:tc>
                <a:tc>
                  <a:txBody>
                    <a:bodyPr/>
                    <a:lstStyle/>
                    <a:p>
                      <a:pPr>
                        <a:lnSpc>
                          <a:spcPct val="115000"/>
                        </a:lnSpc>
                        <a:spcAft>
                          <a:spcPts val="800"/>
                        </a:spcAft>
                        <a:buNone/>
                      </a:pPr>
                      <a:r>
                        <a:rPr lang="en-GB" sz="2800" b="1" kern="1200" noProof="0" dirty="0">
                          <a:solidFill>
                            <a:srgbClr val="C00000"/>
                          </a:solidFill>
                          <a:latin typeface="OpenDyslexicAlta" panose="00000500000000000000" pitchFamily="50" charset="0"/>
                          <a:ea typeface="+mn-ea"/>
                          <a:cs typeface="+mn-cs"/>
                        </a:rPr>
                        <a:t>The account owner may have their system exposed but could also benefit if the hacker reports the issue.</a:t>
                      </a:r>
                    </a:p>
                  </a:txBody>
                  <a:tcPr marL="68580" marR="68580" marT="0" marB="0" anchor="ctr">
                    <a:lnL w="12700" cap="flat" cmpd="sng" algn="ctr">
                      <a:solidFill>
                        <a:srgbClr val="002570"/>
                      </a:solidFill>
                      <a:prstDash val="solid"/>
                      <a:round/>
                      <a:headEnd type="none" w="med" len="med"/>
                      <a:tailEnd type="none" w="med" len="med"/>
                    </a:lnL>
                    <a:lnR w="12700" cap="flat" cmpd="sng" algn="ctr">
                      <a:solidFill>
                        <a:srgbClr val="002570"/>
                      </a:solidFill>
                      <a:prstDash val="solid"/>
                      <a:round/>
                      <a:headEnd type="none" w="med" len="med"/>
                      <a:tailEnd type="none" w="med" len="med"/>
                    </a:lnR>
                    <a:lnT w="12700" cap="flat" cmpd="sng" algn="ctr">
                      <a:solidFill>
                        <a:srgbClr val="002570"/>
                      </a:solidFill>
                      <a:prstDash val="solid"/>
                      <a:round/>
                      <a:headEnd type="none" w="med" len="med"/>
                      <a:tailEnd type="none" w="med" len="med"/>
                    </a:lnT>
                    <a:lnB w="12700" cap="flat" cmpd="sng" algn="ctr">
                      <a:solidFill>
                        <a:srgbClr val="002570"/>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3027431980"/>
                  </a:ext>
                </a:extLst>
              </a:tr>
              <a:tr h="1548079">
                <a:tc>
                  <a:txBody>
                    <a:bodyPr/>
                    <a:lstStyle/>
                    <a:p>
                      <a:pPr marL="0" algn="ctr" defTabSz="914400" rtl="0" eaLnBrk="1" latinLnBrk="0" hangingPunct="1">
                        <a:lnSpc>
                          <a:spcPct val="115000"/>
                        </a:lnSpc>
                        <a:spcAft>
                          <a:spcPts val="800"/>
                        </a:spcAft>
                        <a:buNone/>
                      </a:pPr>
                      <a:r>
                        <a:rPr lang="en-GB" sz="2800" kern="1200" noProof="0" dirty="0">
                          <a:solidFill>
                            <a:srgbClr val="002570"/>
                          </a:solidFill>
                          <a:latin typeface="OpenDyslexicAlta" panose="00000500000000000000" pitchFamily="50" charset="0"/>
                          <a:ea typeface="+mn-ea"/>
                          <a:cs typeface="+mn-cs"/>
                        </a:rPr>
                        <a:t>Black hat</a:t>
                      </a:r>
                    </a:p>
                  </a:txBody>
                  <a:tcPr marL="68580" marR="68580" marT="0" marB="0" anchor="ctr">
                    <a:lnL w="12700" cap="flat" cmpd="sng" algn="ctr">
                      <a:solidFill>
                        <a:srgbClr val="002570"/>
                      </a:solidFill>
                      <a:prstDash val="solid"/>
                      <a:round/>
                      <a:headEnd type="none" w="med" len="med"/>
                      <a:tailEnd type="none" w="med" len="med"/>
                    </a:lnL>
                    <a:lnR w="12700" cap="flat" cmpd="sng" algn="ctr">
                      <a:solidFill>
                        <a:srgbClr val="002570"/>
                      </a:solidFill>
                      <a:prstDash val="solid"/>
                      <a:round/>
                      <a:headEnd type="none" w="med" len="med"/>
                      <a:tailEnd type="none" w="med" len="med"/>
                    </a:lnR>
                    <a:lnT w="12700" cap="flat" cmpd="sng" algn="ctr">
                      <a:solidFill>
                        <a:srgbClr val="002570"/>
                      </a:solidFill>
                      <a:prstDash val="solid"/>
                      <a:round/>
                      <a:headEnd type="none" w="med" len="med"/>
                      <a:tailEnd type="none" w="med" len="med"/>
                    </a:lnT>
                    <a:lnB w="12700" cap="flat" cmpd="sng" algn="ctr">
                      <a:solidFill>
                        <a:srgbClr val="002570"/>
                      </a:solidFill>
                      <a:prstDash val="solid"/>
                      <a:round/>
                      <a:headEnd type="none" w="med" len="med"/>
                      <a:tailEnd type="none" w="med" len="med"/>
                    </a:lnB>
                    <a:solidFill>
                      <a:schemeClr val="bg1">
                        <a:lumMod val="85000"/>
                      </a:schemeClr>
                    </a:solidFill>
                  </a:tcPr>
                </a:tc>
                <a:tc>
                  <a:txBody>
                    <a:bodyPr/>
                    <a:lstStyle/>
                    <a:p>
                      <a:pPr>
                        <a:lnSpc>
                          <a:spcPct val="115000"/>
                        </a:lnSpc>
                        <a:spcAft>
                          <a:spcPts val="800"/>
                        </a:spcAft>
                        <a:buNone/>
                      </a:pPr>
                      <a:r>
                        <a:rPr lang="en-GB" sz="2800" b="1" kern="1200" noProof="0" dirty="0">
                          <a:solidFill>
                            <a:srgbClr val="C00000"/>
                          </a:solidFill>
                          <a:latin typeface="OpenDyslexicAlta" panose="00000500000000000000" pitchFamily="50" charset="0"/>
                          <a:ea typeface="+mn-ea"/>
                          <a:cs typeface="+mn-cs"/>
                        </a:rPr>
                        <a:t>The account owner may lose sensitive data, suffer financial loss or face system damage.</a:t>
                      </a:r>
                    </a:p>
                  </a:txBody>
                  <a:tcPr marL="68580" marR="68580" marT="0" marB="0" anchor="ctr">
                    <a:lnL w="12700" cap="flat" cmpd="sng" algn="ctr">
                      <a:solidFill>
                        <a:srgbClr val="002570"/>
                      </a:solidFill>
                      <a:prstDash val="solid"/>
                      <a:round/>
                      <a:headEnd type="none" w="med" len="med"/>
                      <a:tailEnd type="none" w="med" len="med"/>
                    </a:lnL>
                    <a:lnR w="12700" cap="flat" cmpd="sng" algn="ctr">
                      <a:solidFill>
                        <a:srgbClr val="002570"/>
                      </a:solidFill>
                      <a:prstDash val="solid"/>
                      <a:round/>
                      <a:headEnd type="none" w="med" len="med"/>
                      <a:tailEnd type="none" w="med" len="med"/>
                    </a:lnR>
                    <a:lnT w="12700" cap="flat" cmpd="sng" algn="ctr">
                      <a:solidFill>
                        <a:srgbClr val="002570"/>
                      </a:solidFill>
                      <a:prstDash val="solid"/>
                      <a:round/>
                      <a:headEnd type="none" w="med" len="med"/>
                      <a:tailEnd type="none" w="med" len="med"/>
                    </a:lnT>
                    <a:lnB w="12700" cap="flat" cmpd="sng" algn="ctr">
                      <a:solidFill>
                        <a:srgbClr val="00257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532337677"/>
                  </a:ext>
                </a:extLst>
              </a:tr>
            </a:tbl>
          </a:graphicData>
        </a:graphic>
      </p:graphicFrame>
      <p:sp>
        <p:nvSpPr>
          <p:cNvPr id="3" name="Rectangle 2">
            <a:extLst>
              <a:ext uri="{FF2B5EF4-FFF2-40B4-BE49-F238E27FC236}">
                <a16:creationId xmlns:a16="http://schemas.microsoft.com/office/drawing/2014/main" id="{08386C5C-5875-2EBF-89A1-BD873C943409}"/>
              </a:ext>
            </a:extLst>
          </p:cNvPr>
          <p:cNvSpPr/>
          <p:nvPr/>
        </p:nvSpPr>
        <p:spPr>
          <a:xfrm>
            <a:off x="3102796" y="2075380"/>
            <a:ext cx="8301519" cy="1353620"/>
          </a:xfrm>
          <a:prstGeom prst="rect">
            <a:avLst/>
          </a:prstGeom>
          <a:solidFill>
            <a:srgbClr val="D9D9D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Rectangle 4">
            <a:extLst>
              <a:ext uri="{FF2B5EF4-FFF2-40B4-BE49-F238E27FC236}">
                <a16:creationId xmlns:a16="http://schemas.microsoft.com/office/drawing/2014/main" id="{573A91A6-E7AE-6775-C025-432E9A549DA4}"/>
              </a:ext>
            </a:extLst>
          </p:cNvPr>
          <p:cNvSpPr/>
          <p:nvPr/>
        </p:nvSpPr>
        <p:spPr>
          <a:xfrm>
            <a:off x="3102795" y="3588007"/>
            <a:ext cx="8301519" cy="1436056"/>
          </a:xfrm>
          <a:prstGeom prst="rect">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Rectangle 5">
            <a:extLst>
              <a:ext uri="{FF2B5EF4-FFF2-40B4-BE49-F238E27FC236}">
                <a16:creationId xmlns:a16="http://schemas.microsoft.com/office/drawing/2014/main" id="{A14B56E6-295A-3D84-BA9F-EB0274AD641F}"/>
              </a:ext>
            </a:extLst>
          </p:cNvPr>
          <p:cNvSpPr/>
          <p:nvPr/>
        </p:nvSpPr>
        <p:spPr>
          <a:xfrm>
            <a:off x="3102795" y="5131457"/>
            <a:ext cx="8301519" cy="1436056"/>
          </a:xfrm>
          <a:prstGeom prst="rect">
            <a:avLst/>
          </a:prstGeom>
          <a:solidFill>
            <a:srgbClr val="D9D9D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4745415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hidden"/>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hidden"/>
                                      </p:to>
                                    </p:set>
                                  </p:childTnLst>
                                </p:cTn>
                              </p:par>
                            </p:childTnLst>
                          </p:cTn>
                        </p:par>
                      </p:childTnLst>
                    </p:cTn>
                  </p:par>
                  <p:par>
                    <p:cTn id="11" fill="hold">
                      <p:stCondLst>
                        <p:cond delay="indefinite"/>
                      </p:stCondLst>
                      <p:childTnLst>
                        <p:par>
                          <p:cTn id="12" fill="hold">
                            <p:stCondLst>
                              <p:cond delay="0"/>
                            </p:stCondLst>
                            <p:childTnLst>
                              <p:par>
                                <p:cTn id="13" presetID="1" presetClass="exit"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5" grpId="0" animBg="1"/>
      <p:bldP spid="6" grpId="0" animBg="1"/>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9220DD-1B34-3F6E-ECDA-C3BBC48CDD02}"/>
              </a:ext>
            </a:extLst>
          </p:cNvPr>
          <p:cNvSpPr>
            <a:spLocks noGrp="1"/>
          </p:cNvSpPr>
          <p:nvPr>
            <p:ph type="title"/>
          </p:nvPr>
        </p:nvSpPr>
        <p:spPr/>
        <p:txBody>
          <a:bodyPr/>
          <a:lstStyle/>
          <a:p>
            <a:r>
              <a:rPr lang="en-GB" noProof="0" dirty="0"/>
              <a:t>Summary of lesson</a:t>
            </a:r>
          </a:p>
        </p:txBody>
      </p:sp>
      <p:sp>
        <p:nvSpPr>
          <p:cNvPr id="3" name="Content Placeholder 2">
            <a:extLst>
              <a:ext uri="{FF2B5EF4-FFF2-40B4-BE49-F238E27FC236}">
                <a16:creationId xmlns:a16="http://schemas.microsoft.com/office/drawing/2014/main" id="{C7B2BC8E-D2E8-90F7-8C7A-DFC54C6F6B13}"/>
              </a:ext>
            </a:extLst>
          </p:cNvPr>
          <p:cNvSpPr>
            <a:spLocks noGrp="1"/>
          </p:cNvSpPr>
          <p:nvPr>
            <p:ph idx="1"/>
          </p:nvPr>
        </p:nvSpPr>
        <p:spPr/>
        <p:txBody>
          <a:bodyPr>
            <a:normAutofit fontScale="85000" lnSpcReduction="10000"/>
          </a:bodyPr>
          <a:lstStyle/>
          <a:p>
            <a:pPr>
              <a:spcAft>
                <a:spcPts val="600"/>
              </a:spcAft>
            </a:pPr>
            <a:r>
              <a:rPr lang="en-GB" noProof="0" dirty="0"/>
              <a:t>Malware includes viruses, ransomware, trojans and spyware which harm systems in different ways.</a:t>
            </a:r>
          </a:p>
          <a:p>
            <a:pPr>
              <a:spcAft>
                <a:spcPts val="600"/>
              </a:spcAft>
            </a:pPr>
            <a:r>
              <a:rPr lang="en-GB" noProof="0" dirty="0"/>
              <a:t>Phishing and social engineering trick people into revealing sensitive information.</a:t>
            </a:r>
          </a:p>
          <a:p>
            <a:pPr>
              <a:spcAft>
                <a:spcPts val="600"/>
              </a:spcAft>
            </a:pPr>
            <a:r>
              <a:rPr lang="en-GB" noProof="0" dirty="0"/>
              <a:t>Ethical hacking improves security, while malicious hacking causes harm.</a:t>
            </a:r>
          </a:p>
          <a:p>
            <a:pPr>
              <a:spcAft>
                <a:spcPts val="600"/>
              </a:spcAft>
            </a:pPr>
            <a:r>
              <a:rPr lang="en-GB" noProof="0" dirty="0"/>
              <a:t>In this lesson, you have developed </a:t>
            </a:r>
            <a:r>
              <a:rPr lang="en-GB" b="1" noProof="0" dirty="0"/>
              <a:t>analytical thinking </a:t>
            </a:r>
            <a:r>
              <a:rPr lang="en-GB" noProof="0" dirty="0"/>
              <a:t>by identifying cyber threats and analysing phishing emails and website. You have also developed </a:t>
            </a:r>
            <a:r>
              <a:rPr lang="en-GB" b="1" noProof="0" dirty="0"/>
              <a:t>technological literacy </a:t>
            </a:r>
            <a:r>
              <a:rPr lang="en-GB" noProof="0" dirty="0"/>
              <a:t>by exploring how malware and hacking affect systems.</a:t>
            </a:r>
          </a:p>
        </p:txBody>
      </p:sp>
    </p:spTree>
    <p:extLst>
      <p:ext uri="{BB962C8B-B14F-4D97-AF65-F5344CB8AC3E}">
        <p14:creationId xmlns:p14="http://schemas.microsoft.com/office/powerpoint/2010/main" val="27571120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4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29F27A30-74F1-B68F-DB4C-1E52B13E6B0A}"/>
              </a:ext>
            </a:extLst>
          </p:cNvPr>
          <p:cNvSpPr>
            <a:spLocks noGrp="1"/>
          </p:cNvSpPr>
          <p:nvPr>
            <p:ph type="body" sz="quarter" idx="10"/>
          </p:nvPr>
        </p:nvSpPr>
        <p:spPr/>
        <p:txBody>
          <a:bodyPr>
            <a:normAutofit/>
          </a:bodyPr>
          <a:lstStyle/>
          <a:p>
            <a:r>
              <a:rPr lang="en-GB" sz="2800" noProof="0" dirty="0">
                <a:solidFill>
                  <a:srgbClr val="C00000"/>
                </a:solidFill>
                <a:hlinkClick r:id="rId2">
                  <a:extLst>
                    <a:ext uri="{A12FA001-AC4F-418D-AE19-62706E023703}">
                      <ahyp:hlinkClr xmlns:ahyp="http://schemas.microsoft.com/office/drawing/2018/hyperlinkcolor" val="tx"/>
                    </a:ext>
                  </a:extLst>
                </a:hlinkClick>
              </a:rPr>
              <a:t>https://www.nicholawilkin.com/terms</a:t>
            </a:r>
            <a:r>
              <a:rPr lang="en-GB" sz="2800" noProof="0" dirty="0">
                <a:solidFill>
                  <a:srgbClr val="C00000"/>
                </a:solidFill>
              </a:rPr>
              <a:t> </a:t>
            </a:r>
          </a:p>
        </p:txBody>
      </p:sp>
      <p:sp>
        <p:nvSpPr>
          <p:cNvPr id="8" name="Title 7">
            <a:extLst>
              <a:ext uri="{FF2B5EF4-FFF2-40B4-BE49-F238E27FC236}">
                <a16:creationId xmlns:a16="http://schemas.microsoft.com/office/drawing/2014/main" id="{AD801862-38A1-2E92-3A46-84D475AF4FD0}"/>
              </a:ext>
            </a:extLst>
          </p:cNvPr>
          <p:cNvSpPr>
            <a:spLocks noGrp="1"/>
          </p:cNvSpPr>
          <p:nvPr>
            <p:ph type="title"/>
          </p:nvPr>
        </p:nvSpPr>
        <p:spPr/>
        <p:txBody>
          <a:bodyPr/>
          <a:lstStyle/>
          <a:p>
            <a:r>
              <a:rPr lang="en-GB" noProof="0" dirty="0"/>
              <a:t>© 2025 Nichola Wilkin Ltd</a:t>
            </a:r>
          </a:p>
        </p:txBody>
      </p:sp>
    </p:spTree>
    <p:extLst>
      <p:ext uri="{BB962C8B-B14F-4D97-AF65-F5344CB8AC3E}">
        <p14:creationId xmlns:p14="http://schemas.microsoft.com/office/powerpoint/2010/main" val="54962839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Presentation2" id="{9546B4CD-A1D5-4DFE-B56F-C863773A2EAD}" vid="{EAACDE77-F2E5-4310-8C19-1E4AFB9A939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themeOverride>
</file>

<file path=docProps/app.xml><?xml version="1.0" encoding="utf-8"?>
<Properties xmlns="http://schemas.openxmlformats.org/officeDocument/2006/extended-properties" xmlns:vt="http://schemas.openxmlformats.org/officeDocument/2006/docPropsVTypes">
  <Template>NEW Example Lesson 2</Template>
  <TotalTime>355</TotalTime>
  <Words>3158</Words>
  <Application>Microsoft Office PowerPoint</Application>
  <PresentationFormat>Widescreen</PresentationFormat>
  <Paragraphs>306</Paragraphs>
  <Slides>47</Slides>
  <Notes>0</Notes>
  <HiddenSlides>1</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47</vt:i4>
      </vt:variant>
    </vt:vector>
  </HeadingPairs>
  <TitlesOfParts>
    <vt:vector size="53" baseType="lpstr">
      <vt:lpstr>Arial</vt:lpstr>
      <vt:lpstr>OpenDyslexicAlta</vt:lpstr>
      <vt:lpstr>Times New Roman</vt:lpstr>
      <vt:lpstr>Aptos ExtraBold</vt:lpstr>
      <vt:lpstr>Aptos</vt:lpstr>
      <vt:lpstr>Office Theme</vt:lpstr>
      <vt:lpstr>Types of cyber threat</vt:lpstr>
      <vt:lpstr>Objective</vt:lpstr>
      <vt:lpstr>Keywords</vt:lpstr>
      <vt:lpstr>What do you already know?</vt:lpstr>
      <vt:lpstr>Steps to success</vt:lpstr>
      <vt:lpstr>Malware</vt:lpstr>
      <vt:lpstr>Malware</vt:lpstr>
      <vt:lpstr>Malware</vt:lpstr>
      <vt:lpstr>Malware</vt:lpstr>
      <vt:lpstr>Malware</vt:lpstr>
      <vt:lpstr>Malware</vt:lpstr>
      <vt:lpstr>Malware</vt:lpstr>
      <vt:lpstr>Malware</vt:lpstr>
      <vt:lpstr>1: Malware</vt:lpstr>
      <vt:lpstr>1: Malware ANSWERS</vt:lpstr>
      <vt:lpstr>1: Malware ANSWERS</vt:lpstr>
      <vt:lpstr>1: Malware ANSWERS</vt:lpstr>
      <vt:lpstr>1: Malware ANSWERS</vt:lpstr>
      <vt:lpstr>Steps to success</vt:lpstr>
      <vt:lpstr>Social engineering</vt:lpstr>
      <vt:lpstr>Social engineering</vt:lpstr>
      <vt:lpstr>Social engineering</vt:lpstr>
      <vt:lpstr>Social engineering</vt:lpstr>
      <vt:lpstr>Social engineering</vt:lpstr>
      <vt:lpstr>Social engineering</vt:lpstr>
      <vt:lpstr>Social engineering</vt:lpstr>
      <vt:lpstr>Social engineering</vt:lpstr>
      <vt:lpstr>Social engineering</vt:lpstr>
      <vt:lpstr>Social engineering</vt:lpstr>
      <vt:lpstr>Social engineering</vt:lpstr>
      <vt:lpstr>Social engineering</vt:lpstr>
      <vt:lpstr>Social engineering</vt:lpstr>
      <vt:lpstr>2: Social engineering</vt:lpstr>
      <vt:lpstr>2: Social engineering ANSWERS</vt:lpstr>
      <vt:lpstr>Steps to success</vt:lpstr>
      <vt:lpstr>Hacking</vt:lpstr>
      <vt:lpstr>Hacking</vt:lpstr>
      <vt:lpstr>Hacking</vt:lpstr>
      <vt:lpstr>Hacking</vt:lpstr>
      <vt:lpstr>Hacking</vt:lpstr>
      <vt:lpstr>Hacking</vt:lpstr>
      <vt:lpstr>Hacking</vt:lpstr>
      <vt:lpstr>3: Hacking</vt:lpstr>
      <vt:lpstr>3: Hacking ANSWERS</vt:lpstr>
      <vt:lpstr>3: Hacking ANSWERS</vt:lpstr>
      <vt:lpstr>Summary of lesson</vt:lpstr>
      <vt:lpstr>© 2025 Nichola Wilkin Ltd</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Nicky Lacey</dc:creator>
  <dc:description>© 2025 Nichola Wilkin Ltd</dc:description>
  <cp:lastModifiedBy>Nicky Lacey</cp:lastModifiedBy>
  <cp:revision>13</cp:revision>
  <dcterms:created xsi:type="dcterms:W3CDTF">2025-05-19T04:30:27Z</dcterms:created>
  <dcterms:modified xsi:type="dcterms:W3CDTF">2025-06-19T09:18:53Z</dcterms:modified>
  <cp:category>© 2025 Nichola Wilkin Ltd</cp:category>
</cp:coreProperties>
</file>