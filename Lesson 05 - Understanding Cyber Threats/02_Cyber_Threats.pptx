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341" r:id="rId2"/>
    <p:sldId id="256" r:id="rId3"/>
    <p:sldId id="258" r:id="rId4"/>
    <p:sldId id="259" r:id="rId5"/>
    <p:sldId id="274" r:id="rId6"/>
    <p:sldId id="261" r:id="rId7"/>
    <p:sldId id="262" r:id="rId8"/>
    <p:sldId id="281" r:id="rId9"/>
    <p:sldId id="282" r:id="rId10"/>
    <p:sldId id="283" r:id="rId11"/>
    <p:sldId id="284" r:id="rId12"/>
    <p:sldId id="268" r:id="rId13"/>
    <p:sldId id="285" r:id="rId14"/>
    <p:sldId id="325" r:id="rId15"/>
    <p:sldId id="288" r:id="rId16"/>
    <p:sldId id="289" r:id="rId17"/>
    <p:sldId id="290" r:id="rId18"/>
    <p:sldId id="326" r:id="rId19"/>
    <p:sldId id="295" r:id="rId20"/>
    <p:sldId id="296" r:id="rId21"/>
    <p:sldId id="297" r:id="rId22"/>
    <p:sldId id="293" r:id="rId23"/>
    <p:sldId id="294" r:id="rId24"/>
    <p:sldId id="300" r:id="rId25"/>
    <p:sldId id="327" r:id="rId26"/>
    <p:sldId id="301" r:id="rId27"/>
    <p:sldId id="302" r:id="rId28"/>
    <p:sldId id="328" r:id="rId29"/>
    <p:sldId id="310" r:id="rId30"/>
    <p:sldId id="311" r:id="rId31"/>
    <p:sldId id="312" r:id="rId32"/>
    <p:sldId id="308" r:id="rId33"/>
    <p:sldId id="309" r:id="rId34"/>
    <p:sldId id="313" r:id="rId35"/>
    <p:sldId id="322" r:id="rId36"/>
    <p:sldId id="323" r:id="rId37"/>
    <p:sldId id="319" r:id="rId38"/>
    <p:sldId id="267" r:id="rId39"/>
    <p:sldId id="272" r:id="rId40"/>
  </p:sldIdLst>
  <p:sldSz cx="12192000" cy="6858000"/>
  <p:notesSz cx="6858000" cy="9144000"/>
  <p:embeddedFontLst>
    <p:embeddedFont>
      <p:font typeface="OpenDyslexicAlta" panose="020B0604020202020204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570"/>
    <a:srgbClr val="FFFFCC"/>
    <a:srgbClr val="FFFFE1"/>
    <a:srgbClr val="FBE3D6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157" autoAdjust="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35232B-3405-650A-0E6D-919F2AF1E0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3A1DF0-6A0F-7410-1697-3F36484923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791796-119E-4260-B149-940ECFE008A4}" type="datetimeFigureOut">
              <a:rPr lang="en-GB" smtClean="0"/>
              <a:t>06/09/2026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B57EA-C3C3-2477-F872-4F48437CE8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E89B7-4332-40EF-8A72-D4F2B18E9A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8B0B0-A64E-4C20-A968-F17ABCD71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7590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B08D0-55F0-4F46-823E-16EBA70D485C}" type="datetimeFigureOut">
              <a:rPr lang="en-GB" smtClean="0"/>
              <a:t>06/09/2026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49696-4A31-4A2D-9771-789FA2F243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0258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https://www.bbc.co.uk/news/technology-53445090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49696-4A31-4A2D-9771-789FA2F2430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04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45729A-2A02-69F1-5F8E-3A7464A80F62}"/>
              </a:ext>
            </a:extLst>
          </p:cNvPr>
          <p:cNvSpPr/>
          <p:nvPr userDrawn="1"/>
        </p:nvSpPr>
        <p:spPr>
          <a:xfrm>
            <a:off x="1217704" y="782425"/>
            <a:ext cx="9766169" cy="301657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2484D-F227-7D83-9D1F-199680CA6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3127" y="782425"/>
            <a:ext cx="8415323" cy="3016577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6A4D3-0153-0D86-80ED-42D75EA9F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3127" y="4717062"/>
            <a:ext cx="8415322" cy="638666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pic>
        <p:nvPicPr>
          <p:cNvPr id="4" name="Picture 3" descr="A computer with a crown&#10;&#10;AI-generated content may be incorrect.">
            <a:extLst>
              <a:ext uri="{FF2B5EF4-FFF2-40B4-BE49-F238E27FC236}">
                <a16:creationId xmlns:a16="http://schemas.microsoft.com/office/drawing/2014/main" id="{0DD3CD4A-2C0F-6040-2808-0C5C52670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03" y="5559678"/>
            <a:ext cx="1031794" cy="103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7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A5713A-126C-F98F-BE50-718B5BBA6CB9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0A17E-84FF-A9F1-C94E-DFFA41EE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198671"/>
            <a:ext cx="11444926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6" name="Picture 15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080783A8-50E8-B90D-6B33-6C93A5F0EB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3179003-490C-809D-D793-312B68D7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13895"/>
            <a:ext cx="11444927" cy="4952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  <a:lvl2pPr>
              <a:buClr>
                <a:srgbClr val="C00000"/>
              </a:buClr>
              <a:buSzPct val="115000"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8543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A5713A-126C-F98F-BE50-718B5BBA6CB9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0A17E-84FF-A9F1-C94E-DFFA41EE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198671"/>
            <a:ext cx="11444926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6" name="Picture 15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080783A8-50E8-B90D-6B33-6C93A5F0EB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pic>
        <p:nvPicPr>
          <p:cNvPr id="3" name="Picture 2" descr="A white rectangular object with black dots&#10;&#10;Description automatically generated with medium confidence">
            <a:extLst>
              <a:ext uri="{FF2B5EF4-FFF2-40B4-BE49-F238E27FC236}">
                <a16:creationId xmlns:a16="http://schemas.microsoft.com/office/drawing/2014/main" id="{31F8124E-EB43-9B25-D02C-9751D13000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240" y="518310"/>
            <a:ext cx="5229519" cy="5497053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3179003-490C-809D-D793-312B68D7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0681" y="2503502"/>
            <a:ext cx="3890638" cy="2947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  <a:lvl2pPr>
              <a:buClr>
                <a:srgbClr val="C00000"/>
              </a:buClr>
              <a:buSzPct val="115000"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2827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actical Ta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A5713A-126C-F98F-BE50-718B5BBA6CB9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0A17E-84FF-A9F1-C94E-DFFA41EE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589" y="89905"/>
            <a:ext cx="10187330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6" name="Picture 15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080783A8-50E8-B90D-6B33-6C93A5F0EB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3179003-490C-809D-D793-312B68D7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13895"/>
            <a:ext cx="11444927" cy="4952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  <a:lvl2pPr>
              <a:buClr>
                <a:srgbClr val="C00000"/>
              </a:buClr>
              <a:buSzPct val="115000"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7" name="Picture 6" descr="A computer with a keyboard&#10;&#10;Description automatically generated">
            <a:extLst>
              <a:ext uri="{FF2B5EF4-FFF2-40B4-BE49-F238E27FC236}">
                <a16:creationId xmlns:a16="http://schemas.microsoft.com/office/drawing/2014/main" id="{D90EB9EB-35CA-B193-CB6D-E1224A3638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3390" y="34649"/>
            <a:ext cx="874081" cy="87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26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per Ta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A5713A-126C-F98F-BE50-718B5BBA6CB9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080783A8-50E8-B90D-6B33-6C93A5F0EB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pic>
        <p:nvPicPr>
          <p:cNvPr id="4" name="Picture 3" descr="A black pen with a cap&#10;&#10;Description automatically generated">
            <a:extLst>
              <a:ext uri="{FF2B5EF4-FFF2-40B4-BE49-F238E27FC236}">
                <a16:creationId xmlns:a16="http://schemas.microsoft.com/office/drawing/2014/main" id="{23553E00-1685-A73C-C4C2-17F580B601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07" y="56188"/>
            <a:ext cx="831001" cy="831001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3179003-490C-809D-D793-312B68D7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13895"/>
            <a:ext cx="11444927" cy="4952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  <a:lvl2pPr>
              <a:buClr>
                <a:srgbClr val="C00000"/>
              </a:buClr>
              <a:buSzPct val="115000"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8FBBBB-AC3E-C1DC-7C7D-80D22331D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589" y="89905"/>
            <a:ext cx="10187330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367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ussion Ta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A5713A-126C-F98F-BE50-718B5BBA6CB9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080783A8-50E8-B90D-6B33-6C93A5F0EB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3179003-490C-809D-D793-312B68D7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13895"/>
            <a:ext cx="11444927" cy="4952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  <a:lvl2pPr>
              <a:buClr>
                <a:srgbClr val="C00000"/>
              </a:buClr>
              <a:buSzPct val="115000"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8FBBBB-AC3E-C1DC-7C7D-80D22331D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589" y="89905"/>
            <a:ext cx="10187330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5" name="Picture 4" descr="A black and white outline of a couple of speech bubbles&#10;&#10;Description automatically generated">
            <a:extLst>
              <a:ext uri="{FF2B5EF4-FFF2-40B4-BE49-F238E27FC236}">
                <a16:creationId xmlns:a16="http://schemas.microsoft.com/office/drawing/2014/main" id="{EEB8BB81-B4B1-2F82-6670-DB34481D0E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81" y="0"/>
            <a:ext cx="944871" cy="9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62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C063F6-0EE5-AAAC-3CC9-255C98F437FF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0735F-9F0E-A09C-0CF7-00E89B13D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3992" y="1313890"/>
            <a:ext cx="5635673" cy="4952737"/>
          </a:xfrm>
        </p:spPr>
        <p:txBody>
          <a:bodyPr/>
          <a:lstStyle>
            <a:lvl1pPr marL="0" indent="0">
              <a:buNone/>
              <a:defRPr/>
            </a:lvl1pPr>
            <a:lvl2pPr marL="685800" indent="-228600">
              <a:defRPr lang="en-GB" sz="3200" kern="1200" dirty="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7DE29-8D35-8F81-F97D-29C023AE4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247" y="1313890"/>
            <a:ext cx="5635673" cy="4952739"/>
          </a:xfrm>
        </p:spPr>
        <p:txBody>
          <a:bodyPr/>
          <a:lstStyle>
            <a:lvl1pPr marL="0" indent="0">
              <a:buNone/>
              <a:defRPr/>
            </a:lvl1pPr>
            <a:lvl2pPr marL="685800" indent="-228600">
              <a:defRPr lang="en-GB" sz="3200" kern="1200" dirty="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13" name="Picture 12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8087F63A-1EA4-664A-4548-C3086100B9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A6B3F91-A53F-3877-C3BE-6E52402D8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2" y="198671"/>
            <a:ext cx="11444927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404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05C2B80-4160-4381-751B-A34DADCB3B00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4E5830-5177-BEC2-17FC-C20BB5A3B9D6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13992" y="2308190"/>
            <a:ext cx="5635673" cy="3958438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685800" indent="-228600">
              <a:defRPr lang="en-GB" sz="3200" kern="1200" dirty="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0C6DAD7-F485-8649-8094-4915CBAD3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247" y="2308189"/>
            <a:ext cx="5635673" cy="3958439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85800" indent="-228600">
              <a:defRPr lang="en-GB" sz="3200" kern="1200" dirty="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 marL="914400" indent="0">
              <a:buNone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F6873-5066-9CBE-31A3-8947B94AA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992" y="1313892"/>
            <a:ext cx="5635673" cy="825626"/>
          </a:xfrm>
        </p:spPr>
        <p:txBody>
          <a:bodyPr anchor="ctr">
            <a:no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8A2E8-94EF-3974-C0EC-C97DD5650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2125" y="1313892"/>
            <a:ext cx="5626795" cy="825626"/>
          </a:xfrm>
        </p:spPr>
        <p:txBody>
          <a:bodyPr anchor="ctr">
            <a:no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8" name="Picture 17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71F6B3FE-228E-A800-6AF6-E438875659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1280ABC-EFFB-3E34-0F02-FE8B134DE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2" y="198671"/>
            <a:ext cx="11444927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8659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41A4115-2704-1EF9-388A-425081E54709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A6CEE2C1-575B-AC39-905A-F03B14DEAF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4DE5943-EE5E-C183-E7D2-83A09533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198671"/>
            <a:ext cx="11455452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6339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43D123E1-2520-9FE4-B3F5-4770893FC8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21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474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document&#10;&#10;Description automatically generated">
            <a:extLst>
              <a:ext uri="{FF2B5EF4-FFF2-40B4-BE49-F238E27FC236}">
                <a16:creationId xmlns:a16="http://schemas.microsoft.com/office/drawing/2014/main" id="{041E3DC7-C04A-F8E9-4E3A-E293561589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01"/>
          <a:stretch/>
        </p:blipFill>
        <p:spPr>
          <a:xfrm>
            <a:off x="0" y="1255058"/>
            <a:ext cx="12192000" cy="560294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0DCFE-B0FF-4E6E-A7D3-D647C7B06B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9541" y="5969934"/>
            <a:ext cx="9672918" cy="574675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C00000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795545D-231C-FDCB-8BDA-55C729529025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17830B5-81EF-08EE-0D51-086C89134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198671"/>
            <a:ext cx="10515600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845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16DFD2-1DEA-8D22-4791-DE55801F9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136525"/>
            <a:ext cx="10515600" cy="7635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DF7BB-0A96-D666-6992-98AEF317A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992" y="1313895"/>
            <a:ext cx="11444927" cy="4952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Clr>
                <a:srgbClr val="C00000"/>
              </a:buClr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4F074-8FD9-0C27-50BF-7632BF6FFAB0}"/>
              </a:ext>
            </a:extLst>
          </p:cNvPr>
          <p:cNvSpPr txBox="1"/>
          <p:nvPr userDrawn="1"/>
        </p:nvSpPr>
        <p:spPr>
          <a:xfrm rot="16200000">
            <a:off x="11757747" y="6208302"/>
            <a:ext cx="1083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2"/>
                </a:solidFill>
              </a:rPr>
              <a:t>© Nichola Wilkin Ltd</a:t>
            </a:r>
          </a:p>
        </p:txBody>
      </p:sp>
    </p:spTree>
    <p:extLst>
      <p:ext uri="{BB962C8B-B14F-4D97-AF65-F5344CB8AC3E}">
        <p14:creationId xmlns:p14="http://schemas.microsoft.com/office/powerpoint/2010/main" val="366690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62" r:id="rId4"/>
    <p:sldLayoutId id="2147483663" r:id="rId5"/>
    <p:sldLayoutId id="2147483665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002570"/>
          </a:solidFill>
          <a:latin typeface="OpenDyslexicAlta" panose="000005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1800"/>
        </a:spcAft>
        <a:buFont typeface="Arial" panose="020B0604020202020204" pitchFamily="34" charset="0"/>
        <a:buNone/>
        <a:defRPr sz="3600" kern="1200">
          <a:solidFill>
            <a:srgbClr val="002570"/>
          </a:solidFill>
          <a:latin typeface="OpenDyslexicAlt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800"/>
        </a:spcAft>
        <a:buFont typeface="Arial" panose="020B0604020202020204" pitchFamily="34" charset="0"/>
        <a:buChar char="•"/>
        <a:defRPr lang="en-GB" sz="3200" kern="1200" dirty="0">
          <a:solidFill>
            <a:srgbClr val="002570"/>
          </a:solidFill>
          <a:latin typeface="OpenDyslexicAlt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800"/>
        </a:spcAft>
        <a:buFont typeface="Arial" panose="020B0604020202020204" pitchFamily="34" charset="0"/>
        <a:buChar char="•"/>
        <a:defRPr sz="2800" kern="1200">
          <a:solidFill>
            <a:srgbClr val="002570"/>
          </a:solidFill>
          <a:latin typeface="OpenDyslexicAlt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800"/>
        </a:spcAft>
        <a:buFont typeface="Arial" panose="020B0604020202020204" pitchFamily="34" charset="0"/>
        <a:buChar char="•"/>
        <a:defRPr sz="2400" kern="1200">
          <a:solidFill>
            <a:srgbClr val="002570"/>
          </a:solidFill>
          <a:latin typeface="OpenDyslexicAlt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800"/>
        </a:spcAft>
        <a:buFont typeface="Arial" panose="020B0604020202020204" pitchFamily="34" charset="0"/>
        <a:buChar char="•"/>
        <a:defRPr sz="2400" kern="1200">
          <a:solidFill>
            <a:srgbClr val="002570"/>
          </a:solidFill>
          <a:latin typeface="OpenDyslexicAlt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22" userDrawn="1">
          <p15:clr>
            <a:srgbClr val="F26B43"/>
          </p15:clr>
        </p15:guide>
        <p15:guide id="2" pos="118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heckmypassword.com.au/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icholawilkin.com/terms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D02A-A8CC-C0F9-0C46-A78F2D96F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Important note for teachers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0A4FE-0454-E4EE-F697-61F40229B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3" y="1313895"/>
            <a:ext cx="6396382" cy="4952736"/>
          </a:xfrm>
        </p:spPr>
        <p:txBody>
          <a:bodyPr>
            <a:normAutofit/>
          </a:bodyPr>
          <a:lstStyle/>
          <a:p>
            <a:r>
              <a:rPr lang="en-GB" noProof="0" dirty="0"/>
              <a:t>Make sure you have the </a:t>
            </a:r>
            <a:r>
              <a:rPr lang="en-GB" b="1" noProof="0" dirty="0">
                <a:solidFill>
                  <a:srgbClr val="C00000"/>
                </a:solidFill>
              </a:rPr>
              <a:t>Account Holder Login Cards </a:t>
            </a:r>
            <a:r>
              <a:rPr lang="en-GB" noProof="0" dirty="0"/>
              <a:t>ready and prepared before the lesson and you know how to run the two-factor authentication activity starting on </a:t>
            </a:r>
            <a:r>
              <a:rPr lang="en-GB" b="1" noProof="0" dirty="0">
                <a:solidFill>
                  <a:srgbClr val="C00000"/>
                </a:solidFill>
              </a:rPr>
              <a:t>slide 32</a:t>
            </a:r>
            <a:r>
              <a:rPr lang="en-GB" noProof="0" dirty="0"/>
              <a:t>. </a:t>
            </a:r>
          </a:p>
          <a:p>
            <a:endParaRPr lang="en-GB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D2CC2-BDC6-C68D-7DD7-88F7AAFB4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596" y="580456"/>
            <a:ext cx="5735404" cy="573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65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184CF-D39A-F54C-E3BD-2F32E46702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Defence mechanisms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41960-3132-52E1-575A-55A2633DED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noProof="0" dirty="0"/>
              <a:t>Unit: </a:t>
            </a:r>
            <a:r>
              <a:rPr lang="en-GB" noProof="0" dirty="0"/>
              <a:t>Cyber threats</a:t>
            </a:r>
          </a:p>
        </p:txBody>
      </p:sp>
    </p:spTree>
    <p:extLst>
      <p:ext uri="{BB962C8B-B14F-4D97-AF65-F5344CB8AC3E}">
        <p14:creationId xmlns:p14="http://schemas.microsoft.com/office/powerpoint/2010/main" val="420389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02ABF-1189-622D-C67C-DBF8F48DC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FE6D7-DD69-1D13-4F3D-238FFCA5B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3600" noProof="0" dirty="0"/>
              <a:t>I can explain how defence mechanisms protect against cyber threats.</a:t>
            </a:r>
          </a:p>
        </p:txBody>
      </p:sp>
    </p:spTree>
    <p:extLst>
      <p:ext uri="{BB962C8B-B14F-4D97-AF65-F5344CB8AC3E}">
        <p14:creationId xmlns:p14="http://schemas.microsoft.com/office/powerpoint/2010/main" val="623897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397C-D2E3-ADCC-840E-27A33C78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Keywords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57726DDD-8611-BC33-219F-E0BFEE4A07EF}"/>
              </a:ext>
            </a:extLst>
          </p:cNvPr>
          <p:cNvSpPr txBox="1">
            <a:spLocks/>
          </p:cNvSpPr>
          <p:nvPr/>
        </p:nvSpPr>
        <p:spPr>
          <a:xfrm>
            <a:off x="413992" y="1535773"/>
            <a:ext cx="11444927" cy="47616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36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8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en-GB" sz="2800" noProof="0" dirty="0"/>
              <a:t>Using a </a:t>
            </a:r>
            <a:r>
              <a:rPr lang="en-GB" sz="2800" b="1" noProof="0" dirty="0">
                <a:solidFill>
                  <a:srgbClr val="C00000"/>
                </a:solidFill>
              </a:rPr>
              <a:t>firewall</a:t>
            </a:r>
            <a:r>
              <a:rPr lang="en-GB" sz="2800" noProof="0" dirty="0"/>
              <a:t> helps to block unauthorised access, acting like a security guard for your computer network.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sz="2800" b="1" noProof="0" dirty="0">
                <a:solidFill>
                  <a:srgbClr val="C00000"/>
                </a:solidFill>
              </a:rPr>
              <a:t>Antivirus</a:t>
            </a:r>
            <a:r>
              <a:rPr lang="en-GB" sz="2800" noProof="0" dirty="0"/>
              <a:t> software scans files and programmes, searching for harmful code that could damage or steal information.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sz="2800" noProof="0" dirty="0"/>
              <a:t>Strong </a:t>
            </a:r>
            <a:r>
              <a:rPr lang="en-GB" sz="2800" b="1" noProof="0" dirty="0">
                <a:solidFill>
                  <a:srgbClr val="C00000"/>
                </a:solidFill>
              </a:rPr>
              <a:t>passwords</a:t>
            </a:r>
            <a:r>
              <a:rPr lang="en-GB" sz="2800" noProof="0" dirty="0"/>
              <a:t> combine letters, numbers and symbols, making it much harder for hackers to guess or crack them.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GB" sz="2800" b="1" noProof="0" dirty="0">
                <a:solidFill>
                  <a:srgbClr val="C00000"/>
                </a:solidFill>
              </a:rPr>
              <a:t>Two-factor authentication </a:t>
            </a:r>
            <a:r>
              <a:rPr lang="en-GB" sz="2800" noProof="0" dirty="0"/>
              <a:t>adds an extra step to logging in, so even if someone knows your password, they still need another piece of information to get in.</a:t>
            </a:r>
          </a:p>
        </p:txBody>
      </p:sp>
    </p:spTree>
    <p:extLst>
      <p:ext uri="{BB962C8B-B14F-4D97-AF65-F5344CB8AC3E}">
        <p14:creationId xmlns:p14="http://schemas.microsoft.com/office/powerpoint/2010/main" val="314898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586AD-244C-8AC1-86E7-3D084F44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What do you already know?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C761F-680C-8008-5001-6739C23BF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noProof="0" dirty="0"/>
              <a:t>Computers and networks can be targeted by cyber threats such as viruses and hackers.</a:t>
            </a:r>
          </a:p>
          <a:p>
            <a:r>
              <a:rPr lang="en-GB" noProof="0" dirty="0"/>
              <a:t>Passwords are used to protect accounts and personal information online.</a:t>
            </a:r>
          </a:p>
          <a:p>
            <a:r>
              <a:rPr lang="en-GB" noProof="0" dirty="0"/>
              <a:t>Personal data needs to be kept safe from unauthorised access.</a:t>
            </a:r>
          </a:p>
          <a:p>
            <a:r>
              <a:rPr lang="en-GB" noProof="0" dirty="0"/>
              <a:t>There are different types of software, including programmes designed to protect devices.</a:t>
            </a:r>
          </a:p>
        </p:txBody>
      </p:sp>
    </p:spTree>
    <p:extLst>
      <p:ext uri="{BB962C8B-B14F-4D97-AF65-F5344CB8AC3E}">
        <p14:creationId xmlns:p14="http://schemas.microsoft.com/office/powerpoint/2010/main" val="375996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66E799-D9B4-A6C8-BAFB-22007923A781}"/>
              </a:ext>
            </a:extLst>
          </p:cNvPr>
          <p:cNvSpPr/>
          <p:nvPr/>
        </p:nvSpPr>
        <p:spPr>
          <a:xfrm>
            <a:off x="413992" y="1428750"/>
            <a:ext cx="11364016" cy="7635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D4A36-A530-71B9-E5F7-5307B39D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Steps to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DC0B2-9F40-1C8A-C33B-787DDB6DC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581149"/>
            <a:ext cx="10749308" cy="4685481"/>
          </a:xfrm>
        </p:spPr>
        <p:txBody>
          <a:bodyPr/>
          <a:lstStyle/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Firewalls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Antivirus software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Passwords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Two-factor authentication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Encryption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3493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15442-47A6-8269-B2FC-CDAB290F7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For each of the 10 </a:t>
            </a:r>
            <a:r>
              <a:rPr lang="en-GB" noProof="0" dirty="0" err="1"/>
              <a:t>secnarios</a:t>
            </a:r>
            <a:r>
              <a:rPr lang="en-GB" noProof="0" dirty="0"/>
              <a:t> decide if the item should</a:t>
            </a:r>
          </a:p>
          <a:p>
            <a:r>
              <a:rPr lang="en-GB" dirty="0"/>
              <a:t>1 be let in</a:t>
            </a:r>
          </a:p>
          <a:p>
            <a:r>
              <a:rPr lang="en-GB" noProof="0" dirty="0"/>
              <a:t>2 Be blocked</a:t>
            </a:r>
          </a:p>
          <a:p>
            <a:r>
              <a:rPr lang="en-GB" dirty="0"/>
              <a:t>3 Reviewed before access approved</a:t>
            </a:r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4EDDF-DA3A-23EB-AF41-ED5529DB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noProof="0" dirty="0"/>
              <a:t>Firewalls</a:t>
            </a:r>
          </a:p>
        </p:txBody>
      </p:sp>
    </p:spTree>
    <p:extLst>
      <p:ext uri="{BB962C8B-B14F-4D97-AF65-F5344CB8AC3E}">
        <p14:creationId xmlns:p14="http://schemas.microsoft.com/office/powerpoint/2010/main" val="2892186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8045E-589E-0976-D8B7-B4472809C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C01421-51FB-6C09-DADA-FC30ACCE1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742950" indent="-742950">
              <a:spcAft>
                <a:spcPts val="600"/>
              </a:spcAft>
              <a:buFont typeface="+mj-lt"/>
              <a:buAutoNum type="arabicPeriod"/>
            </a:pPr>
            <a:r>
              <a:rPr lang="en-GB" b="1" noProof="0" dirty="0"/>
              <a:t>A friend sending you a homework file</a:t>
            </a:r>
          </a:p>
          <a:p>
            <a:pPr>
              <a:spcAft>
                <a:spcPts val="600"/>
              </a:spcAft>
            </a:pPr>
            <a:r>
              <a:rPr lang="en-GB" b="1" noProof="0" dirty="0">
                <a:solidFill>
                  <a:srgbClr val="C00000"/>
                </a:solidFill>
              </a:rPr>
              <a:t>Let in </a:t>
            </a:r>
            <a:r>
              <a:rPr lang="en-GB" noProof="0" dirty="0"/>
              <a:t>– If you trust the friend and the file type is safe, this is usually fine. However, always check for viruses just in case.</a:t>
            </a:r>
          </a:p>
          <a:p>
            <a:pPr marL="742950" indent="-742950">
              <a:spcAft>
                <a:spcPts val="600"/>
              </a:spcAft>
              <a:buFont typeface="+mj-lt"/>
              <a:buAutoNum type="arabicPeriod" startAt="2"/>
            </a:pPr>
            <a:r>
              <a:rPr lang="en-GB" b="1" noProof="0" dirty="0"/>
              <a:t>An email attachment from an unknown sender</a:t>
            </a:r>
          </a:p>
          <a:p>
            <a:pPr>
              <a:spcAft>
                <a:spcPts val="600"/>
              </a:spcAft>
            </a:pPr>
            <a:r>
              <a:rPr lang="en-GB" b="1" noProof="0" dirty="0">
                <a:solidFill>
                  <a:srgbClr val="C00000"/>
                </a:solidFill>
              </a:rPr>
              <a:t>Block</a:t>
            </a:r>
            <a:r>
              <a:rPr lang="en-GB" noProof="0" dirty="0"/>
              <a:t> – Attachments from unknown sources could contain viruses or malware. The firewall should block this.</a:t>
            </a:r>
          </a:p>
          <a:p>
            <a:pPr marL="742950" indent="-742950">
              <a:spcAft>
                <a:spcPts val="600"/>
              </a:spcAft>
              <a:buFont typeface="+mj-lt"/>
              <a:buAutoNum type="arabicPeriod" startAt="3"/>
            </a:pPr>
            <a:r>
              <a:rPr lang="en-GB" b="1" noProof="0" dirty="0"/>
              <a:t>A pop-up ad offering a free game download</a:t>
            </a:r>
          </a:p>
          <a:p>
            <a:pPr>
              <a:spcAft>
                <a:spcPts val="600"/>
              </a:spcAft>
            </a:pPr>
            <a:r>
              <a:rPr lang="en-GB" b="1" noProof="0" dirty="0">
                <a:solidFill>
                  <a:srgbClr val="C00000"/>
                </a:solidFill>
              </a:rPr>
              <a:t>Block</a:t>
            </a:r>
            <a:r>
              <a:rPr lang="en-GB" noProof="0" dirty="0"/>
              <a:t> – Pop-ups can be risky and often lead to malware or scams. The firewall should block this.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BD6178-7D4D-D8D1-840A-2E0682D3C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Firewall </a:t>
            </a:r>
            <a:r>
              <a:rPr lang="en-GB" noProof="0" dirty="0">
                <a:solidFill>
                  <a:srgbClr val="C00000"/>
                </a:solidFill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43900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A8ABB-1F93-5CC1-905B-3BA74B826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8B8240-0532-5F42-C3B7-D9D72BC44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spcAft>
                <a:spcPts val="600"/>
              </a:spcAft>
              <a:buFont typeface="+mj-lt"/>
              <a:buAutoNum type="arabicPeriod" startAt="4"/>
            </a:pPr>
            <a:r>
              <a:rPr lang="en-GB" sz="2800" b="1" noProof="0" dirty="0"/>
              <a:t>A software update from your device’s manufacturer</a:t>
            </a:r>
          </a:p>
          <a:p>
            <a:pPr>
              <a:spcAft>
                <a:spcPts val="600"/>
              </a:spcAft>
            </a:pPr>
            <a:r>
              <a:rPr lang="en-GB" sz="3200" b="1" noProof="0" dirty="0">
                <a:solidFill>
                  <a:srgbClr val="C00000"/>
                </a:solidFill>
              </a:rPr>
              <a:t>Let in </a:t>
            </a:r>
            <a:r>
              <a:rPr lang="en-GB" sz="2800" noProof="0" dirty="0"/>
              <a:t>– Updates from trusted companies (such as Microsoft or Apple) are important for security. The firewall should allow these.</a:t>
            </a:r>
          </a:p>
          <a:p>
            <a:pPr marL="742950" indent="-742950">
              <a:spcAft>
                <a:spcPts val="600"/>
              </a:spcAft>
              <a:buFont typeface="+mj-lt"/>
              <a:buAutoNum type="arabicPeriod" startAt="5"/>
            </a:pPr>
            <a:r>
              <a:rPr lang="en-GB" sz="2800" b="1" noProof="0" dirty="0"/>
              <a:t>Your teacher sharing a resource via Google Drive</a:t>
            </a:r>
          </a:p>
          <a:p>
            <a:pPr>
              <a:spcAft>
                <a:spcPts val="600"/>
              </a:spcAft>
            </a:pPr>
            <a:r>
              <a:rPr lang="en-GB" sz="3200" b="1" noProof="0" dirty="0">
                <a:solidFill>
                  <a:srgbClr val="C00000"/>
                </a:solidFill>
              </a:rPr>
              <a:t>Let in </a:t>
            </a:r>
            <a:r>
              <a:rPr lang="en-GB" sz="2800" noProof="0" dirty="0"/>
              <a:t>– If you know the teacher and are expecting the file, this is safe. Still, be cautious with any unexpected files.</a:t>
            </a:r>
          </a:p>
          <a:p>
            <a:pPr marL="742950" indent="-742950">
              <a:spcAft>
                <a:spcPts val="600"/>
              </a:spcAft>
              <a:buFont typeface="+mj-lt"/>
              <a:buAutoNum type="arabicPeriod" startAt="6"/>
            </a:pPr>
            <a:r>
              <a:rPr lang="en-GB" sz="2800" b="1" noProof="0" dirty="0"/>
              <a:t>A message from your bank asking you to click a link and log in</a:t>
            </a:r>
          </a:p>
          <a:p>
            <a:pPr>
              <a:spcAft>
                <a:spcPts val="600"/>
              </a:spcAft>
            </a:pPr>
            <a:r>
              <a:rPr lang="en-GB" sz="3200" b="1" noProof="0" dirty="0">
                <a:solidFill>
                  <a:srgbClr val="C00000"/>
                </a:solidFill>
              </a:rPr>
              <a:t>Block</a:t>
            </a:r>
            <a:r>
              <a:rPr lang="en-GB" sz="2800" noProof="0" dirty="0"/>
              <a:t> – Official banks rarely ask you to log in using links in emails. This could be a phishing attempt. The firewall should block suspicious links.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C2695A-E23A-7CC8-1BA8-E92F7A32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Firewall </a:t>
            </a:r>
            <a:r>
              <a:rPr lang="en-GB" noProof="0" dirty="0">
                <a:solidFill>
                  <a:srgbClr val="C00000"/>
                </a:solidFill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78990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A7D91-0DCE-8114-2543-9F8D9311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33031-B308-0D48-2DB3-B13D349D2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742950" indent="-742950">
              <a:spcAft>
                <a:spcPts val="600"/>
              </a:spcAft>
              <a:buFont typeface="+mj-lt"/>
              <a:buAutoNum type="arabicPeriod" startAt="7"/>
            </a:pPr>
            <a:r>
              <a:rPr lang="en-GB" b="1" noProof="0" dirty="0"/>
              <a:t>An online quiz website asking for your school email and password</a:t>
            </a:r>
          </a:p>
          <a:p>
            <a:pPr>
              <a:spcAft>
                <a:spcPts val="600"/>
              </a:spcAft>
            </a:pPr>
            <a:r>
              <a:rPr lang="en-GB" sz="3400" b="1" noProof="0" dirty="0">
                <a:solidFill>
                  <a:srgbClr val="C00000"/>
                </a:solidFill>
              </a:rPr>
              <a:t>Block</a:t>
            </a:r>
            <a:r>
              <a:rPr lang="en-GB" noProof="0" dirty="0"/>
              <a:t> – Never share your password with websites that do not need it. The firewall should block sites asking for unnecessary personal information.</a:t>
            </a:r>
          </a:p>
          <a:p>
            <a:pPr marL="742950" indent="-742950">
              <a:spcAft>
                <a:spcPts val="600"/>
              </a:spcAft>
              <a:buFont typeface="+mj-lt"/>
              <a:buAutoNum type="arabicPeriod" startAt="8"/>
            </a:pPr>
            <a:r>
              <a:rPr lang="en-GB" b="1" noProof="0" dirty="0"/>
              <a:t>A new app asking for permission to access all your photos</a:t>
            </a:r>
          </a:p>
          <a:p>
            <a:pPr>
              <a:spcAft>
                <a:spcPts val="600"/>
              </a:spcAft>
            </a:pPr>
            <a:r>
              <a:rPr lang="en-GB" sz="3400" b="1" noProof="0" dirty="0">
                <a:solidFill>
                  <a:srgbClr val="C00000"/>
                </a:solidFill>
              </a:rPr>
              <a:t>Block or review carefully </a:t>
            </a:r>
            <a:r>
              <a:rPr lang="en-GB" noProof="0" dirty="0"/>
              <a:t>– The firewall may flag this as suspicious. Only allow access if you trust the app and it needs access for a valid reason.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14DF6B-AD45-EA70-157A-8605ECE4D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Firewall </a:t>
            </a:r>
            <a:r>
              <a:rPr lang="en-GB" noProof="0" dirty="0">
                <a:solidFill>
                  <a:srgbClr val="C00000"/>
                </a:solidFill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49970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42C10-888B-D7FF-FD71-A3876753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B153A0-3A7B-9448-2CB3-BBF6B4B28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742950" indent="-742950">
              <a:spcAft>
                <a:spcPts val="600"/>
              </a:spcAft>
              <a:buFont typeface="+mj-lt"/>
              <a:buAutoNum type="arabicPeriod" startAt="9"/>
            </a:pPr>
            <a:r>
              <a:rPr lang="en-GB" b="1" noProof="0" dirty="0"/>
              <a:t>A system alert from your computer’s security software</a:t>
            </a:r>
          </a:p>
          <a:p>
            <a:pPr>
              <a:spcAft>
                <a:spcPts val="600"/>
              </a:spcAft>
            </a:pPr>
            <a:r>
              <a:rPr lang="en-GB" sz="3400" b="1" noProof="0" dirty="0">
                <a:solidFill>
                  <a:srgbClr val="C00000"/>
                </a:solidFill>
              </a:rPr>
              <a:t>Let in </a:t>
            </a:r>
            <a:r>
              <a:rPr lang="en-GB" noProof="0" dirty="0"/>
              <a:t>– Security software alerts are meant to keep you safe. The firewall should allow these notifications.</a:t>
            </a:r>
          </a:p>
          <a:p>
            <a:pPr marL="742950" indent="-742950">
              <a:spcAft>
                <a:spcPts val="600"/>
              </a:spcAft>
              <a:buFont typeface="+mj-lt"/>
              <a:buAutoNum type="arabicPeriod" startAt="10"/>
            </a:pPr>
            <a:r>
              <a:rPr lang="en-GB" b="1" noProof="0" dirty="0"/>
              <a:t>A file from a classmate you have never spoken to before</a:t>
            </a:r>
          </a:p>
          <a:p>
            <a:pPr>
              <a:spcAft>
                <a:spcPts val="600"/>
              </a:spcAft>
            </a:pPr>
            <a:r>
              <a:rPr lang="en-GB" sz="3400" b="1" noProof="0" dirty="0">
                <a:solidFill>
                  <a:srgbClr val="C00000"/>
                </a:solidFill>
              </a:rPr>
              <a:t>Block or check carefully </a:t>
            </a:r>
            <a:r>
              <a:rPr lang="en-GB" noProof="0" dirty="0"/>
              <a:t>– If you do not know the sender, it’s safer to block or scan the file before opening.</a:t>
            </a:r>
          </a:p>
          <a:p>
            <a:pPr>
              <a:spcAft>
                <a:spcPts val="600"/>
              </a:spcAft>
            </a:pPr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EDB067-C445-D8B3-51DA-5A26FB098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Firewall </a:t>
            </a:r>
            <a:r>
              <a:rPr lang="en-GB" noProof="0" dirty="0">
                <a:solidFill>
                  <a:srgbClr val="C00000"/>
                </a:solidFill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77632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4EDDF-DA3A-23EB-AF41-ED5529DB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15442-47A6-8269-B2FC-CDAB290F7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noProof="0" dirty="0"/>
              <a:t>A </a:t>
            </a:r>
            <a:r>
              <a:rPr lang="en-GB" b="1" noProof="0" dirty="0">
                <a:solidFill>
                  <a:srgbClr val="C00000"/>
                </a:solidFill>
              </a:rPr>
              <a:t>firewall</a:t>
            </a:r>
            <a:r>
              <a:rPr lang="en-GB" noProof="0" dirty="0"/>
              <a:t> is like a security guard for your computer or network.</a:t>
            </a:r>
          </a:p>
          <a:p>
            <a:r>
              <a:rPr lang="en-GB" noProof="0" dirty="0"/>
              <a:t>It decides which data is allowed to enter or leave your system, blocking anything suspicious.</a:t>
            </a:r>
          </a:p>
          <a:p>
            <a:r>
              <a:rPr lang="en-GB" noProof="0" dirty="0"/>
              <a:t>Firewalls help protect your device from hackers, viruses and other cyber threats.</a:t>
            </a:r>
          </a:p>
          <a:p>
            <a:r>
              <a:rPr lang="en-GB" noProof="0" dirty="0"/>
              <a:t>You can find firewalls in software (programmes on your computer) or hardware (physical devices connected to your network).</a:t>
            </a:r>
          </a:p>
        </p:txBody>
      </p:sp>
    </p:spTree>
    <p:extLst>
      <p:ext uri="{BB962C8B-B14F-4D97-AF65-F5344CB8AC3E}">
        <p14:creationId xmlns:p14="http://schemas.microsoft.com/office/powerpoint/2010/main" val="297377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AF4E0-E334-3000-93C4-9EB3F216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92C6E-26ED-6E8B-F10E-C69BE2AC3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noProof="0" dirty="0"/>
              <a:t>Firewalls monitor all incoming and outgoing network traffic.</a:t>
            </a:r>
          </a:p>
          <a:p>
            <a:r>
              <a:rPr lang="en-GB" noProof="0" dirty="0"/>
              <a:t>They check each piece of data against a set of security rules.</a:t>
            </a:r>
          </a:p>
          <a:p>
            <a:r>
              <a:rPr lang="en-GB" noProof="0" dirty="0"/>
              <a:t>If the data looks safe, it is allowed through; if it looks dangerous or unknown, it gets blocked.</a:t>
            </a:r>
          </a:p>
          <a:p>
            <a:r>
              <a:rPr lang="en-GB" noProof="0" dirty="0"/>
              <a:t>This helps stop unwanted visitors such as hackers or malware from getting in and keeps your private information safe.</a:t>
            </a:r>
          </a:p>
        </p:txBody>
      </p:sp>
    </p:spTree>
    <p:extLst>
      <p:ext uri="{BB962C8B-B14F-4D97-AF65-F5344CB8AC3E}">
        <p14:creationId xmlns:p14="http://schemas.microsoft.com/office/powerpoint/2010/main" val="3153348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D8FB-7294-F922-A5F1-52C761E1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726FDE-3CD5-57D5-4BB0-3CD028F20D7D}"/>
              </a:ext>
            </a:extLst>
          </p:cNvPr>
          <p:cNvSpPr/>
          <p:nvPr/>
        </p:nvSpPr>
        <p:spPr>
          <a:xfrm>
            <a:off x="413992" y="2271231"/>
            <a:ext cx="11364016" cy="7635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E8DDC-F734-6E1C-6D09-DCEB57E2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Steps to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AE197-E622-48A6-7F4A-1C45C6AFD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581149"/>
            <a:ext cx="10749308" cy="4685481"/>
          </a:xfrm>
        </p:spPr>
        <p:txBody>
          <a:bodyPr/>
          <a:lstStyle/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Firewalls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Antivirus software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Passwords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Two-factor authentication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Encryption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3096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B4745-4828-7DFD-9280-A85106DC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Antivirus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D1C15-9E7E-1630-BC6E-1DCC87846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noProof="0" dirty="0">
                <a:solidFill>
                  <a:srgbClr val="C00000"/>
                </a:solidFill>
              </a:rPr>
              <a:t>Antivirus</a:t>
            </a:r>
            <a:r>
              <a:rPr lang="en-GB" noProof="0" dirty="0"/>
              <a:t> software is a programme that helps protect your computer from malware.</a:t>
            </a:r>
          </a:p>
          <a:p>
            <a:r>
              <a:rPr lang="en-GB" noProof="0" dirty="0"/>
              <a:t>It works by scanning your files, emails and downloads for viruses, worms, trojans and other threats.</a:t>
            </a:r>
          </a:p>
          <a:p>
            <a:r>
              <a:rPr lang="en-GB" noProof="0" dirty="0"/>
              <a:t>If it finds something suspicious, it warns you or removes the threat automatically.</a:t>
            </a:r>
          </a:p>
          <a:p>
            <a:r>
              <a:rPr lang="en-GB" noProof="0" dirty="0"/>
              <a:t>Most computers and devices come with antivirus software but it needs regular updates to stay effective.</a:t>
            </a:r>
          </a:p>
        </p:txBody>
      </p:sp>
    </p:spTree>
    <p:extLst>
      <p:ext uri="{BB962C8B-B14F-4D97-AF65-F5344CB8AC3E}">
        <p14:creationId xmlns:p14="http://schemas.microsoft.com/office/powerpoint/2010/main" val="3566563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7D368-1C04-16FB-9110-B901A815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81C9-0025-2B82-EF6C-7448F9E27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Antivirus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06763-E986-50CD-93F7-8488FC3AF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Antivirus software checks everything coming into your computer, such as files you download or email attachments you open.</a:t>
            </a:r>
          </a:p>
          <a:p>
            <a:pPr>
              <a:spcAft>
                <a:spcPts val="600"/>
              </a:spcAft>
            </a:pPr>
            <a:r>
              <a:rPr lang="en-GB" noProof="0" dirty="0"/>
              <a:t>It uses a database of known threats and smart techniques to spot new or unknown viruses.</a:t>
            </a:r>
          </a:p>
          <a:p>
            <a:pPr>
              <a:spcAft>
                <a:spcPts val="600"/>
              </a:spcAft>
            </a:pPr>
            <a:r>
              <a:rPr lang="en-GB" noProof="0" dirty="0"/>
              <a:t>When it finds a threat, it can quarantine (isolate) or delete the harmful file to stop it spreading.</a:t>
            </a:r>
          </a:p>
          <a:p>
            <a:pPr>
              <a:spcAft>
                <a:spcPts val="600"/>
              </a:spcAft>
            </a:pPr>
            <a:r>
              <a:rPr lang="en-GB" noProof="0" dirty="0"/>
              <a:t>Running regular scans helps keep your computer safe but you should also be careful about what you click or download.</a:t>
            </a:r>
          </a:p>
        </p:txBody>
      </p:sp>
    </p:spTree>
    <p:extLst>
      <p:ext uri="{BB962C8B-B14F-4D97-AF65-F5344CB8AC3E}">
        <p14:creationId xmlns:p14="http://schemas.microsoft.com/office/powerpoint/2010/main" val="119463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45E90-7D69-D11B-E442-E60B0D3D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43BAD-0EB0-17BD-DFC8-6FC953C9A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Antivirus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3777E-0777-950C-C9E4-B17328D9C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1200"/>
              </a:spcAft>
            </a:pPr>
            <a:r>
              <a:rPr lang="en-GB" sz="3200" noProof="0" dirty="0"/>
              <a:t>It is important to update antivirus software regularly because new viruses and types of malware are being created all the time.</a:t>
            </a:r>
          </a:p>
          <a:p>
            <a:pPr>
              <a:spcAft>
                <a:spcPts val="1200"/>
              </a:spcAft>
            </a:pPr>
            <a:r>
              <a:rPr lang="en-GB" sz="3200" noProof="0" dirty="0"/>
              <a:t>Updates give your antivirus programme the latest information about these new threats so it can recognise and stop them before they harm your computer.</a:t>
            </a:r>
          </a:p>
          <a:p>
            <a:pPr>
              <a:spcAft>
                <a:spcPts val="1200"/>
              </a:spcAft>
            </a:pPr>
            <a:r>
              <a:rPr lang="en-GB" sz="3200" noProof="0" dirty="0"/>
              <a:t>Without regular updates, your antivirus software might miss new viruses, making your device much less secure.</a:t>
            </a:r>
          </a:p>
          <a:p>
            <a:pPr>
              <a:spcAft>
                <a:spcPts val="1200"/>
              </a:spcAft>
            </a:pPr>
            <a:r>
              <a:rPr lang="en-GB" sz="3200" noProof="0" dirty="0"/>
              <a:t>Keeping it up to date helps ensure your computer stays protected against the latest risks.</a:t>
            </a:r>
          </a:p>
        </p:txBody>
      </p:sp>
    </p:spTree>
    <p:extLst>
      <p:ext uri="{BB962C8B-B14F-4D97-AF65-F5344CB8AC3E}">
        <p14:creationId xmlns:p14="http://schemas.microsoft.com/office/powerpoint/2010/main" val="386976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CCAF3-CD25-61B0-E95D-DC6FDFD97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BEB15E-E566-FA13-DA84-17C242395356}"/>
              </a:ext>
            </a:extLst>
          </p:cNvPr>
          <p:cNvSpPr/>
          <p:nvPr/>
        </p:nvSpPr>
        <p:spPr>
          <a:xfrm>
            <a:off x="413992" y="3047214"/>
            <a:ext cx="11364016" cy="7635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11F8E3-7657-5F76-0457-B59C24FC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Steps to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68AFD-CB47-89F5-15BC-178EAC39C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581149"/>
            <a:ext cx="10749308" cy="4685481"/>
          </a:xfrm>
        </p:spPr>
        <p:txBody>
          <a:bodyPr/>
          <a:lstStyle/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Firewalls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Antivirus software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Passwords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Two-factor authentication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Encryption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627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FCCB-9D8A-2AE3-CBF8-1B7FE1F1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Passwords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3A88-84B2-3614-9B5F-D22D9500C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noProof="0" dirty="0"/>
              <a:t>In 2023, the most common password in the world was “123456” which was used by more than 4.5 million people worldwide. </a:t>
            </a:r>
          </a:p>
          <a:p>
            <a:r>
              <a:rPr lang="en-GB" noProof="0" dirty="0"/>
              <a:t>Other very common (and weak) passwords include:</a:t>
            </a:r>
          </a:p>
          <a:p>
            <a:pPr marL="719138"/>
            <a:r>
              <a:rPr lang="en-GB" noProof="0" dirty="0"/>
              <a:t>“password”</a:t>
            </a:r>
          </a:p>
          <a:p>
            <a:pPr marL="719138"/>
            <a:r>
              <a:rPr lang="en-GB" noProof="0" dirty="0"/>
              <a:t>“123456789”</a:t>
            </a:r>
          </a:p>
          <a:p>
            <a:pPr marL="719138"/>
            <a:r>
              <a:rPr lang="en-GB" noProof="0" dirty="0"/>
              <a:t>“qwerty”</a:t>
            </a:r>
          </a:p>
          <a:p>
            <a:pPr marL="719138"/>
            <a:r>
              <a:rPr lang="en-GB" noProof="0" dirty="0"/>
              <a:t>“abc123”</a:t>
            </a:r>
          </a:p>
        </p:txBody>
      </p:sp>
    </p:spTree>
    <p:extLst>
      <p:ext uri="{BB962C8B-B14F-4D97-AF65-F5344CB8AC3E}">
        <p14:creationId xmlns:p14="http://schemas.microsoft.com/office/powerpoint/2010/main" val="73430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5C07F-0D90-3A22-66A6-382875DF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Passwords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590D4-929C-D079-EF83-20207D8CF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Most of the top twenty-five common passwords can be cracked by hackers in less than one second using automated tools.</a:t>
            </a:r>
          </a:p>
          <a:p>
            <a:r>
              <a:rPr lang="en-GB" noProof="0" dirty="0"/>
              <a:t>According to a 2022 report by </a:t>
            </a:r>
            <a:r>
              <a:rPr lang="en-GB" noProof="0" dirty="0" err="1"/>
              <a:t>SplashData</a:t>
            </a:r>
            <a:r>
              <a:rPr lang="en-GB" noProof="0" dirty="0"/>
              <a:t>, about 10% of people have used at least one of the twenty-five worst passwords.</a:t>
            </a:r>
          </a:p>
          <a:p>
            <a:r>
              <a:rPr lang="en-GB" noProof="0" dirty="0"/>
              <a:t>A 2023 survey found that 24% of people have used the word “password” or a variation as their password at some point.</a:t>
            </a:r>
          </a:p>
        </p:txBody>
      </p:sp>
    </p:spTree>
    <p:extLst>
      <p:ext uri="{BB962C8B-B14F-4D97-AF65-F5344CB8AC3E}">
        <p14:creationId xmlns:p14="http://schemas.microsoft.com/office/powerpoint/2010/main" val="282160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A5B20-E328-2EFF-F086-4147099E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Passwords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3B587-FCBC-2B97-2336-45D8585F6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noProof="0" dirty="0"/>
              <a:t>In July 2020, hackers gained access to high-profile Twitter accounts, including Barack Obama, Elon Musk and Bill Gates, to promote a Bitcoin scam. </a:t>
            </a:r>
          </a:p>
          <a:p>
            <a:r>
              <a:rPr lang="en-GB" noProof="0" dirty="0"/>
              <a:t>The attackers used social engineering to access Twitter’s internal systems, but part of their success was due to some employees using weak passwords and not enabling extra security.</a:t>
            </a:r>
          </a:p>
          <a:p>
            <a:r>
              <a:rPr lang="en-GB" noProof="0" dirty="0"/>
              <a:t>The scam resulted in more than $100,000 being stolen from the public and Twitter had to lock down verified accounts for hours to stop the attack.</a:t>
            </a:r>
          </a:p>
        </p:txBody>
      </p:sp>
    </p:spTree>
    <p:extLst>
      <p:ext uri="{BB962C8B-B14F-4D97-AF65-F5344CB8AC3E}">
        <p14:creationId xmlns:p14="http://schemas.microsoft.com/office/powerpoint/2010/main" val="147035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DF9AAB-919C-DA47-7E84-C523E554E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Passwords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D3C48A-D218-0892-2BAB-6696C29C9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noProof="0" dirty="0"/>
              <a:t>Strong passwords help protect your accounts and personal information from hackers.</a:t>
            </a:r>
          </a:p>
          <a:p>
            <a:r>
              <a:rPr lang="en-GB" noProof="0" dirty="0"/>
              <a:t>Weak passwords, such as “123456” or “password”, are easy for cyber criminals to guess or crack using special software.</a:t>
            </a:r>
          </a:p>
          <a:p>
            <a:r>
              <a:rPr lang="en-GB" noProof="0" dirty="0"/>
              <a:t>If someone gets your password, they could access your emails, social media or even your bank account.</a:t>
            </a:r>
          </a:p>
          <a:p>
            <a:r>
              <a:rPr lang="en-GB" noProof="0" dirty="0"/>
              <a:t>Using strong, unique passwords for each account makes it much harder for anyone to break in and keeps your data safe.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4743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46489-7F97-6D36-67B9-F3BABB88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Passwords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51FB7-66C0-A2ED-7623-2809BD4A2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noProof="0" dirty="0"/>
              <a:t>Use a mix of upper and lower case letters, numbers and symbols (for example, “T!g3r$2run”).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noProof="0" dirty="0"/>
              <a:t>Make your password at least ten to fifteen characters long.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noProof="0" dirty="0"/>
              <a:t>Avoid using personal information such as your name or birthday.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noProof="0" dirty="0"/>
              <a:t>Try using a memorable phrase, then change some letters to numbers or symbols (for example, </a:t>
            </a:r>
            <a:r>
              <a:rPr lang="en-GB" noProof="0" dirty="0" err="1"/>
              <a:t>FootballIsGreat</a:t>
            </a:r>
            <a:r>
              <a:rPr lang="en-GB" noProof="0" dirty="0"/>
              <a:t> becomes “F00tb@ll!sGr8”).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noProof="0" dirty="0"/>
              <a:t>Never use the same password for more than one account.</a:t>
            </a:r>
          </a:p>
        </p:txBody>
      </p:sp>
    </p:spTree>
    <p:extLst>
      <p:ext uri="{BB962C8B-B14F-4D97-AF65-F5344CB8AC3E}">
        <p14:creationId xmlns:p14="http://schemas.microsoft.com/office/powerpoint/2010/main" val="357839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BF4D-0905-77A2-EFAB-5BAAF9C4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Passwords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EFE3B-128F-73E9-7FE0-FE6F44FE9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Go to:</a:t>
            </a:r>
          </a:p>
          <a:p>
            <a:pPr algn="ctr">
              <a:spcAft>
                <a:spcPts val="600"/>
              </a:spcAft>
            </a:pPr>
            <a:r>
              <a:rPr lang="en-GB" noProof="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https://www.checkmypassword.com.au/</a:t>
            </a:r>
            <a:endParaRPr lang="en-GB" noProof="0" dirty="0">
              <a:solidFill>
                <a:srgbClr val="0070C0"/>
              </a:solidFill>
            </a:endParaRPr>
          </a:p>
          <a:p>
            <a:pPr>
              <a:spcAft>
                <a:spcPts val="600"/>
              </a:spcAft>
            </a:pPr>
            <a:r>
              <a:rPr lang="en-GB" noProof="0" dirty="0"/>
              <a:t>Enter some sample passwords and see how long it would take AI to crack them.</a:t>
            </a:r>
          </a:p>
          <a:p>
            <a:pPr>
              <a:spcAft>
                <a:spcPts val="600"/>
              </a:spcAft>
            </a:pPr>
            <a:r>
              <a:rPr lang="en-GB" noProof="0" dirty="0"/>
              <a:t>How long would it take to crack the following passwords:</a:t>
            </a:r>
          </a:p>
          <a:p>
            <a:pPr marL="893763">
              <a:spcAft>
                <a:spcPts val="600"/>
              </a:spcAft>
            </a:pPr>
            <a:r>
              <a:rPr lang="en-GB" noProof="0" dirty="0" err="1"/>
              <a:t>ilovemycat</a:t>
            </a:r>
            <a:endParaRPr lang="en-GB" noProof="0" dirty="0"/>
          </a:p>
          <a:p>
            <a:pPr marL="893763">
              <a:spcAft>
                <a:spcPts val="600"/>
              </a:spcAft>
            </a:pPr>
            <a:r>
              <a:rPr lang="en-GB" noProof="0" dirty="0"/>
              <a:t>paSSw0rd </a:t>
            </a:r>
            <a:r>
              <a:rPr lang="en-GB" sz="2300" noProof="0" dirty="0"/>
              <a:t>(this uses a zero rather than the letter o)</a:t>
            </a:r>
          </a:p>
          <a:p>
            <a:pPr marL="893763">
              <a:spcAft>
                <a:spcPts val="600"/>
              </a:spcAft>
            </a:pPr>
            <a:r>
              <a:rPr lang="en-GB" noProof="0" dirty="0"/>
              <a:t>FrAnkENste1n’s#m0nster! </a:t>
            </a:r>
            <a:r>
              <a:rPr lang="en-GB" sz="2300" noProof="0" dirty="0"/>
              <a:t>(this also uses a zero)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1913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8FF0-9EF2-6DA7-29E9-8F5583C72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93A146-10B6-6087-F158-5EFBF4AC1162}"/>
              </a:ext>
            </a:extLst>
          </p:cNvPr>
          <p:cNvSpPr/>
          <p:nvPr/>
        </p:nvSpPr>
        <p:spPr>
          <a:xfrm>
            <a:off x="413992" y="4028112"/>
            <a:ext cx="11364016" cy="7635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80BD6-35FC-9B6E-FEFF-71E5B29B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Steps to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5CEF3-96B6-8CA6-A205-2C9E21399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581149"/>
            <a:ext cx="10749308" cy="4685481"/>
          </a:xfrm>
        </p:spPr>
        <p:txBody>
          <a:bodyPr/>
          <a:lstStyle/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Firewalls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Antivirus software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Passwords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Two-factor authentication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Encryption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3538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D95034-129D-C504-6693-F46738C56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Two-factor authentication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5F937D-C85A-89B2-E437-B9D9E8EF8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noProof="0" dirty="0">
                <a:solidFill>
                  <a:srgbClr val="C00000"/>
                </a:solidFill>
              </a:rPr>
              <a:t>Two-factor authentication </a:t>
            </a:r>
            <a:r>
              <a:rPr lang="en-GB" noProof="0" dirty="0"/>
              <a:t>(2FA) is an extra layer of security for your online accounts.</a:t>
            </a:r>
          </a:p>
          <a:p>
            <a:r>
              <a:rPr lang="en-GB" noProof="0" dirty="0"/>
              <a:t>Instead of just entering a password, you also need a second piece of information to log in.</a:t>
            </a:r>
          </a:p>
        </p:txBody>
      </p:sp>
    </p:spTree>
    <p:extLst>
      <p:ext uri="{BB962C8B-B14F-4D97-AF65-F5344CB8AC3E}">
        <p14:creationId xmlns:p14="http://schemas.microsoft.com/office/powerpoint/2010/main" val="202390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24EB7-BE4B-6AE5-2674-6B4F6ADCA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70C596-C93F-EDED-C5ED-1F84B069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Two-factor authentication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55F252-F8FC-4ABD-2930-203B4C79E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This second factor could be:</a:t>
            </a:r>
          </a:p>
          <a:p>
            <a:pPr marL="893763" indent="-441325">
              <a:buFont typeface="Arial" panose="020B0604020202020204" pitchFamily="34" charset="0"/>
              <a:buChar char="•"/>
            </a:pPr>
            <a:r>
              <a:rPr lang="en-GB" noProof="0" dirty="0"/>
              <a:t>A code sent to your phone</a:t>
            </a:r>
          </a:p>
          <a:p>
            <a:pPr marL="893763" indent="-441325">
              <a:buFont typeface="Arial" panose="020B0604020202020204" pitchFamily="34" charset="0"/>
              <a:buChar char="•"/>
            </a:pPr>
            <a:r>
              <a:rPr lang="en-GB" noProof="0" dirty="0"/>
              <a:t>A fingerprint or face scan</a:t>
            </a:r>
          </a:p>
          <a:p>
            <a:pPr marL="893763" indent="-441325">
              <a:buFont typeface="Arial" panose="020B0604020202020204" pitchFamily="34" charset="0"/>
              <a:buChar char="•"/>
            </a:pPr>
            <a:r>
              <a:rPr lang="en-GB" noProof="0" dirty="0"/>
              <a:t>An app that generates a one-time code</a:t>
            </a:r>
          </a:p>
          <a:p>
            <a:r>
              <a:rPr lang="en-GB" noProof="0" dirty="0"/>
              <a:t>Even if someone knows your password, they can not get in without the second factor.</a:t>
            </a:r>
          </a:p>
        </p:txBody>
      </p:sp>
    </p:spTree>
    <p:extLst>
      <p:ext uri="{BB962C8B-B14F-4D97-AF65-F5344CB8AC3E}">
        <p14:creationId xmlns:p14="http://schemas.microsoft.com/office/powerpoint/2010/main" val="1139626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56AD-607A-2F08-8015-EEF776D0B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AC88CD-FF44-A414-01C9-758C14978603}"/>
              </a:ext>
            </a:extLst>
          </p:cNvPr>
          <p:cNvSpPr/>
          <p:nvPr/>
        </p:nvSpPr>
        <p:spPr>
          <a:xfrm>
            <a:off x="393444" y="4864243"/>
            <a:ext cx="11364016" cy="7635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4A51A-73CF-416B-2545-4E6BCE4F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Steps to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60DB4-3EAD-3A7E-44C6-B579206EE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581149"/>
            <a:ext cx="10749308" cy="4685481"/>
          </a:xfrm>
        </p:spPr>
        <p:txBody>
          <a:bodyPr/>
          <a:lstStyle/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Firewalls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Antivirus software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Passwords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Two-factor authentication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Encryption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598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Encoded message">
            <a:extLst>
              <a:ext uri="{FF2B5EF4-FFF2-40B4-BE49-F238E27FC236}">
                <a16:creationId xmlns:a16="http://schemas.microsoft.com/office/drawing/2014/main" id="{DA568570-92DC-5751-1B27-23BDAD4FF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What does this message mean?</a:t>
            </a:r>
          </a:p>
          <a:p>
            <a:endParaRPr lang="en-GB" noProof="0" dirty="0"/>
          </a:p>
          <a:p>
            <a:endParaRPr lang="en-GB" noProof="0" dirty="0"/>
          </a:p>
          <a:p>
            <a:r>
              <a:rPr lang="en-GB" noProof="0" dirty="0"/>
              <a:t>It is very difficult to work out the message unless you know the code.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3D7A7-B82C-C970-D025-E59B04468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Encryption</a:t>
            </a:r>
          </a:p>
        </p:txBody>
      </p:sp>
      <p:pic>
        <p:nvPicPr>
          <p:cNvPr id="31" name="Picture 20" descr="Encoded message">
            <a:extLst>
              <a:ext uri="{FF2B5EF4-FFF2-40B4-BE49-F238E27FC236}">
                <a16:creationId xmlns:a16="http://schemas.microsoft.com/office/drawing/2014/main" id="{C7BAB6EB-802C-4B41-F9FA-70C094CFC10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14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1">
            <a:extLst>
              <a:ext uri="{FF2B5EF4-FFF2-40B4-BE49-F238E27FC236}">
                <a16:creationId xmlns:a16="http://schemas.microsoft.com/office/drawing/2014/main" id="{95E02932-DBA9-38ED-47F3-9BB10B6E9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66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2">
            <a:extLst>
              <a:ext uri="{FF2B5EF4-FFF2-40B4-BE49-F238E27FC236}">
                <a16:creationId xmlns:a16="http://schemas.microsoft.com/office/drawing/2014/main" id="{B2A62626-E1E1-189E-D7D6-62DE28879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17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3">
            <a:extLst>
              <a:ext uri="{FF2B5EF4-FFF2-40B4-BE49-F238E27FC236}">
                <a16:creationId xmlns:a16="http://schemas.microsoft.com/office/drawing/2014/main" id="{AA17A5B9-430D-C68C-148C-62E4859AA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69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4">
            <a:extLst>
              <a:ext uri="{FF2B5EF4-FFF2-40B4-BE49-F238E27FC236}">
                <a16:creationId xmlns:a16="http://schemas.microsoft.com/office/drawing/2014/main" id="{CFFC834D-7F1F-93E0-0A11-A06DC1387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20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5">
            <a:extLst>
              <a:ext uri="{FF2B5EF4-FFF2-40B4-BE49-F238E27FC236}">
                <a16:creationId xmlns:a16="http://schemas.microsoft.com/office/drawing/2014/main" id="{55401516-09FF-ACE3-6D8E-A29E783A5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72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6">
            <a:extLst>
              <a:ext uri="{FF2B5EF4-FFF2-40B4-BE49-F238E27FC236}">
                <a16:creationId xmlns:a16="http://schemas.microsoft.com/office/drawing/2014/main" id="{C12DA8BD-ED1D-156D-0A89-2E9F5E860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23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7">
            <a:extLst>
              <a:ext uri="{FF2B5EF4-FFF2-40B4-BE49-F238E27FC236}">
                <a16:creationId xmlns:a16="http://schemas.microsoft.com/office/drawing/2014/main" id="{2ADFC4BD-5E28-2CD1-2A5B-D95CD9456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75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8">
            <a:extLst>
              <a:ext uri="{FF2B5EF4-FFF2-40B4-BE49-F238E27FC236}">
                <a16:creationId xmlns:a16="http://schemas.microsoft.com/office/drawing/2014/main" id="{9F02024A-749E-500F-F93B-21160D78F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26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9">
            <a:extLst>
              <a:ext uri="{FF2B5EF4-FFF2-40B4-BE49-F238E27FC236}">
                <a16:creationId xmlns:a16="http://schemas.microsoft.com/office/drawing/2014/main" id="{949D6B3A-9E82-97AF-4C06-CB4EEF12D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78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30">
            <a:extLst>
              <a:ext uri="{FF2B5EF4-FFF2-40B4-BE49-F238E27FC236}">
                <a16:creationId xmlns:a16="http://schemas.microsoft.com/office/drawing/2014/main" id="{F6ED3B4B-C629-99C8-0DA9-5A2515949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5925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31">
            <a:extLst>
              <a:ext uri="{FF2B5EF4-FFF2-40B4-BE49-F238E27FC236}">
                <a16:creationId xmlns:a16="http://schemas.microsoft.com/office/drawing/2014/main" id="{D16C499A-E3AD-FD49-87D1-D2B0F2CBA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0440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32">
            <a:extLst>
              <a:ext uri="{FF2B5EF4-FFF2-40B4-BE49-F238E27FC236}">
                <a16:creationId xmlns:a16="http://schemas.microsoft.com/office/drawing/2014/main" id="{CD0BC23F-3014-233C-0B04-5547B4FC9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4955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33">
            <a:extLst>
              <a:ext uri="{FF2B5EF4-FFF2-40B4-BE49-F238E27FC236}">
                <a16:creationId xmlns:a16="http://schemas.microsoft.com/office/drawing/2014/main" id="{C388D3DC-869D-EDD5-23A9-F87EB1D7D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470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34">
            <a:extLst>
              <a:ext uri="{FF2B5EF4-FFF2-40B4-BE49-F238E27FC236}">
                <a16:creationId xmlns:a16="http://schemas.microsoft.com/office/drawing/2014/main" id="{76F847A7-D01A-1D69-E4AD-AE013B5AD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3985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4">
            <a:extLst>
              <a:ext uri="{FF2B5EF4-FFF2-40B4-BE49-F238E27FC236}">
                <a16:creationId xmlns:a16="http://schemas.microsoft.com/office/drawing/2014/main" id="{E0E5C7EB-E363-9A7C-993A-30F628549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426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5">
            <a:extLst>
              <a:ext uri="{FF2B5EF4-FFF2-40B4-BE49-F238E27FC236}">
                <a16:creationId xmlns:a16="http://schemas.microsoft.com/office/drawing/2014/main" id="{CDD5B655-61CF-11B7-CBCC-EAA6C629B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045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6">
            <a:extLst>
              <a:ext uri="{FF2B5EF4-FFF2-40B4-BE49-F238E27FC236}">
                <a16:creationId xmlns:a16="http://schemas.microsoft.com/office/drawing/2014/main" id="{2BE809F3-03C8-A8E4-79CA-641DCCDA6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180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7">
            <a:extLst>
              <a:ext uri="{FF2B5EF4-FFF2-40B4-BE49-F238E27FC236}">
                <a16:creationId xmlns:a16="http://schemas.microsoft.com/office/drawing/2014/main" id="{3047058C-0D05-938B-8115-809923A7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973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8">
            <a:extLst>
              <a:ext uri="{FF2B5EF4-FFF2-40B4-BE49-F238E27FC236}">
                <a16:creationId xmlns:a16="http://schemas.microsoft.com/office/drawing/2014/main" id="{04A0D6E8-9815-1689-E813-F8E349F77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975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49">
            <a:extLst>
              <a:ext uri="{FF2B5EF4-FFF2-40B4-BE49-F238E27FC236}">
                <a16:creationId xmlns:a16="http://schemas.microsoft.com/office/drawing/2014/main" id="{61143928-CCF2-4786-C2E8-AF27EED1A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594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0">
            <a:extLst>
              <a:ext uri="{FF2B5EF4-FFF2-40B4-BE49-F238E27FC236}">
                <a16:creationId xmlns:a16="http://schemas.microsoft.com/office/drawing/2014/main" id="{69B63AE9-E38D-6903-67EF-18654BA97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236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1">
            <a:extLst>
              <a:ext uri="{FF2B5EF4-FFF2-40B4-BE49-F238E27FC236}">
                <a16:creationId xmlns:a16="http://schemas.microsoft.com/office/drawing/2014/main" id="{2AE601BE-AE6A-7C69-88CC-FF8666506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225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52">
            <a:extLst>
              <a:ext uri="{FF2B5EF4-FFF2-40B4-BE49-F238E27FC236}">
                <a16:creationId xmlns:a16="http://schemas.microsoft.com/office/drawing/2014/main" id="{3941C516-97AA-E140-CA6D-AACEE43F1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809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53">
            <a:extLst>
              <a:ext uri="{FF2B5EF4-FFF2-40B4-BE49-F238E27FC236}">
                <a16:creationId xmlns:a16="http://schemas.microsoft.com/office/drawing/2014/main" id="{98F8888D-430E-71E7-0168-4DA373614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536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54">
            <a:extLst>
              <a:ext uri="{FF2B5EF4-FFF2-40B4-BE49-F238E27FC236}">
                <a16:creationId xmlns:a16="http://schemas.microsoft.com/office/drawing/2014/main" id="{8D882B7D-8278-A5D6-84E4-BDC00D89F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3473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55">
            <a:extLst>
              <a:ext uri="{FF2B5EF4-FFF2-40B4-BE49-F238E27FC236}">
                <a16:creationId xmlns:a16="http://schemas.microsoft.com/office/drawing/2014/main" id="{434B2983-F4CE-E4CF-A182-8980461D3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3410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80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594A3-B52D-CDC0-54B6-5C6A7C996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Now what does this message mean?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5B16C-C964-BF7A-16E1-8503BC14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Encryption</a:t>
            </a:r>
          </a:p>
        </p:txBody>
      </p:sp>
      <p:pic>
        <p:nvPicPr>
          <p:cNvPr id="51" name="Picture 20" descr="Encoded message">
            <a:extLst>
              <a:ext uri="{FF2B5EF4-FFF2-40B4-BE49-F238E27FC236}">
                <a16:creationId xmlns:a16="http://schemas.microsoft.com/office/drawing/2014/main" id="{8C927E46-775A-DFD5-FD6D-8093E84D75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14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1">
            <a:extLst>
              <a:ext uri="{FF2B5EF4-FFF2-40B4-BE49-F238E27FC236}">
                <a16:creationId xmlns:a16="http://schemas.microsoft.com/office/drawing/2014/main" id="{8BB32D32-A5CD-A85F-74D1-6CD09C8F0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66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2">
            <a:extLst>
              <a:ext uri="{FF2B5EF4-FFF2-40B4-BE49-F238E27FC236}">
                <a16:creationId xmlns:a16="http://schemas.microsoft.com/office/drawing/2014/main" id="{2178442E-629B-2F2C-2FE8-D3A66DD93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17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3">
            <a:extLst>
              <a:ext uri="{FF2B5EF4-FFF2-40B4-BE49-F238E27FC236}">
                <a16:creationId xmlns:a16="http://schemas.microsoft.com/office/drawing/2014/main" id="{C936DDE4-A3B1-2D4C-6246-2A846DD07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69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4">
            <a:extLst>
              <a:ext uri="{FF2B5EF4-FFF2-40B4-BE49-F238E27FC236}">
                <a16:creationId xmlns:a16="http://schemas.microsoft.com/office/drawing/2014/main" id="{A7445A80-9EC3-9F2E-93A3-EFE6642F1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20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5">
            <a:extLst>
              <a:ext uri="{FF2B5EF4-FFF2-40B4-BE49-F238E27FC236}">
                <a16:creationId xmlns:a16="http://schemas.microsoft.com/office/drawing/2014/main" id="{637DC310-7373-15BC-73C4-081747139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72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6">
            <a:extLst>
              <a:ext uri="{FF2B5EF4-FFF2-40B4-BE49-F238E27FC236}">
                <a16:creationId xmlns:a16="http://schemas.microsoft.com/office/drawing/2014/main" id="{48CEFF6C-6FF3-97A8-14BC-4EA73BDF8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23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7">
            <a:extLst>
              <a:ext uri="{FF2B5EF4-FFF2-40B4-BE49-F238E27FC236}">
                <a16:creationId xmlns:a16="http://schemas.microsoft.com/office/drawing/2014/main" id="{4A6D3B92-CB8A-933C-64B7-2D0514C26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75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8">
            <a:extLst>
              <a:ext uri="{FF2B5EF4-FFF2-40B4-BE49-F238E27FC236}">
                <a16:creationId xmlns:a16="http://schemas.microsoft.com/office/drawing/2014/main" id="{DF2234B6-9743-971A-0E88-9D7F8744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26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9">
            <a:extLst>
              <a:ext uri="{FF2B5EF4-FFF2-40B4-BE49-F238E27FC236}">
                <a16:creationId xmlns:a16="http://schemas.microsoft.com/office/drawing/2014/main" id="{A092187D-AB2F-36D9-F50F-F352BEEE8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78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30">
            <a:extLst>
              <a:ext uri="{FF2B5EF4-FFF2-40B4-BE49-F238E27FC236}">
                <a16:creationId xmlns:a16="http://schemas.microsoft.com/office/drawing/2014/main" id="{AFD32774-3845-B9BA-0B1B-12B1D04AC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5925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31">
            <a:extLst>
              <a:ext uri="{FF2B5EF4-FFF2-40B4-BE49-F238E27FC236}">
                <a16:creationId xmlns:a16="http://schemas.microsoft.com/office/drawing/2014/main" id="{9186880C-99D6-7809-BB57-46342EE3A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0440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32">
            <a:extLst>
              <a:ext uri="{FF2B5EF4-FFF2-40B4-BE49-F238E27FC236}">
                <a16:creationId xmlns:a16="http://schemas.microsoft.com/office/drawing/2014/main" id="{77EC89F3-1E08-9853-4C89-CF9DDE51D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4955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" name="Picture 33">
            <a:extLst>
              <a:ext uri="{FF2B5EF4-FFF2-40B4-BE49-F238E27FC236}">
                <a16:creationId xmlns:a16="http://schemas.microsoft.com/office/drawing/2014/main" id="{05CA87C6-D0AC-12F5-A47A-CE9D0D597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470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34">
            <a:extLst>
              <a:ext uri="{FF2B5EF4-FFF2-40B4-BE49-F238E27FC236}">
                <a16:creationId xmlns:a16="http://schemas.microsoft.com/office/drawing/2014/main" id="{977CE983-377C-5FE6-3615-C615E342F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3985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44">
            <a:extLst>
              <a:ext uri="{FF2B5EF4-FFF2-40B4-BE49-F238E27FC236}">
                <a16:creationId xmlns:a16="http://schemas.microsoft.com/office/drawing/2014/main" id="{2E3671F6-5417-EFD0-B8D5-FEB668F56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426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45">
            <a:extLst>
              <a:ext uri="{FF2B5EF4-FFF2-40B4-BE49-F238E27FC236}">
                <a16:creationId xmlns:a16="http://schemas.microsoft.com/office/drawing/2014/main" id="{D4F5DDEF-A688-5F48-E41A-ED3D59B0C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045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6">
            <a:extLst>
              <a:ext uri="{FF2B5EF4-FFF2-40B4-BE49-F238E27FC236}">
                <a16:creationId xmlns:a16="http://schemas.microsoft.com/office/drawing/2014/main" id="{9575407B-DF6E-B135-04AA-98E475ECE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180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Picture 47">
            <a:extLst>
              <a:ext uri="{FF2B5EF4-FFF2-40B4-BE49-F238E27FC236}">
                <a16:creationId xmlns:a16="http://schemas.microsoft.com/office/drawing/2014/main" id="{9B396899-BED5-955A-5F53-2AD3AAAD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973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48">
            <a:extLst>
              <a:ext uri="{FF2B5EF4-FFF2-40B4-BE49-F238E27FC236}">
                <a16:creationId xmlns:a16="http://schemas.microsoft.com/office/drawing/2014/main" id="{F1127C81-9B72-C0C8-78FE-AD9323E58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975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1" name="Picture 49">
            <a:extLst>
              <a:ext uri="{FF2B5EF4-FFF2-40B4-BE49-F238E27FC236}">
                <a16:creationId xmlns:a16="http://schemas.microsoft.com/office/drawing/2014/main" id="{E719D145-5A19-03CF-AFFB-76AFDEA36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594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0">
            <a:extLst>
              <a:ext uri="{FF2B5EF4-FFF2-40B4-BE49-F238E27FC236}">
                <a16:creationId xmlns:a16="http://schemas.microsoft.com/office/drawing/2014/main" id="{0B6A4D87-E4E6-19E8-784B-BA40E93A4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236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1">
            <a:extLst>
              <a:ext uri="{FF2B5EF4-FFF2-40B4-BE49-F238E27FC236}">
                <a16:creationId xmlns:a16="http://schemas.microsoft.com/office/drawing/2014/main" id="{D5F13042-D2C6-4A58-DE3F-724DE6F7D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225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Picture 52">
            <a:extLst>
              <a:ext uri="{FF2B5EF4-FFF2-40B4-BE49-F238E27FC236}">
                <a16:creationId xmlns:a16="http://schemas.microsoft.com/office/drawing/2014/main" id="{68F0237C-EEAE-DA05-8905-FE3268EE6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809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53">
            <a:extLst>
              <a:ext uri="{FF2B5EF4-FFF2-40B4-BE49-F238E27FC236}">
                <a16:creationId xmlns:a16="http://schemas.microsoft.com/office/drawing/2014/main" id="{13C384DB-52C2-F41E-6BBA-C37196B09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536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54">
            <a:extLst>
              <a:ext uri="{FF2B5EF4-FFF2-40B4-BE49-F238E27FC236}">
                <a16:creationId xmlns:a16="http://schemas.microsoft.com/office/drawing/2014/main" id="{5449FAFC-2E03-1DD1-A32B-B2555F8B1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3473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7" name="Picture 55">
            <a:extLst>
              <a:ext uri="{FF2B5EF4-FFF2-40B4-BE49-F238E27FC236}">
                <a16:creationId xmlns:a16="http://schemas.microsoft.com/office/drawing/2014/main" id="{804086B3-22B6-092F-5E51-C5AF0C008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3410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88" name="Table 1087">
            <a:extLst>
              <a:ext uri="{FF2B5EF4-FFF2-40B4-BE49-F238E27FC236}">
                <a16:creationId xmlns:a16="http://schemas.microsoft.com/office/drawing/2014/main" id="{B6637045-F6A8-CCE9-FB85-3BF792FAF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434342"/>
              </p:ext>
            </p:extLst>
          </p:nvPr>
        </p:nvGraphicFramePr>
        <p:xfrm>
          <a:off x="678094" y="4194059"/>
          <a:ext cx="3200970" cy="242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0">
                  <a:extLst>
                    <a:ext uri="{9D8B030D-6E8A-4147-A177-3AD203B41FA5}">
                      <a16:colId xmlns:a16="http://schemas.microsoft.com/office/drawing/2014/main" val="3669850132"/>
                    </a:ext>
                  </a:extLst>
                </a:gridCol>
                <a:gridCol w="1066990">
                  <a:extLst>
                    <a:ext uri="{9D8B030D-6E8A-4147-A177-3AD203B41FA5}">
                      <a16:colId xmlns:a16="http://schemas.microsoft.com/office/drawing/2014/main" val="2212514850"/>
                    </a:ext>
                  </a:extLst>
                </a:gridCol>
                <a:gridCol w="1066990">
                  <a:extLst>
                    <a:ext uri="{9D8B030D-6E8A-4147-A177-3AD203B41FA5}">
                      <a16:colId xmlns:a16="http://schemas.microsoft.com/office/drawing/2014/main" val="3748870464"/>
                    </a:ext>
                  </a:extLst>
                </a:gridCol>
              </a:tblGrid>
              <a:tr h="808075"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A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B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C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176148"/>
                  </a:ext>
                </a:extLst>
              </a:tr>
              <a:tr h="808075"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D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F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425541"/>
                  </a:ext>
                </a:extLst>
              </a:tr>
              <a:tr h="808075"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G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H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I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078370"/>
                  </a:ext>
                </a:extLst>
              </a:tr>
            </a:tbl>
          </a:graphicData>
        </a:graphic>
      </p:graphicFrame>
      <p:graphicFrame>
        <p:nvGraphicFramePr>
          <p:cNvPr id="1089" name="Table 1088">
            <a:extLst>
              <a:ext uri="{FF2B5EF4-FFF2-40B4-BE49-F238E27FC236}">
                <a16:creationId xmlns:a16="http://schemas.microsoft.com/office/drawing/2014/main" id="{85935D67-1B73-F2A7-67DC-30952D4A2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759400"/>
              </p:ext>
            </p:extLst>
          </p:nvPr>
        </p:nvGraphicFramePr>
        <p:xfrm>
          <a:off x="4081521" y="4194058"/>
          <a:ext cx="3200970" cy="242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0">
                  <a:extLst>
                    <a:ext uri="{9D8B030D-6E8A-4147-A177-3AD203B41FA5}">
                      <a16:colId xmlns:a16="http://schemas.microsoft.com/office/drawing/2014/main" val="3669850132"/>
                    </a:ext>
                  </a:extLst>
                </a:gridCol>
                <a:gridCol w="1066990">
                  <a:extLst>
                    <a:ext uri="{9D8B030D-6E8A-4147-A177-3AD203B41FA5}">
                      <a16:colId xmlns:a16="http://schemas.microsoft.com/office/drawing/2014/main" val="2212514850"/>
                    </a:ext>
                  </a:extLst>
                </a:gridCol>
                <a:gridCol w="1066990">
                  <a:extLst>
                    <a:ext uri="{9D8B030D-6E8A-4147-A177-3AD203B41FA5}">
                      <a16:colId xmlns:a16="http://schemas.microsoft.com/office/drawing/2014/main" val="3748870464"/>
                    </a:ext>
                  </a:extLst>
                </a:gridCol>
              </a:tblGrid>
              <a:tr h="808075"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J</a:t>
                      </a:r>
                    </a:p>
                  </a:txBody>
                  <a:tcPr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K</a:t>
                      </a:r>
                    </a:p>
                  </a:txBody>
                  <a:tcPr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L</a:t>
                      </a:r>
                    </a:p>
                  </a:txBody>
                  <a:tcPr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176148"/>
                  </a:ext>
                </a:extLst>
              </a:tr>
              <a:tr h="808075"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M</a:t>
                      </a:r>
                    </a:p>
                  </a:txBody>
                  <a:tcPr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N</a:t>
                      </a:r>
                    </a:p>
                  </a:txBody>
                  <a:tcPr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425541"/>
                  </a:ext>
                </a:extLst>
              </a:tr>
              <a:tr h="808075"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P</a:t>
                      </a:r>
                    </a:p>
                  </a:txBody>
                  <a:tcPr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Q</a:t>
                      </a:r>
                    </a:p>
                  </a:txBody>
                  <a:tcPr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078370"/>
                  </a:ext>
                </a:extLst>
              </a:tr>
            </a:tbl>
          </a:graphicData>
        </a:graphic>
      </p:graphicFrame>
      <p:grpSp>
        <p:nvGrpSpPr>
          <p:cNvPr id="1090" name="Group 1089">
            <a:extLst>
              <a:ext uri="{FF2B5EF4-FFF2-40B4-BE49-F238E27FC236}">
                <a16:creationId xmlns:a16="http://schemas.microsoft.com/office/drawing/2014/main" id="{F12BFD4D-1995-D298-0FF3-7FBEFAA73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522362" y="4781076"/>
            <a:ext cx="2289826" cy="1691850"/>
            <a:chOff x="4460717" y="4605603"/>
            <a:chExt cx="2289826" cy="1691850"/>
          </a:xfrm>
        </p:grpSpPr>
        <p:sp>
          <p:nvSpPr>
            <p:cNvPr id="1091" name="Oval 1090">
              <a:extLst>
                <a:ext uri="{FF2B5EF4-FFF2-40B4-BE49-F238E27FC236}">
                  <a16:creationId xmlns:a16="http://schemas.microsoft.com/office/drawing/2014/main" id="{FE21766C-6D01-EA8E-58F7-0B1750603BF6}"/>
                </a:ext>
              </a:extLst>
            </p:cNvPr>
            <p:cNvSpPr/>
            <p:nvPr/>
          </p:nvSpPr>
          <p:spPr>
            <a:xfrm>
              <a:off x="4460717" y="4605603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8642C5D0-F4A6-67C9-1FD5-54EA2927E6C7}"/>
                </a:ext>
              </a:extLst>
            </p:cNvPr>
            <p:cNvSpPr/>
            <p:nvPr/>
          </p:nvSpPr>
          <p:spPr>
            <a:xfrm>
              <a:off x="5543303" y="4605603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093" name="Oval 1092">
              <a:extLst>
                <a:ext uri="{FF2B5EF4-FFF2-40B4-BE49-F238E27FC236}">
                  <a16:creationId xmlns:a16="http://schemas.microsoft.com/office/drawing/2014/main" id="{1917E031-6718-41FF-BC0F-590EC14A8C4E}"/>
                </a:ext>
              </a:extLst>
            </p:cNvPr>
            <p:cNvSpPr/>
            <p:nvPr/>
          </p:nvSpPr>
          <p:spPr>
            <a:xfrm>
              <a:off x="6596430" y="4605603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094" name="Oval 1093">
              <a:extLst>
                <a:ext uri="{FF2B5EF4-FFF2-40B4-BE49-F238E27FC236}">
                  <a16:creationId xmlns:a16="http://schemas.microsoft.com/office/drawing/2014/main" id="{80B9E410-5B24-6C5D-5120-47DAD009F9AE}"/>
                </a:ext>
              </a:extLst>
            </p:cNvPr>
            <p:cNvSpPr/>
            <p:nvPr/>
          </p:nvSpPr>
          <p:spPr>
            <a:xfrm>
              <a:off x="4460717" y="5370030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095" name="Oval 1094">
              <a:extLst>
                <a:ext uri="{FF2B5EF4-FFF2-40B4-BE49-F238E27FC236}">
                  <a16:creationId xmlns:a16="http://schemas.microsoft.com/office/drawing/2014/main" id="{BB81384C-F605-1D7C-7B50-CDA35C14C6D2}"/>
                </a:ext>
              </a:extLst>
            </p:cNvPr>
            <p:cNvSpPr/>
            <p:nvPr/>
          </p:nvSpPr>
          <p:spPr>
            <a:xfrm>
              <a:off x="5543303" y="5370030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096" name="Oval 1095">
              <a:extLst>
                <a:ext uri="{FF2B5EF4-FFF2-40B4-BE49-F238E27FC236}">
                  <a16:creationId xmlns:a16="http://schemas.microsoft.com/office/drawing/2014/main" id="{2E67490D-8DAB-BC21-AE73-6BC38CEFA630}"/>
                </a:ext>
              </a:extLst>
            </p:cNvPr>
            <p:cNvSpPr/>
            <p:nvPr/>
          </p:nvSpPr>
          <p:spPr>
            <a:xfrm>
              <a:off x="6596430" y="5370030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097" name="Oval 1096">
              <a:extLst>
                <a:ext uri="{FF2B5EF4-FFF2-40B4-BE49-F238E27FC236}">
                  <a16:creationId xmlns:a16="http://schemas.microsoft.com/office/drawing/2014/main" id="{AF2D9FBF-E3F3-1D27-57B8-DB982C878E15}"/>
                </a:ext>
              </a:extLst>
            </p:cNvPr>
            <p:cNvSpPr/>
            <p:nvPr/>
          </p:nvSpPr>
          <p:spPr>
            <a:xfrm>
              <a:off x="4460717" y="6165279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098" name="Oval 1097">
              <a:extLst>
                <a:ext uri="{FF2B5EF4-FFF2-40B4-BE49-F238E27FC236}">
                  <a16:creationId xmlns:a16="http://schemas.microsoft.com/office/drawing/2014/main" id="{E8D10A02-0581-3193-DA5D-A99496403B12}"/>
                </a:ext>
              </a:extLst>
            </p:cNvPr>
            <p:cNvSpPr/>
            <p:nvPr/>
          </p:nvSpPr>
          <p:spPr>
            <a:xfrm>
              <a:off x="5543303" y="6165279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099" name="Oval 1098">
              <a:extLst>
                <a:ext uri="{FF2B5EF4-FFF2-40B4-BE49-F238E27FC236}">
                  <a16:creationId xmlns:a16="http://schemas.microsoft.com/office/drawing/2014/main" id="{1E3E98B0-24DB-CD63-53CE-4DF720F499D0}"/>
                </a:ext>
              </a:extLst>
            </p:cNvPr>
            <p:cNvSpPr/>
            <p:nvPr/>
          </p:nvSpPr>
          <p:spPr>
            <a:xfrm>
              <a:off x="6596430" y="6165279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98731EC4-D46E-FCD0-0AF1-AADA90FCE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792269" y="4555984"/>
            <a:ext cx="1582220" cy="1628107"/>
            <a:chOff x="7494899" y="4379725"/>
            <a:chExt cx="1582220" cy="1628107"/>
          </a:xfrm>
        </p:grpSpPr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F3CB21E8-B6BC-C282-6965-D11F48AD8C1F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7494901" y="5170835"/>
              <a:ext cx="1582220" cy="0"/>
            </a:xfrm>
            <a:prstGeom prst="line">
              <a:avLst/>
            </a:prstGeom>
            <a:ln w="28575">
              <a:solidFill>
                <a:srgbClr val="0025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Straight Connector 1101">
              <a:extLst>
                <a:ext uri="{FF2B5EF4-FFF2-40B4-BE49-F238E27FC236}">
                  <a16:creationId xmlns:a16="http://schemas.microsoft.com/office/drawing/2014/main" id="{61780950-7D30-0339-4FCD-6B738F5771A4}"/>
                </a:ext>
              </a:extLst>
            </p:cNvPr>
            <p:cNvCxnSpPr>
              <a:cxnSpLocks/>
            </p:cNvCxnSpPr>
            <p:nvPr/>
          </p:nvCxnSpPr>
          <p:spPr>
            <a:xfrm rot="18900000" flipV="1">
              <a:off x="7494899" y="5170834"/>
              <a:ext cx="1582220" cy="0"/>
            </a:xfrm>
            <a:prstGeom prst="line">
              <a:avLst/>
            </a:prstGeom>
            <a:ln w="28575">
              <a:solidFill>
                <a:srgbClr val="0025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3" name="TextBox 1102">
              <a:extLst>
                <a:ext uri="{FF2B5EF4-FFF2-40B4-BE49-F238E27FC236}">
                  <a16:creationId xmlns:a16="http://schemas.microsoft.com/office/drawing/2014/main" id="{610C5AC0-453F-5FED-D332-03F7591A04FF}"/>
                </a:ext>
              </a:extLst>
            </p:cNvPr>
            <p:cNvSpPr txBox="1"/>
            <p:nvPr/>
          </p:nvSpPr>
          <p:spPr>
            <a:xfrm>
              <a:off x="8037025" y="4430737"/>
              <a:ext cx="46038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S</a:t>
              </a:r>
            </a:p>
          </p:txBody>
        </p:sp>
        <p:sp>
          <p:nvSpPr>
            <p:cNvPr id="1104" name="TextBox 1103">
              <a:extLst>
                <a:ext uri="{FF2B5EF4-FFF2-40B4-BE49-F238E27FC236}">
                  <a16:creationId xmlns:a16="http://schemas.microsoft.com/office/drawing/2014/main" id="{9872A173-18DD-3C08-EE5D-5EECC1302F49}"/>
                </a:ext>
              </a:extLst>
            </p:cNvPr>
            <p:cNvSpPr txBox="1"/>
            <p:nvPr/>
          </p:nvSpPr>
          <p:spPr>
            <a:xfrm>
              <a:off x="7555269" y="4941161"/>
              <a:ext cx="50045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T</a:t>
              </a:r>
            </a:p>
          </p:txBody>
        </p:sp>
        <p:sp>
          <p:nvSpPr>
            <p:cNvPr id="1105" name="TextBox 1104">
              <a:extLst>
                <a:ext uri="{FF2B5EF4-FFF2-40B4-BE49-F238E27FC236}">
                  <a16:creationId xmlns:a16="http://schemas.microsoft.com/office/drawing/2014/main" id="{6FEB4114-2E54-638A-87D3-0209D189596D}"/>
                </a:ext>
              </a:extLst>
            </p:cNvPr>
            <p:cNvSpPr txBox="1"/>
            <p:nvPr/>
          </p:nvSpPr>
          <p:spPr>
            <a:xfrm>
              <a:off x="8550210" y="4941161"/>
              <a:ext cx="4780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U</a:t>
              </a:r>
            </a:p>
          </p:txBody>
        </p:sp>
        <p:sp>
          <p:nvSpPr>
            <p:cNvPr id="1106" name="TextBox 1105">
              <a:extLst>
                <a:ext uri="{FF2B5EF4-FFF2-40B4-BE49-F238E27FC236}">
                  <a16:creationId xmlns:a16="http://schemas.microsoft.com/office/drawing/2014/main" id="{AFB30794-7503-D7A3-52E4-8DC80EF79489}"/>
                </a:ext>
              </a:extLst>
            </p:cNvPr>
            <p:cNvSpPr txBox="1"/>
            <p:nvPr/>
          </p:nvSpPr>
          <p:spPr>
            <a:xfrm>
              <a:off x="8022956" y="5423057"/>
              <a:ext cx="52610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V</a:t>
              </a:r>
            </a:p>
          </p:txBody>
        </p:sp>
      </p:grpSp>
      <p:grpSp>
        <p:nvGrpSpPr>
          <p:cNvPr id="1107" name="Group 1106">
            <a:extLst>
              <a:ext uri="{FF2B5EF4-FFF2-40B4-BE49-F238E27FC236}">
                <a16:creationId xmlns:a16="http://schemas.microsoft.com/office/drawing/2014/main" id="{07FB06D0-CCEF-813D-1446-CF79AEC50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786645" y="4562119"/>
            <a:ext cx="1582220" cy="1628107"/>
            <a:chOff x="9725000" y="4386646"/>
            <a:chExt cx="1582220" cy="1628107"/>
          </a:xfrm>
        </p:grpSpPr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362472A1-8222-84D6-6DA8-EC01FED0B7F2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9725002" y="5177756"/>
              <a:ext cx="1582220" cy="0"/>
            </a:xfrm>
            <a:prstGeom prst="line">
              <a:avLst/>
            </a:prstGeom>
            <a:ln w="28575">
              <a:solidFill>
                <a:srgbClr val="0025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Straight Connector 1108">
              <a:extLst>
                <a:ext uri="{FF2B5EF4-FFF2-40B4-BE49-F238E27FC236}">
                  <a16:creationId xmlns:a16="http://schemas.microsoft.com/office/drawing/2014/main" id="{D6803585-64A3-0F92-EC10-A29A6F8653E7}"/>
                </a:ext>
              </a:extLst>
            </p:cNvPr>
            <p:cNvCxnSpPr>
              <a:cxnSpLocks/>
            </p:cNvCxnSpPr>
            <p:nvPr/>
          </p:nvCxnSpPr>
          <p:spPr>
            <a:xfrm rot="18900000" flipV="1">
              <a:off x="9725000" y="5177755"/>
              <a:ext cx="1582220" cy="0"/>
            </a:xfrm>
            <a:prstGeom prst="line">
              <a:avLst/>
            </a:prstGeom>
            <a:ln w="28575">
              <a:solidFill>
                <a:srgbClr val="0025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0" name="TextBox 1109">
              <a:extLst>
                <a:ext uri="{FF2B5EF4-FFF2-40B4-BE49-F238E27FC236}">
                  <a16:creationId xmlns:a16="http://schemas.microsoft.com/office/drawing/2014/main" id="{BB2283AD-889C-5322-340F-D736762E27FB}"/>
                </a:ext>
              </a:extLst>
            </p:cNvPr>
            <p:cNvSpPr txBox="1"/>
            <p:nvPr/>
          </p:nvSpPr>
          <p:spPr>
            <a:xfrm>
              <a:off x="10185373" y="4437658"/>
              <a:ext cx="6238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W</a:t>
              </a:r>
            </a:p>
          </p:txBody>
        </p:sp>
        <p:sp>
          <p:nvSpPr>
            <p:cNvPr id="1111" name="TextBox 1110">
              <a:extLst>
                <a:ext uri="{FF2B5EF4-FFF2-40B4-BE49-F238E27FC236}">
                  <a16:creationId xmlns:a16="http://schemas.microsoft.com/office/drawing/2014/main" id="{F685A6BA-8495-0F2E-C8FF-5293E0CEB1D4}"/>
                </a:ext>
              </a:extLst>
            </p:cNvPr>
            <p:cNvSpPr txBox="1"/>
            <p:nvPr/>
          </p:nvSpPr>
          <p:spPr>
            <a:xfrm>
              <a:off x="9776554" y="4948082"/>
              <a:ext cx="51809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X</a:t>
              </a:r>
            </a:p>
          </p:txBody>
        </p:sp>
        <p:sp>
          <p:nvSpPr>
            <p:cNvPr id="1112" name="TextBox 1111">
              <a:extLst>
                <a:ext uri="{FF2B5EF4-FFF2-40B4-BE49-F238E27FC236}">
                  <a16:creationId xmlns:a16="http://schemas.microsoft.com/office/drawing/2014/main" id="{06006404-FF47-F034-0437-9FC1D87DA51E}"/>
                </a:ext>
              </a:extLst>
            </p:cNvPr>
            <p:cNvSpPr txBox="1"/>
            <p:nvPr/>
          </p:nvSpPr>
          <p:spPr>
            <a:xfrm>
              <a:off x="10765083" y="4948082"/>
              <a:ext cx="5084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Y</a:t>
              </a:r>
            </a:p>
          </p:txBody>
        </p:sp>
        <p:sp>
          <p:nvSpPr>
            <p:cNvPr id="1113" name="TextBox 1112">
              <a:extLst>
                <a:ext uri="{FF2B5EF4-FFF2-40B4-BE49-F238E27FC236}">
                  <a16:creationId xmlns:a16="http://schemas.microsoft.com/office/drawing/2014/main" id="{467FDB10-0EEF-62EE-38FD-C57FBEC95D7B}"/>
                </a:ext>
              </a:extLst>
            </p:cNvPr>
            <p:cNvSpPr txBox="1"/>
            <p:nvPr/>
          </p:nvSpPr>
          <p:spPr>
            <a:xfrm>
              <a:off x="10269889" y="5429978"/>
              <a:ext cx="49244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Z</a:t>
              </a:r>
            </a:p>
          </p:txBody>
        </p:sp>
        <p:sp>
          <p:nvSpPr>
            <p:cNvPr id="1114" name="Oval 1113">
              <a:extLst>
                <a:ext uri="{FF2B5EF4-FFF2-40B4-BE49-F238E27FC236}">
                  <a16:creationId xmlns:a16="http://schemas.microsoft.com/office/drawing/2014/main" id="{EE23720F-B779-121A-4D87-E06D4598D291}"/>
                </a:ext>
              </a:extLst>
            </p:cNvPr>
            <p:cNvSpPr/>
            <p:nvPr/>
          </p:nvSpPr>
          <p:spPr>
            <a:xfrm>
              <a:off x="10433213" y="4890260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115" name="Oval 1114">
              <a:extLst>
                <a:ext uri="{FF2B5EF4-FFF2-40B4-BE49-F238E27FC236}">
                  <a16:creationId xmlns:a16="http://schemas.microsoft.com/office/drawing/2014/main" id="{00282D65-F717-B3D2-BBCE-0DA0B99555AD}"/>
                </a:ext>
              </a:extLst>
            </p:cNvPr>
            <p:cNvSpPr/>
            <p:nvPr/>
          </p:nvSpPr>
          <p:spPr>
            <a:xfrm>
              <a:off x="10192832" y="5111668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116" name="Oval 1115">
              <a:extLst>
                <a:ext uri="{FF2B5EF4-FFF2-40B4-BE49-F238E27FC236}">
                  <a16:creationId xmlns:a16="http://schemas.microsoft.com/office/drawing/2014/main" id="{5674367C-4ED2-9589-B6B0-DF8EF8A00AEE}"/>
                </a:ext>
              </a:extLst>
            </p:cNvPr>
            <p:cNvSpPr/>
            <p:nvPr/>
          </p:nvSpPr>
          <p:spPr>
            <a:xfrm>
              <a:off x="10686651" y="5128478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117" name="Oval 1116">
              <a:extLst>
                <a:ext uri="{FF2B5EF4-FFF2-40B4-BE49-F238E27FC236}">
                  <a16:creationId xmlns:a16="http://schemas.microsoft.com/office/drawing/2014/main" id="{1D61A0E7-FF85-7820-61D1-7710E18D3AA8}"/>
                </a:ext>
              </a:extLst>
            </p:cNvPr>
            <p:cNvSpPr/>
            <p:nvPr/>
          </p:nvSpPr>
          <p:spPr>
            <a:xfrm>
              <a:off x="10443836" y="5333069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167648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50D11-D143-06FA-EE48-E787AFC75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38C7-CFB5-D20E-0AE0-E5E30ACBD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7EC2A-083D-15C6-DF75-B58C596DD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The message says...</a:t>
            </a:r>
          </a:p>
          <a:p>
            <a:endParaRPr lang="en-GB" sz="2000" noProof="0" dirty="0"/>
          </a:p>
          <a:p>
            <a:endParaRPr lang="en-GB" noProof="0" dirty="0"/>
          </a:p>
          <a:p>
            <a:pPr algn="ctr"/>
            <a:r>
              <a:rPr lang="en-GB" b="1" noProof="0" dirty="0">
                <a:solidFill>
                  <a:srgbClr val="C00000"/>
                </a:solidFill>
              </a:rPr>
              <a:t>Encryption keeps your data safe</a:t>
            </a:r>
          </a:p>
        </p:txBody>
      </p:sp>
      <p:pic>
        <p:nvPicPr>
          <p:cNvPr id="1044" name="Picture 20" descr="Encoded message">
            <a:extLst>
              <a:ext uri="{FF2B5EF4-FFF2-40B4-BE49-F238E27FC236}">
                <a16:creationId xmlns:a16="http://schemas.microsoft.com/office/drawing/2014/main" id="{31A92021-ECEA-8EFD-24C1-69A798B7C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14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5F8CA7FA-ECEB-0CE5-CF4E-079CF31EB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66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5D2C93D1-DE16-DD02-D517-105A4E5C0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17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71CC90C2-A4CC-DA04-BF30-DF7C28DB7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69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684FE8D2-4368-2AFF-AE08-8A1E366D4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20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25">
            <a:extLst>
              <a:ext uri="{FF2B5EF4-FFF2-40B4-BE49-F238E27FC236}">
                <a16:creationId xmlns:a16="http://schemas.microsoft.com/office/drawing/2014/main" id="{A30832CA-5474-658C-12CC-A90BE56DC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72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28C2A504-454A-6E62-1A27-6A573EE57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23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27">
            <a:extLst>
              <a:ext uri="{FF2B5EF4-FFF2-40B4-BE49-F238E27FC236}">
                <a16:creationId xmlns:a16="http://schemas.microsoft.com/office/drawing/2014/main" id="{35EDBC7D-BE46-EFDB-A341-8F279E21E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75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A9DAA521-35FC-0A8D-63A2-A443CA1CF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267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>
            <a:extLst>
              <a:ext uri="{FF2B5EF4-FFF2-40B4-BE49-F238E27FC236}">
                <a16:creationId xmlns:a16="http://schemas.microsoft.com/office/drawing/2014/main" id="{71162AA2-BB74-49E8-4EA7-A9FF8DCFB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782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FFA574DF-6F72-753E-ABF0-6FF4E9D99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5925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>
            <a:extLst>
              <a:ext uri="{FF2B5EF4-FFF2-40B4-BE49-F238E27FC236}">
                <a16:creationId xmlns:a16="http://schemas.microsoft.com/office/drawing/2014/main" id="{5EA0F7FA-E522-F0A1-04E0-435CE94B3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0440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6689331C-BFA2-87DF-074A-3DB5A7E43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4955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>
            <a:extLst>
              <a:ext uri="{FF2B5EF4-FFF2-40B4-BE49-F238E27FC236}">
                <a16:creationId xmlns:a16="http://schemas.microsoft.com/office/drawing/2014/main" id="{1CD3AFF0-D56E-21DC-D1FC-058A36F25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470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>
            <a:extLst>
              <a:ext uri="{FF2B5EF4-FFF2-40B4-BE49-F238E27FC236}">
                <a16:creationId xmlns:a16="http://schemas.microsoft.com/office/drawing/2014/main" id="{12729FED-049D-ACAA-21A2-D64FC67F5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3985" y="22649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>
            <a:extLst>
              <a:ext uri="{FF2B5EF4-FFF2-40B4-BE49-F238E27FC236}">
                <a16:creationId xmlns:a16="http://schemas.microsoft.com/office/drawing/2014/main" id="{DA29E38C-8F7B-56DF-A4F0-192370A4B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426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9" name="Picture 45">
            <a:extLst>
              <a:ext uri="{FF2B5EF4-FFF2-40B4-BE49-F238E27FC236}">
                <a16:creationId xmlns:a16="http://schemas.microsoft.com/office/drawing/2014/main" id="{1814F1BB-6A39-3D02-C9F5-1C67532D9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045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>
            <a:extLst>
              <a:ext uri="{FF2B5EF4-FFF2-40B4-BE49-F238E27FC236}">
                <a16:creationId xmlns:a16="http://schemas.microsoft.com/office/drawing/2014/main" id="{8D6E2CA6-6E49-8EDC-B910-89E896811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180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1" name="Picture 47">
            <a:extLst>
              <a:ext uri="{FF2B5EF4-FFF2-40B4-BE49-F238E27FC236}">
                <a16:creationId xmlns:a16="http://schemas.microsoft.com/office/drawing/2014/main" id="{E50B439F-6D89-563D-F882-3376D9CCA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973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>
            <a:extLst>
              <a:ext uri="{FF2B5EF4-FFF2-40B4-BE49-F238E27FC236}">
                <a16:creationId xmlns:a16="http://schemas.microsoft.com/office/drawing/2014/main" id="{89167B2F-E79E-DBB0-D8CC-CA955D05F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975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3" name="Picture 49">
            <a:extLst>
              <a:ext uri="{FF2B5EF4-FFF2-40B4-BE49-F238E27FC236}">
                <a16:creationId xmlns:a16="http://schemas.microsoft.com/office/drawing/2014/main" id="{5E51E795-EDB8-48EB-209A-CB07128D6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594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Picture 50">
            <a:extLst>
              <a:ext uri="{FF2B5EF4-FFF2-40B4-BE49-F238E27FC236}">
                <a16:creationId xmlns:a16="http://schemas.microsoft.com/office/drawing/2014/main" id="{30C58D8B-E7D6-F38B-6F2A-4F808DB8B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236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5" name="Picture 51">
            <a:extLst>
              <a:ext uri="{FF2B5EF4-FFF2-40B4-BE49-F238E27FC236}">
                <a16:creationId xmlns:a16="http://schemas.microsoft.com/office/drawing/2014/main" id="{700DF998-E485-779F-7748-5737653EE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225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6" name="Picture 52">
            <a:extLst>
              <a:ext uri="{FF2B5EF4-FFF2-40B4-BE49-F238E27FC236}">
                <a16:creationId xmlns:a16="http://schemas.microsoft.com/office/drawing/2014/main" id="{284DABC1-7C4A-E8A0-9699-4B2210CC6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809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7" name="Picture 53">
            <a:extLst>
              <a:ext uri="{FF2B5EF4-FFF2-40B4-BE49-F238E27FC236}">
                <a16:creationId xmlns:a16="http://schemas.microsoft.com/office/drawing/2014/main" id="{97616F90-D4B9-AECA-8F50-AD08B5F35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536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8" name="Picture 54">
            <a:extLst>
              <a:ext uri="{FF2B5EF4-FFF2-40B4-BE49-F238E27FC236}">
                <a16:creationId xmlns:a16="http://schemas.microsoft.com/office/drawing/2014/main" id="{CAB81412-1CFA-00CF-B468-B8935F1C8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3473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C6F36BB-4A75-8981-071C-1297A577F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3410" y="3044339"/>
            <a:ext cx="460383" cy="46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6A41BC-9105-8E66-F471-82AEBA58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995852"/>
              </p:ext>
            </p:extLst>
          </p:nvPr>
        </p:nvGraphicFramePr>
        <p:xfrm>
          <a:off x="678094" y="4194059"/>
          <a:ext cx="3200970" cy="242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0">
                  <a:extLst>
                    <a:ext uri="{9D8B030D-6E8A-4147-A177-3AD203B41FA5}">
                      <a16:colId xmlns:a16="http://schemas.microsoft.com/office/drawing/2014/main" val="3669850132"/>
                    </a:ext>
                  </a:extLst>
                </a:gridCol>
                <a:gridCol w="1066990">
                  <a:extLst>
                    <a:ext uri="{9D8B030D-6E8A-4147-A177-3AD203B41FA5}">
                      <a16:colId xmlns:a16="http://schemas.microsoft.com/office/drawing/2014/main" val="2212514850"/>
                    </a:ext>
                  </a:extLst>
                </a:gridCol>
                <a:gridCol w="1066990">
                  <a:extLst>
                    <a:ext uri="{9D8B030D-6E8A-4147-A177-3AD203B41FA5}">
                      <a16:colId xmlns:a16="http://schemas.microsoft.com/office/drawing/2014/main" val="3748870464"/>
                    </a:ext>
                  </a:extLst>
                </a:gridCol>
              </a:tblGrid>
              <a:tr h="808075"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A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B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C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176148"/>
                  </a:ext>
                </a:extLst>
              </a:tr>
              <a:tr h="808075"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D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F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425541"/>
                  </a:ext>
                </a:extLst>
              </a:tr>
              <a:tr h="808075"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G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H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I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07837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455F7F-2E2B-FC94-3386-19FA86357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283517"/>
              </p:ext>
            </p:extLst>
          </p:nvPr>
        </p:nvGraphicFramePr>
        <p:xfrm>
          <a:off x="4081521" y="4194058"/>
          <a:ext cx="3200970" cy="2424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990">
                  <a:extLst>
                    <a:ext uri="{9D8B030D-6E8A-4147-A177-3AD203B41FA5}">
                      <a16:colId xmlns:a16="http://schemas.microsoft.com/office/drawing/2014/main" val="3669850132"/>
                    </a:ext>
                  </a:extLst>
                </a:gridCol>
                <a:gridCol w="1066990">
                  <a:extLst>
                    <a:ext uri="{9D8B030D-6E8A-4147-A177-3AD203B41FA5}">
                      <a16:colId xmlns:a16="http://schemas.microsoft.com/office/drawing/2014/main" val="2212514850"/>
                    </a:ext>
                  </a:extLst>
                </a:gridCol>
                <a:gridCol w="1066990">
                  <a:extLst>
                    <a:ext uri="{9D8B030D-6E8A-4147-A177-3AD203B41FA5}">
                      <a16:colId xmlns:a16="http://schemas.microsoft.com/office/drawing/2014/main" val="3748870464"/>
                    </a:ext>
                  </a:extLst>
                </a:gridCol>
              </a:tblGrid>
              <a:tr h="808075"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J</a:t>
                      </a:r>
                    </a:p>
                  </a:txBody>
                  <a:tcPr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K</a:t>
                      </a:r>
                    </a:p>
                  </a:txBody>
                  <a:tcPr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L</a:t>
                      </a:r>
                    </a:p>
                  </a:txBody>
                  <a:tcPr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176148"/>
                  </a:ext>
                </a:extLst>
              </a:tr>
              <a:tr h="808075"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M</a:t>
                      </a:r>
                    </a:p>
                  </a:txBody>
                  <a:tcPr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N</a:t>
                      </a:r>
                    </a:p>
                  </a:txBody>
                  <a:tcPr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O</a:t>
                      </a:r>
                    </a:p>
                  </a:txBody>
                  <a:tcPr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425541"/>
                  </a:ext>
                </a:extLst>
              </a:tr>
              <a:tr h="808075"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P</a:t>
                      </a:r>
                    </a:p>
                  </a:txBody>
                  <a:tcPr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Q</a:t>
                      </a:r>
                    </a:p>
                  </a:txBody>
                  <a:tcPr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noProof="0" dirty="0">
                          <a:solidFill>
                            <a:srgbClr val="002570"/>
                          </a:solidFill>
                          <a:latin typeface="OpenDyslexicAlta" panose="00000500000000000000" pitchFamily="50" charset="0"/>
                        </a:rPr>
                        <a:t>R</a:t>
                      </a:r>
                    </a:p>
                  </a:txBody>
                  <a:tcPr>
                    <a:lnL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25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078370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7516D0BD-E071-13AC-08A7-AE624FB31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522362" y="4781076"/>
            <a:ext cx="2289826" cy="1691850"/>
            <a:chOff x="4460717" y="4605603"/>
            <a:chExt cx="2289826" cy="16918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59D2E01-C558-9D7E-53FC-E103DCA78AD2}"/>
                </a:ext>
              </a:extLst>
            </p:cNvPr>
            <p:cNvSpPr/>
            <p:nvPr/>
          </p:nvSpPr>
          <p:spPr>
            <a:xfrm>
              <a:off x="4460717" y="4605603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36E80DB-30BD-54B1-AC9A-B8555FE162CA}"/>
                </a:ext>
              </a:extLst>
            </p:cNvPr>
            <p:cNvSpPr/>
            <p:nvPr/>
          </p:nvSpPr>
          <p:spPr>
            <a:xfrm>
              <a:off x="5543303" y="4605603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8C725A-F192-C0DC-E6A3-C57B3FD5BD29}"/>
                </a:ext>
              </a:extLst>
            </p:cNvPr>
            <p:cNvSpPr/>
            <p:nvPr/>
          </p:nvSpPr>
          <p:spPr>
            <a:xfrm>
              <a:off x="6596430" y="4605603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FD104F0-0E63-5162-AFBA-7905F75279A3}"/>
                </a:ext>
              </a:extLst>
            </p:cNvPr>
            <p:cNvSpPr/>
            <p:nvPr/>
          </p:nvSpPr>
          <p:spPr>
            <a:xfrm>
              <a:off x="4460717" y="5370030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1DC9997-C305-236A-FD07-54F80CE38492}"/>
                </a:ext>
              </a:extLst>
            </p:cNvPr>
            <p:cNvSpPr/>
            <p:nvPr/>
          </p:nvSpPr>
          <p:spPr>
            <a:xfrm>
              <a:off x="5543303" y="5370030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9FBF593-E9D4-8601-E075-1F8B4341A1DC}"/>
                </a:ext>
              </a:extLst>
            </p:cNvPr>
            <p:cNvSpPr/>
            <p:nvPr/>
          </p:nvSpPr>
          <p:spPr>
            <a:xfrm>
              <a:off x="6596430" y="5370030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7BB2B90-9BD1-40FE-E701-F7A6DA9A992C}"/>
                </a:ext>
              </a:extLst>
            </p:cNvPr>
            <p:cNvSpPr/>
            <p:nvPr/>
          </p:nvSpPr>
          <p:spPr>
            <a:xfrm>
              <a:off x="4460717" y="6165279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0E675C7-9713-1156-7D4B-98DEDA6B9494}"/>
                </a:ext>
              </a:extLst>
            </p:cNvPr>
            <p:cNvSpPr/>
            <p:nvPr/>
          </p:nvSpPr>
          <p:spPr>
            <a:xfrm>
              <a:off x="5543303" y="6165279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BA31D09-BA4E-E800-7E20-86C3907F3561}"/>
                </a:ext>
              </a:extLst>
            </p:cNvPr>
            <p:cNvSpPr/>
            <p:nvPr/>
          </p:nvSpPr>
          <p:spPr>
            <a:xfrm>
              <a:off x="6596430" y="6165279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040A3FE-D503-DD3E-F4EF-5F23916BB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792269" y="4555984"/>
            <a:ext cx="1582220" cy="1628107"/>
            <a:chOff x="7494899" y="4379725"/>
            <a:chExt cx="1582220" cy="162810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DC402E6-2D98-9773-EE5A-BA3F6AA3FCD9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7494901" y="5170835"/>
              <a:ext cx="1582220" cy="0"/>
            </a:xfrm>
            <a:prstGeom prst="line">
              <a:avLst/>
            </a:prstGeom>
            <a:ln w="28575">
              <a:solidFill>
                <a:srgbClr val="0025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B88972B-F773-A7C0-F0D0-6924CB43CEA8}"/>
                </a:ext>
              </a:extLst>
            </p:cNvPr>
            <p:cNvCxnSpPr>
              <a:cxnSpLocks/>
            </p:cNvCxnSpPr>
            <p:nvPr/>
          </p:nvCxnSpPr>
          <p:spPr>
            <a:xfrm rot="18900000" flipV="1">
              <a:off x="7494899" y="5170834"/>
              <a:ext cx="1582220" cy="0"/>
            </a:xfrm>
            <a:prstGeom prst="line">
              <a:avLst/>
            </a:prstGeom>
            <a:ln w="28575">
              <a:solidFill>
                <a:srgbClr val="0025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5CFE3AF-EC4B-37B5-561E-C4A0BCBC821D}"/>
                </a:ext>
              </a:extLst>
            </p:cNvPr>
            <p:cNvSpPr txBox="1"/>
            <p:nvPr/>
          </p:nvSpPr>
          <p:spPr>
            <a:xfrm>
              <a:off x="8037025" y="4430737"/>
              <a:ext cx="46038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15ED8F6-C278-4772-464C-9C4D9E59CE17}"/>
                </a:ext>
              </a:extLst>
            </p:cNvPr>
            <p:cNvSpPr txBox="1"/>
            <p:nvPr/>
          </p:nvSpPr>
          <p:spPr>
            <a:xfrm>
              <a:off x="7555269" y="4941161"/>
              <a:ext cx="50045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3C4445D-A892-BB2F-35D3-178EC23D2C16}"/>
                </a:ext>
              </a:extLst>
            </p:cNvPr>
            <p:cNvSpPr txBox="1"/>
            <p:nvPr/>
          </p:nvSpPr>
          <p:spPr>
            <a:xfrm>
              <a:off x="8550210" y="4941161"/>
              <a:ext cx="4780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U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BF4F66C-2852-16D6-2A02-9693B63B5B3E}"/>
                </a:ext>
              </a:extLst>
            </p:cNvPr>
            <p:cNvSpPr txBox="1"/>
            <p:nvPr/>
          </p:nvSpPr>
          <p:spPr>
            <a:xfrm>
              <a:off x="8022956" y="5423057"/>
              <a:ext cx="52610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V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7B23F58-CDF5-28D2-7CAF-A8DE20715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786645" y="4562119"/>
            <a:ext cx="1582220" cy="1628107"/>
            <a:chOff x="9725000" y="4386646"/>
            <a:chExt cx="1582220" cy="1628107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EE3A064-0A48-F33F-E40B-5C4A66BD73F2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9725002" y="5177756"/>
              <a:ext cx="1582220" cy="0"/>
            </a:xfrm>
            <a:prstGeom prst="line">
              <a:avLst/>
            </a:prstGeom>
            <a:ln w="28575">
              <a:solidFill>
                <a:srgbClr val="0025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55E9E8C-3764-FC92-1F1C-60998E9EB645}"/>
                </a:ext>
              </a:extLst>
            </p:cNvPr>
            <p:cNvCxnSpPr>
              <a:cxnSpLocks/>
            </p:cNvCxnSpPr>
            <p:nvPr/>
          </p:nvCxnSpPr>
          <p:spPr>
            <a:xfrm rot="18900000" flipV="1">
              <a:off x="9725000" y="5177755"/>
              <a:ext cx="1582220" cy="0"/>
            </a:xfrm>
            <a:prstGeom prst="line">
              <a:avLst/>
            </a:prstGeom>
            <a:ln w="28575">
              <a:solidFill>
                <a:srgbClr val="0025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E30BB3E-EDAA-3B6E-9622-B3FA6FCA607C}"/>
                </a:ext>
              </a:extLst>
            </p:cNvPr>
            <p:cNvSpPr txBox="1"/>
            <p:nvPr/>
          </p:nvSpPr>
          <p:spPr>
            <a:xfrm>
              <a:off x="10185373" y="4437658"/>
              <a:ext cx="6238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W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A5EE10E-68C7-469F-EE37-12045E4BFB59}"/>
                </a:ext>
              </a:extLst>
            </p:cNvPr>
            <p:cNvSpPr txBox="1"/>
            <p:nvPr/>
          </p:nvSpPr>
          <p:spPr>
            <a:xfrm>
              <a:off x="9776554" y="4948082"/>
              <a:ext cx="51809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X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C93E03C-BC6C-6FBA-C63E-877E654EB367}"/>
                </a:ext>
              </a:extLst>
            </p:cNvPr>
            <p:cNvSpPr txBox="1"/>
            <p:nvPr/>
          </p:nvSpPr>
          <p:spPr>
            <a:xfrm>
              <a:off x="10765083" y="4948082"/>
              <a:ext cx="5084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Y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46AF60C-C95A-D051-0A23-684A62260D6D}"/>
                </a:ext>
              </a:extLst>
            </p:cNvPr>
            <p:cNvSpPr txBox="1"/>
            <p:nvPr/>
          </p:nvSpPr>
          <p:spPr>
            <a:xfrm>
              <a:off x="10269889" y="5429978"/>
              <a:ext cx="49244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b="1" noProof="0" dirty="0">
                  <a:solidFill>
                    <a:srgbClr val="002570"/>
                  </a:solidFill>
                  <a:latin typeface="OpenDyslexicAlta" panose="00000500000000000000" pitchFamily="50" charset="0"/>
                </a:rPr>
                <a:t>Z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79FAF10-2400-1FE7-D479-B45B25310959}"/>
                </a:ext>
              </a:extLst>
            </p:cNvPr>
            <p:cNvSpPr/>
            <p:nvPr/>
          </p:nvSpPr>
          <p:spPr>
            <a:xfrm>
              <a:off x="10433213" y="4890260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07B482C-9343-268C-9F02-9D2F8B09AEA3}"/>
                </a:ext>
              </a:extLst>
            </p:cNvPr>
            <p:cNvSpPr/>
            <p:nvPr/>
          </p:nvSpPr>
          <p:spPr>
            <a:xfrm>
              <a:off x="10192832" y="5111668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32E578E-9DCE-3C38-2918-F1CB67F60494}"/>
                </a:ext>
              </a:extLst>
            </p:cNvPr>
            <p:cNvSpPr/>
            <p:nvPr/>
          </p:nvSpPr>
          <p:spPr>
            <a:xfrm>
              <a:off x="10686651" y="5128478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CCFE9DAA-71DE-8C9A-C9B7-FD375DD68307}"/>
                </a:ext>
              </a:extLst>
            </p:cNvPr>
            <p:cNvSpPr/>
            <p:nvPr/>
          </p:nvSpPr>
          <p:spPr>
            <a:xfrm>
              <a:off x="10443836" y="5333069"/>
              <a:ext cx="154113" cy="132174"/>
            </a:xfrm>
            <a:prstGeom prst="ellipse">
              <a:avLst/>
            </a:prstGeom>
            <a:solidFill>
              <a:srgbClr val="002570"/>
            </a:solidFill>
            <a:ln>
              <a:solidFill>
                <a:srgbClr val="002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1310136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BDB9E9-B563-1302-16B5-DB3317758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Encryption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F0E509-94AA-22FB-F3ED-D3F937E66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noProof="0" dirty="0"/>
              <a:t>Encryption is a way of turning information into a secret code so that only the right people can read it.</a:t>
            </a:r>
          </a:p>
          <a:p>
            <a:r>
              <a:rPr lang="en-GB" noProof="0" dirty="0"/>
              <a:t>When you send a message or file that is encrypted, the information is scrambled using a special key.</a:t>
            </a:r>
          </a:p>
          <a:p>
            <a:r>
              <a:rPr lang="en-GB" noProof="0" dirty="0"/>
              <a:t>If someone tries to read the encrypted data without the key, it appears as random letters and numbers.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6411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2DE85-79B0-F814-57E1-8E580768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F79039-0D1E-FCC8-79D1-D0F9574CF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Encryption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B1BAF4-7C12-095C-648A-7D9EE4E1B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noProof="0" dirty="0"/>
              <a:t>Only someone with the correct key can unscramble (decrypt) the information and make sense of it.</a:t>
            </a:r>
          </a:p>
          <a:p>
            <a:r>
              <a:rPr lang="en-GB" noProof="0" dirty="0"/>
              <a:t>Encryption is used for things like online banking, messaging apps and shopping websites to protect your personal details.</a:t>
            </a:r>
          </a:p>
          <a:p>
            <a:r>
              <a:rPr lang="en-GB" noProof="0" dirty="0"/>
              <a:t>Even if a hacker intercepts the data, they will not be able to read it without the key.</a:t>
            </a:r>
          </a:p>
          <a:p>
            <a:r>
              <a:rPr lang="en-GB" noProof="0" dirty="0"/>
              <a:t>This helps keep your private information safe from cyber criminals.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6090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D6B4A-DF76-57A5-83BB-BC08BEE6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2C1C7-74ED-FF39-B0B7-85A4F9687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noProof="0" dirty="0"/>
              <a:t>There are lots of different ways to encrypt data and not all systems use the same method.</a:t>
            </a:r>
          </a:p>
          <a:p>
            <a:r>
              <a:rPr lang="en-GB" noProof="0" dirty="0"/>
              <a:t>Some systems use multiple layers of encryption to make information even more secure.</a:t>
            </a:r>
          </a:p>
          <a:p>
            <a:r>
              <a:rPr lang="en-GB" noProof="0" dirty="0"/>
              <a:t>This means that even if one layer is broken, the data is still protected by another layer.</a:t>
            </a:r>
          </a:p>
          <a:p>
            <a:r>
              <a:rPr lang="en-GB" noProof="0" dirty="0"/>
              <a:t>Using several types of encryption together helps keep sensitive information safe from cyber criminals.</a:t>
            </a:r>
          </a:p>
        </p:txBody>
      </p:sp>
    </p:spTree>
    <p:extLst>
      <p:ext uri="{BB962C8B-B14F-4D97-AF65-F5344CB8AC3E}">
        <p14:creationId xmlns:p14="http://schemas.microsoft.com/office/powerpoint/2010/main" val="166796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CC12CC-70DF-DBCA-0757-63EAC20F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Encryption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559492-2C20-7D19-C80A-3781F09DD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When you send a message or photo to a friend using WhatsApp or iMessage, encryption scrambles your message so only you and the person you are chatting with can read it.</a:t>
            </a:r>
          </a:p>
          <a:p>
            <a:r>
              <a:rPr lang="en-GB" noProof="0" dirty="0"/>
              <a:t>Even if someone intercepts the message while it is being sent, they will not be able to understand it.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5324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3A6E3-CDEA-1C6D-4F03-C9E9269CD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8ED26E-3D1D-E18B-C936-5EEC8989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Encryption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79AD23-D57D-FFA5-62F2-B3F9E0E50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When you buy something online and enter your card details, encryption protects your payment information so it cannot be stolen by hackers.</a:t>
            </a:r>
          </a:p>
          <a:p>
            <a:r>
              <a:rPr lang="en-GB" dirty="0"/>
              <a:t>You can tell if a website uses encryption as the address starts with </a:t>
            </a:r>
            <a:r>
              <a:rPr lang="en-GB" b="1" dirty="0"/>
              <a:t>https</a:t>
            </a:r>
            <a:r>
              <a:rPr lang="en-GB" dirty="0"/>
              <a:t> rather than </a:t>
            </a:r>
            <a:r>
              <a:rPr lang="en-GB" b="1" dirty="0"/>
              <a:t>http</a:t>
            </a:r>
            <a:r>
              <a:rPr lang="en-GB" dirty="0"/>
              <a:t>.</a:t>
            </a:r>
            <a:endParaRPr lang="en-GB" noProof="0" dirty="0"/>
          </a:p>
          <a:p>
            <a:endParaRPr lang="en-GB" noProof="0" dirty="0"/>
          </a:p>
        </p:txBody>
      </p:sp>
      <p:pic>
        <p:nvPicPr>
          <p:cNvPr id="3" name="Picture 2" descr="Website address showing https://www.bbc.co.uk">
            <a:extLst>
              <a:ext uri="{FF2B5EF4-FFF2-40B4-BE49-F238E27FC236}">
                <a16:creationId xmlns:a16="http://schemas.microsoft.com/office/drawing/2014/main" id="{BE9BE5CB-C570-267C-6C15-EA7D06310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169" y="5373378"/>
            <a:ext cx="6938340" cy="80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6B302F-FB72-C6D4-7A26-4F152ACE9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Aft>
                <a:spcPts val="600"/>
              </a:spcAft>
            </a:pPr>
            <a:r>
              <a:rPr lang="en-GB" sz="3200" noProof="0" dirty="0"/>
              <a:t>Imagine you are explaining encryption to someone who has never heard of it before. Answer these questions:</a:t>
            </a:r>
          </a:p>
          <a:p>
            <a:pPr marL="893763" indent="-441325">
              <a:spcAft>
                <a:spcPts val="600"/>
              </a:spcAft>
              <a:buFont typeface="+mj-lt"/>
              <a:buAutoNum type="arabicPeriod"/>
            </a:pPr>
            <a:r>
              <a:rPr lang="en-GB" sz="3200" noProof="0" dirty="0"/>
              <a:t>What is encryption?</a:t>
            </a:r>
          </a:p>
          <a:p>
            <a:pPr marL="893763" indent="-441325">
              <a:spcAft>
                <a:spcPts val="600"/>
              </a:spcAft>
              <a:buFont typeface="+mj-lt"/>
              <a:buAutoNum type="arabicPeriod"/>
            </a:pPr>
            <a:r>
              <a:rPr lang="en-GB" sz="3200" noProof="0" dirty="0"/>
              <a:t>Give one example of where encryption is used in everyday life.</a:t>
            </a:r>
          </a:p>
          <a:p>
            <a:pPr marL="893763" indent="-441325">
              <a:spcAft>
                <a:spcPts val="600"/>
              </a:spcAft>
              <a:buFont typeface="+mj-lt"/>
              <a:buAutoNum type="arabicPeriod"/>
            </a:pPr>
            <a:r>
              <a:rPr lang="en-GB" sz="3200" noProof="0" dirty="0"/>
              <a:t>How does encryption help keep information safe?</a:t>
            </a:r>
          </a:p>
          <a:p>
            <a:pPr marL="893763" indent="-441325">
              <a:spcAft>
                <a:spcPts val="600"/>
              </a:spcAft>
              <a:buFont typeface="+mj-lt"/>
              <a:buAutoNum type="arabicPeriod"/>
            </a:pPr>
            <a:r>
              <a:rPr lang="en-GB" sz="3200" noProof="0" dirty="0"/>
              <a:t>Describe what could happen if important information such as a bank password or a private message was sent without encryption.</a:t>
            </a:r>
          </a:p>
          <a:p>
            <a:pPr>
              <a:spcAft>
                <a:spcPts val="600"/>
              </a:spcAft>
            </a:pPr>
            <a:endParaRPr lang="en-GB" sz="3200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9C5F2A-FEEF-4A6F-594C-B7516A54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2: Encryption</a:t>
            </a:r>
          </a:p>
        </p:txBody>
      </p:sp>
    </p:spTree>
    <p:extLst>
      <p:ext uri="{BB962C8B-B14F-4D97-AF65-F5344CB8AC3E}">
        <p14:creationId xmlns:p14="http://schemas.microsoft.com/office/powerpoint/2010/main" val="2009836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220DD-1B34-3F6E-ECDA-C3BBC48C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Summary of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2BC8E-D2E8-90F7-8C7A-DFC54C6F6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noProof="0" dirty="0"/>
              <a:t>Firewalls and antivirus software act as digital bodyguards, blocking threats and removing harmful software. </a:t>
            </a:r>
          </a:p>
          <a:p>
            <a:r>
              <a:rPr lang="en-GB" noProof="0" dirty="0"/>
              <a:t>Strong passwords and two-factor authentication add extra layers of protection and encryption keeps information hidden from prying eyes.</a:t>
            </a:r>
          </a:p>
          <a:p>
            <a:r>
              <a:rPr lang="en-GB" noProof="0" dirty="0"/>
              <a:t>Today you used </a:t>
            </a:r>
            <a:r>
              <a:rPr lang="en-GB" b="1" noProof="0" dirty="0"/>
              <a:t>analytical thinking </a:t>
            </a:r>
            <a:r>
              <a:rPr lang="en-GB" noProof="0" dirty="0"/>
              <a:t>to rate different password strengths and when attempting to decode a message. You also developed </a:t>
            </a:r>
            <a:r>
              <a:rPr lang="en-GB" b="1" noProof="0" dirty="0"/>
              <a:t>communication skills </a:t>
            </a:r>
            <a:r>
              <a:rPr lang="en-GB" noProof="0" dirty="0"/>
              <a:t>when discussing ideas and writing your answers.</a:t>
            </a:r>
          </a:p>
        </p:txBody>
      </p:sp>
    </p:spTree>
    <p:extLst>
      <p:ext uri="{BB962C8B-B14F-4D97-AF65-F5344CB8AC3E}">
        <p14:creationId xmlns:p14="http://schemas.microsoft.com/office/powerpoint/2010/main" val="275711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9F27A30-74F1-B68F-DB4C-1E52B13E6B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800" noProof="0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https://www.nicholawilkin.com/terms</a:t>
            </a:r>
            <a:r>
              <a:rPr lang="en-GB" sz="2800" noProof="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D801862-38A1-2E92-3A46-84D475AF4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© 2025 Nichola Wilkin Ltd</a:t>
            </a:r>
          </a:p>
        </p:txBody>
      </p:sp>
    </p:spTree>
    <p:extLst>
      <p:ext uri="{BB962C8B-B14F-4D97-AF65-F5344CB8AC3E}">
        <p14:creationId xmlns:p14="http://schemas.microsoft.com/office/powerpoint/2010/main" val="54962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9546B4CD-A1D5-4DFE-B56F-C863773A2EAD}" vid="{EAACDE77-F2E5-4310-8C19-1E4AFB9A93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NEW Example Lesson 2</Template>
  <TotalTime>335</TotalTime>
  <Words>2056</Words>
  <Application>Microsoft Office PowerPoint</Application>
  <PresentationFormat>Widescreen</PresentationFormat>
  <Paragraphs>241</Paragraphs>
  <Slides>39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Aptos</vt:lpstr>
      <vt:lpstr>Arial</vt:lpstr>
      <vt:lpstr>OpenDyslexicAlta</vt:lpstr>
      <vt:lpstr>Office Theme</vt:lpstr>
      <vt:lpstr>Important note for teachers</vt:lpstr>
      <vt:lpstr>Defence mechanisms</vt:lpstr>
      <vt:lpstr>Objective</vt:lpstr>
      <vt:lpstr>Keywords</vt:lpstr>
      <vt:lpstr>What do you already know?</vt:lpstr>
      <vt:lpstr>Steps to success</vt:lpstr>
      <vt:lpstr>Firewalls</vt:lpstr>
      <vt:lpstr>Firewall ANSWERS</vt:lpstr>
      <vt:lpstr>Firewall ANSWERS</vt:lpstr>
      <vt:lpstr>Firewall ANSWERS</vt:lpstr>
      <vt:lpstr>Firewall ANSWERS</vt:lpstr>
      <vt:lpstr>Firewalls</vt:lpstr>
      <vt:lpstr>Firewalls</vt:lpstr>
      <vt:lpstr>Steps to success</vt:lpstr>
      <vt:lpstr>Antivirus software</vt:lpstr>
      <vt:lpstr>Antivirus software</vt:lpstr>
      <vt:lpstr>Antivirus software</vt:lpstr>
      <vt:lpstr>Steps to success</vt:lpstr>
      <vt:lpstr>Passwords</vt:lpstr>
      <vt:lpstr>Passwords</vt:lpstr>
      <vt:lpstr>Passwords</vt:lpstr>
      <vt:lpstr>Passwords</vt:lpstr>
      <vt:lpstr>Passwords</vt:lpstr>
      <vt:lpstr>Passwords</vt:lpstr>
      <vt:lpstr>Steps to success</vt:lpstr>
      <vt:lpstr>Two-factor authentication </vt:lpstr>
      <vt:lpstr>Two-factor authentication </vt:lpstr>
      <vt:lpstr>Steps to success</vt:lpstr>
      <vt:lpstr>Encryption</vt:lpstr>
      <vt:lpstr>Encryption</vt:lpstr>
      <vt:lpstr>Encryption</vt:lpstr>
      <vt:lpstr>Encryption</vt:lpstr>
      <vt:lpstr>Encryption</vt:lpstr>
      <vt:lpstr>Encryption</vt:lpstr>
      <vt:lpstr>Encryption</vt:lpstr>
      <vt:lpstr>Encryption</vt:lpstr>
      <vt:lpstr>2: Encryption</vt:lpstr>
      <vt:lpstr>Summary of lesson</vt:lpstr>
      <vt:lpstr>© 2025 Nichola Wilkin Ltd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Nicky Lacey</dc:creator>
  <dc:description>© 2025 Nichola Wilkin Ltd</dc:description>
  <cp:lastModifiedBy>Jim Finn (Adamstown CC)</cp:lastModifiedBy>
  <cp:revision>10</cp:revision>
  <dcterms:created xsi:type="dcterms:W3CDTF">2025-05-20T06:08:40Z</dcterms:created>
  <dcterms:modified xsi:type="dcterms:W3CDTF">2026-09-06T13:32:07Z</dcterms:modified>
  <cp:category>© 2025 Nichola Wilkin Ltd</cp:category>
</cp:coreProperties>
</file>