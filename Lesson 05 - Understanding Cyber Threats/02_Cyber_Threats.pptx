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60"/>
  </p:notesMasterIdLst>
  <p:handoutMasterIdLst>
    <p:handoutMasterId r:id="rId61"/>
  </p:handoutMasterIdLst>
  <p:sldIdLst>
    <p:sldId id="341" r:id="rId2"/>
    <p:sldId id="256" r:id="rId3"/>
    <p:sldId id="258" r:id="rId4"/>
    <p:sldId id="259" r:id="rId5"/>
    <p:sldId id="274" r:id="rId6"/>
    <p:sldId id="261" r:id="rId7"/>
    <p:sldId id="262" r:id="rId8"/>
    <p:sldId id="281" r:id="rId9"/>
    <p:sldId id="282" r:id="rId10"/>
    <p:sldId id="283" r:id="rId11"/>
    <p:sldId id="284" r:id="rId12"/>
    <p:sldId id="268" r:id="rId13"/>
    <p:sldId id="285" r:id="rId14"/>
    <p:sldId id="286" r:id="rId15"/>
    <p:sldId id="287" r:id="rId16"/>
    <p:sldId id="325" r:id="rId17"/>
    <p:sldId id="288" r:id="rId18"/>
    <p:sldId id="289" r:id="rId19"/>
    <p:sldId id="290" r:id="rId20"/>
    <p:sldId id="291" r:id="rId21"/>
    <p:sldId id="292" r:id="rId22"/>
    <p:sldId id="326" r:id="rId23"/>
    <p:sldId id="295" r:id="rId24"/>
    <p:sldId id="296" r:id="rId25"/>
    <p:sldId id="297" r:id="rId26"/>
    <p:sldId id="298" r:id="rId27"/>
    <p:sldId id="299" r:id="rId28"/>
    <p:sldId id="293" r:id="rId29"/>
    <p:sldId id="294" r:id="rId30"/>
    <p:sldId id="300" r:id="rId31"/>
    <p:sldId id="327" r:id="rId32"/>
    <p:sldId id="303" r:id="rId33"/>
    <p:sldId id="304" r:id="rId34"/>
    <p:sldId id="305" r:id="rId35"/>
    <p:sldId id="301" r:id="rId36"/>
    <p:sldId id="302" r:id="rId37"/>
    <p:sldId id="306" r:id="rId38"/>
    <p:sldId id="307" r:id="rId39"/>
    <p:sldId id="328" r:id="rId40"/>
    <p:sldId id="310" r:id="rId41"/>
    <p:sldId id="311" r:id="rId42"/>
    <p:sldId id="312" r:id="rId43"/>
    <p:sldId id="308" r:id="rId44"/>
    <p:sldId id="309" r:id="rId45"/>
    <p:sldId id="313" r:id="rId46"/>
    <p:sldId id="314" r:id="rId47"/>
    <p:sldId id="315" r:id="rId48"/>
    <p:sldId id="316" r:id="rId49"/>
    <p:sldId id="317" r:id="rId50"/>
    <p:sldId id="318" r:id="rId51"/>
    <p:sldId id="322" r:id="rId52"/>
    <p:sldId id="323" r:id="rId53"/>
    <p:sldId id="324" r:id="rId54"/>
    <p:sldId id="319" r:id="rId55"/>
    <p:sldId id="320" r:id="rId56"/>
    <p:sldId id="321" r:id="rId57"/>
    <p:sldId id="267" r:id="rId58"/>
    <p:sldId id="272" r:id="rId59"/>
  </p:sldIdLst>
  <p:sldSz cx="12192000" cy="6858000"/>
  <p:notesSz cx="6858000" cy="9144000"/>
  <p:embeddedFontLst>
    <p:embeddedFont>
      <p:font typeface="OpenDyslexicAlta" panose="00000500000000000000" pitchFamily="50" charset="0"/>
      <p:regular r:id="rId62"/>
      <p:bold r:id="rId63"/>
      <p:italic r:id="rId64"/>
      <p:boldItalic r:id="rId6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570"/>
    <a:srgbClr val="FFFFCC"/>
    <a:srgbClr val="FFFFE1"/>
    <a:srgbClr val="FBE3D6"/>
    <a:srgbClr val="00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157" autoAdjust="0"/>
  </p:normalViewPr>
  <p:slideViewPr>
    <p:cSldViewPr snapToGrid="0">
      <p:cViewPr varScale="1">
        <p:scale>
          <a:sx n="93" d="100"/>
          <a:sy n="93" d="100"/>
        </p:scale>
        <p:origin x="1188" y="306"/>
      </p:cViewPr>
      <p:guideLst>
        <p:guide orient="horz" pos="2160"/>
        <p:guide pos="3840"/>
      </p:guideLst>
    </p:cSldViewPr>
  </p:slideViewPr>
  <p:notesTextViewPr>
    <p:cViewPr>
      <p:scale>
        <a:sx n="3" d="2"/>
        <a:sy n="3" d="2"/>
      </p:scale>
      <p:origin x="0" y="0"/>
    </p:cViewPr>
  </p:notesTextViewPr>
  <p:notesViewPr>
    <p:cSldViewPr snapToGrid="0">
      <p:cViewPr varScale="1">
        <p:scale>
          <a:sx n="81" d="100"/>
          <a:sy n="81" d="100"/>
        </p:scale>
        <p:origin x="3894"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2.fntdata"/><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3.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F35232B-3405-650A-0E6D-919F2AF1E0D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63A1DF0-6A0F-7410-1697-3F364849232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8791796-119E-4260-B149-940ECFE008A4}" type="datetimeFigureOut">
              <a:rPr lang="en-GB" smtClean="0"/>
              <a:t>19/06/2025</a:t>
            </a:fld>
            <a:endParaRPr lang="en-GB"/>
          </a:p>
        </p:txBody>
      </p:sp>
      <p:sp>
        <p:nvSpPr>
          <p:cNvPr id="4" name="Footer Placeholder 3">
            <a:extLst>
              <a:ext uri="{FF2B5EF4-FFF2-40B4-BE49-F238E27FC236}">
                <a16:creationId xmlns:a16="http://schemas.microsoft.com/office/drawing/2014/main" id="{D35B57EA-C3C3-2477-F872-4F48437CE8D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020E89B7-4332-40EF-8A72-D4F2B18E9A2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D8B0B0-A64E-4C20-A968-F17ABCD71ED1}" type="slidenum">
              <a:rPr lang="en-GB" smtClean="0"/>
              <a:t>‹#›</a:t>
            </a:fld>
            <a:endParaRPr lang="en-GB"/>
          </a:p>
        </p:txBody>
      </p:sp>
    </p:spTree>
    <p:extLst>
      <p:ext uri="{BB962C8B-B14F-4D97-AF65-F5344CB8AC3E}">
        <p14:creationId xmlns:p14="http://schemas.microsoft.com/office/powerpoint/2010/main" val="16687590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8B08D0-55F0-4F46-823E-16EBA70D485C}" type="datetimeFigureOut">
              <a:rPr lang="en-GB" smtClean="0"/>
              <a:t>19/06/2025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C49696-4A31-4A2D-9771-789FA2F2430A}" type="slidenum">
              <a:rPr lang="en-GB" smtClean="0"/>
              <a:t>‹#›</a:t>
            </a:fld>
            <a:endParaRPr lang="en-GB"/>
          </a:p>
        </p:txBody>
      </p:sp>
    </p:spTree>
    <p:extLst>
      <p:ext uri="{BB962C8B-B14F-4D97-AF65-F5344CB8AC3E}">
        <p14:creationId xmlns:p14="http://schemas.microsoft.com/office/powerpoint/2010/main" val="268025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https://www.bbc.co.uk/news/technology-53445090</a:t>
            </a:r>
          </a:p>
        </p:txBody>
      </p:sp>
      <p:sp>
        <p:nvSpPr>
          <p:cNvPr id="4" name="Slide Number Placeholder 3"/>
          <p:cNvSpPr>
            <a:spLocks noGrp="1"/>
          </p:cNvSpPr>
          <p:nvPr>
            <p:ph type="sldNum" sz="quarter" idx="5"/>
          </p:nvPr>
        </p:nvSpPr>
        <p:spPr/>
        <p:txBody>
          <a:bodyPr/>
          <a:lstStyle/>
          <a:p>
            <a:fld id="{2DC49696-4A31-4A2D-9771-789FA2F2430A}" type="slidenum">
              <a:rPr lang="en-GB" smtClean="0"/>
              <a:t>25</a:t>
            </a:fld>
            <a:endParaRPr lang="en-GB"/>
          </a:p>
        </p:txBody>
      </p:sp>
    </p:spTree>
    <p:extLst>
      <p:ext uri="{BB962C8B-B14F-4D97-AF65-F5344CB8AC3E}">
        <p14:creationId xmlns:p14="http://schemas.microsoft.com/office/powerpoint/2010/main" val="1464045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410E2-C9AB-8DAF-4A22-938F5EA9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EE5093-96E1-62E6-4EB8-707B200D5C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117263-0ECC-BE60-CA3D-F5F6AFD9208B}"/>
              </a:ext>
            </a:extLst>
          </p:cNvPr>
          <p:cNvSpPr>
            <a:spLocks noGrp="1"/>
          </p:cNvSpPr>
          <p:nvPr>
            <p:ph type="body" idx="1"/>
          </p:nvPr>
        </p:nvSpPr>
        <p:spPr/>
        <p:txBody>
          <a:bodyPr/>
          <a:lstStyle/>
          <a:p>
            <a:r>
              <a:rPr lang="en-GB" dirty="0"/>
              <a:t>https://www.cbc.ca/news/business/zuckerberg-hacked-1.3618112</a:t>
            </a:r>
          </a:p>
        </p:txBody>
      </p:sp>
      <p:sp>
        <p:nvSpPr>
          <p:cNvPr id="4" name="Slide Number Placeholder 3">
            <a:extLst>
              <a:ext uri="{FF2B5EF4-FFF2-40B4-BE49-F238E27FC236}">
                <a16:creationId xmlns:a16="http://schemas.microsoft.com/office/drawing/2014/main" id="{88852145-5EE3-74C7-F6B1-E77B48A9D7D3}"/>
              </a:ext>
            </a:extLst>
          </p:cNvPr>
          <p:cNvSpPr>
            <a:spLocks noGrp="1"/>
          </p:cNvSpPr>
          <p:nvPr>
            <p:ph type="sldNum" sz="quarter" idx="5"/>
          </p:nvPr>
        </p:nvSpPr>
        <p:spPr/>
        <p:txBody>
          <a:bodyPr/>
          <a:lstStyle/>
          <a:p>
            <a:fld id="{2DC49696-4A31-4A2D-9771-789FA2F2430A}" type="slidenum">
              <a:rPr lang="en-GB" smtClean="0"/>
              <a:t>26</a:t>
            </a:fld>
            <a:endParaRPr lang="en-GB"/>
          </a:p>
        </p:txBody>
      </p:sp>
    </p:spTree>
    <p:extLst>
      <p:ext uri="{BB962C8B-B14F-4D97-AF65-F5344CB8AC3E}">
        <p14:creationId xmlns:p14="http://schemas.microsoft.com/office/powerpoint/2010/main" val="18939050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D07D6-F5AA-CB62-7DBA-C434F26CA9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90D009-54A6-0830-607F-9C7BA86E8B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913D1-7A76-0E9F-E265-1127A5093B5E}"/>
              </a:ext>
            </a:extLst>
          </p:cNvPr>
          <p:cNvSpPr>
            <a:spLocks noGrp="1"/>
          </p:cNvSpPr>
          <p:nvPr>
            <p:ph type="body" idx="1"/>
          </p:nvPr>
        </p:nvSpPr>
        <p:spPr/>
        <p:txBody>
          <a:bodyPr/>
          <a:lstStyle/>
          <a:p>
            <a:r>
              <a:rPr lang="en-GB" dirty="0"/>
              <a:t>https://www.bbc.co.uk/news/business-57050690</a:t>
            </a:r>
          </a:p>
        </p:txBody>
      </p:sp>
      <p:sp>
        <p:nvSpPr>
          <p:cNvPr id="4" name="Slide Number Placeholder 3">
            <a:extLst>
              <a:ext uri="{FF2B5EF4-FFF2-40B4-BE49-F238E27FC236}">
                <a16:creationId xmlns:a16="http://schemas.microsoft.com/office/drawing/2014/main" id="{E7D0E4DD-B83E-83A1-AC18-93D12C6AC5F6}"/>
              </a:ext>
            </a:extLst>
          </p:cNvPr>
          <p:cNvSpPr>
            <a:spLocks noGrp="1"/>
          </p:cNvSpPr>
          <p:nvPr>
            <p:ph type="sldNum" sz="quarter" idx="5"/>
          </p:nvPr>
        </p:nvSpPr>
        <p:spPr/>
        <p:txBody>
          <a:bodyPr/>
          <a:lstStyle/>
          <a:p>
            <a:fld id="{2DC49696-4A31-4A2D-9771-789FA2F2430A}" type="slidenum">
              <a:rPr lang="en-GB" smtClean="0"/>
              <a:t>27</a:t>
            </a:fld>
            <a:endParaRPr lang="en-GB"/>
          </a:p>
        </p:txBody>
      </p:sp>
    </p:spTree>
    <p:extLst>
      <p:ext uri="{BB962C8B-B14F-4D97-AF65-F5344CB8AC3E}">
        <p14:creationId xmlns:p14="http://schemas.microsoft.com/office/powerpoint/2010/main" val="2819210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the players volunteer give them a card each and give them a moment to read it. Ask who is the Login attempter and they stand to one side which the login attempters stand together on the other. One at a time the login attempters give the account holder an instructions. The class needs to guess what the secret key is that is getting the account holder to follow the instructions.</a:t>
            </a:r>
          </a:p>
        </p:txBody>
      </p:sp>
      <p:sp>
        <p:nvSpPr>
          <p:cNvPr id="4" name="Slide Number Placeholder 3"/>
          <p:cNvSpPr>
            <a:spLocks noGrp="1"/>
          </p:cNvSpPr>
          <p:nvPr>
            <p:ph type="sldNum" sz="quarter" idx="5"/>
          </p:nvPr>
        </p:nvSpPr>
        <p:spPr/>
        <p:txBody>
          <a:bodyPr/>
          <a:lstStyle/>
          <a:p>
            <a:fld id="{2DC49696-4A31-4A2D-9771-789FA2F2430A}" type="slidenum">
              <a:rPr lang="en-GB" smtClean="0"/>
              <a:t>32</a:t>
            </a:fld>
            <a:endParaRPr lang="en-GB"/>
          </a:p>
        </p:txBody>
      </p:sp>
    </p:spTree>
    <p:extLst>
      <p:ext uri="{BB962C8B-B14F-4D97-AF65-F5344CB8AC3E}">
        <p14:creationId xmlns:p14="http://schemas.microsoft.com/office/powerpoint/2010/main" val="26519798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Give the login attempter with the key, a pen.</a:t>
            </a:r>
          </a:p>
        </p:txBody>
      </p:sp>
      <p:sp>
        <p:nvSpPr>
          <p:cNvPr id="4" name="Slide Number Placeholder 3"/>
          <p:cNvSpPr>
            <a:spLocks noGrp="1"/>
          </p:cNvSpPr>
          <p:nvPr>
            <p:ph type="sldNum" sz="quarter" idx="5"/>
          </p:nvPr>
        </p:nvSpPr>
        <p:spPr/>
        <p:txBody>
          <a:bodyPr/>
          <a:lstStyle/>
          <a:p>
            <a:fld id="{2DC49696-4A31-4A2D-9771-789FA2F2430A}" type="slidenum">
              <a:rPr lang="en-GB" smtClean="0"/>
              <a:t>34</a:t>
            </a:fld>
            <a:endParaRPr lang="en-GB"/>
          </a:p>
        </p:txBody>
      </p:sp>
    </p:spTree>
    <p:extLst>
      <p:ext uri="{BB962C8B-B14F-4D97-AF65-F5344CB8AC3E}">
        <p14:creationId xmlns:p14="http://schemas.microsoft.com/office/powerpoint/2010/main" val="34820946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9B45729A-2A02-69F1-5F8E-3A7464A80F62}"/>
              </a:ext>
            </a:extLst>
          </p:cNvPr>
          <p:cNvSpPr/>
          <p:nvPr userDrawn="1"/>
        </p:nvSpPr>
        <p:spPr>
          <a:xfrm>
            <a:off x="1217704" y="782425"/>
            <a:ext cx="9766169" cy="3016577"/>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6A2484D-F227-7D83-9D1F-199680CA61A4}"/>
              </a:ext>
            </a:extLst>
          </p:cNvPr>
          <p:cNvSpPr>
            <a:spLocks noGrp="1"/>
          </p:cNvSpPr>
          <p:nvPr>
            <p:ph type="ctrTitle"/>
          </p:nvPr>
        </p:nvSpPr>
        <p:spPr>
          <a:xfrm>
            <a:off x="1893127" y="782425"/>
            <a:ext cx="8415323" cy="3016577"/>
          </a:xfrm>
        </p:spPr>
        <p:txBody>
          <a:bodyPr anchor="ctr"/>
          <a:lstStyle>
            <a:lvl1pPr algn="l">
              <a:defRPr sz="6000"/>
            </a:lvl1pPr>
          </a:lstStyle>
          <a:p>
            <a:r>
              <a:rPr lang="en-GB"/>
              <a:t>Click to edit Master title style</a:t>
            </a:r>
            <a:endParaRPr lang="en-GB" dirty="0"/>
          </a:p>
        </p:txBody>
      </p:sp>
      <p:sp>
        <p:nvSpPr>
          <p:cNvPr id="3" name="Subtitle 2">
            <a:extLst>
              <a:ext uri="{FF2B5EF4-FFF2-40B4-BE49-F238E27FC236}">
                <a16:creationId xmlns:a16="http://schemas.microsoft.com/office/drawing/2014/main" id="{C8C6A4D3-0153-0D86-80ED-42D75EA9F829}"/>
              </a:ext>
            </a:extLst>
          </p:cNvPr>
          <p:cNvSpPr>
            <a:spLocks noGrp="1"/>
          </p:cNvSpPr>
          <p:nvPr>
            <p:ph type="subTitle" idx="1"/>
          </p:nvPr>
        </p:nvSpPr>
        <p:spPr>
          <a:xfrm>
            <a:off x="1893127" y="4717062"/>
            <a:ext cx="8415322" cy="638666"/>
          </a:xfrm>
        </p:spPr>
        <p:txBody>
          <a:bodyPr anchor="ct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pic>
        <p:nvPicPr>
          <p:cNvPr id="4" name="Picture 3" descr="A computer with a crown&#10;&#10;AI-generated content may be incorrect.">
            <a:extLst>
              <a:ext uri="{FF2B5EF4-FFF2-40B4-BE49-F238E27FC236}">
                <a16:creationId xmlns:a16="http://schemas.microsoft.com/office/drawing/2014/main" id="{0DD3CD4A-2C0F-6040-2808-0C5C52670120}"/>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580103" y="5559678"/>
            <a:ext cx="1031794" cy="1031794"/>
          </a:xfrm>
          <a:prstGeom prst="rect">
            <a:avLst/>
          </a:prstGeom>
        </p:spPr>
      </p:pic>
    </p:spTree>
    <p:extLst>
      <p:ext uri="{BB962C8B-B14F-4D97-AF65-F5344CB8AC3E}">
        <p14:creationId xmlns:p14="http://schemas.microsoft.com/office/powerpoint/2010/main" val="1209274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6C0A17E-84FF-A9F1-C94E-DFFA41EEED9B}"/>
              </a:ext>
            </a:extLst>
          </p:cNvPr>
          <p:cNvSpPr>
            <a:spLocks noGrp="1"/>
          </p:cNvSpPr>
          <p:nvPr>
            <p:ph type="title"/>
          </p:nvPr>
        </p:nvSpPr>
        <p:spPr>
          <a:xfrm>
            <a:off x="413993" y="198671"/>
            <a:ext cx="11444926" cy="763571"/>
          </a:xfrm>
        </p:spPr>
        <p:txBody>
          <a:bodyPr/>
          <a:lstStyle>
            <a:lvl1pPr>
              <a:defRPr b="1"/>
            </a:lvl1pPr>
          </a:lstStyle>
          <a:p>
            <a:r>
              <a:rPr lang="en-GB"/>
              <a:t>Click to edit Master title style</a:t>
            </a:r>
            <a:endParaRPr lang="en-GB" dirty="0"/>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3992" y="1313895"/>
            <a:ext cx="11444927" cy="4952736"/>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198543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6C0A17E-84FF-A9F1-C94E-DFFA41EEED9B}"/>
              </a:ext>
            </a:extLst>
          </p:cNvPr>
          <p:cNvSpPr>
            <a:spLocks noGrp="1"/>
          </p:cNvSpPr>
          <p:nvPr>
            <p:ph type="title"/>
          </p:nvPr>
        </p:nvSpPr>
        <p:spPr>
          <a:xfrm>
            <a:off x="413993" y="198671"/>
            <a:ext cx="11444926" cy="763571"/>
          </a:xfrm>
        </p:spPr>
        <p:txBody>
          <a:bodyPr/>
          <a:lstStyle>
            <a:lvl1pPr>
              <a:defRPr b="1"/>
            </a:lvl1pPr>
          </a:lstStyle>
          <a:p>
            <a:r>
              <a:rPr lang="en-GB"/>
              <a:t>Click to edit Master title style</a:t>
            </a:r>
            <a:endParaRPr lang="en-GB" dirty="0"/>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pic>
        <p:nvPicPr>
          <p:cNvPr id="3" name="Picture 2" descr="A white rectangular object with black dots&#10;&#10;Description automatically generated with medium confidence">
            <a:extLst>
              <a:ext uri="{FF2B5EF4-FFF2-40B4-BE49-F238E27FC236}">
                <a16:creationId xmlns:a16="http://schemas.microsoft.com/office/drawing/2014/main" id="{31F8124E-EB43-9B25-D02C-9751D130000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481240" y="518310"/>
            <a:ext cx="5229519" cy="5497053"/>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50681" y="2503502"/>
            <a:ext cx="3890638" cy="2947387"/>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vl3pPr marL="914400" indent="0">
              <a:buNone/>
              <a:defRPr/>
            </a:lvl3pPr>
          </a:lstStyle>
          <a:p>
            <a:pPr lvl="0"/>
            <a:r>
              <a:rPr lang="en-GB"/>
              <a:t>Click to edit Master text styles</a:t>
            </a:r>
          </a:p>
        </p:txBody>
      </p:sp>
    </p:spTree>
    <p:extLst>
      <p:ext uri="{BB962C8B-B14F-4D97-AF65-F5344CB8AC3E}">
        <p14:creationId xmlns:p14="http://schemas.microsoft.com/office/powerpoint/2010/main" val="37428273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ractical Task">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6C0A17E-84FF-A9F1-C94E-DFFA41EEED9B}"/>
              </a:ext>
            </a:extLst>
          </p:cNvPr>
          <p:cNvSpPr>
            <a:spLocks noGrp="1"/>
          </p:cNvSpPr>
          <p:nvPr>
            <p:ph type="title"/>
          </p:nvPr>
        </p:nvSpPr>
        <p:spPr>
          <a:xfrm>
            <a:off x="1671589" y="89905"/>
            <a:ext cx="10187330" cy="763571"/>
          </a:xfrm>
        </p:spPr>
        <p:txBody>
          <a:bodyPr/>
          <a:lstStyle>
            <a:lvl1pPr>
              <a:defRPr b="1"/>
            </a:lvl1pPr>
          </a:lstStyle>
          <a:p>
            <a:r>
              <a:rPr lang="en-GB"/>
              <a:t>Click to edit Master title style</a:t>
            </a:r>
            <a:endParaRPr lang="en-GB" dirty="0"/>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3992" y="1313895"/>
            <a:ext cx="11444927" cy="4952736"/>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stStyle>
          <a:p>
            <a:pPr lvl="0"/>
            <a:r>
              <a:rPr lang="en-GB"/>
              <a:t>Click to edit Master text styles</a:t>
            </a:r>
          </a:p>
          <a:p>
            <a:pPr lvl="1"/>
            <a:r>
              <a:rPr lang="en-GB"/>
              <a:t>Second level</a:t>
            </a:r>
          </a:p>
          <a:p>
            <a:pPr lvl="2"/>
            <a:r>
              <a:rPr lang="en-GB"/>
              <a:t>Third level</a:t>
            </a:r>
          </a:p>
        </p:txBody>
      </p:sp>
      <p:pic>
        <p:nvPicPr>
          <p:cNvPr id="7" name="Picture 6" descr="A computer with a keyboard&#10;&#10;Description automatically generated">
            <a:extLst>
              <a:ext uri="{FF2B5EF4-FFF2-40B4-BE49-F238E27FC236}">
                <a16:creationId xmlns:a16="http://schemas.microsoft.com/office/drawing/2014/main" id="{D90EB9EB-35CA-B193-CB6D-E1224A36382C}"/>
              </a:ext>
            </a:extLst>
          </p:cNvPr>
          <p:cNvPicPr>
            <a:picLocks noChangeAspect="1"/>
          </p:cNvPicPr>
          <p:nvPr userDrawn="1"/>
        </p:nvPicPr>
        <p:blipFill>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flipH="1">
            <a:off x="523390" y="34649"/>
            <a:ext cx="874081" cy="874081"/>
          </a:xfrm>
          <a:prstGeom prst="rect">
            <a:avLst/>
          </a:prstGeom>
        </p:spPr>
      </p:pic>
    </p:spTree>
    <p:extLst>
      <p:ext uri="{BB962C8B-B14F-4D97-AF65-F5344CB8AC3E}">
        <p14:creationId xmlns:p14="http://schemas.microsoft.com/office/powerpoint/2010/main" val="70722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aper Task">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pic>
        <p:nvPicPr>
          <p:cNvPr id="4" name="Picture 3" descr="A black pen with a cap&#10;&#10;Description automatically generated">
            <a:extLst>
              <a:ext uri="{FF2B5EF4-FFF2-40B4-BE49-F238E27FC236}">
                <a16:creationId xmlns:a16="http://schemas.microsoft.com/office/drawing/2014/main" id="{23553E00-1685-A73C-C4C2-17F580B6012E}"/>
              </a:ext>
            </a:extLst>
          </p:cNvPr>
          <p:cNvPicPr>
            <a:picLocks noChangeAspect="1"/>
          </p:cNvPicPr>
          <p:nvPr userDrawn="1"/>
        </p:nvPicPr>
        <p:blipFill>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507507" y="56188"/>
            <a:ext cx="831001" cy="831001"/>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3992" y="1313895"/>
            <a:ext cx="11444927" cy="4952736"/>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stStyle>
          <a:p>
            <a:pPr lvl="0"/>
            <a:r>
              <a:rPr lang="en-GB"/>
              <a:t>Click to edit Master text styles</a:t>
            </a:r>
          </a:p>
          <a:p>
            <a:pPr lvl="1"/>
            <a:r>
              <a:rPr lang="en-GB"/>
              <a:t>Second level</a:t>
            </a:r>
          </a:p>
          <a:p>
            <a:pPr lvl="2"/>
            <a:r>
              <a:rPr lang="en-GB"/>
              <a:t>Third level</a:t>
            </a:r>
          </a:p>
        </p:txBody>
      </p:sp>
      <p:sp>
        <p:nvSpPr>
          <p:cNvPr id="3" name="Title 1">
            <a:extLst>
              <a:ext uri="{FF2B5EF4-FFF2-40B4-BE49-F238E27FC236}">
                <a16:creationId xmlns:a16="http://schemas.microsoft.com/office/drawing/2014/main" id="{8E8FBBBB-AC3E-C1DC-7C7D-80D22331DE68}"/>
              </a:ext>
            </a:extLst>
          </p:cNvPr>
          <p:cNvSpPr>
            <a:spLocks noGrp="1"/>
          </p:cNvSpPr>
          <p:nvPr>
            <p:ph type="title"/>
          </p:nvPr>
        </p:nvSpPr>
        <p:spPr>
          <a:xfrm>
            <a:off x="1671589" y="89905"/>
            <a:ext cx="10187330"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12336767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cussion Task">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3992" y="1313895"/>
            <a:ext cx="11444927" cy="4952736"/>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stStyle>
          <a:p>
            <a:pPr lvl="0"/>
            <a:r>
              <a:rPr lang="en-GB"/>
              <a:t>Click to edit Master text styles</a:t>
            </a:r>
          </a:p>
          <a:p>
            <a:pPr lvl="1"/>
            <a:r>
              <a:rPr lang="en-GB"/>
              <a:t>Second level</a:t>
            </a:r>
          </a:p>
          <a:p>
            <a:pPr lvl="2"/>
            <a:r>
              <a:rPr lang="en-GB"/>
              <a:t>Third level</a:t>
            </a:r>
          </a:p>
        </p:txBody>
      </p:sp>
      <p:sp>
        <p:nvSpPr>
          <p:cNvPr id="3" name="Title 1">
            <a:extLst>
              <a:ext uri="{FF2B5EF4-FFF2-40B4-BE49-F238E27FC236}">
                <a16:creationId xmlns:a16="http://schemas.microsoft.com/office/drawing/2014/main" id="{8E8FBBBB-AC3E-C1DC-7C7D-80D22331DE68}"/>
              </a:ext>
            </a:extLst>
          </p:cNvPr>
          <p:cNvSpPr>
            <a:spLocks noGrp="1"/>
          </p:cNvSpPr>
          <p:nvPr>
            <p:ph type="title"/>
          </p:nvPr>
        </p:nvSpPr>
        <p:spPr>
          <a:xfrm>
            <a:off x="1671589" y="89905"/>
            <a:ext cx="10187330" cy="763571"/>
          </a:xfrm>
        </p:spPr>
        <p:txBody>
          <a:bodyPr/>
          <a:lstStyle>
            <a:lvl1pPr>
              <a:defRPr b="1"/>
            </a:lvl1pPr>
          </a:lstStyle>
          <a:p>
            <a:r>
              <a:rPr lang="en-GB"/>
              <a:t>Click to edit Master title style</a:t>
            </a:r>
            <a:endParaRPr lang="en-GB" dirty="0"/>
          </a:p>
        </p:txBody>
      </p:sp>
      <p:pic>
        <p:nvPicPr>
          <p:cNvPr id="5" name="Picture 4" descr="A black and white outline of a couple of speech bubbles&#10;&#10;Description automatically generated">
            <a:extLst>
              <a:ext uri="{FF2B5EF4-FFF2-40B4-BE49-F238E27FC236}">
                <a16:creationId xmlns:a16="http://schemas.microsoft.com/office/drawing/2014/main" id="{EEB8BB81-B4B1-2F82-6670-DB34481D0E10}"/>
              </a:ext>
            </a:extLst>
          </p:cNvPr>
          <p:cNvPicPr>
            <a:picLocks noChangeAspect="1"/>
          </p:cNvPicPr>
          <p:nvPr userDrawn="1"/>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33081" y="0"/>
            <a:ext cx="944871" cy="944871"/>
          </a:xfrm>
          <a:prstGeom prst="rect">
            <a:avLst/>
          </a:prstGeom>
        </p:spPr>
      </p:pic>
    </p:spTree>
    <p:extLst>
      <p:ext uri="{BB962C8B-B14F-4D97-AF65-F5344CB8AC3E}">
        <p14:creationId xmlns:p14="http://schemas.microsoft.com/office/powerpoint/2010/main" val="91066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FC063F6-0EE5-AAAC-3CC9-255C98F437FF}"/>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8310735F-9F0E-A09C-0CF7-00E89B13D85A}"/>
              </a:ext>
            </a:extLst>
          </p:cNvPr>
          <p:cNvSpPr>
            <a:spLocks noGrp="1"/>
          </p:cNvSpPr>
          <p:nvPr>
            <p:ph sz="half" idx="1"/>
          </p:nvPr>
        </p:nvSpPr>
        <p:spPr>
          <a:xfrm>
            <a:off x="413992" y="1313890"/>
            <a:ext cx="5635673" cy="4952737"/>
          </a:xfrm>
        </p:spPr>
        <p:txBody>
          <a:bodyPr/>
          <a:lstStyle>
            <a:lvl1pPr marL="0" indent="0">
              <a:buNone/>
              <a:defRPr/>
            </a:lvl1pPr>
            <a:lvl2pPr marL="685800" indent="-228600">
              <a:defRPr lang="en-GB" sz="3200" kern="1200" dirty="0">
                <a:solidFill>
                  <a:srgbClr val="002570"/>
                </a:solidFill>
                <a:latin typeface="OpenDyslexicAlta" panose="00000500000000000000" pitchFamily="50" charset="0"/>
                <a:ea typeface="+mn-ea"/>
                <a:cs typeface="+mn-cs"/>
              </a:defRPr>
            </a:lvl2pPr>
          </a:lstStyle>
          <a:p>
            <a:pPr lvl="0"/>
            <a:r>
              <a:rPr lang="en-GB"/>
              <a:t>Click to edit Master text styles</a:t>
            </a:r>
          </a:p>
          <a:p>
            <a:pPr lvl="1"/>
            <a:r>
              <a:rPr lang="en-GB"/>
              <a:t>Second level</a:t>
            </a:r>
          </a:p>
          <a:p>
            <a:pPr lvl="2"/>
            <a:r>
              <a:rPr lang="en-GB"/>
              <a:t>Third level</a:t>
            </a:r>
          </a:p>
        </p:txBody>
      </p:sp>
      <p:sp>
        <p:nvSpPr>
          <p:cNvPr id="4" name="Content Placeholder 3">
            <a:extLst>
              <a:ext uri="{FF2B5EF4-FFF2-40B4-BE49-F238E27FC236}">
                <a16:creationId xmlns:a16="http://schemas.microsoft.com/office/drawing/2014/main" id="{E0B7DE29-8D35-8F81-F97D-29C023AE4EEE}"/>
              </a:ext>
            </a:extLst>
          </p:cNvPr>
          <p:cNvSpPr>
            <a:spLocks noGrp="1"/>
          </p:cNvSpPr>
          <p:nvPr>
            <p:ph sz="half" idx="2"/>
          </p:nvPr>
        </p:nvSpPr>
        <p:spPr>
          <a:xfrm>
            <a:off x="6223247" y="1313890"/>
            <a:ext cx="5635673" cy="4952739"/>
          </a:xfrm>
        </p:spPr>
        <p:txBody>
          <a:bodyPr/>
          <a:lstStyle>
            <a:lvl1pPr marL="0" indent="0">
              <a:buNone/>
              <a:defRPr/>
            </a:lvl1pPr>
            <a:lvl2pPr marL="685800" indent="-228600">
              <a:defRPr lang="en-GB" sz="3200" kern="1200" dirty="0">
                <a:solidFill>
                  <a:srgbClr val="002570"/>
                </a:solidFill>
                <a:latin typeface="OpenDyslexicAlta" panose="00000500000000000000" pitchFamily="50" charset="0"/>
                <a:ea typeface="+mn-ea"/>
                <a:cs typeface="+mn-cs"/>
              </a:defRPr>
            </a:lvl2pPr>
          </a:lstStyle>
          <a:p>
            <a:pPr lvl="0"/>
            <a:r>
              <a:rPr lang="en-GB"/>
              <a:t>Click to edit Master text styles</a:t>
            </a:r>
          </a:p>
          <a:p>
            <a:pPr lvl="1"/>
            <a:r>
              <a:rPr lang="en-GB"/>
              <a:t>Second level</a:t>
            </a:r>
          </a:p>
        </p:txBody>
      </p:sp>
      <p:pic>
        <p:nvPicPr>
          <p:cNvPr id="13" name="Picture 12" descr="A black line with a pointy face&#10;&#10;Description automatically generated with medium confidence">
            <a:extLst>
              <a:ext uri="{FF2B5EF4-FFF2-40B4-BE49-F238E27FC236}">
                <a16:creationId xmlns:a16="http://schemas.microsoft.com/office/drawing/2014/main" id="{8087F63A-1EA4-664A-4548-C3086100B94B}"/>
              </a:ext>
            </a:extLst>
          </p:cNvPr>
          <p:cNvPicPr>
            <a:picLocks noChangeAspect="1"/>
          </p:cNvPicPr>
          <p:nvPr userDrawn="1"/>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4" name="Title 1">
            <a:extLst>
              <a:ext uri="{FF2B5EF4-FFF2-40B4-BE49-F238E27FC236}">
                <a16:creationId xmlns:a16="http://schemas.microsoft.com/office/drawing/2014/main" id="{4A6B3F91-A53F-3877-C3BE-6E52402D8056}"/>
              </a:ext>
            </a:extLst>
          </p:cNvPr>
          <p:cNvSpPr>
            <a:spLocks noGrp="1"/>
          </p:cNvSpPr>
          <p:nvPr>
            <p:ph type="title"/>
          </p:nvPr>
        </p:nvSpPr>
        <p:spPr>
          <a:xfrm>
            <a:off x="413992" y="198671"/>
            <a:ext cx="11444927"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764404505"/>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6" name="Rectangle 8">
            <a:extLst>
              <a:ext uri="{FF2B5EF4-FFF2-40B4-BE49-F238E27FC236}">
                <a16:creationId xmlns:a16="http://schemas.microsoft.com/office/drawing/2014/main" id="{505C2B80-4160-4381-751B-A34DADCB3B00}"/>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Content Placeholder 2">
            <a:extLst>
              <a:ext uri="{FF2B5EF4-FFF2-40B4-BE49-F238E27FC236}">
                <a16:creationId xmlns:a16="http://schemas.microsoft.com/office/drawing/2014/main" id="{C54E5830-5177-BEC2-17FC-C20BB5A3B9D6}"/>
              </a:ext>
            </a:extLst>
          </p:cNvPr>
          <p:cNvSpPr>
            <a:spLocks noGrp="1"/>
          </p:cNvSpPr>
          <p:nvPr>
            <p:ph sz="half" idx="10"/>
          </p:nvPr>
        </p:nvSpPr>
        <p:spPr>
          <a:xfrm>
            <a:off x="413992" y="2308190"/>
            <a:ext cx="5635673" cy="3958438"/>
          </a:xfrm>
        </p:spPr>
        <p:txBody>
          <a:bodyPr>
            <a:normAutofit/>
          </a:bodyPr>
          <a:lstStyle>
            <a:lvl1pPr marL="0" indent="0">
              <a:buNone/>
              <a:defRPr sz="3200"/>
            </a:lvl1pPr>
            <a:lvl2pPr marL="685800" indent="-228600">
              <a:defRPr lang="en-GB" sz="3200" kern="1200" dirty="0">
                <a:solidFill>
                  <a:srgbClr val="002570"/>
                </a:solidFill>
                <a:latin typeface="OpenDyslexicAlta" panose="00000500000000000000" pitchFamily="50" charset="0"/>
                <a:ea typeface="+mn-ea"/>
                <a:cs typeface="+mn-cs"/>
              </a:defRPr>
            </a:lvl2pPr>
            <a:lvl3pPr>
              <a:defRPr sz="2400"/>
            </a:lvl3pPr>
            <a:lvl4pPr>
              <a:defRPr sz="2000"/>
            </a:lvl4pPr>
            <a:lvl5pPr>
              <a:defRPr sz="2000"/>
            </a:lvl5pPr>
          </a:lstStyle>
          <a:p>
            <a:pPr lvl="0"/>
            <a:r>
              <a:rPr lang="en-GB"/>
              <a:t>Click to edit Master text styles</a:t>
            </a:r>
          </a:p>
          <a:p>
            <a:pPr lvl="1"/>
            <a:r>
              <a:rPr lang="en-GB"/>
              <a:t>Second level</a:t>
            </a:r>
          </a:p>
        </p:txBody>
      </p:sp>
      <p:sp>
        <p:nvSpPr>
          <p:cNvPr id="14" name="Content Placeholder 3">
            <a:extLst>
              <a:ext uri="{FF2B5EF4-FFF2-40B4-BE49-F238E27FC236}">
                <a16:creationId xmlns:a16="http://schemas.microsoft.com/office/drawing/2014/main" id="{20C6DAD7-F485-8649-8094-4915CBAD34DD}"/>
              </a:ext>
            </a:extLst>
          </p:cNvPr>
          <p:cNvSpPr>
            <a:spLocks noGrp="1"/>
          </p:cNvSpPr>
          <p:nvPr>
            <p:ph sz="half" idx="2"/>
          </p:nvPr>
        </p:nvSpPr>
        <p:spPr>
          <a:xfrm>
            <a:off x="6223247" y="2308189"/>
            <a:ext cx="5635673" cy="3958439"/>
          </a:xfrm>
        </p:spPr>
        <p:txBody>
          <a:bodyPr>
            <a:normAutofit/>
          </a:bodyPr>
          <a:lstStyle>
            <a:lvl1pPr marL="0" indent="0">
              <a:buNone/>
              <a:defRPr sz="2800"/>
            </a:lvl1pPr>
            <a:lvl2pPr marL="685800" indent="-228600">
              <a:defRPr lang="en-GB" sz="3200" kern="1200" dirty="0">
                <a:solidFill>
                  <a:srgbClr val="002570"/>
                </a:solidFill>
                <a:latin typeface="OpenDyslexicAlta" panose="00000500000000000000" pitchFamily="50" charset="0"/>
                <a:ea typeface="+mn-ea"/>
                <a:cs typeface="+mn-cs"/>
              </a:defRPr>
            </a:lvl2pPr>
            <a:lvl3pPr marL="914400" indent="0">
              <a:buNone/>
              <a:defRPr sz="2000"/>
            </a:lvl3pPr>
            <a:lvl4pPr>
              <a:defRPr sz="1800"/>
            </a:lvl4pPr>
            <a:lvl5pPr>
              <a:defRPr sz="1800"/>
            </a:lvl5pPr>
          </a:lstStyle>
          <a:p>
            <a:pPr lvl="0"/>
            <a:r>
              <a:rPr lang="en-GB"/>
              <a:t>Click to edit Master text styles</a:t>
            </a:r>
          </a:p>
          <a:p>
            <a:pPr lvl="1"/>
            <a:r>
              <a:rPr lang="en-GB"/>
              <a:t>Second level</a:t>
            </a:r>
          </a:p>
        </p:txBody>
      </p:sp>
      <p:sp>
        <p:nvSpPr>
          <p:cNvPr id="3" name="Text Placeholder 2">
            <a:extLst>
              <a:ext uri="{FF2B5EF4-FFF2-40B4-BE49-F238E27FC236}">
                <a16:creationId xmlns:a16="http://schemas.microsoft.com/office/drawing/2014/main" id="{5D6F6873-5066-9CBE-31A3-8947B94AA3C6}"/>
              </a:ext>
            </a:extLst>
          </p:cNvPr>
          <p:cNvSpPr>
            <a:spLocks noGrp="1"/>
          </p:cNvSpPr>
          <p:nvPr>
            <p:ph type="body" idx="1"/>
          </p:nvPr>
        </p:nvSpPr>
        <p:spPr>
          <a:xfrm>
            <a:off x="413992" y="1313892"/>
            <a:ext cx="5635673" cy="825626"/>
          </a:xfrm>
        </p:spPr>
        <p:txBody>
          <a:bodyPr anchor="ctr">
            <a:noAutofit/>
          </a:bodyPr>
          <a:lstStyle>
            <a:lvl1pPr marL="0" indent="0">
              <a:buNone/>
              <a:defRPr sz="36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5" name="Text Placeholder 4">
            <a:extLst>
              <a:ext uri="{FF2B5EF4-FFF2-40B4-BE49-F238E27FC236}">
                <a16:creationId xmlns:a16="http://schemas.microsoft.com/office/drawing/2014/main" id="{3818A2E8-94EF-3974-C0EC-C97DD5650D8A}"/>
              </a:ext>
            </a:extLst>
          </p:cNvPr>
          <p:cNvSpPr>
            <a:spLocks noGrp="1"/>
          </p:cNvSpPr>
          <p:nvPr>
            <p:ph type="body" sz="quarter" idx="3"/>
          </p:nvPr>
        </p:nvSpPr>
        <p:spPr>
          <a:xfrm>
            <a:off x="6232125" y="1313892"/>
            <a:ext cx="5626795" cy="825626"/>
          </a:xfrm>
        </p:spPr>
        <p:txBody>
          <a:bodyPr anchor="ctr">
            <a:noAutofit/>
          </a:bodyPr>
          <a:lstStyle>
            <a:lvl1pPr marL="0" indent="0">
              <a:buNone/>
              <a:defRPr sz="36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pic>
        <p:nvPicPr>
          <p:cNvPr id="18" name="Picture 17" descr="A black line with a pointy face&#10;&#10;Description automatically generated with medium confidence">
            <a:extLst>
              <a:ext uri="{FF2B5EF4-FFF2-40B4-BE49-F238E27FC236}">
                <a16:creationId xmlns:a16="http://schemas.microsoft.com/office/drawing/2014/main" id="{71F6B3FE-228E-A800-6AF6-E4388756599A}"/>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9" name="Title 1">
            <a:extLst>
              <a:ext uri="{FF2B5EF4-FFF2-40B4-BE49-F238E27FC236}">
                <a16:creationId xmlns:a16="http://schemas.microsoft.com/office/drawing/2014/main" id="{41280ABC-EFFB-3E34-0F02-FE8B134DEA1C}"/>
              </a:ext>
            </a:extLst>
          </p:cNvPr>
          <p:cNvSpPr>
            <a:spLocks noGrp="1"/>
          </p:cNvSpPr>
          <p:nvPr>
            <p:ph type="title"/>
          </p:nvPr>
        </p:nvSpPr>
        <p:spPr>
          <a:xfrm>
            <a:off x="413992" y="198671"/>
            <a:ext cx="11444927"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27086599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41A4115-2704-1EF9-388A-425081E5470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descr="A black line with a pointy face&#10;&#10;Description automatically generated with medium confidence">
            <a:extLst>
              <a:ext uri="{FF2B5EF4-FFF2-40B4-BE49-F238E27FC236}">
                <a16:creationId xmlns:a16="http://schemas.microsoft.com/office/drawing/2014/main" id="{A6CEE2C1-575B-AC39-905A-F03B14DEAF1E}"/>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2" name="Title 1">
            <a:extLst>
              <a:ext uri="{FF2B5EF4-FFF2-40B4-BE49-F238E27FC236}">
                <a16:creationId xmlns:a16="http://schemas.microsoft.com/office/drawing/2014/main" id="{44DE5943-EE5E-C183-E7D2-83A09533C4E0}"/>
              </a:ext>
            </a:extLst>
          </p:cNvPr>
          <p:cNvSpPr>
            <a:spLocks noGrp="1"/>
          </p:cNvSpPr>
          <p:nvPr>
            <p:ph type="title"/>
          </p:nvPr>
        </p:nvSpPr>
        <p:spPr>
          <a:xfrm>
            <a:off x="413993" y="198671"/>
            <a:ext cx="11455452"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38363396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with Logo">
    <p:spTree>
      <p:nvGrpSpPr>
        <p:cNvPr id="1" name=""/>
        <p:cNvGrpSpPr/>
        <p:nvPr/>
      </p:nvGrpSpPr>
      <p:grpSpPr>
        <a:xfrm>
          <a:off x="0" y="0"/>
          <a:ext cx="0" cy="0"/>
          <a:chOff x="0" y="0"/>
          <a:chExt cx="0" cy="0"/>
        </a:xfrm>
      </p:grpSpPr>
      <p:pic>
        <p:nvPicPr>
          <p:cNvPr id="8" name="Picture 7" descr="A black line with a pointy face&#10;&#10;Description automatically generated with medium confidence">
            <a:extLst>
              <a:ext uri="{FF2B5EF4-FFF2-40B4-BE49-F238E27FC236}">
                <a16:creationId xmlns:a16="http://schemas.microsoft.com/office/drawing/2014/main" id="{43D123E1-2520-9FE4-B3F5-4770893FC891}"/>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Tree>
    <p:extLst>
      <p:ext uri="{BB962C8B-B14F-4D97-AF65-F5344CB8AC3E}">
        <p14:creationId xmlns:p14="http://schemas.microsoft.com/office/powerpoint/2010/main" val="716321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without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44742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pyright">
    <p:spTree>
      <p:nvGrpSpPr>
        <p:cNvPr id="1" name=""/>
        <p:cNvGrpSpPr/>
        <p:nvPr/>
      </p:nvGrpSpPr>
      <p:grpSpPr>
        <a:xfrm>
          <a:off x="0" y="0"/>
          <a:ext cx="0" cy="0"/>
          <a:chOff x="0" y="0"/>
          <a:chExt cx="0" cy="0"/>
        </a:xfrm>
      </p:grpSpPr>
      <p:pic>
        <p:nvPicPr>
          <p:cNvPr id="3" name="Picture 2" descr="A close-up of a document&#10;&#10;Description automatically generated">
            <a:extLst>
              <a:ext uri="{FF2B5EF4-FFF2-40B4-BE49-F238E27FC236}">
                <a16:creationId xmlns:a16="http://schemas.microsoft.com/office/drawing/2014/main" id="{041E3DC7-C04A-F8E9-4E3A-E29356158978}"/>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8301"/>
          <a:stretch/>
        </p:blipFill>
        <p:spPr>
          <a:xfrm>
            <a:off x="0" y="1255058"/>
            <a:ext cx="12192000" cy="5602941"/>
          </a:xfrm>
          <a:prstGeom prst="rect">
            <a:avLst/>
          </a:prstGeom>
        </p:spPr>
      </p:pic>
      <p:sp>
        <p:nvSpPr>
          <p:cNvPr id="5" name="Text Placeholder 4">
            <a:extLst>
              <a:ext uri="{FF2B5EF4-FFF2-40B4-BE49-F238E27FC236}">
                <a16:creationId xmlns:a16="http://schemas.microsoft.com/office/drawing/2014/main" id="{F0B0DCFE-B0FF-4E6E-A7D3-D647C7B06B1C}"/>
              </a:ext>
            </a:extLst>
          </p:cNvPr>
          <p:cNvSpPr>
            <a:spLocks noGrp="1"/>
          </p:cNvSpPr>
          <p:nvPr>
            <p:ph type="body" sz="quarter" idx="10"/>
          </p:nvPr>
        </p:nvSpPr>
        <p:spPr>
          <a:xfrm>
            <a:off x="1259541" y="5969934"/>
            <a:ext cx="9672918" cy="574675"/>
          </a:xfrm>
        </p:spPr>
        <p:txBody>
          <a:bodyPr>
            <a:normAutofit/>
          </a:bodyPr>
          <a:lstStyle>
            <a:lvl1pPr marL="0" indent="0" algn="ctr">
              <a:buNone/>
              <a:defRPr sz="2800">
                <a:solidFill>
                  <a:srgbClr val="C00000"/>
                </a:solidFill>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GB"/>
              <a:t>Click to edit Master text styles</a:t>
            </a:r>
          </a:p>
        </p:txBody>
      </p:sp>
      <p:sp>
        <p:nvSpPr>
          <p:cNvPr id="6" name="Rectangle 8">
            <a:extLst>
              <a:ext uri="{FF2B5EF4-FFF2-40B4-BE49-F238E27FC236}">
                <a16:creationId xmlns:a16="http://schemas.microsoft.com/office/drawing/2014/main" id="{5795545D-231C-FDCB-8BDA-55C729529025}"/>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1">
            <a:extLst>
              <a:ext uri="{FF2B5EF4-FFF2-40B4-BE49-F238E27FC236}">
                <a16:creationId xmlns:a16="http://schemas.microsoft.com/office/drawing/2014/main" id="{D17830B5-81EF-08EE-0D51-086C891343B1}"/>
              </a:ext>
            </a:extLst>
          </p:cNvPr>
          <p:cNvSpPr>
            <a:spLocks noGrp="1"/>
          </p:cNvSpPr>
          <p:nvPr>
            <p:ph type="title"/>
          </p:nvPr>
        </p:nvSpPr>
        <p:spPr>
          <a:xfrm>
            <a:off x="413993" y="198671"/>
            <a:ext cx="10515600"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7884506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E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916DFD2-1DEA-8D22-4791-DE55801F9A2B}"/>
              </a:ext>
            </a:extLst>
          </p:cNvPr>
          <p:cNvSpPr>
            <a:spLocks noGrp="1"/>
          </p:cNvSpPr>
          <p:nvPr>
            <p:ph type="title"/>
          </p:nvPr>
        </p:nvSpPr>
        <p:spPr>
          <a:xfrm>
            <a:off x="413993" y="136525"/>
            <a:ext cx="10515600" cy="763571"/>
          </a:xfrm>
          <a:prstGeom prst="rect">
            <a:avLst/>
          </a:prstGeom>
        </p:spPr>
        <p:txBody>
          <a:bodyPr vert="horz" lIns="91440" tIns="45720" rIns="91440" bIns="45720" rtlCol="0" anchor="ctr">
            <a:no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CDDF7BB-0A96-D666-6992-98AEF317A714}"/>
              </a:ext>
            </a:extLst>
          </p:cNvPr>
          <p:cNvSpPr>
            <a:spLocks noGrp="1"/>
          </p:cNvSpPr>
          <p:nvPr>
            <p:ph type="body" idx="1"/>
          </p:nvPr>
        </p:nvSpPr>
        <p:spPr>
          <a:xfrm>
            <a:off x="413992" y="1313895"/>
            <a:ext cx="11444927" cy="4952736"/>
          </a:xfrm>
          <a:prstGeom prst="rect">
            <a:avLst/>
          </a:prstGeom>
        </p:spPr>
        <p:txBody>
          <a:bodyPr vert="horz" lIns="91440" tIns="45720" rIns="91440" bIns="45720" rtlCol="0">
            <a:normAutofit/>
          </a:bodyPr>
          <a:lstStyle/>
          <a:p>
            <a:pPr lvl="0"/>
            <a:r>
              <a:rPr lang="en-GB" dirty="0"/>
              <a:t>Click to edit Master text styles</a:t>
            </a:r>
          </a:p>
          <a:p>
            <a:pPr marL="685800" lvl="1" indent="-228600" algn="l" defTabSz="914400" rtl="0" eaLnBrk="1" latinLnBrk="0" hangingPunct="1">
              <a:lnSpc>
                <a:spcPct val="90000"/>
              </a:lnSpc>
              <a:spcBef>
                <a:spcPts val="500"/>
              </a:spcBef>
              <a:spcAft>
                <a:spcPts val="1800"/>
              </a:spcAft>
              <a:buClr>
                <a:srgbClr val="C00000"/>
              </a:buClr>
              <a:buSzPct val="115000"/>
              <a:buFont typeface="Arial" panose="020B0604020202020204" pitchFamily="34" charset="0"/>
              <a:buChar char="•"/>
            </a:pPr>
            <a:r>
              <a:rPr lang="en-GB" dirty="0"/>
              <a:t>Second level</a:t>
            </a:r>
          </a:p>
        </p:txBody>
      </p:sp>
      <p:sp>
        <p:nvSpPr>
          <p:cNvPr id="4" name="TextBox 3">
            <a:extLst>
              <a:ext uri="{FF2B5EF4-FFF2-40B4-BE49-F238E27FC236}">
                <a16:creationId xmlns:a16="http://schemas.microsoft.com/office/drawing/2014/main" id="{AD94F074-8FD9-0C27-50BF-7632BF6FFAB0}"/>
              </a:ext>
            </a:extLst>
          </p:cNvPr>
          <p:cNvSpPr txBox="1"/>
          <p:nvPr userDrawn="1"/>
        </p:nvSpPr>
        <p:spPr>
          <a:xfrm rot="16200000">
            <a:off x="11757747" y="6208302"/>
            <a:ext cx="1083951" cy="215444"/>
          </a:xfrm>
          <a:prstGeom prst="rect">
            <a:avLst/>
          </a:prstGeom>
          <a:noFill/>
        </p:spPr>
        <p:txBody>
          <a:bodyPr wrap="none" rtlCol="0">
            <a:spAutoFit/>
          </a:bodyPr>
          <a:lstStyle/>
          <a:p>
            <a:r>
              <a:rPr lang="en-GB" sz="800" dirty="0">
                <a:solidFill>
                  <a:schemeClr val="bg2"/>
                </a:solidFill>
              </a:rPr>
              <a:t>© Nichola Wilkin Ltd</a:t>
            </a:r>
          </a:p>
        </p:txBody>
      </p:sp>
    </p:spTree>
    <p:extLst>
      <p:ext uri="{BB962C8B-B14F-4D97-AF65-F5344CB8AC3E}">
        <p14:creationId xmlns:p14="http://schemas.microsoft.com/office/powerpoint/2010/main" val="3666903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62" r:id="rId4"/>
    <p:sldLayoutId id="2147483663" r:id="rId5"/>
    <p:sldLayoutId id="2147483665" r:id="rId6"/>
    <p:sldLayoutId id="2147483652" r:id="rId7"/>
    <p:sldLayoutId id="2147483653" r:id="rId8"/>
    <p:sldLayoutId id="2147483654" r:id="rId9"/>
    <p:sldLayoutId id="2147483655" r:id="rId10"/>
    <p:sldLayoutId id="2147483656" r:id="rId11"/>
    <p:sldLayoutId id="2147483657" r:id="rId12"/>
  </p:sldLayoutIdLst>
  <p:txStyles>
    <p:titleStyle>
      <a:lvl1pPr algn="l" defTabSz="914400" rtl="0" eaLnBrk="1" latinLnBrk="0" hangingPunct="1">
        <a:lnSpc>
          <a:spcPct val="90000"/>
        </a:lnSpc>
        <a:spcBef>
          <a:spcPct val="0"/>
        </a:spcBef>
        <a:buNone/>
        <a:defRPr sz="4800" b="1" kern="1200">
          <a:solidFill>
            <a:srgbClr val="002570"/>
          </a:solidFill>
          <a:latin typeface="OpenDyslexicAlta" panose="00000500000000000000" pitchFamily="50" charset="0"/>
          <a:ea typeface="+mj-ea"/>
          <a:cs typeface="+mj-cs"/>
        </a:defRPr>
      </a:lvl1pPr>
    </p:titleStyle>
    <p:bodyStyle>
      <a:lvl1pPr marL="0" indent="0" algn="l" defTabSz="914400" rtl="0" eaLnBrk="1" latinLnBrk="0" hangingPunct="1">
        <a:lnSpc>
          <a:spcPct val="90000"/>
        </a:lnSpc>
        <a:spcBef>
          <a:spcPts val="1000"/>
        </a:spcBef>
        <a:spcAft>
          <a:spcPts val="1800"/>
        </a:spcAft>
        <a:buFont typeface="Arial" panose="020B0604020202020204" pitchFamily="34" charset="0"/>
        <a:buNone/>
        <a:defRPr sz="3600" kern="1200">
          <a:solidFill>
            <a:srgbClr val="002570"/>
          </a:solidFill>
          <a:latin typeface="OpenDyslexicAlta" panose="00000500000000000000" pitchFamily="50" charset="0"/>
          <a:ea typeface="+mn-ea"/>
          <a:cs typeface="+mn-cs"/>
        </a:defRPr>
      </a:lvl1pPr>
      <a:lvl2pPr marL="685800" indent="-228600" algn="l" defTabSz="914400" rtl="0" eaLnBrk="1" latinLnBrk="0" hangingPunct="1">
        <a:lnSpc>
          <a:spcPct val="90000"/>
        </a:lnSpc>
        <a:spcBef>
          <a:spcPts val="500"/>
        </a:spcBef>
        <a:spcAft>
          <a:spcPts val="1800"/>
        </a:spcAft>
        <a:buFont typeface="Arial" panose="020B0604020202020204" pitchFamily="34" charset="0"/>
        <a:buChar char="•"/>
        <a:defRPr lang="en-GB" sz="3200" kern="1200" dirty="0">
          <a:solidFill>
            <a:srgbClr val="002570"/>
          </a:solidFill>
          <a:latin typeface="OpenDyslexicAlta" panose="00000500000000000000" pitchFamily="50" charset="0"/>
          <a:ea typeface="+mn-ea"/>
          <a:cs typeface="+mn-cs"/>
        </a:defRPr>
      </a:lvl2pPr>
      <a:lvl3pPr marL="1143000" indent="-228600" algn="l" defTabSz="914400" rtl="0" eaLnBrk="1" latinLnBrk="0" hangingPunct="1">
        <a:lnSpc>
          <a:spcPct val="90000"/>
        </a:lnSpc>
        <a:spcBef>
          <a:spcPts val="500"/>
        </a:spcBef>
        <a:spcAft>
          <a:spcPts val="1800"/>
        </a:spcAft>
        <a:buFont typeface="Arial" panose="020B0604020202020204" pitchFamily="34" charset="0"/>
        <a:buChar char="•"/>
        <a:defRPr sz="2800" kern="1200">
          <a:solidFill>
            <a:srgbClr val="002570"/>
          </a:solidFill>
          <a:latin typeface="OpenDyslexicAlta" panose="00000500000000000000" pitchFamily="50" charset="0"/>
          <a:ea typeface="+mn-ea"/>
          <a:cs typeface="+mn-cs"/>
        </a:defRPr>
      </a:lvl3pPr>
      <a:lvl4pPr marL="1600200" indent="-228600" algn="l" defTabSz="914400" rtl="0" eaLnBrk="1" latinLnBrk="0" hangingPunct="1">
        <a:lnSpc>
          <a:spcPct val="90000"/>
        </a:lnSpc>
        <a:spcBef>
          <a:spcPts val="500"/>
        </a:spcBef>
        <a:spcAft>
          <a:spcPts val="1800"/>
        </a:spcAft>
        <a:buFont typeface="Arial" panose="020B0604020202020204" pitchFamily="34" charset="0"/>
        <a:buChar char="•"/>
        <a:defRPr sz="2400" kern="1200">
          <a:solidFill>
            <a:srgbClr val="002570"/>
          </a:solidFill>
          <a:latin typeface="OpenDyslexicAlta" panose="00000500000000000000" pitchFamily="50" charset="0"/>
          <a:ea typeface="+mn-ea"/>
          <a:cs typeface="+mn-cs"/>
        </a:defRPr>
      </a:lvl4pPr>
      <a:lvl5pPr marL="2057400" indent="-228600" algn="l" defTabSz="914400" rtl="0" eaLnBrk="1" latinLnBrk="0" hangingPunct="1">
        <a:lnSpc>
          <a:spcPct val="90000"/>
        </a:lnSpc>
        <a:spcBef>
          <a:spcPts val="500"/>
        </a:spcBef>
        <a:spcAft>
          <a:spcPts val="1800"/>
        </a:spcAft>
        <a:buFont typeface="Arial" panose="020B0604020202020204" pitchFamily="34" charset="0"/>
        <a:buChar char="•"/>
        <a:defRPr sz="2400" kern="1200">
          <a:solidFill>
            <a:srgbClr val="002570"/>
          </a:solidFill>
          <a:latin typeface="OpenDyslexicAlta" panose="00000500000000000000"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22" userDrawn="1">
          <p15:clr>
            <a:srgbClr val="F26B43"/>
          </p15:clr>
        </p15:guide>
        <p15:guide id="2" pos="1186"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checkmypassword.com.au/" TargetMode="Externa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6" Type="http://schemas.openxmlformats.org/officeDocument/2006/relationships/image" Target="../media/image24.png"/><Relationship Id="rId1" Type="http://schemas.openxmlformats.org/officeDocument/2006/relationships/slideLayout" Target="../slideLayouts/slideLayout6.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s/_rels/slide4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6" Type="http://schemas.openxmlformats.org/officeDocument/2006/relationships/image" Target="../media/image24.png"/><Relationship Id="rId1" Type="http://schemas.openxmlformats.org/officeDocument/2006/relationships/slideLayout" Target="../slideLayouts/slideLayout6.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s/_rels/slide4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6"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nicholawilkin.com/terms"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3D02A-A8CC-C0F9-0C46-A78F2D96F58E}"/>
              </a:ext>
            </a:extLst>
          </p:cNvPr>
          <p:cNvSpPr>
            <a:spLocks noGrp="1"/>
          </p:cNvSpPr>
          <p:nvPr>
            <p:ph type="title"/>
          </p:nvPr>
        </p:nvSpPr>
        <p:spPr/>
        <p:txBody>
          <a:bodyPr/>
          <a:lstStyle/>
          <a:p>
            <a:r>
              <a:rPr lang="en-GB" noProof="0" dirty="0"/>
              <a:t>Important note for teachers</a:t>
            </a:r>
          </a:p>
        </p:txBody>
      </p:sp>
      <p:sp>
        <p:nvSpPr>
          <p:cNvPr id="3" name="Content Placeholder 2">
            <a:extLst>
              <a:ext uri="{FF2B5EF4-FFF2-40B4-BE49-F238E27FC236}">
                <a16:creationId xmlns:a16="http://schemas.microsoft.com/office/drawing/2014/main" id="{E260A4FE-0454-E4EE-F697-61F40229BF9E}"/>
              </a:ext>
            </a:extLst>
          </p:cNvPr>
          <p:cNvSpPr>
            <a:spLocks noGrp="1"/>
          </p:cNvSpPr>
          <p:nvPr>
            <p:ph idx="1"/>
          </p:nvPr>
        </p:nvSpPr>
        <p:spPr>
          <a:xfrm>
            <a:off x="413993" y="1313895"/>
            <a:ext cx="6396382" cy="4952736"/>
          </a:xfrm>
        </p:spPr>
        <p:txBody>
          <a:bodyPr>
            <a:normAutofit/>
          </a:bodyPr>
          <a:lstStyle/>
          <a:p>
            <a:r>
              <a:rPr lang="en-GB" noProof="0" dirty="0"/>
              <a:t>Make sure you have the </a:t>
            </a:r>
            <a:r>
              <a:rPr lang="en-GB" b="1" noProof="0" dirty="0">
                <a:solidFill>
                  <a:srgbClr val="C00000"/>
                </a:solidFill>
              </a:rPr>
              <a:t>Account Holder Login Cards </a:t>
            </a:r>
            <a:r>
              <a:rPr lang="en-GB" noProof="0" dirty="0"/>
              <a:t>ready and prepared before the lesson and you know how to run the two-factor authentication activity starting on </a:t>
            </a:r>
            <a:r>
              <a:rPr lang="en-GB" b="1" noProof="0" dirty="0">
                <a:solidFill>
                  <a:srgbClr val="C00000"/>
                </a:solidFill>
              </a:rPr>
              <a:t>slide 32</a:t>
            </a:r>
            <a:r>
              <a:rPr lang="en-GB" noProof="0" dirty="0"/>
              <a:t>. </a:t>
            </a:r>
          </a:p>
          <a:p>
            <a:endParaRPr lang="en-GB" noProof="0" dirty="0"/>
          </a:p>
        </p:txBody>
      </p:sp>
      <p:pic>
        <p:nvPicPr>
          <p:cNvPr id="5" name="Picture 4">
            <a:extLst>
              <a:ext uri="{FF2B5EF4-FFF2-40B4-BE49-F238E27FC236}">
                <a16:creationId xmlns:a16="http://schemas.microsoft.com/office/drawing/2014/main" id="{EA0D2CC2-BDC6-C68D-7DD7-88F7AAFB4C69}"/>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56596" y="580456"/>
            <a:ext cx="5735404" cy="5735404"/>
          </a:xfrm>
          <a:prstGeom prst="rect">
            <a:avLst/>
          </a:prstGeom>
        </p:spPr>
      </p:pic>
    </p:spTree>
    <p:extLst>
      <p:ext uri="{BB962C8B-B14F-4D97-AF65-F5344CB8AC3E}">
        <p14:creationId xmlns:p14="http://schemas.microsoft.com/office/powerpoint/2010/main" val="33472651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184CF-D39A-F54C-E3BD-2F32E4670282}"/>
              </a:ext>
            </a:extLst>
          </p:cNvPr>
          <p:cNvSpPr>
            <a:spLocks noGrp="1"/>
          </p:cNvSpPr>
          <p:nvPr>
            <p:ph type="ctrTitle"/>
          </p:nvPr>
        </p:nvSpPr>
        <p:spPr/>
        <p:txBody>
          <a:bodyPr/>
          <a:lstStyle/>
          <a:p>
            <a:r>
              <a:rPr lang="en-GB" noProof="0" dirty="0"/>
              <a:t>Defence mechanisms</a:t>
            </a:r>
          </a:p>
        </p:txBody>
      </p:sp>
      <p:sp>
        <p:nvSpPr>
          <p:cNvPr id="3" name="Subtitle 2">
            <a:extLst>
              <a:ext uri="{FF2B5EF4-FFF2-40B4-BE49-F238E27FC236}">
                <a16:creationId xmlns:a16="http://schemas.microsoft.com/office/drawing/2014/main" id="{F4C41960-3132-52E1-575A-55A2633DED4E}"/>
              </a:ext>
            </a:extLst>
          </p:cNvPr>
          <p:cNvSpPr>
            <a:spLocks noGrp="1"/>
          </p:cNvSpPr>
          <p:nvPr>
            <p:ph type="subTitle" idx="1"/>
          </p:nvPr>
        </p:nvSpPr>
        <p:spPr/>
        <p:txBody>
          <a:bodyPr/>
          <a:lstStyle/>
          <a:p>
            <a:r>
              <a:rPr lang="en-GB" b="1" noProof="0" dirty="0"/>
              <a:t>Unit: </a:t>
            </a:r>
            <a:r>
              <a:rPr lang="en-GB" noProof="0" dirty="0"/>
              <a:t>Cyber threats</a:t>
            </a:r>
          </a:p>
        </p:txBody>
      </p:sp>
    </p:spTree>
    <p:extLst>
      <p:ext uri="{BB962C8B-B14F-4D97-AF65-F5344CB8AC3E}">
        <p14:creationId xmlns:p14="http://schemas.microsoft.com/office/powerpoint/2010/main" val="42038955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02ABF-1189-622D-C67C-DBF8F48DC098}"/>
              </a:ext>
            </a:extLst>
          </p:cNvPr>
          <p:cNvSpPr>
            <a:spLocks noGrp="1"/>
          </p:cNvSpPr>
          <p:nvPr>
            <p:ph type="title"/>
          </p:nvPr>
        </p:nvSpPr>
        <p:spPr/>
        <p:txBody>
          <a:bodyPr/>
          <a:lstStyle/>
          <a:p>
            <a:r>
              <a:rPr lang="en-GB" noProof="0" dirty="0"/>
              <a:t>Objective</a:t>
            </a:r>
          </a:p>
        </p:txBody>
      </p:sp>
      <p:sp>
        <p:nvSpPr>
          <p:cNvPr id="3" name="Content Placeholder 2">
            <a:extLst>
              <a:ext uri="{FF2B5EF4-FFF2-40B4-BE49-F238E27FC236}">
                <a16:creationId xmlns:a16="http://schemas.microsoft.com/office/drawing/2014/main" id="{F40FE6D7-DD69-1D13-4F3D-238FFCA5BFEC}"/>
              </a:ext>
            </a:extLst>
          </p:cNvPr>
          <p:cNvSpPr>
            <a:spLocks noGrp="1"/>
          </p:cNvSpPr>
          <p:nvPr>
            <p:ph idx="1"/>
          </p:nvPr>
        </p:nvSpPr>
        <p:spPr/>
        <p:txBody>
          <a:bodyPr>
            <a:normAutofit fontScale="77500" lnSpcReduction="20000"/>
          </a:bodyPr>
          <a:lstStyle/>
          <a:p>
            <a:pPr marL="0" indent="0">
              <a:lnSpc>
                <a:spcPct val="150000"/>
              </a:lnSpc>
              <a:buNone/>
            </a:pPr>
            <a:r>
              <a:rPr lang="en-GB" sz="3600" noProof="0" dirty="0"/>
              <a:t>I can explain how defence mechanisms protect against cyber threats.</a:t>
            </a:r>
          </a:p>
        </p:txBody>
      </p:sp>
    </p:spTree>
    <p:extLst>
      <p:ext uri="{BB962C8B-B14F-4D97-AF65-F5344CB8AC3E}">
        <p14:creationId xmlns:p14="http://schemas.microsoft.com/office/powerpoint/2010/main" val="6238977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A397C-D2E3-ADCC-840E-27A33C78D114}"/>
              </a:ext>
            </a:extLst>
          </p:cNvPr>
          <p:cNvSpPr>
            <a:spLocks noGrp="1"/>
          </p:cNvSpPr>
          <p:nvPr>
            <p:ph type="title"/>
          </p:nvPr>
        </p:nvSpPr>
        <p:spPr/>
        <p:txBody>
          <a:bodyPr/>
          <a:lstStyle/>
          <a:p>
            <a:r>
              <a:rPr lang="en-GB" noProof="0" dirty="0"/>
              <a:t>Keywords</a:t>
            </a:r>
          </a:p>
        </p:txBody>
      </p:sp>
      <p:sp>
        <p:nvSpPr>
          <p:cNvPr id="4" name="Content Placeholder 25">
            <a:extLst>
              <a:ext uri="{FF2B5EF4-FFF2-40B4-BE49-F238E27FC236}">
                <a16:creationId xmlns:a16="http://schemas.microsoft.com/office/drawing/2014/main" id="{57726DDD-8611-BC33-219F-E0BFEE4A07EF}"/>
              </a:ext>
            </a:extLst>
          </p:cNvPr>
          <p:cNvSpPr txBox="1">
            <a:spLocks/>
          </p:cNvSpPr>
          <p:nvPr/>
        </p:nvSpPr>
        <p:spPr>
          <a:xfrm>
            <a:off x="413992" y="1535773"/>
            <a:ext cx="11444927" cy="476168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spcAft>
                <a:spcPts val="1800"/>
              </a:spcAft>
              <a:buFont typeface="Arial" panose="020B0604020202020204" pitchFamily="34" charset="0"/>
              <a:buChar char="•"/>
              <a:defRPr sz="3600" kern="1200">
                <a:solidFill>
                  <a:srgbClr val="002570"/>
                </a:solidFill>
                <a:latin typeface="OpenDyslexicAlta" panose="00000500000000000000" pitchFamily="50" charset="0"/>
                <a:ea typeface="+mn-ea"/>
                <a:cs typeface="+mn-cs"/>
              </a:defRPr>
            </a:lvl1pPr>
            <a:lvl2pPr marL="685800" indent="-228600" algn="l" defTabSz="914400" rtl="0" eaLnBrk="1" latinLnBrk="0" hangingPunct="1">
              <a:lnSpc>
                <a:spcPct val="90000"/>
              </a:lnSpc>
              <a:spcBef>
                <a:spcPts val="500"/>
              </a:spcBef>
              <a:spcAft>
                <a:spcPts val="1800"/>
              </a:spcAft>
              <a:buFont typeface="Arial" panose="020B0604020202020204" pitchFamily="34" charset="0"/>
              <a:buChar char="•"/>
              <a:defRPr sz="3200" kern="1200">
                <a:solidFill>
                  <a:srgbClr val="002570"/>
                </a:solidFill>
                <a:latin typeface="OpenDyslexicAlta" panose="00000500000000000000" pitchFamily="50" charset="0"/>
                <a:ea typeface="+mn-ea"/>
                <a:cs typeface="+mn-cs"/>
              </a:defRPr>
            </a:lvl2pPr>
            <a:lvl3pPr marL="1143000" indent="-228600" algn="l" defTabSz="914400" rtl="0" eaLnBrk="1" latinLnBrk="0" hangingPunct="1">
              <a:lnSpc>
                <a:spcPct val="90000"/>
              </a:lnSpc>
              <a:spcBef>
                <a:spcPts val="500"/>
              </a:spcBef>
              <a:spcAft>
                <a:spcPts val="1800"/>
              </a:spcAft>
              <a:buFont typeface="Arial" panose="020B0604020202020204" pitchFamily="34" charset="0"/>
              <a:buChar char="•"/>
              <a:defRPr sz="2800" kern="1200">
                <a:solidFill>
                  <a:srgbClr val="002570"/>
                </a:solidFill>
                <a:latin typeface="OpenDyslexicAlta" panose="00000500000000000000" pitchFamily="50" charset="0"/>
                <a:ea typeface="+mn-ea"/>
                <a:cs typeface="+mn-cs"/>
              </a:defRPr>
            </a:lvl3pPr>
            <a:lvl4pPr marL="1600200" indent="-228600" algn="l" defTabSz="914400" rtl="0" eaLnBrk="1" latinLnBrk="0" hangingPunct="1">
              <a:lnSpc>
                <a:spcPct val="90000"/>
              </a:lnSpc>
              <a:spcBef>
                <a:spcPts val="500"/>
              </a:spcBef>
              <a:spcAft>
                <a:spcPts val="1800"/>
              </a:spcAft>
              <a:buFont typeface="Arial" panose="020B0604020202020204" pitchFamily="34" charset="0"/>
              <a:buChar char="•"/>
              <a:defRPr sz="2400" kern="1200">
                <a:solidFill>
                  <a:srgbClr val="002570"/>
                </a:solidFill>
                <a:latin typeface="OpenDyslexicAlta" panose="00000500000000000000" pitchFamily="50" charset="0"/>
                <a:ea typeface="+mn-ea"/>
                <a:cs typeface="+mn-cs"/>
              </a:defRPr>
            </a:lvl4pPr>
            <a:lvl5pPr marL="2057400" indent="-228600" algn="l" defTabSz="914400" rtl="0" eaLnBrk="1" latinLnBrk="0" hangingPunct="1">
              <a:lnSpc>
                <a:spcPct val="90000"/>
              </a:lnSpc>
              <a:spcBef>
                <a:spcPts val="500"/>
              </a:spcBef>
              <a:spcAft>
                <a:spcPts val="1800"/>
              </a:spcAft>
              <a:buFont typeface="Arial" panose="020B0604020202020204" pitchFamily="34" charset="0"/>
              <a:buChar char="•"/>
              <a:defRPr sz="2400" kern="1200">
                <a:solidFill>
                  <a:srgbClr val="002570"/>
                </a:solidFill>
                <a:latin typeface="OpenDyslexicAlta" panose="00000500000000000000"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600"/>
              </a:spcAft>
              <a:buNone/>
            </a:pPr>
            <a:r>
              <a:rPr lang="en-GB" sz="2800" noProof="0" dirty="0"/>
              <a:t>Using a </a:t>
            </a:r>
            <a:r>
              <a:rPr lang="en-GB" sz="2800" b="1" noProof="0" dirty="0">
                <a:solidFill>
                  <a:srgbClr val="C00000"/>
                </a:solidFill>
              </a:rPr>
              <a:t>firewall</a:t>
            </a:r>
            <a:r>
              <a:rPr lang="en-GB" sz="2800" noProof="0" dirty="0"/>
              <a:t> helps to block unauthorised access, acting like a security guard for your computer network.</a:t>
            </a:r>
          </a:p>
          <a:p>
            <a:pPr marL="0" indent="0">
              <a:spcAft>
                <a:spcPts val="600"/>
              </a:spcAft>
              <a:buNone/>
            </a:pPr>
            <a:r>
              <a:rPr lang="en-GB" sz="2800" b="1" noProof="0" dirty="0">
                <a:solidFill>
                  <a:srgbClr val="C00000"/>
                </a:solidFill>
              </a:rPr>
              <a:t>Antivirus</a:t>
            </a:r>
            <a:r>
              <a:rPr lang="en-GB" sz="2800" noProof="0" dirty="0"/>
              <a:t> software scans files and programmes, searching for harmful code that could damage or steal information.</a:t>
            </a:r>
          </a:p>
          <a:p>
            <a:pPr marL="0" indent="0">
              <a:spcAft>
                <a:spcPts val="600"/>
              </a:spcAft>
              <a:buNone/>
            </a:pPr>
            <a:r>
              <a:rPr lang="en-GB" sz="2800" noProof="0" dirty="0"/>
              <a:t>Strong </a:t>
            </a:r>
            <a:r>
              <a:rPr lang="en-GB" sz="2800" b="1" noProof="0" dirty="0">
                <a:solidFill>
                  <a:srgbClr val="C00000"/>
                </a:solidFill>
              </a:rPr>
              <a:t>passwords</a:t>
            </a:r>
            <a:r>
              <a:rPr lang="en-GB" sz="2800" noProof="0" dirty="0"/>
              <a:t> combine letters, numbers and symbols, making it much harder for hackers to guess or crack them.</a:t>
            </a:r>
          </a:p>
          <a:p>
            <a:pPr marL="0" indent="0">
              <a:spcAft>
                <a:spcPts val="600"/>
              </a:spcAft>
              <a:buNone/>
            </a:pPr>
            <a:r>
              <a:rPr lang="en-GB" sz="2800" b="1" noProof="0" dirty="0">
                <a:solidFill>
                  <a:srgbClr val="C00000"/>
                </a:solidFill>
              </a:rPr>
              <a:t>Two-factor authentication </a:t>
            </a:r>
            <a:r>
              <a:rPr lang="en-GB" sz="2800" noProof="0" dirty="0"/>
              <a:t>adds an extra step to logging in, so even if someone knows your password, they still need another piece of information to get in.</a:t>
            </a:r>
          </a:p>
        </p:txBody>
      </p:sp>
    </p:spTree>
    <p:extLst>
      <p:ext uri="{BB962C8B-B14F-4D97-AF65-F5344CB8AC3E}">
        <p14:creationId xmlns:p14="http://schemas.microsoft.com/office/powerpoint/2010/main" val="314898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586AD-244C-8AC1-86E7-3D084F4401D8}"/>
              </a:ext>
            </a:extLst>
          </p:cNvPr>
          <p:cNvSpPr>
            <a:spLocks noGrp="1"/>
          </p:cNvSpPr>
          <p:nvPr>
            <p:ph type="title"/>
          </p:nvPr>
        </p:nvSpPr>
        <p:spPr/>
        <p:txBody>
          <a:bodyPr/>
          <a:lstStyle/>
          <a:p>
            <a:r>
              <a:rPr lang="en-GB" noProof="0" dirty="0"/>
              <a:t>What do you already know?</a:t>
            </a:r>
          </a:p>
        </p:txBody>
      </p:sp>
      <p:sp>
        <p:nvSpPr>
          <p:cNvPr id="3" name="Content Placeholder 2">
            <a:extLst>
              <a:ext uri="{FF2B5EF4-FFF2-40B4-BE49-F238E27FC236}">
                <a16:creationId xmlns:a16="http://schemas.microsoft.com/office/drawing/2014/main" id="{F0FC761F-680C-8008-5001-6739C23BF339}"/>
              </a:ext>
            </a:extLst>
          </p:cNvPr>
          <p:cNvSpPr>
            <a:spLocks noGrp="1"/>
          </p:cNvSpPr>
          <p:nvPr>
            <p:ph idx="1"/>
          </p:nvPr>
        </p:nvSpPr>
        <p:spPr/>
        <p:txBody>
          <a:bodyPr>
            <a:normAutofit fontScale="92500"/>
          </a:bodyPr>
          <a:lstStyle/>
          <a:p>
            <a:r>
              <a:rPr lang="en-GB" noProof="0" dirty="0"/>
              <a:t>Computers and networks can be targeted by cyber threats such as viruses and hackers.</a:t>
            </a:r>
          </a:p>
          <a:p>
            <a:r>
              <a:rPr lang="en-GB" noProof="0" dirty="0"/>
              <a:t>Passwords are used to protect accounts and personal information online.</a:t>
            </a:r>
          </a:p>
          <a:p>
            <a:r>
              <a:rPr lang="en-GB" noProof="0" dirty="0"/>
              <a:t>Personal data needs to be kept safe from unauthorised access.</a:t>
            </a:r>
          </a:p>
          <a:p>
            <a:r>
              <a:rPr lang="en-GB" noProof="0" dirty="0"/>
              <a:t>There are different types of software, including programmes designed to protect devices.</a:t>
            </a:r>
          </a:p>
        </p:txBody>
      </p:sp>
    </p:spTree>
    <p:extLst>
      <p:ext uri="{BB962C8B-B14F-4D97-AF65-F5344CB8AC3E}">
        <p14:creationId xmlns:p14="http://schemas.microsoft.com/office/powerpoint/2010/main" val="375996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3B66E799-D9B4-A6C8-BAFB-22007923A781}"/>
              </a:ext>
            </a:extLst>
          </p:cNvPr>
          <p:cNvSpPr/>
          <p:nvPr/>
        </p:nvSpPr>
        <p:spPr>
          <a:xfrm>
            <a:off x="413992" y="1428750"/>
            <a:ext cx="11364016" cy="763571"/>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Title 1">
            <a:extLst>
              <a:ext uri="{FF2B5EF4-FFF2-40B4-BE49-F238E27FC236}">
                <a16:creationId xmlns:a16="http://schemas.microsoft.com/office/drawing/2014/main" id="{80CD4A36-A530-71B9-E5F7-5307B39D6DC4}"/>
              </a:ext>
            </a:extLst>
          </p:cNvPr>
          <p:cNvSpPr>
            <a:spLocks noGrp="1"/>
          </p:cNvSpPr>
          <p:nvPr>
            <p:ph type="title"/>
          </p:nvPr>
        </p:nvSpPr>
        <p:spPr/>
        <p:txBody>
          <a:bodyPr/>
          <a:lstStyle/>
          <a:p>
            <a:r>
              <a:rPr lang="en-GB" noProof="0" dirty="0"/>
              <a:t>Steps to success</a:t>
            </a:r>
          </a:p>
        </p:txBody>
      </p:sp>
      <p:sp>
        <p:nvSpPr>
          <p:cNvPr id="3" name="Content Placeholder 2">
            <a:extLst>
              <a:ext uri="{FF2B5EF4-FFF2-40B4-BE49-F238E27FC236}">
                <a16:creationId xmlns:a16="http://schemas.microsoft.com/office/drawing/2014/main" id="{5CEDC0B2-9F40-1C8A-C33B-787DDB6DCEC4}"/>
              </a:ext>
            </a:extLst>
          </p:cNvPr>
          <p:cNvSpPr>
            <a:spLocks noGrp="1"/>
          </p:cNvSpPr>
          <p:nvPr>
            <p:ph idx="1"/>
          </p:nvPr>
        </p:nvSpPr>
        <p:spPr>
          <a:xfrm>
            <a:off x="413992" y="1581149"/>
            <a:ext cx="10749308" cy="4685481"/>
          </a:xfrm>
        </p:spPr>
        <p:txBody>
          <a:bodyPr/>
          <a:lstStyle/>
          <a:p>
            <a:pPr marL="809625" indent="-723900">
              <a:buClr>
                <a:srgbClr val="C00000"/>
              </a:buClr>
              <a:buSzPct val="107000"/>
              <a:buFont typeface="+mj-lt"/>
              <a:buAutoNum type="arabicPeriod"/>
            </a:pPr>
            <a:r>
              <a:rPr lang="en-GB" sz="3600" noProof="0" dirty="0"/>
              <a:t>Firewalls</a:t>
            </a:r>
          </a:p>
          <a:p>
            <a:pPr marL="809625" indent="-723900">
              <a:buClr>
                <a:srgbClr val="C00000"/>
              </a:buClr>
              <a:buSzPct val="107000"/>
              <a:buFont typeface="+mj-lt"/>
              <a:buAutoNum type="arabicPeriod"/>
            </a:pPr>
            <a:r>
              <a:rPr lang="en-GB" sz="3600" noProof="0" dirty="0"/>
              <a:t>Antivirus software</a:t>
            </a:r>
          </a:p>
          <a:p>
            <a:pPr marL="809625" indent="-723900">
              <a:buClr>
                <a:srgbClr val="C00000"/>
              </a:buClr>
              <a:buSzPct val="107000"/>
              <a:buFont typeface="+mj-lt"/>
              <a:buAutoNum type="arabicPeriod"/>
            </a:pPr>
            <a:r>
              <a:rPr lang="en-GB" sz="3600" noProof="0" dirty="0"/>
              <a:t>Passwords</a:t>
            </a:r>
          </a:p>
          <a:p>
            <a:pPr marL="809625" indent="-723900">
              <a:buClr>
                <a:srgbClr val="C00000"/>
              </a:buClr>
              <a:buSzPct val="107000"/>
              <a:buFont typeface="+mj-lt"/>
              <a:buAutoNum type="arabicPeriod"/>
            </a:pPr>
            <a:r>
              <a:rPr lang="en-GB" sz="3600" noProof="0" dirty="0"/>
              <a:t>Two-factor authentication</a:t>
            </a:r>
          </a:p>
          <a:p>
            <a:pPr marL="809625" indent="-723900">
              <a:buClr>
                <a:srgbClr val="C00000"/>
              </a:buClr>
              <a:buSzPct val="107000"/>
              <a:buFont typeface="+mj-lt"/>
              <a:buAutoNum type="arabicPeriod"/>
            </a:pPr>
            <a:r>
              <a:rPr lang="en-GB" sz="3600" noProof="0" dirty="0"/>
              <a:t>Encryption</a:t>
            </a:r>
            <a:endParaRPr lang="en-GB" noProof="0" dirty="0"/>
          </a:p>
        </p:txBody>
      </p:sp>
    </p:spTree>
    <p:extLst>
      <p:ext uri="{BB962C8B-B14F-4D97-AF65-F5344CB8AC3E}">
        <p14:creationId xmlns:p14="http://schemas.microsoft.com/office/powerpoint/2010/main" val="3434938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C15442-47A6-8269-B2FC-CDAB290F753D}"/>
              </a:ext>
            </a:extLst>
          </p:cNvPr>
          <p:cNvSpPr>
            <a:spLocks noGrp="1"/>
          </p:cNvSpPr>
          <p:nvPr>
            <p:ph idx="1"/>
          </p:nvPr>
        </p:nvSpPr>
        <p:spPr/>
        <p:txBody>
          <a:bodyPr>
            <a:normAutofit fontScale="92500" lnSpcReduction="20000"/>
          </a:bodyPr>
          <a:lstStyle/>
          <a:p>
            <a:r>
              <a:rPr lang="en-GB" noProof="0" dirty="0"/>
              <a:t>Work in pairs. </a:t>
            </a:r>
          </a:p>
          <a:p>
            <a:r>
              <a:rPr lang="en-GB" noProof="0" dirty="0"/>
              <a:t>Read the ten different things trying to enter your computer.</a:t>
            </a:r>
          </a:p>
          <a:p>
            <a:r>
              <a:rPr lang="en-GB" noProof="0" dirty="0"/>
              <a:t>For each one, discuss together:</a:t>
            </a:r>
          </a:p>
          <a:p>
            <a:pPr marL="893763" indent="-441325"/>
            <a:r>
              <a:rPr lang="en-GB" noProof="0" dirty="0"/>
              <a:t>a) Should you let it in or block it?</a:t>
            </a:r>
          </a:p>
          <a:p>
            <a:pPr marL="893763" indent="-441325"/>
            <a:r>
              <a:rPr lang="en-GB" noProof="0" dirty="0"/>
              <a:t>b) Why did you make that choice?</a:t>
            </a:r>
          </a:p>
          <a:p>
            <a:r>
              <a:rPr lang="en-GB" noProof="0" dirty="0"/>
              <a:t>Be ready to share your decisions and reasons with the class.</a:t>
            </a:r>
          </a:p>
        </p:txBody>
      </p:sp>
      <p:sp>
        <p:nvSpPr>
          <p:cNvPr id="2" name="Title 1">
            <a:extLst>
              <a:ext uri="{FF2B5EF4-FFF2-40B4-BE49-F238E27FC236}">
                <a16:creationId xmlns:a16="http://schemas.microsoft.com/office/drawing/2014/main" id="{93F4EDDF-DA3A-23EB-AF41-ED5529DB04E8}"/>
              </a:ext>
            </a:extLst>
          </p:cNvPr>
          <p:cNvSpPr>
            <a:spLocks noGrp="1"/>
          </p:cNvSpPr>
          <p:nvPr>
            <p:ph type="title"/>
          </p:nvPr>
        </p:nvSpPr>
        <p:spPr/>
        <p:txBody>
          <a:bodyPr/>
          <a:lstStyle/>
          <a:p>
            <a:r>
              <a:rPr lang="en-GB" sz="4400" noProof="0" dirty="0"/>
              <a:t>Firewalls</a:t>
            </a:r>
          </a:p>
        </p:txBody>
      </p:sp>
    </p:spTree>
    <p:extLst>
      <p:ext uri="{BB962C8B-B14F-4D97-AF65-F5344CB8AC3E}">
        <p14:creationId xmlns:p14="http://schemas.microsoft.com/office/powerpoint/2010/main" val="2892186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8045E-589E-0976-D8B7-B4472809C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BC01421-51FB-6C09-DADA-FC30ACCE1B51}"/>
              </a:ext>
            </a:extLst>
          </p:cNvPr>
          <p:cNvSpPr>
            <a:spLocks noGrp="1"/>
          </p:cNvSpPr>
          <p:nvPr>
            <p:ph idx="1"/>
          </p:nvPr>
        </p:nvSpPr>
        <p:spPr/>
        <p:txBody>
          <a:bodyPr>
            <a:normAutofit fontScale="85000" lnSpcReduction="20000"/>
          </a:bodyPr>
          <a:lstStyle/>
          <a:p>
            <a:pPr marL="742950" indent="-742950">
              <a:spcAft>
                <a:spcPts val="600"/>
              </a:spcAft>
              <a:buFont typeface="+mj-lt"/>
              <a:buAutoNum type="arabicPeriod"/>
            </a:pPr>
            <a:r>
              <a:rPr lang="en-GB" b="1" noProof="0" dirty="0"/>
              <a:t>A friend sending you a homework file</a:t>
            </a:r>
          </a:p>
          <a:p>
            <a:pPr>
              <a:spcAft>
                <a:spcPts val="600"/>
              </a:spcAft>
            </a:pPr>
            <a:r>
              <a:rPr lang="en-GB" b="1" noProof="0" dirty="0">
                <a:solidFill>
                  <a:srgbClr val="C00000"/>
                </a:solidFill>
              </a:rPr>
              <a:t>Let in </a:t>
            </a:r>
            <a:r>
              <a:rPr lang="en-GB" noProof="0" dirty="0"/>
              <a:t>– If you trust the friend and the file type is safe, this is usually fine. However, always check for viruses just in case.</a:t>
            </a:r>
          </a:p>
          <a:p>
            <a:pPr marL="742950" indent="-742950">
              <a:spcAft>
                <a:spcPts val="600"/>
              </a:spcAft>
              <a:buFont typeface="+mj-lt"/>
              <a:buAutoNum type="arabicPeriod" startAt="2"/>
            </a:pPr>
            <a:r>
              <a:rPr lang="en-GB" b="1" noProof="0" dirty="0"/>
              <a:t>An email attachment from an unknown sender</a:t>
            </a:r>
          </a:p>
          <a:p>
            <a:pPr>
              <a:spcAft>
                <a:spcPts val="600"/>
              </a:spcAft>
            </a:pPr>
            <a:r>
              <a:rPr lang="en-GB" b="1" noProof="0" dirty="0">
                <a:solidFill>
                  <a:srgbClr val="C00000"/>
                </a:solidFill>
              </a:rPr>
              <a:t>Block</a:t>
            </a:r>
            <a:r>
              <a:rPr lang="en-GB" noProof="0" dirty="0"/>
              <a:t> – Attachments from unknown sources could contain viruses or malware. The firewall should block this.</a:t>
            </a:r>
          </a:p>
          <a:p>
            <a:pPr marL="742950" indent="-742950">
              <a:spcAft>
                <a:spcPts val="600"/>
              </a:spcAft>
              <a:buFont typeface="+mj-lt"/>
              <a:buAutoNum type="arabicPeriod" startAt="3"/>
            </a:pPr>
            <a:r>
              <a:rPr lang="en-GB" b="1" noProof="0" dirty="0"/>
              <a:t>A pop-up ad offering a free game download</a:t>
            </a:r>
          </a:p>
          <a:p>
            <a:pPr>
              <a:spcAft>
                <a:spcPts val="600"/>
              </a:spcAft>
            </a:pPr>
            <a:r>
              <a:rPr lang="en-GB" b="1" noProof="0" dirty="0">
                <a:solidFill>
                  <a:srgbClr val="C00000"/>
                </a:solidFill>
              </a:rPr>
              <a:t>Block</a:t>
            </a:r>
            <a:r>
              <a:rPr lang="en-GB" noProof="0" dirty="0"/>
              <a:t> – Pop-ups can be risky and often lead to malware or scams. The firewall should block this.</a:t>
            </a:r>
          </a:p>
        </p:txBody>
      </p:sp>
      <p:sp>
        <p:nvSpPr>
          <p:cNvPr id="4" name="Title 3">
            <a:extLst>
              <a:ext uri="{FF2B5EF4-FFF2-40B4-BE49-F238E27FC236}">
                <a16:creationId xmlns:a16="http://schemas.microsoft.com/office/drawing/2014/main" id="{E2BD6178-7D4D-D8D1-840A-2E0682D3C453}"/>
              </a:ext>
            </a:extLst>
          </p:cNvPr>
          <p:cNvSpPr>
            <a:spLocks noGrp="1"/>
          </p:cNvSpPr>
          <p:nvPr>
            <p:ph type="title"/>
          </p:nvPr>
        </p:nvSpPr>
        <p:spPr/>
        <p:txBody>
          <a:bodyPr/>
          <a:lstStyle/>
          <a:p>
            <a:r>
              <a:rPr lang="en-GB" noProof="0" dirty="0"/>
              <a:t>Firewall </a:t>
            </a:r>
            <a:r>
              <a:rPr lang="en-GB" noProof="0" dirty="0">
                <a:solidFill>
                  <a:srgbClr val="C00000"/>
                </a:solidFill>
              </a:rPr>
              <a:t>ANSWERS</a:t>
            </a:r>
          </a:p>
        </p:txBody>
      </p:sp>
    </p:spTree>
    <p:extLst>
      <p:ext uri="{BB962C8B-B14F-4D97-AF65-F5344CB8AC3E}">
        <p14:creationId xmlns:p14="http://schemas.microsoft.com/office/powerpoint/2010/main" val="3439000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A8ABB-1F93-5CC1-905B-3BA74B82649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98B8240-0532-5F42-C3B7-D9D72BC44B6A}"/>
              </a:ext>
            </a:extLst>
          </p:cNvPr>
          <p:cNvSpPr>
            <a:spLocks noGrp="1"/>
          </p:cNvSpPr>
          <p:nvPr>
            <p:ph idx="1"/>
          </p:nvPr>
        </p:nvSpPr>
        <p:spPr/>
        <p:txBody>
          <a:bodyPr>
            <a:normAutofit fontScale="92500" lnSpcReduction="20000"/>
          </a:bodyPr>
          <a:lstStyle/>
          <a:p>
            <a:pPr marL="742950" indent="-742950">
              <a:spcAft>
                <a:spcPts val="600"/>
              </a:spcAft>
              <a:buFont typeface="+mj-lt"/>
              <a:buAutoNum type="arabicPeriod" startAt="4"/>
            </a:pPr>
            <a:r>
              <a:rPr lang="en-GB" sz="2800" b="1" noProof="0" dirty="0"/>
              <a:t>A software update from your device’s manufacturer</a:t>
            </a:r>
          </a:p>
          <a:p>
            <a:pPr>
              <a:spcAft>
                <a:spcPts val="600"/>
              </a:spcAft>
            </a:pPr>
            <a:r>
              <a:rPr lang="en-GB" sz="3200" b="1" noProof="0" dirty="0">
                <a:solidFill>
                  <a:srgbClr val="C00000"/>
                </a:solidFill>
              </a:rPr>
              <a:t>Let in </a:t>
            </a:r>
            <a:r>
              <a:rPr lang="en-GB" sz="2800" noProof="0" dirty="0"/>
              <a:t>– Updates from trusted companies (such as Microsoft or Apple) are important for security. The firewall should allow these.</a:t>
            </a:r>
          </a:p>
          <a:p>
            <a:pPr marL="742950" indent="-742950">
              <a:spcAft>
                <a:spcPts val="600"/>
              </a:spcAft>
              <a:buFont typeface="+mj-lt"/>
              <a:buAutoNum type="arabicPeriod" startAt="5"/>
            </a:pPr>
            <a:r>
              <a:rPr lang="en-GB" sz="2800" b="1" noProof="0" dirty="0"/>
              <a:t>Your teacher sharing a resource via Google Drive</a:t>
            </a:r>
          </a:p>
          <a:p>
            <a:pPr>
              <a:spcAft>
                <a:spcPts val="600"/>
              </a:spcAft>
            </a:pPr>
            <a:r>
              <a:rPr lang="en-GB" sz="3200" b="1" noProof="0" dirty="0">
                <a:solidFill>
                  <a:srgbClr val="C00000"/>
                </a:solidFill>
              </a:rPr>
              <a:t>Let in </a:t>
            </a:r>
            <a:r>
              <a:rPr lang="en-GB" sz="2800" noProof="0" dirty="0"/>
              <a:t>– If you know the teacher and are expecting the file, this is safe. Still, be cautious with any unexpected files.</a:t>
            </a:r>
          </a:p>
          <a:p>
            <a:pPr marL="742950" indent="-742950">
              <a:spcAft>
                <a:spcPts val="600"/>
              </a:spcAft>
              <a:buFont typeface="+mj-lt"/>
              <a:buAutoNum type="arabicPeriod" startAt="6"/>
            </a:pPr>
            <a:r>
              <a:rPr lang="en-GB" sz="2800" b="1" noProof="0" dirty="0"/>
              <a:t>A message from your bank asking you to click a link and log in</a:t>
            </a:r>
          </a:p>
          <a:p>
            <a:pPr>
              <a:spcAft>
                <a:spcPts val="600"/>
              </a:spcAft>
            </a:pPr>
            <a:r>
              <a:rPr lang="en-GB" sz="3200" b="1" noProof="0" dirty="0">
                <a:solidFill>
                  <a:srgbClr val="C00000"/>
                </a:solidFill>
              </a:rPr>
              <a:t>Block</a:t>
            </a:r>
            <a:r>
              <a:rPr lang="en-GB" sz="2800" noProof="0" dirty="0"/>
              <a:t> – Official banks rarely ask you to log in using links in emails. This could be a phishing attempt. The firewall should block suspicious links.</a:t>
            </a:r>
          </a:p>
        </p:txBody>
      </p:sp>
      <p:sp>
        <p:nvSpPr>
          <p:cNvPr id="4" name="Title 3">
            <a:extLst>
              <a:ext uri="{FF2B5EF4-FFF2-40B4-BE49-F238E27FC236}">
                <a16:creationId xmlns:a16="http://schemas.microsoft.com/office/drawing/2014/main" id="{ABC2695A-E23A-7CC8-1BA8-E92F7A32573B}"/>
              </a:ext>
            </a:extLst>
          </p:cNvPr>
          <p:cNvSpPr>
            <a:spLocks noGrp="1"/>
          </p:cNvSpPr>
          <p:nvPr>
            <p:ph type="title"/>
          </p:nvPr>
        </p:nvSpPr>
        <p:spPr/>
        <p:txBody>
          <a:bodyPr/>
          <a:lstStyle/>
          <a:p>
            <a:r>
              <a:rPr lang="en-GB" noProof="0" dirty="0"/>
              <a:t>Firewall </a:t>
            </a:r>
            <a:r>
              <a:rPr lang="en-GB" noProof="0" dirty="0">
                <a:solidFill>
                  <a:srgbClr val="C00000"/>
                </a:solidFill>
              </a:rPr>
              <a:t>ANSWERS</a:t>
            </a:r>
          </a:p>
        </p:txBody>
      </p:sp>
    </p:spTree>
    <p:extLst>
      <p:ext uri="{BB962C8B-B14F-4D97-AF65-F5344CB8AC3E}">
        <p14:creationId xmlns:p14="http://schemas.microsoft.com/office/powerpoint/2010/main" val="3789904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A7D91-0DCE-8114-2543-9F8D9311C8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1B33031-B308-0D48-2DB3-B13D349D2EFC}"/>
              </a:ext>
            </a:extLst>
          </p:cNvPr>
          <p:cNvSpPr>
            <a:spLocks noGrp="1"/>
          </p:cNvSpPr>
          <p:nvPr>
            <p:ph idx="1"/>
          </p:nvPr>
        </p:nvSpPr>
        <p:spPr/>
        <p:txBody>
          <a:bodyPr>
            <a:normAutofit fontScale="92500" lnSpcReduction="10000"/>
          </a:bodyPr>
          <a:lstStyle/>
          <a:p>
            <a:pPr marL="742950" indent="-742950">
              <a:spcAft>
                <a:spcPts val="600"/>
              </a:spcAft>
              <a:buFont typeface="+mj-lt"/>
              <a:buAutoNum type="arabicPeriod" startAt="7"/>
            </a:pPr>
            <a:r>
              <a:rPr lang="en-GB" b="1" noProof="0" dirty="0"/>
              <a:t>An online quiz website asking for your school email and password</a:t>
            </a:r>
          </a:p>
          <a:p>
            <a:pPr>
              <a:spcAft>
                <a:spcPts val="600"/>
              </a:spcAft>
            </a:pPr>
            <a:r>
              <a:rPr lang="en-GB" sz="3400" b="1" noProof="0" dirty="0">
                <a:solidFill>
                  <a:srgbClr val="C00000"/>
                </a:solidFill>
              </a:rPr>
              <a:t>Block</a:t>
            </a:r>
            <a:r>
              <a:rPr lang="en-GB" noProof="0" dirty="0"/>
              <a:t> – Never share your password with websites that do not need it. The firewall should block sites asking for unnecessary personal information.</a:t>
            </a:r>
          </a:p>
          <a:p>
            <a:pPr marL="742950" indent="-742950">
              <a:spcAft>
                <a:spcPts val="600"/>
              </a:spcAft>
              <a:buFont typeface="+mj-lt"/>
              <a:buAutoNum type="arabicPeriod" startAt="8"/>
            </a:pPr>
            <a:r>
              <a:rPr lang="en-GB" b="1" noProof="0" dirty="0"/>
              <a:t>A new app asking for permission to access all your photos</a:t>
            </a:r>
          </a:p>
          <a:p>
            <a:pPr>
              <a:spcAft>
                <a:spcPts val="600"/>
              </a:spcAft>
            </a:pPr>
            <a:r>
              <a:rPr lang="en-GB" sz="3400" b="1" noProof="0" dirty="0">
                <a:solidFill>
                  <a:srgbClr val="C00000"/>
                </a:solidFill>
              </a:rPr>
              <a:t>Block or review carefully </a:t>
            </a:r>
            <a:r>
              <a:rPr lang="en-GB" noProof="0" dirty="0"/>
              <a:t>– The firewall may flag this as suspicious. Only allow access if you trust the app and it needs access for a valid reason.</a:t>
            </a:r>
          </a:p>
        </p:txBody>
      </p:sp>
      <p:sp>
        <p:nvSpPr>
          <p:cNvPr id="4" name="Title 3">
            <a:extLst>
              <a:ext uri="{FF2B5EF4-FFF2-40B4-BE49-F238E27FC236}">
                <a16:creationId xmlns:a16="http://schemas.microsoft.com/office/drawing/2014/main" id="{EF14DF6B-AD45-EA70-157A-8605ECE4D011}"/>
              </a:ext>
            </a:extLst>
          </p:cNvPr>
          <p:cNvSpPr>
            <a:spLocks noGrp="1"/>
          </p:cNvSpPr>
          <p:nvPr>
            <p:ph type="title"/>
          </p:nvPr>
        </p:nvSpPr>
        <p:spPr/>
        <p:txBody>
          <a:bodyPr/>
          <a:lstStyle/>
          <a:p>
            <a:r>
              <a:rPr lang="en-GB" noProof="0" dirty="0"/>
              <a:t>Firewall </a:t>
            </a:r>
            <a:r>
              <a:rPr lang="en-GB" noProof="0" dirty="0">
                <a:solidFill>
                  <a:srgbClr val="C00000"/>
                </a:solidFill>
              </a:rPr>
              <a:t>ANSWERS</a:t>
            </a:r>
          </a:p>
        </p:txBody>
      </p:sp>
    </p:spTree>
    <p:extLst>
      <p:ext uri="{BB962C8B-B14F-4D97-AF65-F5344CB8AC3E}">
        <p14:creationId xmlns:p14="http://schemas.microsoft.com/office/powerpoint/2010/main" val="499705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42C10-888B-D7FF-FD71-A3876753DBF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B153A0-3A7B-9448-2CB3-BBF6B4B282A6}"/>
              </a:ext>
            </a:extLst>
          </p:cNvPr>
          <p:cNvSpPr>
            <a:spLocks noGrp="1"/>
          </p:cNvSpPr>
          <p:nvPr>
            <p:ph idx="1"/>
          </p:nvPr>
        </p:nvSpPr>
        <p:spPr/>
        <p:txBody>
          <a:bodyPr>
            <a:normAutofit fontScale="92500" lnSpcReduction="10000"/>
          </a:bodyPr>
          <a:lstStyle/>
          <a:p>
            <a:pPr marL="742950" indent="-742950">
              <a:spcAft>
                <a:spcPts val="600"/>
              </a:spcAft>
              <a:buFont typeface="+mj-lt"/>
              <a:buAutoNum type="arabicPeriod" startAt="9"/>
            </a:pPr>
            <a:r>
              <a:rPr lang="en-GB" b="1" noProof="0" dirty="0"/>
              <a:t>A system alert from your computer’s security software</a:t>
            </a:r>
          </a:p>
          <a:p>
            <a:pPr>
              <a:spcAft>
                <a:spcPts val="600"/>
              </a:spcAft>
            </a:pPr>
            <a:r>
              <a:rPr lang="en-GB" sz="3400" b="1" noProof="0" dirty="0">
                <a:solidFill>
                  <a:srgbClr val="C00000"/>
                </a:solidFill>
              </a:rPr>
              <a:t>Let in </a:t>
            </a:r>
            <a:r>
              <a:rPr lang="en-GB" noProof="0" dirty="0"/>
              <a:t>– Security software alerts are meant to keep you safe. The firewall should allow these notifications.</a:t>
            </a:r>
          </a:p>
          <a:p>
            <a:pPr marL="742950" indent="-742950">
              <a:spcAft>
                <a:spcPts val="600"/>
              </a:spcAft>
              <a:buFont typeface="+mj-lt"/>
              <a:buAutoNum type="arabicPeriod" startAt="10"/>
            </a:pPr>
            <a:r>
              <a:rPr lang="en-GB" b="1" noProof="0" dirty="0"/>
              <a:t>A file from a classmate you have never spoken to before</a:t>
            </a:r>
          </a:p>
          <a:p>
            <a:pPr>
              <a:spcAft>
                <a:spcPts val="600"/>
              </a:spcAft>
            </a:pPr>
            <a:r>
              <a:rPr lang="en-GB" sz="3400" b="1" noProof="0" dirty="0">
                <a:solidFill>
                  <a:srgbClr val="C00000"/>
                </a:solidFill>
              </a:rPr>
              <a:t>Block or check carefully </a:t>
            </a:r>
            <a:r>
              <a:rPr lang="en-GB" noProof="0" dirty="0"/>
              <a:t>– If you do not know the sender, it’s safer to block or scan the file before opening.</a:t>
            </a:r>
          </a:p>
          <a:p>
            <a:pPr>
              <a:spcAft>
                <a:spcPts val="600"/>
              </a:spcAft>
            </a:pPr>
            <a:endParaRPr lang="en-GB" noProof="0" dirty="0"/>
          </a:p>
        </p:txBody>
      </p:sp>
      <p:sp>
        <p:nvSpPr>
          <p:cNvPr id="4" name="Title 3">
            <a:extLst>
              <a:ext uri="{FF2B5EF4-FFF2-40B4-BE49-F238E27FC236}">
                <a16:creationId xmlns:a16="http://schemas.microsoft.com/office/drawing/2014/main" id="{19EDB067-C445-D8B3-51DA-5A26FB098A68}"/>
              </a:ext>
            </a:extLst>
          </p:cNvPr>
          <p:cNvSpPr>
            <a:spLocks noGrp="1"/>
          </p:cNvSpPr>
          <p:nvPr>
            <p:ph type="title"/>
          </p:nvPr>
        </p:nvSpPr>
        <p:spPr/>
        <p:txBody>
          <a:bodyPr/>
          <a:lstStyle/>
          <a:p>
            <a:r>
              <a:rPr lang="en-GB" noProof="0" dirty="0"/>
              <a:t>Firewall </a:t>
            </a:r>
            <a:r>
              <a:rPr lang="en-GB" noProof="0" dirty="0">
                <a:solidFill>
                  <a:srgbClr val="C00000"/>
                </a:solidFill>
              </a:rPr>
              <a:t>ANSWERS</a:t>
            </a:r>
          </a:p>
        </p:txBody>
      </p:sp>
    </p:spTree>
    <p:extLst>
      <p:ext uri="{BB962C8B-B14F-4D97-AF65-F5344CB8AC3E}">
        <p14:creationId xmlns:p14="http://schemas.microsoft.com/office/powerpoint/2010/main" val="776323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4EDDF-DA3A-23EB-AF41-ED5529DB04E8}"/>
              </a:ext>
            </a:extLst>
          </p:cNvPr>
          <p:cNvSpPr>
            <a:spLocks noGrp="1"/>
          </p:cNvSpPr>
          <p:nvPr>
            <p:ph type="title"/>
          </p:nvPr>
        </p:nvSpPr>
        <p:spPr/>
        <p:txBody>
          <a:bodyPr/>
          <a:lstStyle/>
          <a:p>
            <a:r>
              <a:rPr lang="en-GB" noProof="0" dirty="0"/>
              <a:t>Firewalls</a:t>
            </a:r>
          </a:p>
        </p:txBody>
      </p:sp>
      <p:sp>
        <p:nvSpPr>
          <p:cNvPr id="3" name="Content Placeholder 2">
            <a:extLst>
              <a:ext uri="{FF2B5EF4-FFF2-40B4-BE49-F238E27FC236}">
                <a16:creationId xmlns:a16="http://schemas.microsoft.com/office/drawing/2014/main" id="{37C15442-47A6-8269-B2FC-CDAB290F753D}"/>
              </a:ext>
            </a:extLst>
          </p:cNvPr>
          <p:cNvSpPr>
            <a:spLocks noGrp="1"/>
          </p:cNvSpPr>
          <p:nvPr>
            <p:ph idx="1"/>
          </p:nvPr>
        </p:nvSpPr>
        <p:spPr/>
        <p:txBody>
          <a:bodyPr>
            <a:normAutofit fontScale="92500" lnSpcReduction="10000"/>
          </a:bodyPr>
          <a:lstStyle/>
          <a:p>
            <a:r>
              <a:rPr lang="en-GB" noProof="0" dirty="0"/>
              <a:t>A </a:t>
            </a:r>
            <a:r>
              <a:rPr lang="en-GB" b="1" noProof="0" dirty="0">
                <a:solidFill>
                  <a:srgbClr val="C00000"/>
                </a:solidFill>
              </a:rPr>
              <a:t>firewall</a:t>
            </a:r>
            <a:r>
              <a:rPr lang="en-GB" noProof="0" dirty="0"/>
              <a:t> is like a security guard for your computer or network.</a:t>
            </a:r>
          </a:p>
          <a:p>
            <a:r>
              <a:rPr lang="en-GB" noProof="0" dirty="0"/>
              <a:t>It decides which data is allowed to enter or leave your system, blocking anything suspicious.</a:t>
            </a:r>
          </a:p>
          <a:p>
            <a:r>
              <a:rPr lang="en-GB" noProof="0" dirty="0"/>
              <a:t>Firewalls help protect your device from hackers, viruses and other cyber threats.</a:t>
            </a:r>
          </a:p>
          <a:p>
            <a:r>
              <a:rPr lang="en-GB" noProof="0" dirty="0"/>
              <a:t>You can find firewalls in software (programmes on your computer) or hardware (physical devices connected to your network).</a:t>
            </a:r>
          </a:p>
        </p:txBody>
      </p:sp>
    </p:spTree>
    <p:extLst>
      <p:ext uri="{BB962C8B-B14F-4D97-AF65-F5344CB8AC3E}">
        <p14:creationId xmlns:p14="http://schemas.microsoft.com/office/powerpoint/2010/main" val="2973774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AF4E0-E334-3000-93C4-9EB3F2167A02}"/>
              </a:ext>
            </a:extLst>
          </p:cNvPr>
          <p:cNvSpPr>
            <a:spLocks noGrp="1"/>
          </p:cNvSpPr>
          <p:nvPr>
            <p:ph type="title"/>
          </p:nvPr>
        </p:nvSpPr>
        <p:spPr/>
        <p:txBody>
          <a:bodyPr/>
          <a:lstStyle/>
          <a:p>
            <a:r>
              <a:rPr lang="en-GB" noProof="0" dirty="0"/>
              <a:t>Firewalls</a:t>
            </a:r>
          </a:p>
        </p:txBody>
      </p:sp>
      <p:sp>
        <p:nvSpPr>
          <p:cNvPr id="3" name="Content Placeholder 2">
            <a:extLst>
              <a:ext uri="{FF2B5EF4-FFF2-40B4-BE49-F238E27FC236}">
                <a16:creationId xmlns:a16="http://schemas.microsoft.com/office/drawing/2014/main" id="{A8692C6E-26ED-6E8B-F10E-C69BE2AC323C}"/>
              </a:ext>
            </a:extLst>
          </p:cNvPr>
          <p:cNvSpPr>
            <a:spLocks noGrp="1"/>
          </p:cNvSpPr>
          <p:nvPr>
            <p:ph idx="1"/>
          </p:nvPr>
        </p:nvSpPr>
        <p:spPr/>
        <p:txBody>
          <a:bodyPr>
            <a:normAutofit fontScale="92500" lnSpcReduction="10000"/>
          </a:bodyPr>
          <a:lstStyle/>
          <a:p>
            <a:r>
              <a:rPr lang="en-GB" noProof="0" dirty="0"/>
              <a:t>Firewalls monitor all incoming and outgoing network traffic.</a:t>
            </a:r>
          </a:p>
          <a:p>
            <a:r>
              <a:rPr lang="en-GB" noProof="0" dirty="0"/>
              <a:t>They check each piece of data against a set of security rules.</a:t>
            </a:r>
          </a:p>
          <a:p>
            <a:r>
              <a:rPr lang="en-GB" noProof="0" dirty="0"/>
              <a:t>If the data looks safe, it is allowed through; if it looks dangerous or unknown, it gets blocked.</a:t>
            </a:r>
          </a:p>
          <a:p>
            <a:r>
              <a:rPr lang="en-GB" noProof="0" dirty="0"/>
              <a:t>This helps stop unwanted visitors such as hackers or malware from getting in and keeps your private information safe.</a:t>
            </a:r>
          </a:p>
        </p:txBody>
      </p:sp>
    </p:spTree>
    <p:extLst>
      <p:ext uri="{BB962C8B-B14F-4D97-AF65-F5344CB8AC3E}">
        <p14:creationId xmlns:p14="http://schemas.microsoft.com/office/powerpoint/2010/main" val="3153348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C3591-C6FF-DAA4-55C7-6525D1B13578}"/>
              </a:ext>
            </a:extLst>
          </p:cNvPr>
          <p:cNvSpPr>
            <a:spLocks noGrp="1"/>
          </p:cNvSpPr>
          <p:nvPr>
            <p:ph type="title"/>
          </p:nvPr>
        </p:nvSpPr>
        <p:spPr/>
        <p:txBody>
          <a:bodyPr/>
          <a:lstStyle/>
          <a:p>
            <a:r>
              <a:rPr lang="en-GB" noProof="0" dirty="0"/>
              <a:t>Firewalls</a:t>
            </a:r>
          </a:p>
        </p:txBody>
      </p:sp>
      <p:sp>
        <p:nvSpPr>
          <p:cNvPr id="5" name="Content Placeholder 4">
            <a:extLst>
              <a:ext uri="{FF2B5EF4-FFF2-40B4-BE49-F238E27FC236}">
                <a16:creationId xmlns:a16="http://schemas.microsoft.com/office/drawing/2014/main" id="{EB5144B3-D838-343A-F78C-FA3BD703AC73}"/>
              </a:ext>
            </a:extLst>
          </p:cNvPr>
          <p:cNvSpPr>
            <a:spLocks noGrp="1"/>
          </p:cNvSpPr>
          <p:nvPr>
            <p:ph idx="1"/>
          </p:nvPr>
        </p:nvSpPr>
        <p:spPr/>
        <p:txBody>
          <a:bodyPr/>
          <a:lstStyle/>
          <a:p>
            <a:r>
              <a:rPr lang="en-GB" noProof="0" dirty="0"/>
              <a:t>For each of the following statements, decide if it is true or false. </a:t>
            </a:r>
          </a:p>
          <a:p>
            <a:r>
              <a:rPr lang="en-GB" noProof="0" dirty="0"/>
              <a:t>If it is true show a thumbs up. </a:t>
            </a:r>
          </a:p>
          <a:p>
            <a:r>
              <a:rPr lang="en-GB" noProof="0" dirty="0"/>
              <a:t>If it is false show a thumbs down.</a:t>
            </a:r>
          </a:p>
        </p:txBody>
      </p:sp>
      <p:pic>
        <p:nvPicPr>
          <p:cNvPr id="6" name="Picture 5" descr="Thumbs up">
            <a:extLst>
              <a:ext uri="{FF2B5EF4-FFF2-40B4-BE49-F238E27FC236}">
                <a16:creationId xmlns:a16="http://schemas.microsoft.com/office/drawing/2014/main" id="{93B7036F-3C80-F868-C417-0CB23A1238E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082406" y="2488090"/>
            <a:ext cx="561983" cy="753626"/>
          </a:xfrm>
          <a:prstGeom prst="rect">
            <a:avLst/>
          </a:prstGeom>
        </p:spPr>
      </p:pic>
      <p:pic>
        <p:nvPicPr>
          <p:cNvPr id="7" name="Picture 6" descr="Thumbs down">
            <a:extLst>
              <a:ext uri="{FF2B5EF4-FFF2-40B4-BE49-F238E27FC236}">
                <a16:creationId xmlns:a16="http://schemas.microsoft.com/office/drawing/2014/main" id="{2A1D257F-169B-3E5C-514C-31532300BC3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rot="10800000">
            <a:off x="9027862" y="3413450"/>
            <a:ext cx="561983" cy="753626"/>
          </a:xfrm>
          <a:prstGeom prst="rect">
            <a:avLst/>
          </a:prstGeom>
        </p:spPr>
      </p:pic>
    </p:spTree>
    <p:extLst>
      <p:ext uri="{BB962C8B-B14F-4D97-AF65-F5344CB8AC3E}">
        <p14:creationId xmlns:p14="http://schemas.microsoft.com/office/powerpoint/2010/main" val="160686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E0FF-5866-1BF9-8E62-036374DE42B6}"/>
              </a:ext>
            </a:extLst>
          </p:cNvPr>
          <p:cNvSpPr>
            <a:spLocks noGrp="1"/>
          </p:cNvSpPr>
          <p:nvPr>
            <p:ph type="title"/>
          </p:nvPr>
        </p:nvSpPr>
        <p:spPr/>
        <p:txBody>
          <a:bodyPr/>
          <a:lstStyle/>
          <a:p>
            <a:r>
              <a:rPr lang="en-GB" noProof="0" dirty="0"/>
              <a:t>Firewalls</a:t>
            </a:r>
          </a:p>
        </p:txBody>
      </p:sp>
      <p:sp>
        <p:nvSpPr>
          <p:cNvPr id="3" name="Content Placeholder 2">
            <a:extLst>
              <a:ext uri="{FF2B5EF4-FFF2-40B4-BE49-F238E27FC236}">
                <a16:creationId xmlns:a16="http://schemas.microsoft.com/office/drawing/2014/main" id="{D7731BE8-5717-211E-5188-EACA2542B4C1}"/>
              </a:ext>
            </a:extLst>
          </p:cNvPr>
          <p:cNvSpPr>
            <a:spLocks noGrp="1"/>
          </p:cNvSpPr>
          <p:nvPr>
            <p:ph idx="1"/>
          </p:nvPr>
        </p:nvSpPr>
        <p:spPr>
          <a:xfrm>
            <a:off x="413993" y="1313895"/>
            <a:ext cx="10558808" cy="4952736"/>
          </a:xfrm>
        </p:spPr>
        <p:txBody>
          <a:bodyPr>
            <a:noAutofit/>
          </a:bodyPr>
          <a:lstStyle/>
          <a:p>
            <a:pPr marL="457200" indent="-457200">
              <a:lnSpc>
                <a:spcPct val="70000"/>
              </a:lnSpc>
              <a:spcAft>
                <a:spcPts val="600"/>
              </a:spcAft>
              <a:buFont typeface="+mj-lt"/>
              <a:buAutoNum type="arabicPeriod"/>
            </a:pPr>
            <a:r>
              <a:rPr lang="en-GB" sz="2700" noProof="0" dirty="0"/>
              <a:t>A firewall checks information coming into and leaving your computer to decide if it is safe. </a:t>
            </a:r>
          </a:p>
          <a:p>
            <a:pPr marL="457200" indent="-457200">
              <a:lnSpc>
                <a:spcPct val="70000"/>
              </a:lnSpc>
              <a:spcAft>
                <a:spcPts val="600"/>
              </a:spcAft>
              <a:buFont typeface="+mj-lt"/>
              <a:buAutoNum type="arabicPeriod"/>
            </a:pPr>
            <a:r>
              <a:rPr lang="en-GB" sz="2700" noProof="0" dirty="0"/>
              <a:t>Firewalls always allow every programme and website to access your computer.</a:t>
            </a:r>
          </a:p>
          <a:p>
            <a:pPr marL="457200" indent="-457200">
              <a:lnSpc>
                <a:spcPct val="70000"/>
              </a:lnSpc>
              <a:spcAft>
                <a:spcPts val="600"/>
              </a:spcAft>
              <a:buFont typeface="+mj-lt"/>
              <a:buAutoNum type="arabicPeriod"/>
            </a:pPr>
            <a:r>
              <a:rPr lang="en-GB" sz="2700" noProof="0" dirty="0"/>
              <a:t>Both software and hardware firewalls exist to protect devices and networks.</a:t>
            </a:r>
          </a:p>
          <a:p>
            <a:pPr marL="457200" indent="-457200">
              <a:lnSpc>
                <a:spcPct val="70000"/>
              </a:lnSpc>
              <a:spcAft>
                <a:spcPts val="600"/>
              </a:spcAft>
              <a:buFont typeface="+mj-lt"/>
              <a:buAutoNum type="arabicPeriod"/>
            </a:pPr>
            <a:r>
              <a:rPr lang="en-GB" sz="2700" noProof="0" dirty="0"/>
              <a:t>Firewalls can help block hackers and viruses from getting into your system.</a:t>
            </a:r>
          </a:p>
          <a:p>
            <a:pPr marL="457200" indent="-457200">
              <a:lnSpc>
                <a:spcPct val="70000"/>
              </a:lnSpc>
              <a:spcAft>
                <a:spcPts val="600"/>
              </a:spcAft>
              <a:buFont typeface="+mj-lt"/>
              <a:buAutoNum type="arabicPeriod"/>
            </a:pPr>
            <a:r>
              <a:rPr lang="en-GB" sz="2700" noProof="0" dirty="0"/>
              <a:t>Once a firewall is set up, you never need to update or check it again.</a:t>
            </a:r>
          </a:p>
          <a:p>
            <a:pPr marL="457200" indent="-457200">
              <a:lnSpc>
                <a:spcPct val="70000"/>
              </a:lnSpc>
              <a:spcAft>
                <a:spcPts val="600"/>
              </a:spcAft>
              <a:buFont typeface="+mj-lt"/>
              <a:buAutoNum type="arabicPeriod"/>
            </a:pPr>
            <a:r>
              <a:rPr lang="en-GB" sz="2700" noProof="0" dirty="0"/>
              <a:t>Firewalls only work on school computers, not on home devices.</a:t>
            </a:r>
          </a:p>
          <a:p>
            <a:pPr marL="457200" indent="-457200">
              <a:lnSpc>
                <a:spcPct val="70000"/>
              </a:lnSpc>
              <a:spcAft>
                <a:spcPts val="600"/>
              </a:spcAft>
              <a:buFont typeface="+mj-lt"/>
              <a:buAutoNum type="arabicPeriod"/>
            </a:pPr>
            <a:r>
              <a:rPr lang="en-GB" sz="2700" noProof="0" dirty="0"/>
              <a:t>A firewall uses rules to decide which data to allow or block.</a:t>
            </a:r>
          </a:p>
        </p:txBody>
      </p:sp>
      <p:pic>
        <p:nvPicPr>
          <p:cNvPr id="4" name="Picture 3" descr="Thumbs up">
            <a:extLst>
              <a:ext uri="{FF2B5EF4-FFF2-40B4-BE49-F238E27FC236}">
                <a16:creationId xmlns:a16="http://schemas.microsoft.com/office/drawing/2014/main" id="{5E388433-FEAE-743F-669F-89E95485FB3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137188" y="1204251"/>
            <a:ext cx="390799" cy="524066"/>
          </a:xfrm>
          <a:prstGeom prst="rect">
            <a:avLst/>
          </a:prstGeom>
        </p:spPr>
      </p:pic>
      <p:pic>
        <p:nvPicPr>
          <p:cNvPr id="5" name="Picture 4" descr="Thumbs down">
            <a:extLst>
              <a:ext uri="{FF2B5EF4-FFF2-40B4-BE49-F238E27FC236}">
                <a16:creationId xmlns:a16="http://schemas.microsoft.com/office/drawing/2014/main" id="{1C1F7553-2164-21E4-B77C-8B37028894D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rot="10800000">
            <a:off x="11082608" y="1978357"/>
            <a:ext cx="425888" cy="571121"/>
          </a:xfrm>
          <a:prstGeom prst="rect">
            <a:avLst/>
          </a:prstGeom>
        </p:spPr>
      </p:pic>
      <p:pic>
        <p:nvPicPr>
          <p:cNvPr id="6" name="Picture 5" descr="Thumbs up">
            <a:extLst>
              <a:ext uri="{FF2B5EF4-FFF2-40B4-BE49-F238E27FC236}">
                <a16:creationId xmlns:a16="http://schemas.microsoft.com/office/drawing/2014/main" id="{ACFB0C2B-53C8-0767-1175-7DCEBE637B1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107086" y="2775109"/>
            <a:ext cx="390799" cy="524066"/>
          </a:xfrm>
          <a:prstGeom prst="rect">
            <a:avLst/>
          </a:prstGeom>
        </p:spPr>
      </p:pic>
      <p:pic>
        <p:nvPicPr>
          <p:cNvPr id="7" name="Picture 6" descr="Thumbs up">
            <a:extLst>
              <a:ext uri="{FF2B5EF4-FFF2-40B4-BE49-F238E27FC236}">
                <a16:creationId xmlns:a16="http://schemas.microsoft.com/office/drawing/2014/main" id="{3C649E8C-BB29-6407-1BCA-73D24DEC083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137188" y="3524806"/>
            <a:ext cx="390799" cy="524066"/>
          </a:xfrm>
          <a:prstGeom prst="rect">
            <a:avLst/>
          </a:prstGeom>
        </p:spPr>
      </p:pic>
      <p:pic>
        <p:nvPicPr>
          <p:cNvPr id="8" name="Picture 7" descr="Thumbs down">
            <a:extLst>
              <a:ext uri="{FF2B5EF4-FFF2-40B4-BE49-F238E27FC236}">
                <a16:creationId xmlns:a16="http://schemas.microsoft.com/office/drawing/2014/main" id="{65865638-77A1-2EEA-CEFA-9136E26BC88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rot="10800000">
            <a:off x="11137188" y="4294473"/>
            <a:ext cx="425888" cy="571121"/>
          </a:xfrm>
          <a:prstGeom prst="rect">
            <a:avLst/>
          </a:prstGeom>
        </p:spPr>
      </p:pic>
      <p:pic>
        <p:nvPicPr>
          <p:cNvPr id="9" name="Picture 8" descr="Thumbs down">
            <a:extLst>
              <a:ext uri="{FF2B5EF4-FFF2-40B4-BE49-F238E27FC236}">
                <a16:creationId xmlns:a16="http://schemas.microsoft.com/office/drawing/2014/main" id="{BC651EA1-A1BA-72EC-77E8-5B4BC4C7947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rot="10800000">
            <a:off x="11137188" y="5048616"/>
            <a:ext cx="425888" cy="571121"/>
          </a:xfrm>
          <a:prstGeom prst="rect">
            <a:avLst/>
          </a:prstGeom>
        </p:spPr>
      </p:pic>
      <p:pic>
        <p:nvPicPr>
          <p:cNvPr id="10" name="Picture 9" descr="Thumbs up">
            <a:extLst>
              <a:ext uri="{FF2B5EF4-FFF2-40B4-BE49-F238E27FC236}">
                <a16:creationId xmlns:a16="http://schemas.microsoft.com/office/drawing/2014/main" id="{1A546882-C12E-3909-F98A-3ADDF79F265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172277" y="5865331"/>
            <a:ext cx="390799" cy="524066"/>
          </a:xfrm>
          <a:prstGeom prst="rect">
            <a:avLst/>
          </a:prstGeom>
        </p:spPr>
      </p:pic>
    </p:spTree>
    <p:extLst>
      <p:ext uri="{BB962C8B-B14F-4D97-AF65-F5344CB8AC3E}">
        <p14:creationId xmlns:p14="http://schemas.microsoft.com/office/powerpoint/2010/main" val="39799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3D8FB-7294-F922-A5F1-52C761E1CAE7}"/>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9A726FDE-3CD5-57D5-4BB0-3CD028F20D7D}"/>
              </a:ext>
            </a:extLst>
          </p:cNvPr>
          <p:cNvSpPr/>
          <p:nvPr/>
        </p:nvSpPr>
        <p:spPr>
          <a:xfrm>
            <a:off x="413992" y="2271231"/>
            <a:ext cx="11364016" cy="763571"/>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Title 1">
            <a:extLst>
              <a:ext uri="{FF2B5EF4-FFF2-40B4-BE49-F238E27FC236}">
                <a16:creationId xmlns:a16="http://schemas.microsoft.com/office/drawing/2014/main" id="{297E8DDC-F734-6E1C-6D09-DCEB57E26F45}"/>
              </a:ext>
            </a:extLst>
          </p:cNvPr>
          <p:cNvSpPr>
            <a:spLocks noGrp="1"/>
          </p:cNvSpPr>
          <p:nvPr>
            <p:ph type="title"/>
          </p:nvPr>
        </p:nvSpPr>
        <p:spPr/>
        <p:txBody>
          <a:bodyPr/>
          <a:lstStyle/>
          <a:p>
            <a:r>
              <a:rPr lang="en-GB" noProof="0" dirty="0"/>
              <a:t>Steps to success</a:t>
            </a:r>
          </a:p>
        </p:txBody>
      </p:sp>
      <p:sp>
        <p:nvSpPr>
          <p:cNvPr id="3" name="Content Placeholder 2">
            <a:extLst>
              <a:ext uri="{FF2B5EF4-FFF2-40B4-BE49-F238E27FC236}">
                <a16:creationId xmlns:a16="http://schemas.microsoft.com/office/drawing/2014/main" id="{0EBAE197-E622-48A6-7F4A-1C45C6AFDB7C}"/>
              </a:ext>
            </a:extLst>
          </p:cNvPr>
          <p:cNvSpPr>
            <a:spLocks noGrp="1"/>
          </p:cNvSpPr>
          <p:nvPr>
            <p:ph idx="1"/>
          </p:nvPr>
        </p:nvSpPr>
        <p:spPr>
          <a:xfrm>
            <a:off x="413992" y="1581149"/>
            <a:ext cx="10749308" cy="4685481"/>
          </a:xfrm>
        </p:spPr>
        <p:txBody>
          <a:bodyPr/>
          <a:lstStyle/>
          <a:p>
            <a:pPr marL="809625" indent="-723900">
              <a:buClr>
                <a:srgbClr val="C00000"/>
              </a:buClr>
              <a:buSzPct val="107000"/>
              <a:buFont typeface="+mj-lt"/>
              <a:buAutoNum type="arabicPeriod"/>
            </a:pPr>
            <a:r>
              <a:rPr lang="en-GB" sz="3600" noProof="0" dirty="0"/>
              <a:t>Firewalls</a:t>
            </a:r>
          </a:p>
          <a:p>
            <a:pPr marL="809625" indent="-723900">
              <a:buClr>
                <a:srgbClr val="C00000"/>
              </a:buClr>
              <a:buSzPct val="107000"/>
              <a:buFont typeface="+mj-lt"/>
              <a:buAutoNum type="arabicPeriod"/>
            </a:pPr>
            <a:r>
              <a:rPr lang="en-GB" sz="3600" noProof="0" dirty="0"/>
              <a:t>Antivirus software</a:t>
            </a:r>
          </a:p>
          <a:p>
            <a:pPr marL="809625" indent="-723900">
              <a:buClr>
                <a:srgbClr val="C00000"/>
              </a:buClr>
              <a:buSzPct val="107000"/>
              <a:buFont typeface="+mj-lt"/>
              <a:buAutoNum type="arabicPeriod"/>
            </a:pPr>
            <a:r>
              <a:rPr lang="en-GB" sz="3600" noProof="0" dirty="0"/>
              <a:t>Passwords</a:t>
            </a:r>
          </a:p>
          <a:p>
            <a:pPr marL="809625" indent="-723900">
              <a:buClr>
                <a:srgbClr val="C00000"/>
              </a:buClr>
              <a:buSzPct val="107000"/>
              <a:buFont typeface="+mj-lt"/>
              <a:buAutoNum type="arabicPeriod"/>
            </a:pPr>
            <a:r>
              <a:rPr lang="en-GB" sz="3600" noProof="0" dirty="0"/>
              <a:t>Two-factor authentication</a:t>
            </a:r>
          </a:p>
          <a:p>
            <a:pPr marL="809625" indent="-723900">
              <a:buClr>
                <a:srgbClr val="C00000"/>
              </a:buClr>
              <a:buSzPct val="107000"/>
              <a:buFont typeface="+mj-lt"/>
              <a:buAutoNum type="arabicPeriod"/>
            </a:pPr>
            <a:r>
              <a:rPr lang="en-GB" sz="3600" noProof="0" dirty="0"/>
              <a:t>Encryption</a:t>
            </a:r>
            <a:endParaRPr lang="en-GB" noProof="0" dirty="0"/>
          </a:p>
        </p:txBody>
      </p:sp>
    </p:spTree>
    <p:extLst>
      <p:ext uri="{BB962C8B-B14F-4D97-AF65-F5344CB8AC3E}">
        <p14:creationId xmlns:p14="http://schemas.microsoft.com/office/powerpoint/2010/main" val="143096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B4745-4828-7DFD-9280-A85106DC37EE}"/>
              </a:ext>
            </a:extLst>
          </p:cNvPr>
          <p:cNvSpPr>
            <a:spLocks noGrp="1"/>
          </p:cNvSpPr>
          <p:nvPr>
            <p:ph type="title"/>
          </p:nvPr>
        </p:nvSpPr>
        <p:spPr/>
        <p:txBody>
          <a:bodyPr/>
          <a:lstStyle/>
          <a:p>
            <a:r>
              <a:rPr lang="en-GB" noProof="0" dirty="0"/>
              <a:t>Antivirus software</a:t>
            </a:r>
          </a:p>
        </p:txBody>
      </p:sp>
      <p:sp>
        <p:nvSpPr>
          <p:cNvPr id="3" name="Content Placeholder 2">
            <a:extLst>
              <a:ext uri="{FF2B5EF4-FFF2-40B4-BE49-F238E27FC236}">
                <a16:creationId xmlns:a16="http://schemas.microsoft.com/office/drawing/2014/main" id="{038D1C15-9E7E-1630-BC6E-1DCC87846E73}"/>
              </a:ext>
            </a:extLst>
          </p:cNvPr>
          <p:cNvSpPr>
            <a:spLocks noGrp="1"/>
          </p:cNvSpPr>
          <p:nvPr>
            <p:ph idx="1"/>
          </p:nvPr>
        </p:nvSpPr>
        <p:spPr/>
        <p:txBody>
          <a:bodyPr>
            <a:normAutofit fontScale="85000" lnSpcReduction="20000"/>
          </a:bodyPr>
          <a:lstStyle/>
          <a:p>
            <a:r>
              <a:rPr lang="en-GB" b="1" noProof="0" dirty="0">
                <a:solidFill>
                  <a:srgbClr val="C00000"/>
                </a:solidFill>
              </a:rPr>
              <a:t>Antivirus</a:t>
            </a:r>
            <a:r>
              <a:rPr lang="en-GB" noProof="0" dirty="0"/>
              <a:t> software is a programme that helps protect your computer from malware.</a:t>
            </a:r>
          </a:p>
          <a:p>
            <a:r>
              <a:rPr lang="en-GB" noProof="0" dirty="0"/>
              <a:t>It works by scanning your files, emails and downloads for viruses, worms, trojans and other threats.</a:t>
            </a:r>
          </a:p>
          <a:p>
            <a:r>
              <a:rPr lang="en-GB" noProof="0" dirty="0"/>
              <a:t>If it finds something suspicious, it warns you or removes the threat automatically.</a:t>
            </a:r>
          </a:p>
          <a:p>
            <a:r>
              <a:rPr lang="en-GB" noProof="0" dirty="0"/>
              <a:t>Most computers and devices come with antivirus software but it needs regular updates to stay effective.</a:t>
            </a:r>
          </a:p>
        </p:txBody>
      </p:sp>
    </p:spTree>
    <p:extLst>
      <p:ext uri="{BB962C8B-B14F-4D97-AF65-F5344CB8AC3E}">
        <p14:creationId xmlns:p14="http://schemas.microsoft.com/office/powerpoint/2010/main" val="3566563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7D368-1C04-16FB-9110-B901A81574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581C9-0025-2B82-EF6C-7448F9E27BF8}"/>
              </a:ext>
            </a:extLst>
          </p:cNvPr>
          <p:cNvSpPr>
            <a:spLocks noGrp="1"/>
          </p:cNvSpPr>
          <p:nvPr>
            <p:ph type="title"/>
          </p:nvPr>
        </p:nvSpPr>
        <p:spPr/>
        <p:txBody>
          <a:bodyPr/>
          <a:lstStyle/>
          <a:p>
            <a:r>
              <a:rPr lang="en-GB" noProof="0" dirty="0"/>
              <a:t>Antivirus software</a:t>
            </a:r>
          </a:p>
        </p:txBody>
      </p:sp>
      <p:sp>
        <p:nvSpPr>
          <p:cNvPr id="3" name="Content Placeholder 2">
            <a:extLst>
              <a:ext uri="{FF2B5EF4-FFF2-40B4-BE49-F238E27FC236}">
                <a16:creationId xmlns:a16="http://schemas.microsoft.com/office/drawing/2014/main" id="{8E606763-E986-50CD-93F7-8488FC3AFB06}"/>
              </a:ext>
            </a:extLst>
          </p:cNvPr>
          <p:cNvSpPr>
            <a:spLocks noGrp="1"/>
          </p:cNvSpPr>
          <p:nvPr>
            <p:ph idx="1"/>
          </p:nvPr>
        </p:nvSpPr>
        <p:spPr/>
        <p:txBody>
          <a:bodyPr>
            <a:normAutofit fontScale="92500" lnSpcReduction="10000"/>
          </a:bodyPr>
          <a:lstStyle/>
          <a:p>
            <a:pPr>
              <a:spcAft>
                <a:spcPts val="600"/>
              </a:spcAft>
            </a:pPr>
            <a:r>
              <a:rPr lang="en-GB" noProof="0" dirty="0"/>
              <a:t>Antivirus software checks everything coming into your computer, such as files you download or email attachments you open.</a:t>
            </a:r>
          </a:p>
          <a:p>
            <a:pPr>
              <a:spcAft>
                <a:spcPts val="600"/>
              </a:spcAft>
            </a:pPr>
            <a:r>
              <a:rPr lang="en-GB" noProof="0" dirty="0"/>
              <a:t>It uses a database of known threats and smart techniques to spot new or unknown viruses.</a:t>
            </a:r>
          </a:p>
          <a:p>
            <a:pPr>
              <a:spcAft>
                <a:spcPts val="600"/>
              </a:spcAft>
            </a:pPr>
            <a:r>
              <a:rPr lang="en-GB" noProof="0" dirty="0"/>
              <a:t>When it finds a threat, it can quarantine (isolate) or delete the harmful file to stop it spreading.</a:t>
            </a:r>
          </a:p>
          <a:p>
            <a:pPr>
              <a:spcAft>
                <a:spcPts val="600"/>
              </a:spcAft>
            </a:pPr>
            <a:r>
              <a:rPr lang="en-GB" noProof="0" dirty="0"/>
              <a:t>Running regular scans helps keep your computer safe but you should also be careful about what you click or download.</a:t>
            </a:r>
          </a:p>
        </p:txBody>
      </p:sp>
    </p:spTree>
    <p:extLst>
      <p:ext uri="{BB962C8B-B14F-4D97-AF65-F5344CB8AC3E}">
        <p14:creationId xmlns:p14="http://schemas.microsoft.com/office/powerpoint/2010/main" val="119463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5E90-7D69-D11B-E442-E60B0D3DB6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B43BAD-0EB0-17BD-DFC8-6FC953C9A40F}"/>
              </a:ext>
            </a:extLst>
          </p:cNvPr>
          <p:cNvSpPr>
            <a:spLocks noGrp="1"/>
          </p:cNvSpPr>
          <p:nvPr>
            <p:ph type="title"/>
          </p:nvPr>
        </p:nvSpPr>
        <p:spPr/>
        <p:txBody>
          <a:bodyPr/>
          <a:lstStyle/>
          <a:p>
            <a:r>
              <a:rPr lang="en-GB" noProof="0" dirty="0"/>
              <a:t>Antivirus software</a:t>
            </a:r>
          </a:p>
        </p:txBody>
      </p:sp>
      <p:sp>
        <p:nvSpPr>
          <p:cNvPr id="3" name="Content Placeholder 2">
            <a:extLst>
              <a:ext uri="{FF2B5EF4-FFF2-40B4-BE49-F238E27FC236}">
                <a16:creationId xmlns:a16="http://schemas.microsoft.com/office/drawing/2014/main" id="{D113777E-0777-950C-C9E4-B17328D9C83E}"/>
              </a:ext>
            </a:extLst>
          </p:cNvPr>
          <p:cNvSpPr>
            <a:spLocks noGrp="1"/>
          </p:cNvSpPr>
          <p:nvPr>
            <p:ph idx="1"/>
          </p:nvPr>
        </p:nvSpPr>
        <p:spPr/>
        <p:txBody>
          <a:bodyPr>
            <a:normAutofit fontScale="92500" lnSpcReduction="20000"/>
          </a:bodyPr>
          <a:lstStyle/>
          <a:p>
            <a:pPr>
              <a:spcAft>
                <a:spcPts val="1200"/>
              </a:spcAft>
            </a:pPr>
            <a:r>
              <a:rPr lang="en-GB" sz="3200" noProof="0" dirty="0"/>
              <a:t>It is important to update antivirus software regularly because new viruses and types of malware are being created all the time.</a:t>
            </a:r>
          </a:p>
          <a:p>
            <a:pPr>
              <a:spcAft>
                <a:spcPts val="1200"/>
              </a:spcAft>
            </a:pPr>
            <a:r>
              <a:rPr lang="en-GB" sz="3200" noProof="0" dirty="0"/>
              <a:t>Updates give your antivirus programme the latest information about these new threats so it can recognise and stop them before they harm your computer.</a:t>
            </a:r>
          </a:p>
          <a:p>
            <a:pPr>
              <a:spcAft>
                <a:spcPts val="1200"/>
              </a:spcAft>
            </a:pPr>
            <a:r>
              <a:rPr lang="en-GB" sz="3200" noProof="0" dirty="0"/>
              <a:t>Without regular updates, your antivirus software might miss new viruses, making your device much less secure.</a:t>
            </a:r>
          </a:p>
          <a:p>
            <a:pPr>
              <a:spcAft>
                <a:spcPts val="1200"/>
              </a:spcAft>
            </a:pPr>
            <a:r>
              <a:rPr lang="en-GB" sz="3200" noProof="0" dirty="0"/>
              <a:t>Keeping it up to date helps ensure your computer stays protected against the latest risks.</a:t>
            </a:r>
          </a:p>
        </p:txBody>
      </p:sp>
    </p:spTree>
    <p:extLst>
      <p:ext uri="{BB962C8B-B14F-4D97-AF65-F5344CB8AC3E}">
        <p14:creationId xmlns:p14="http://schemas.microsoft.com/office/powerpoint/2010/main" val="3869764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47DF6B3B-1054-E52B-D726-657232B98141}"/>
              </a:ext>
            </a:extLst>
          </p:cNvPr>
          <p:cNvSpPr>
            <a:spLocks noGrp="1"/>
          </p:cNvSpPr>
          <p:nvPr>
            <p:ph idx="1"/>
          </p:nvPr>
        </p:nvSpPr>
        <p:spPr/>
        <p:txBody>
          <a:bodyPr>
            <a:normAutofit fontScale="92500" lnSpcReduction="10000"/>
          </a:bodyPr>
          <a:lstStyle/>
          <a:p>
            <a:r>
              <a:rPr lang="en-GB" noProof="0" dirty="0"/>
              <a:t>What is the main job of antivirus software?</a:t>
            </a:r>
          </a:p>
          <a:p>
            <a:r>
              <a:rPr lang="en-GB" b="1" noProof="0" dirty="0">
                <a:solidFill>
                  <a:srgbClr val="C00000"/>
                </a:solidFill>
              </a:rPr>
              <a:t>To protect your computer from malware.</a:t>
            </a:r>
          </a:p>
          <a:p>
            <a:r>
              <a:rPr lang="en-GB" noProof="0" dirty="0"/>
              <a:t>Why do you think it is important for antivirus software to be updated regularly?</a:t>
            </a:r>
          </a:p>
          <a:p>
            <a:r>
              <a:rPr lang="en-GB" b="1" noProof="0" dirty="0">
                <a:solidFill>
                  <a:srgbClr val="C00000"/>
                </a:solidFill>
              </a:rPr>
              <a:t>Because new viruses and malware are created all the time. Updates help the antivirus software recognise and stop these new threats so your computer stays protected.</a:t>
            </a:r>
          </a:p>
          <a:p>
            <a:endParaRPr lang="en-GB" noProof="0" dirty="0"/>
          </a:p>
        </p:txBody>
      </p:sp>
      <p:sp>
        <p:nvSpPr>
          <p:cNvPr id="2" name="Title 1">
            <a:extLst>
              <a:ext uri="{FF2B5EF4-FFF2-40B4-BE49-F238E27FC236}">
                <a16:creationId xmlns:a16="http://schemas.microsoft.com/office/drawing/2014/main" id="{CBBFA21E-2226-AC6B-745A-8EAFFA9C4377}"/>
              </a:ext>
            </a:extLst>
          </p:cNvPr>
          <p:cNvSpPr>
            <a:spLocks noGrp="1"/>
          </p:cNvSpPr>
          <p:nvPr>
            <p:ph type="title"/>
          </p:nvPr>
        </p:nvSpPr>
        <p:spPr/>
        <p:txBody>
          <a:bodyPr/>
          <a:lstStyle/>
          <a:p>
            <a:r>
              <a:rPr lang="en-GB" noProof="0" dirty="0"/>
              <a:t>Antivirus software</a:t>
            </a:r>
          </a:p>
        </p:txBody>
      </p:sp>
    </p:spTree>
    <p:extLst>
      <p:ext uri="{BB962C8B-B14F-4D97-AF65-F5344CB8AC3E}">
        <p14:creationId xmlns:p14="http://schemas.microsoft.com/office/powerpoint/2010/main" val="3671760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AC5C9-9F24-8748-33D7-6EAFA986E96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E25B1EEC-83B2-60C6-1D74-022B59B73004}"/>
              </a:ext>
            </a:extLst>
          </p:cNvPr>
          <p:cNvSpPr>
            <a:spLocks noGrp="1"/>
          </p:cNvSpPr>
          <p:nvPr>
            <p:ph idx="1"/>
          </p:nvPr>
        </p:nvSpPr>
        <p:spPr/>
        <p:txBody>
          <a:bodyPr>
            <a:normAutofit/>
          </a:bodyPr>
          <a:lstStyle/>
          <a:p>
            <a:r>
              <a:rPr lang="en-GB" noProof="0" dirty="0"/>
              <a:t>Imagine you receive an email attachment from someone you do not know. How could antivirus software help you in this situation, and what else should you do to stay safe?</a:t>
            </a:r>
          </a:p>
          <a:p>
            <a:r>
              <a:rPr lang="en-GB" b="1" noProof="0" dirty="0">
                <a:solidFill>
                  <a:srgbClr val="C00000"/>
                </a:solidFill>
              </a:rPr>
              <a:t>Antivirus software can scan the attachment and warn you if it is dangerous or contains a virus. You should also avoid opening attachments from unknown senders and delete suspicious emails to stay safe.</a:t>
            </a:r>
          </a:p>
        </p:txBody>
      </p:sp>
      <p:sp>
        <p:nvSpPr>
          <p:cNvPr id="2" name="Title 1">
            <a:extLst>
              <a:ext uri="{FF2B5EF4-FFF2-40B4-BE49-F238E27FC236}">
                <a16:creationId xmlns:a16="http://schemas.microsoft.com/office/drawing/2014/main" id="{862627DB-C786-590A-D92E-A6F25B95A939}"/>
              </a:ext>
            </a:extLst>
          </p:cNvPr>
          <p:cNvSpPr>
            <a:spLocks noGrp="1"/>
          </p:cNvSpPr>
          <p:nvPr>
            <p:ph type="title"/>
          </p:nvPr>
        </p:nvSpPr>
        <p:spPr/>
        <p:txBody>
          <a:bodyPr/>
          <a:lstStyle/>
          <a:p>
            <a:r>
              <a:rPr lang="en-GB" noProof="0" dirty="0"/>
              <a:t>Antivirus software</a:t>
            </a:r>
          </a:p>
        </p:txBody>
      </p:sp>
    </p:spTree>
    <p:extLst>
      <p:ext uri="{BB962C8B-B14F-4D97-AF65-F5344CB8AC3E}">
        <p14:creationId xmlns:p14="http://schemas.microsoft.com/office/powerpoint/2010/main" val="400097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CCAF3-CD25-61B0-E95D-DC6FDFD97E2D}"/>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25BEB15E-E566-FA13-DA84-17C242395356}"/>
              </a:ext>
            </a:extLst>
          </p:cNvPr>
          <p:cNvSpPr/>
          <p:nvPr/>
        </p:nvSpPr>
        <p:spPr>
          <a:xfrm>
            <a:off x="413992" y="3047214"/>
            <a:ext cx="11364016" cy="763571"/>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Title 1">
            <a:extLst>
              <a:ext uri="{FF2B5EF4-FFF2-40B4-BE49-F238E27FC236}">
                <a16:creationId xmlns:a16="http://schemas.microsoft.com/office/drawing/2014/main" id="{FC11F8E3-7657-5F76-0457-B59C24FC37C1}"/>
              </a:ext>
            </a:extLst>
          </p:cNvPr>
          <p:cNvSpPr>
            <a:spLocks noGrp="1"/>
          </p:cNvSpPr>
          <p:nvPr>
            <p:ph type="title"/>
          </p:nvPr>
        </p:nvSpPr>
        <p:spPr/>
        <p:txBody>
          <a:bodyPr/>
          <a:lstStyle/>
          <a:p>
            <a:r>
              <a:rPr lang="en-GB" noProof="0" dirty="0"/>
              <a:t>Steps to success</a:t>
            </a:r>
          </a:p>
        </p:txBody>
      </p:sp>
      <p:sp>
        <p:nvSpPr>
          <p:cNvPr id="3" name="Content Placeholder 2">
            <a:extLst>
              <a:ext uri="{FF2B5EF4-FFF2-40B4-BE49-F238E27FC236}">
                <a16:creationId xmlns:a16="http://schemas.microsoft.com/office/drawing/2014/main" id="{60068AFD-CB47-89F5-15BC-178EAC39CE2D}"/>
              </a:ext>
            </a:extLst>
          </p:cNvPr>
          <p:cNvSpPr>
            <a:spLocks noGrp="1"/>
          </p:cNvSpPr>
          <p:nvPr>
            <p:ph idx="1"/>
          </p:nvPr>
        </p:nvSpPr>
        <p:spPr>
          <a:xfrm>
            <a:off x="413992" y="1581149"/>
            <a:ext cx="10749308" cy="4685481"/>
          </a:xfrm>
        </p:spPr>
        <p:txBody>
          <a:bodyPr/>
          <a:lstStyle/>
          <a:p>
            <a:pPr marL="809625" indent="-723900">
              <a:buClr>
                <a:srgbClr val="C00000"/>
              </a:buClr>
              <a:buSzPct val="107000"/>
              <a:buFont typeface="+mj-lt"/>
              <a:buAutoNum type="arabicPeriod"/>
            </a:pPr>
            <a:r>
              <a:rPr lang="en-GB" sz="3600" noProof="0" dirty="0"/>
              <a:t>Firewalls</a:t>
            </a:r>
          </a:p>
          <a:p>
            <a:pPr marL="809625" indent="-723900">
              <a:buClr>
                <a:srgbClr val="C00000"/>
              </a:buClr>
              <a:buSzPct val="107000"/>
              <a:buFont typeface="+mj-lt"/>
              <a:buAutoNum type="arabicPeriod"/>
            </a:pPr>
            <a:r>
              <a:rPr lang="en-GB" sz="3600" noProof="0" dirty="0"/>
              <a:t>Antivirus software</a:t>
            </a:r>
          </a:p>
          <a:p>
            <a:pPr marL="809625" indent="-723900">
              <a:buClr>
                <a:srgbClr val="C00000"/>
              </a:buClr>
              <a:buSzPct val="107000"/>
              <a:buFont typeface="+mj-lt"/>
              <a:buAutoNum type="arabicPeriod"/>
            </a:pPr>
            <a:r>
              <a:rPr lang="en-GB" sz="3600" noProof="0" dirty="0"/>
              <a:t>Passwords</a:t>
            </a:r>
          </a:p>
          <a:p>
            <a:pPr marL="809625" indent="-723900">
              <a:buClr>
                <a:srgbClr val="C00000"/>
              </a:buClr>
              <a:buSzPct val="107000"/>
              <a:buFont typeface="+mj-lt"/>
              <a:buAutoNum type="arabicPeriod"/>
            </a:pPr>
            <a:r>
              <a:rPr lang="en-GB" sz="3600" noProof="0" dirty="0"/>
              <a:t>Two-factor authentication</a:t>
            </a:r>
          </a:p>
          <a:p>
            <a:pPr marL="809625" indent="-723900">
              <a:buClr>
                <a:srgbClr val="C00000"/>
              </a:buClr>
              <a:buSzPct val="107000"/>
              <a:buFont typeface="+mj-lt"/>
              <a:buAutoNum type="arabicPeriod"/>
            </a:pPr>
            <a:r>
              <a:rPr lang="en-GB" sz="3600" noProof="0" dirty="0"/>
              <a:t>Encryption</a:t>
            </a:r>
            <a:endParaRPr lang="en-GB" noProof="0" dirty="0"/>
          </a:p>
        </p:txBody>
      </p:sp>
    </p:spTree>
    <p:extLst>
      <p:ext uri="{BB962C8B-B14F-4D97-AF65-F5344CB8AC3E}">
        <p14:creationId xmlns:p14="http://schemas.microsoft.com/office/powerpoint/2010/main" val="66271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2FCCB-9D8A-2AE3-CBF8-1B7FE1F1F89F}"/>
              </a:ext>
            </a:extLst>
          </p:cNvPr>
          <p:cNvSpPr>
            <a:spLocks noGrp="1"/>
          </p:cNvSpPr>
          <p:nvPr>
            <p:ph type="title"/>
          </p:nvPr>
        </p:nvSpPr>
        <p:spPr/>
        <p:txBody>
          <a:bodyPr/>
          <a:lstStyle/>
          <a:p>
            <a:r>
              <a:rPr lang="en-GB" noProof="0" dirty="0"/>
              <a:t>Passwords</a:t>
            </a:r>
          </a:p>
        </p:txBody>
      </p:sp>
      <p:sp>
        <p:nvSpPr>
          <p:cNvPr id="3" name="Content Placeholder 2">
            <a:extLst>
              <a:ext uri="{FF2B5EF4-FFF2-40B4-BE49-F238E27FC236}">
                <a16:creationId xmlns:a16="http://schemas.microsoft.com/office/drawing/2014/main" id="{FD0F3A88-84B2-3614-9B5F-D22D9500C029}"/>
              </a:ext>
            </a:extLst>
          </p:cNvPr>
          <p:cNvSpPr>
            <a:spLocks noGrp="1"/>
          </p:cNvSpPr>
          <p:nvPr>
            <p:ph idx="1"/>
          </p:nvPr>
        </p:nvSpPr>
        <p:spPr/>
        <p:txBody>
          <a:bodyPr>
            <a:normAutofit fontScale="85000" lnSpcReduction="10000"/>
          </a:bodyPr>
          <a:lstStyle/>
          <a:p>
            <a:r>
              <a:rPr lang="en-GB" noProof="0" dirty="0"/>
              <a:t>In 2023, the most common password in the world was “123456” which was used by more than 4.5 million people worldwide. </a:t>
            </a:r>
          </a:p>
          <a:p>
            <a:r>
              <a:rPr lang="en-GB" noProof="0" dirty="0"/>
              <a:t>Other very common (and weak) passwords include:</a:t>
            </a:r>
          </a:p>
          <a:p>
            <a:pPr marL="719138"/>
            <a:r>
              <a:rPr lang="en-GB" noProof="0" dirty="0"/>
              <a:t>“password”</a:t>
            </a:r>
          </a:p>
          <a:p>
            <a:pPr marL="719138"/>
            <a:r>
              <a:rPr lang="en-GB" noProof="0" dirty="0"/>
              <a:t>“123456789”</a:t>
            </a:r>
          </a:p>
          <a:p>
            <a:pPr marL="719138"/>
            <a:r>
              <a:rPr lang="en-GB" noProof="0" dirty="0"/>
              <a:t>“qwerty”</a:t>
            </a:r>
          </a:p>
          <a:p>
            <a:pPr marL="719138"/>
            <a:r>
              <a:rPr lang="en-GB" noProof="0" dirty="0"/>
              <a:t>“abc123”</a:t>
            </a:r>
          </a:p>
        </p:txBody>
      </p:sp>
    </p:spTree>
    <p:extLst>
      <p:ext uri="{BB962C8B-B14F-4D97-AF65-F5344CB8AC3E}">
        <p14:creationId xmlns:p14="http://schemas.microsoft.com/office/powerpoint/2010/main" val="734303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F5C07F-0D90-3A22-66A6-382875DFA808}"/>
              </a:ext>
            </a:extLst>
          </p:cNvPr>
          <p:cNvSpPr>
            <a:spLocks noGrp="1"/>
          </p:cNvSpPr>
          <p:nvPr>
            <p:ph type="title"/>
          </p:nvPr>
        </p:nvSpPr>
        <p:spPr/>
        <p:txBody>
          <a:bodyPr/>
          <a:lstStyle/>
          <a:p>
            <a:r>
              <a:rPr lang="en-GB" noProof="0" dirty="0"/>
              <a:t>Passwords</a:t>
            </a:r>
          </a:p>
        </p:txBody>
      </p:sp>
      <p:sp>
        <p:nvSpPr>
          <p:cNvPr id="3" name="Content Placeholder 2">
            <a:extLst>
              <a:ext uri="{FF2B5EF4-FFF2-40B4-BE49-F238E27FC236}">
                <a16:creationId xmlns:a16="http://schemas.microsoft.com/office/drawing/2014/main" id="{B0B590D4-929C-D079-EF83-20207D8CF943}"/>
              </a:ext>
            </a:extLst>
          </p:cNvPr>
          <p:cNvSpPr>
            <a:spLocks noGrp="1"/>
          </p:cNvSpPr>
          <p:nvPr>
            <p:ph idx="1"/>
          </p:nvPr>
        </p:nvSpPr>
        <p:spPr/>
        <p:txBody>
          <a:bodyPr>
            <a:normAutofit lnSpcReduction="10000"/>
          </a:bodyPr>
          <a:lstStyle/>
          <a:p>
            <a:r>
              <a:rPr lang="en-GB" noProof="0" dirty="0"/>
              <a:t>Most of the top twenty-five common passwords can be cracked by hackers in less than one second using automated tools.</a:t>
            </a:r>
          </a:p>
          <a:p>
            <a:r>
              <a:rPr lang="en-GB" noProof="0" dirty="0"/>
              <a:t>According to a 2022 report by </a:t>
            </a:r>
            <a:r>
              <a:rPr lang="en-GB" noProof="0" dirty="0" err="1"/>
              <a:t>SplashData</a:t>
            </a:r>
            <a:r>
              <a:rPr lang="en-GB" noProof="0" dirty="0"/>
              <a:t>, about 10% of people have used at least one of the twenty-five worst passwords.</a:t>
            </a:r>
          </a:p>
          <a:p>
            <a:r>
              <a:rPr lang="en-GB" noProof="0" dirty="0"/>
              <a:t>A 2023 survey found that 24% of people have used the word “password” or a variation as their password at some point.</a:t>
            </a:r>
          </a:p>
        </p:txBody>
      </p:sp>
    </p:spTree>
    <p:extLst>
      <p:ext uri="{BB962C8B-B14F-4D97-AF65-F5344CB8AC3E}">
        <p14:creationId xmlns:p14="http://schemas.microsoft.com/office/powerpoint/2010/main" val="282160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A5B20-E328-2EFF-F086-4147099E5530}"/>
              </a:ext>
            </a:extLst>
          </p:cNvPr>
          <p:cNvSpPr>
            <a:spLocks noGrp="1"/>
          </p:cNvSpPr>
          <p:nvPr>
            <p:ph type="title"/>
          </p:nvPr>
        </p:nvSpPr>
        <p:spPr/>
        <p:txBody>
          <a:bodyPr/>
          <a:lstStyle/>
          <a:p>
            <a:r>
              <a:rPr lang="en-GB" noProof="0" dirty="0"/>
              <a:t>Passwords</a:t>
            </a:r>
          </a:p>
        </p:txBody>
      </p:sp>
      <p:sp>
        <p:nvSpPr>
          <p:cNvPr id="3" name="Content Placeholder 2">
            <a:extLst>
              <a:ext uri="{FF2B5EF4-FFF2-40B4-BE49-F238E27FC236}">
                <a16:creationId xmlns:a16="http://schemas.microsoft.com/office/drawing/2014/main" id="{F1E3B587-FCBC-2B97-2336-45D8585F6AA2}"/>
              </a:ext>
            </a:extLst>
          </p:cNvPr>
          <p:cNvSpPr>
            <a:spLocks noGrp="1"/>
          </p:cNvSpPr>
          <p:nvPr>
            <p:ph idx="1"/>
          </p:nvPr>
        </p:nvSpPr>
        <p:spPr/>
        <p:txBody>
          <a:bodyPr>
            <a:normAutofit fontScale="92500" lnSpcReduction="20000"/>
          </a:bodyPr>
          <a:lstStyle/>
          <a:p>
            <a:r>
              <a:rPr lang="en-GB" noProof="0" dirty="0"/>
              <a:t>In July 2020, hackers gained access to high-profile Twitter accounts, including Barack Obama, Elon Musk and Bill Gates, to promote a Bitcoin scam. </a:t>
            </a:r>
          </a:p>
          <a:p>
            <a:r>
              <a:rPr lang="en-GB" noProof="0" dirty="0"/>
              <a:t>The attackers used social engineering to access Twitter’s internal systems, but part of their success was due to some employees using weak passwords and not enabling extra security.</a:t>
            </a:r>
          </a:p>
          <a:p>
            <a:r>
              <a:rPr lang="en-GB" noProof="0" dirty="0"/>
              <a:t>The scam resulted in more than $100,000 being stolen from the public and Twitter had to lock down verified accounts for hours to stop the attack.</a:t>
            </a:r>
          </a:p>
        </p:txBody>
      </p:sp>
    </p:spTree>
    <p:extLst>
      <p:ext uri="{BB962C8B-B14F-4D97-AF65-F5344CB8AC3E}">
        <p14:creationId xmlns:p14="http://schemas.microsoft.com/office/powerpoint/2010/main" val="1470351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D007C-9457-FE93-8E1C-DF261E323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88B409-E980-2C3B-CC29-413926E11CE9}"/>
              </a:ext>
            </a:extLst>
          </p:cNvPr>
          <p:cNvSpPr>
            <a:spLocks noGrp="1"/>
          </p:cNvSpPr>
          <p:nvPr>
            <p:ph type="title"/>
          </p:nvPr>
        </p:nvSpPr>
        <p:spPr/>
        <p:txBody>
          <a:bodyPr/>
          <a:lstStyle/>
          <a:p>
            <a:r>
              <a:rPr lang="en-GB" noProof="0" dirty="0"/>
              <a:t>Passwords</a:t>
            </a:r>
          </a:p>
        </p:txBody>
      </p:sp>
      <p:sp>
        <p:nvSpPr>
          <p:cNvPr id="3" name="Content Placeholder 2">
            <a:extLst>
              <a:ext uri="{FF2B5EF4-FFF2-40B4-BE49-F238E27FC236}">
                <a16:creationId xmlns:a16="http://schemas.microsoft.com/office/drawing/2014/main" id="{764A5A31-C6F9-0C03-A54D-0BD0BC6686ED}"/>
              </a:ext>
            </a:extLst>
          </p:cNvPr>
          <p:cNvSpPr>
            <a:spLocks noGrp="1"/>
          </p:cNvSpPr>
          <p:nvPr>
            <p:ph idx="1"/>
          </p:nvPr>
        </p:nvSpPr>
        <p:spPr/>
        <p:txBody>
          <a:bodyPr>
            <a:normAutofit fontScale="92500" lnSpcReduction="10000"/>
          </a:bodyPr>
          <a:lstStyle/>
          <a:p>
            <a:r>
              <a:rPr lang="en-GB" noProof="0" dirty="0"/>
              <a:t>In 2016, Mark Zuckerberg’s Twitter and Pinterest accounts were hacked because he reused the password “</a:t>
            </a:r>
            <a:r>
              <a:rPr lang="en-GB" noProof="0" dirty="0" err="1"/>
              <a:t>dadada</a:t>
            </a:r>
            <a:r>
              <a:rPr lang="en-GB" noProof="0" dirty="0"/>
              <a:t>” across multiple sites. </a:t>
            </a:r>
          </a:p>
          <a:p>
            <a:r>
              <a:rPr lang="en-GB" noProof="0" dirty="0"/>
              <a:t>Hackers found his password in a leaked database from another website and used it to break into his accounts.</a:t>
            </a:r>
          </a:p>
          <a:p>
            <a:r>
              <a:rPr lang="en-GB" noProof="0" dirty="0"/>
              <a:t>The incident made headlines and highlighted the dangers of using simple, repeated passwords – even for tech leaders.</a:t>
            </a:r>
          </a:p>
          <a:p>
            <a:endParaRPr lang="en-GB" noProof="0" dirty="0"/>
          </a:p>
        </p:txBody>
      </p:sp>
    </p:spTree>
    <p:extLst>
      <p:ext uri="{BB962C8B-B14F-4D97-AF65-F5344CB8AC3E}">
        <p14:creationId xmlns:p14="http://schemas.microsoft.com/office/powerpoint/2010/main" val="18295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B68B7-15D6-19C3-2072-A31943ED2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BFC1D6-0465-2F56-CCDF-3D91DE9CD073}"/>
              </a:ext>
            </a:extLst>
          </p:cNvPr>
          <p:cNvSpPr>
            <a:spLocks noGrp="1"/>
          </p:cNvSpPr>
          <p:nvPr>
            <p:ph type="title"/>
          </p:nvPr>
        </p:nvSpPr>
        <p:spPr/>
        <p:txBody>
          <a:bodyPr/>
          <a:lstStyle/>
          <a:p>
            <a:r>
              <a:rPr lang="en-GB" noProof="0" dirty="0"/>
              <a:t>Passwords</a:t>
            </a:r>
          </a:p>
        </p:txBody>
      </p:sp>
      <p:sp>
        <p:nvSpPr>
          <p:cNvPr id="3" name="Content Placeholder 2">
            <a:extLst>
              <a:ext uri="{FF2B5EF4-FFF2-40B4-BE49-F238E27FC236}">
                <a16:creationId xmlns:a16="http://schemas.microsoft.com/office/drawing/2014/main" id="{22B8B60C-40EE-FFF6-189B-9A2AAEB257D8}"/>
              </a:ext>
            </a:extLst>
          </p:cNvPr>
          <p:cNvSpPr>
            <a:spLocks noGrp="1"/>
          </p:cNvSpPr>
          <p:nvPr>
            <p:ph idx="1"/>
          </p:nvPr>
        </p:nvSpPr>
        <p:spPr/>
        <p:txBody>
          <a:bodyPr>
            <a:normAutofit lnSpcReduction="10000"/>
          </a:bodyPr>
          <a:lstStyle/>
          <a:p>
            <a:r>
              <a:rPr lang="en-GB" noProof="0" dirty="0"/>
              <a:t>The Colonial Pipeline, a major US fuel pipeline, was shut down after hackers used a password found in a leaked database to access the company’s private network. </a:t>
            </a:r>
          </a:p>
          <a:p>
            <a:r>
              <a:rPr lang="en-GB" noProof="0" dirty="0"/>
              <a:t>The password was described as simple and had not been changed for a long time.</a:t>
            </a:r>
          </a:p>
          <a:p>
            <a:r>
              <a:rPr lang="en-GB" noProof="0" dirty="0"/>
              <a:t>The attack caused fuel shortages across the eastern United States and the company paid nearly $5 million in ransom.</a:t>
            </a:r>
          </a:p>
        </p:txBody>
      </p:sp>
    </p:spTree>
    <p:extLst>
      <p:ext uri="{BB962C8B-B14F-4D97-AF65-F5344CB8AC3E}">
        <p14:creationId xmlns:p14="http://schemas.microsoft.com/office/powerpoint/2010/main" val="1443999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5DF9AAB-919C-DA47-7E84-C523E554E937}"/>
              </a:ext>
            </a:extLst>
          </p:cNvPr>
          <p:cNvSpPr>
            <a:spLocks noGrp="1"/>
          </p:cNvSpPr>
          <p:nvPr>
            <p:ph type="title"/>
          </p:nvPr>
        </p:nvSpPr>
        <p:spPr/>
        <p:txBody>
          <a:bodyPr/>
          <a:lstStyle/>
          <a:p>
            <a:r>
              <a:rPr lang="en-GB" noProof="0" dirty="0"/>
              <a:t>Passwords</a:t>
            </a:r>
          </a:p>
        </p:txBody>
      </p:sp>
      <p:sp>
        <p:nvSpPr>
          <p:cNvPr id="5" name="Content Placeholder 4">
            <a:extLst>
              <a:ext uri="{FF2B5EF4-FFF2-40B4-BE49-F238E27FC236}">
                <a16:creationId xmlns:a16="http://schemas.microsoft.com/office/drawing/2014/main" id="{11D3C48A-D218-0892-2BAB-6696C29C929C}"/>
              </a:ext>
            </a:extLst>
          </p:cNvPr>
          <p:cNvSpPr>
            <a:spLocks noGrp="1"/>
          </p:cNvSpPr>
          <p:nvPr>
            <p:ph idx="1"/>
          </p:nvPr>
        </p:nvSpPr>
        <p:spPr/>
        <p:txBody>
          <a:bodyPr>
            <a:normAutofit fontScale="85000" lnSpcReduction="20000"/>
          </a:bodyPr>
          <a:lstStyle/>
          <a:p>
            <a:r>
              <a:rPr lang="en-GB" noProof="0" dirty="0"/>
              <a:t>Strong passwords help protect your accounts and personal information from hackers.</a:t>
            </a:r>
          </a:p>
          <a:p>
            <a:r>
              <a:rPr lang="en-GB" noProof="0" dirty="0"/>
              <a:t>Weak passwords, such as “123456” or “password”, are easy for cyber criminals to guess or crack using special software.</a:t>
            </a:r>
          </a:p>
          <a:p>
            <a:r>
              <a:rPr lang="en-GB" noProof="0" dirty="0"/>
              <a:t>If someone gets your password, they could access your emails, social media or even your bank account.</a:t>
            </a:r>
          </a:p>
          <a:p>
            <a:r>
              <a:rPr lang="en-GB" noProof="0" dirty="0"/>
              <a:t>Using strong, unique passwords for each account makes it much harder for anyone to break in and keeps your data safe.</a:t>
            </a:r>
          </a:p>
          <a:p>
            <a:endParaRPr lang="en-GB" noProof="0" dirty="0"/>
          </a:p>
        </p:txBody>
      </p:sp>
    </p:spTree>
    <p:extLst>
      <p:ext uri="{BB962C8B-B14F-4D97-AF65-F5344CB8AC3E}">
        <p14:creationId xmlns:p14="http://schemas.microsoft.com/office/powerpoint/2010/main" val="2147435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46489-7F97-6D36-67B9-F3BABB8818B2}"/>
              </a:ext>
            </a:extLst>
          </p:cNvPr>
          <p:cNvSpPr>
            <a:spLocks noGrp="1"/>
          </p:cNvSpPr>
          <p:nvPr>
            <p:ph type="title"/>
          </p:nvPr>
        </p:nvSpPr>
        <p:spPr/>
        <p:txBody>
          <a:bodyPr/>
          <a:lstStyle/>
          <a:p>
            <a:r>
              <a:rPr lang="en-GB" noProof="0" dirty="0"/>
              <a:t>Passwords</a:t>
            </a:r>
          </a:p>
        </p:txBody>
      </p:sp>
      <p:sp>
        <p:nvSpPr>
          <p:cNvPr id="3" name="Content Placeholder 2">
            <a:extLst>
              <a:ext uri="{FF2B5EF4-FFF2-40B4-BE49-F238E27FC236}">
                <a16:creationId xmlns:a16="http://schemas.microsoft.com/office/drawing/2014/main" id="{03451FB7-66C0-A2ED-7623-2809BD4A2B0E}"/>
              </a:ext>
            </a:extLst>
          </p:cNvPr>
          <p:cNvSpPr>
            <a:spLocks noGrp="1"/>
          </p:cNvSpPr>
          <p:nvPr>
            <p:ph idx="1"/>
          </p:nvPr>
        </p:nvSpPr>
        <p:spPr/>
        <p:txBody>
          <a:bodyPr>
            <a:normAutofit fontScale="77500" lnSpcReduction="20000"/>
          </a:bodyPr>
          <a:lstStyle/>
          <a:p>
            <a:pPr>
              <a:lnSpc>
                <a:spcPct val="110000"/>
              </a:lnSpc>
              <a:spcAft>
                <a:spcPts val="600"/>
              </a:spcAft>
            </a:pPr>
            <a:r>
              <a:rPr lang="en-GB" noProof="0" dirty="0"/>
              <a:t>Use a mix of upper and lower case letters, numbers and symbols (for example, “T!g3r$2run”).</a:t>
            </a:r>
          </a:p>
          <a:p>
            <a:pPr>
              <a:lnSpc>
                <a:spcPct val="110000"/>
              </a:lnSpc>
              <a:spcAft>
                <a:spcPts val="600"/>
              </a:spcAft>
            </a:pPr>
            <a:r>
              <a:rPr lang="en-GB" noProof="0" dirty="0"/>
              <a:t>Make your password at least ten to fifteen characters long.</a:t>
            </a:r>
          </a:p>
          <a:p>
            <a:pPr>
              <a:lnSpc>
                <a:spcPct val="110000"/>
              </a:lnSpc>
              <a:spcAft>
                <a:spcPts val="600"/>
              </a:spcAft>
            </a:pPr>
            <a:r>
              <a:rPr lang="en-GB" noProof="0" dirty="0"/>
              <a:t>Avoid using personal information such as your name or birthday.</a:t>
            </a:r>
          </a:p>
          <a:p>
            <a:pPr>
              <a:lnSpc>
                <a:spcPct val="110000"/>
              </a:lnSpc>
              <a:spcAft>
                <a:spcPts val="600"/>
              </a:spcAft>
            </a:pPr>
            <a:r>
              <a:rPr lang="en-GB" noProof="0" dirty="0"/>
              <a:t>Try using a memorable phrase, then change some letters to numbers or symbols (for example, </a:t>
            </a:r>
            <a:r>
              <a:rPr lang="en-GB" noProof="0" dirty="0" err="1"/>
              <a:t>FootballIsGreat</a:t>
            </a:r>
            <a:r>
              <a:rPr lang="en-GB" noProof="0" dirty="0"/>
              <a:t> becomes “F00tb@ll!sGr8”).</a:t>
            </a:r>
          </a:p>
          <a:p>
            <a:pPr>
              <a:lnSpc>
                <a:spcPct val="110000"/>
              </a:lnSpc>
              <a:spcAft>
                <a:spcPts val="600"/>
              </a:spcAft>
            </a:pPr>
            <a:r>
              <a:rPr lang="en-GB" noProof="0" dirty="0"/>
              <a:t>Never use the same password for more than one account.</a:t>
            </a:r>
          </a:p>
        </p:txBody>
      </p:sp>
    </p:spTree>
    <p:extLst>
      <p:ext uri="{BB962C8B-B14F-4D97-AF65-F5344CB8AC3E}">
        <p14:creationId xmlns:p14="http://schemas.microsoft.com/office/powerpoint/2010/main" val="357839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4BF4D-0905-77A2-EFAB-5BAAF9C4940B}"/>
              </a:ext>
            </a:extLst>
          </p:cNvPr>
          <p:cNvSpPr>
            <a:spLocks noGrp="1"/>
          </p:cNvSpPr>
          <p:nvPr>
            <p:ph type="title"/>
          </p:nvPr>
        </p:nvSpPr>
        <p:spPr/>
        <p:txBody>
          <a:bodyPr/>
          <a:lstStyle/>
          <a:p>
            <a:r>
              <a:rPr lang="en-GB" noProof="0" dirty="0"/>
              <a:t>Passwords</a:t>
            </a:r>
          </a:p>
        </p:txBody>
      </p:sp>
      <p:sp>
        <p:nvSpPr>
          <p:cNvPr id="3" name="Content Placeholder 2">
            <a:extLst>
              <a:ext uri="{FF2B5EF4-FFF2-40B4-BE49-F238E27FC236}">
                <a16:creationId xmlns:a16="http://schemas.microsoft.com/office/drawing/2014/main" id="{D63EFE3B-128F-73E9-7FE0-FE6F44FE9689}"/>
              </a:ext>
            </a:extLst>
          </p:cNvPr>
          <p:cNvSpPr>
            <a:spLocks noGrp="1"/>
          </p:cNvSpPr>
          <p:nvPr>
            <p:ph idx="1"/>
          </p:nvPr>
        </p:nvSpPr>
        <p:spPr/>
        <p:txBody>
          <a:bodyPr>
            <a:normAutofit fontScale="92500" lnSpcReduction="20000"/>
          </a:bodyPr>
          <a:lstStyle/>
          <a:p>
            <a:pPr>
              <a:spcAft>
                <a:spcPts val="600"/>
              </a:spcAft>
            </a:pPr>
            <a:r>
              <a:rPr lang="en-GB" noProof="0" dirty="0"/>
              <a:t>Go to:</a:t>
            </a:r>
          </a:p>
          <a:p>
            <a:pPr algn="ctr">
              <a:spcAft>
                <a:spcPts val="600"/>
              </a:spcAft>
            </a:pPr>
            <a:r>
              <a:rPr lang="en-GB" noProof="0" dirty="0">
                <a:solidFill>
                  <a:srgbClr val="0070C0"/>
                </a:solidFill>
                <a:hlinkClick r:id="rId2">
                  <a:extLst>
                    <a:ext uri="{A12FA001-AC4F-418D-AE19-62706E023703}">
                      <ahyp:hlinkClr xmlns:ahyp="http://schemas.microsoft.com/office/drawing/2018/hyperlinkcolor" val="tx"/>
                    </a:ext>
                  </a:extLst>
                </a:hlinkClick>
              </a:rPr>
              <a:t>https://www.checkmypassword.com.au/</a:t>
            </a:r>
            <a:endParaRPr lang="en-GB" noProof="0" dirty="0">
              <a:solidFill>
                <a:srgbClr val="0070C0"/>
              </a:solidFill>
            </a:endParaRPr>
          </a:p>
          <a:p>
            <a:pPr>
              <a:spcAft>
                <a:spcPts val="600"/>
              </a:spcAft>
            </a:pPr>
            <a:r>
              <a:rPr lang="en-GB" noProof="0" dirty="0"/>
              <a:t>Enter some sample passwords and see how long it would take AI to crack them.</a:t>
            </a:r>
          </a:p>
          <a:p>
            <a:pPr>
              <a:spcAft>
                <a:spcPts val="600"/>
              </a:spcAft>
            </a:pPr>
            <a:r>
              <a:rPr lang="en-GB" noProof="0" dirty="0"/>
              <a:t>How long would it take to crack the following passwords:</a:t>
            </a:r>
          </a:p>
          <a:p>
            <a:pPr marL="893763">
              <a:spcAft>
                <a:spcPts val="600"/>
              </a:spcAft>
            </a:pPr>
            <a:r>
              <a:rPr lang="en-GB" noProof="0" dirty="0" err="1"/>
              <a:t>ilovemycat</a:t>
            </a:r>
            <a:endParaRPr lang="en-GB" noProof="0" dirty="0"/>
          </a:p>
          <a:p>
            <a:pPr marL="893763">
              <a:spcAft>
                <a:spcPts val="600"/>
              </a:spcAft>
            </a:pPr>
            <a:r>
              <a:rPr lang="en-GB" noProof="0" dirty="0"/>
              <a:t>paSSw0rd </a:t>
            </a:r>
            <a:r>
              <a:rPr lang="en-GB" sz="2300" noProof="0" dirty="0"/>
              <a:t>(this uses a zero rather than the letter o)</a:t>
            </a:r>
          </a:p>
          <a:p>
            <a:pPr marL="893763">
              <a:spcAft>
                <a:spcPts val="600"/>
              </a:spcAft>
            </a:pPr>
            <a:r>
              <a:rPr lang="en-GB" noProof="0" dirty="0"/>
              <a:t>FrAnkENste1n’s#m0nster! </a:t>
            </a:r>
            <a:r>
              <a:rPr lang="en-GB" sz="2300" noProof="0" dirty="0"/>
              <a:t>(this also uses a zero)</a:t>
            </a:r>
            <a:endParaRPr lang="en-GB" noProof="0" dirty="0"/>
          </a:p>
        </p:txBody>
      </p:sp>
    </p:spTree>
    <p:extLst>
      <p:ext uri="{BB962C8B-B14F-4D97-AF65-F5344CB8AC3E}">
        <p14:creationId xmlns:p14="http://schemas.microsoft.com/office/powerpoint/2010/main" val="919138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D8FF0-9EF2-6DA7-29E9-8F5583C72060}"/>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3493A146-10B6-6087-F158-5EFBF4AC1162}"/>
              </a:ext>
            </a:extLst>
          </p:cNvPr>
          <p:cNvSpPr/>
          <p:nvPr/>
        </p:nvSpPr>
        <p:spPr>
          <a:xfrm>
            <a:off x="413992" y="4028112"/>
            <a:ext cx="11364016" cy="763571"/>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Title 1">
            <a:extLst>
              <a:ext uri="{FF2B5EF4-FFF2-40B4-BE49-F238E27FC236}">
                <a16:creationId xmlns:a16="http://schemas.microsoft.com/office/drawing/2014/main" id="{72E80BD6-35FC-9B6E-FEFF-71E5B29BF01B}"/>
              </a:ext>
            </a:extLst>
          </p:cNvPr>
          <p:cNvSpPr>
            <a:spLocks noGrp="1"/>
          </p:cNvSpPr>
          <p:nvPr>
            <p:ph type="title"/>
          </p:nvPr>
        </p:nvSpPr>
        <p:spPr/>
        <p:txBody>
          <a:bodyPr/>
          <a:lstStyle/>
          <a:p>
            <a:r>
              <a:rPr lang="en-GB" noProof="0" dirty="0"/>
              <a:t>Steps to success</a:t>
            </a:r>
          </a:p>
        </p:txBody>
      </p:sp>
      <p:sp>
        <p:nvSpPr>
          <p:cNvPr id="3" name="Content Placeholder 2">
            <a:extLst>
              <a:ext uri="{FF2B5EF4-FFF2-40B4-BE49-F238E27FC236}">
                <a16:creationId xmlns:a16="http://schemas.microsoft.com/office/drawing/2014/main" id="{D005CEF3-96B6-8CA6-A205-2C9E2139943B}"/>
              </a:ext>
            </a:extLst>
          </p:cNvPr>
          <p:cNvSpPr>
            <a:spLocks noGrp="1"/>
          </p:cNvSpPr>
          <p:nvPr>
            <p:ph idx="1"/>
          </p:nvPr>
        </p:nvSpPr>
        <p:spPr>
          <a:xfrm>
            <a:off x="413992" y="1581149"/>
            <a:ext cx="10749308" cy="4685481"/>
          </a:xfrm>
        </p:spPr>
        <p:txBody>
          <a:bodyPr/>
          <a:lstStyle/>
          <a:p>
            <a:pPr marL="809625" indent="-723900">
              <a:buClr>
                <a:srgbClr val="C00000"/>
              </a:buClr>
              <a:buSzPct val="107000"/>
              <a:buFont typeface="+mj-lt"/>
              <a:buAutoNum type="arabicPeriod"/>
            </a:pPr>
            <a:r>
              <a:rPr lang="en-GB" sz="3600" noProof="0" dirty="0"/>
              <a:t>Firewalls</a:t>
            </a:r>
          </a:p>
          <a:p>
            <a:pPr marL="809625" indent="-723900">
              <a:buClr>
                <a:srgbClr val="C00000"/>
              </a:buClr>
              <a:buSzPct val="107000"/>
              <a:buFont typeface="+mj-lt"/>
              <a:buAutoNum type="arabicPeriod"/>
            </a:pPr>
            <a:r>
              <a:rPr lang="en-GB" sz="3600" noProof="0" dirty="0"/>
              <a:t>Antivirus software</a:t>
            </a:r>
          </a:p>
          <a:p>
            <a:pPr marL="809625" indent="-723900">
              <a:buClr>
                <a:srgbClr val="C00000"/>
              </a:buClr>
              <a:buSzPct val="107000"/>
              <a:buFont typeface="+mj-lt"/>
              <a:buAutoNum type="arabicPeriod"/>
            </a:pPr>
            <a:r>
              <a:rPr lang="en-GB" sz="3600" noProof="0" dirty="0"/>
              <a:t>Passwords</a:t>
            </a:r>
          </a:p>
          <a:p>
            <a:pPr marL="809625" indent="-723900">
              <a:buClr>
                <a:srgbClr val="C00000"/>
              </a:buClr>
              <a:buSzPct val="107000"/>
              <a:buFont typeface="+mj-lt"/>
              <a:buAutoNum type="arabicPeriod"/>
            </a:pPr>
            <a:r>
              <a:rPr lang="en-GB" sz="3600" noProof="0" dirty="0"/>
              <a:t>Two-factor authentication</a:t>
            </a:r>
          </a:p>
          <a:p>
            <a:pPr marL="809625" indent="-723900">
              <a:buClr>
                <a:srgbClr val="C00000"/>
              </a:buClr>
              <a:buSzPct val="107000"/>
              <a:buFont typeface="+mj-lt"/>
              <a:buAutoNum type="arabicPeriod"/>
            </a:pPr>
            <a:r>
              <a:rPr lang="en-GB" sz="3600" noProof="0" dirty="0"/>
              <a:t>Encryption</a:t>
            </a:r>
            <a:endParaRPr lang="en-GB" noProof="0" dirty="0"/>
          </a:p>
        </p:txBody>
      </p:sp>
    </p:spTree>
    <p:extLst>
      <p:ext uri="{BB962C8B-B14F-4D97-AF65-F5344CB8AC3E}">
        <p14:creationId xmlns:p14="http://schemas.microsoft.com/office/powerpoint/2010/main" val="835387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FCBD4-71A4-FAF0-28F0-3AA5C9852873}"/>
              </a:ext>
            </a:extLst>
          </p:cNvPr>
          <p:cNvSpPr>
            <a:spLocks noGrp="1"/>
          </p:cNvSpPr>
          <p:nvPr>
            <p:ph type="title"/>
          </p:nvPr>
        </p:nvSpPr>
        <p:spPr/>
        <p:txBody>
          <a:bodyPr/>
          <a:lstStyle/>
          <a:p>
            <a:r>
              <a:rPr lang="en-GB" noProof="0" dirty="0"/>
              <a:t>Two-factor authentication </a:t>
            </a:r>
          </a:p>
        </p:txBody>
      </p:sp>
      <p:sp>
        <p:nvSpPr>
          <p:cNvPr id="3" name="Content Placeholder 2">
            <a:extLst>
              <a:ext uri="{FF2B5EF4-FFF2-40B4-BE49-F238E27FC236}">
                <a16:creationId xmlns:a16="http://schemas.microsoft.com/office/drawing/2014/main" id="{C32B77A0-804F-27D2-26F1-22920F94B966}"/>
              </a:ext>
            </a:extLst>
          </p:cNvPr>
          <p:cNvSpPr>
            <a:spLocks noGrp="1"/>
          </p:cNvSpPr>
          <p:nvPr>
            <p:ph idx="1"/>
          </p:nvPr>
        </p:nvSpPr>
        <p:spPr/>
        <p:txBody>
          <a:bodyPr>
            <a:normAutofit fontScale="85000" lnSpcReduction="20000"/>
          </a:bodyPr>
          <a:lstStyle/>
          <a:p>
            <a:r>
              <a:rPr lang="en-GB" noProof="0" dirty="0"/>
              <a:t>We are going to play a game. I need six volunteers.</a:t>
            </a:r>
          </a:p>
          <a:p>
            <a:r>
              <a:rPr lang="en-GB" noProof="0" dirty="0"/>
              <a:t>Login Attempters take turns giving the Account Holder an instruction, for example, clap your hands or stand up.</a:t>
            </a:r>
          </a:p>
          <a:p>
            <a:r>
              <a:rPr lang="en-GB" noProof="0" dirty="0"/>
              <a:t>Only those who show they know the secret key before their instruction will be allowed access – the Account Holder must only follow the instruction if the secret key is given.</a:t>
            </a:r>
          </a:p>
          <a:p>
            <a:r>
              <a:rPr lang="en-GB" noProof="0" dirty="0"/>
              <a:t>The rest of the group watches and tries to work out what the secret key is.</a:t>
            </a:r>
          </a:p>
        </p:txBody>
      </p:sp>
    </p:spTree>
    <p:extLst>
      <p:ext uri="{BB962C8B-B14F-4D97-AF65-F5344CB8AC3E}">
        <p14:creationId xmlns:p14="http://schemas.microsoft.com/office/powerpoint/2010/main" val="915915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F535A-D5D5-AAEE-A976-ED9F5980B4F7}"/>
              </a:ext>
            </a:extLst>
          </p:cNvPr>
          <p:cNvSpPr>
            <a:spLocks noGrp="1"/>
          </p:cNvSpPr>
          <p:nvPr>
            <p:ph type="title"/>
          </p:nvPr>
        </p:nvSpPr>
        <p:spPr/>
        <p:txBody>
          <a:bodyPr/>
          <a:lstStyle/>
          <a:p>
            <a:r>
              <a:rPr lang="en-GB" noProof="0" dirty="0"/>
              <a:t>Two-factor authentication</a:t>
            </a:r>
          </a:p>
        </p:txBody>
      </p:sp>
      <p:sp>
        <p:nvSpPr>
          <p:cNvPr id="3" name="Content Placeholder 2">
            <a:extLst>
              <a:ext uri="{FF2B5EF4-FFF2-40B4-BE49-F238E27FC236}">
                <a16:creationId xmlns:a16="http://schemas.microsoft.com/office/drawing/2014/main" id="{FAB26C9B-F3A8-B8DD-71DD-935C8B7F5201}"/>
              </a:ext>
            </a:extLst>
          </p:cNvPr>
          <p:cNvSpPr>
            <a:spLocks noGrp="1"/>
          </p:cNvSpPr>
          <p:nvPr>
            <p:ph idx="1"/>
          </p:nvPr>
        </p:nvSpPr>
        <p:spPr/>
        <p:txBody>
          <a:bodyPr>
            <a:normAutofit/>
          </a:bodyPr>
          <a:lstStyle/>
          <a:p>
            <a:r>
              <a:rPr lang="en-GB" noProof="0" dirty="0"/>
              <a:t>The secret key was to touch their face before giving the instruction.</a:t>
            </a:r>
          </a:p>
          <a:p>
            <a:r>
              <a:rPr lang="en-GB" noProof="0" dirty="0"/>
              <a:t>Observing the actions and working out which ones were successful and which were not would have allowed you to work out the secret key.</a:t>
            </a:r>
          </a:p>
          <a:p>
            <a:r>
              <a:rPr lang="en-GB" noProof="0" dirty="0"/>
              <a:t>Therefore, passwords can be cracked.</a:t>
            </a:r>
          </a:p>
        </p:txBody>
      </p:sp>
    </p:spTree>
    <p:extLst>
      <p:ext uri="{BB962C8B-B14F-4D97-AF65-F5344CB8AC3E}">
        <p14:creationId xmlns:p14="http://schemas.microsoft.com/office/powerpoint/2010/main" val="3700862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1AC7C-FEAB-B880-96F0-91B13E511470}"/>
              </a:ext>
            </a:extLst>
          </p:cNvPr>
          <p:cNvSpPr>
            <a:spLocks noGrp="1"/>
          </p:cNvSpPr>
          <p:nvPr>
            <p:ph type="title"/>
          </p:nvPr>
        </p:nvSpPr>
        <p:spPr/>
        <p:txBody>
          <a:bodyPr/>
          <a:lstStyle/>
          <a:p>
            <a:r>
              <a:rPr lang="en-GB" noProof="0" dirty="0"/>
              <a:t>Two-factor authentication</a:t>
            </a:r>
          </a:p>
        </p:txBody>
      </p:sp>
      <p:sp>
        <p:nvSpPr>
          <p:cNvPr id="3" name="Content Placeholder 2">
            <a:extLst>
              <a:ext uri="{FF2B5EF4-FFF2-40B4-BE49-F238E27FC236}">
                <a16:creationId xmlns:a16="http://schemas.microsoft.com/office/drawing/2014/main" id="{A42714B5-A200-93AA-59D7-0CA7519EB25B}"/>
              </a:ext>
            </a:extLst>
          </p:cNvPr>
          <p:cNvSpPr>
            <a:spLocks noGrp="1"/>
          </p:cNvSpPr>
          <p:nvPr>
            <p:ph idx="1"/>
          </p:nvPr>
        </p:nvSpPr>
        <p:spPr/>
        <p:txBody>
          <a:bodyPr>
            <a:normAutofit/>
          </a:bodyPr>
          <a:lstStyle/>
          <a:p>
            <a:r>
              <a:rPr lang="en-GB" noProof="0" dirty="0"/>
              <a:t>We will try it again, but this time the Account Holder will only follow the instruction if the Login Attempter is also holding this pen.</a:t>
            </a:r>
          </a:p>
          <a:p>
            <a:r>
              <a:rPr lang="en-GB" noProof="0" dirty="0"/>
              <a:t>Even if the other Login Attempters touch their face before giving the instruction, the Account Holder does not need to follow the instruction unless they are holding the pen. They simply say “Access denied”.</a:t>
            </a:r>
          </a:p>
        </p:txBody>
      </p:sp>
    </p:spTree>
    <p:extLst>
      <p:ext uri="{BB962C8B-B14F-4D97-AF65-F5344CB8AC3E}">
        <p14:creationId xmlns:p14="http://schemas.microsoft.com/office/powerpoint/2010/main" val="263310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5034-129D-C504-6693-F46738C56432}"/>
              </a:ext>
            </a:extLst>
          </p:cNvPr>
          <p:cNvSpPr>
            <a:spLocks noGrp="1"/>
          </p:cNvSpPr>
          <p:nvPr>
            <p:ph type="title"/>
          </p:nvPr>
        </p:nvSpPr>
        <p:spPr/>
        <p:txBody>
          <a:bodyPr/>
          <a:lstStyle/>
          <a:p>
            <a:r>
              <a:rPr lang="en-GB" noProof="0" dirty="0"/>
              <a:t>Two-factor authentication </a:t>
            </a:r>
          </a:p>
        </p:txBody>
      </p:sp>
      <p:sp>
        <p:nvSpPr>
          <p:cNvPr id="5" name="Content Placeholder 4">
            <a:extLst>
              <a:ext uri="{FF2B5EF4-FFF2-40B4-BE49-F238E27FC236}">
                <a16:creationId xmlns:a16="http://schemas.microsoft.com/office/drawing/2014/main" id="{615F937D-C85A-89B2-E437-B9D9E8EF8AFE}"/>
              </a:ext>
            </a:extLst>
          </p:cNvPr>
          <p:cNvSpPr>
            <a:spLocks noGrp="1"/>
          </p:cNvSpPr>
          <p:nvPr>
            <p:ph idx="1"/>
          </p:nvPr>
        </p:nvSpPr>
        <p:spPr/>
        <p:txBody>
          <a:bodyPr/>
          <a:lstStyle/>
          <a:p>
            <a:r>
              <a:rPr lang="en-GB" b="1" noProof="0" dirty="0">
                <a:solidFill>
                  <a:srgbClr val="C00000"/>
                </a:solidFill>
              </a:rPr>
              <a:t>Two-factor authentication </a:t>
            </a:r>
            <a:r>
              <a:rPr lang="en-GB" noProof="0" dirty="0"/>
              <a:t>(2FA) is an extra layer of security for your online accounts.</a:t>
            </a:r>
          </a:p>
          <a:p>
            <a:r>
              <a:rPr lang="en-GB" noProof="0" dirty="0"/>
              <a:t>Instead of just entering a password, you also need a second piece of information to log in.</a:t>
            </a:r>
          </a:p>
        </p:txBody>
      </p:sp>
    </p:spTree>
    <p:extLst>
      <p:ext uri="{BB962C8B-B14F-4D97-AF65-F5344CB8AC3E}">
        <p14:creationId xmlns:p14="http://schemas.microsoft.com/office/powerpoint/2010/main" val="2023900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24EB7-BE4B-6AE5-2674-6B4F6ADCACC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0C596-C93F-EDED-C5ED-1F84B06923BD}"/>
              </a:ext>
            </a:extLst>
          </p:cNvPr>
          <p:cNvSpPr>
            <a:spLocks noGrp="1"/>
          </p:cNvSpPr>
          <p:nvPr>
            <p:ph type="title"/>
          </p:nvPr>
        </p:nvSpPr>
        <p:spPr/>
        <p:txBody>
          <a:bodyPr/>
          <a:lstStyle/>
          <a:p>
            <a:r>
              <a:rPr lang="en-GB" noProof="0" dirty="0"/>
              <a:t>Two-factor authentication </a:t>
            </a:r>
          </a:p>
        </p:txBody>
      </p:sp>
      <p:sp>
        <p:nvSpPr>
          <p:cNvPr id="5" name="Content Placeholder 4">
            <a:extLst>
              <a:ext uri="{FF2B5EF4-FFF2-40B4-BE49-F238E27FC236}">
                <a16:creationId xmlns:a16="http://schemas.microsoft.com/office/drawing/2014/main" id="{0155F252-F8FC-4ABD-2930-203B4C79E7F3}"/>
              </a:ext>
            </a:extLst>
          </p:cNvPr>
          <p:cNvSpPr>
            <a:spLocks noGrp="1"/>
          </p:cNvSpPr>
          <p:nvPr>
            <p:ph idx="1"/>
          </p:nvPr>
        </p:nvSpPr>
        <p:spPr/>
        <p:txBody>
          <a:bodyPr/>
          <a:lstStyle/>
          <a:p>
            <a:r>
              <a:rPr lang="en-GB" noProof="0" dirty="0"/>
              <a:t>This second factor could be:</a:t>
            </a:r>
          </a:p>
          <a:p>
            <a:pPr marL="893763" indent="-441325">
              <a:buFont typeface="Arial" panose="020B0604020202020204" pitchFamily="34" charset="0"/>
              <a:buChar char="•"/>
            </a:pPr>
            <a:r>
              <a:rPr lang="en-GB" noProof="0" dirty="0"/>
              <a:t>A code sent to your phone</a:t>
            </a:r>
          </a:p>
          <a:p>
            <a:pPr marL="893763" indent="-441325">
              <a:buFont typeface="Arial" panose="020B0604020202020204" pitchFamily="34" charset="0"/>
              <a:buChar char="•"/>
            </a:pPr>
            <a:r>
              <a:rPr lang="en-GB" noProof="0" dirty="0"/>
              <a:t>A fingerprint or face scan</a:t>
            </a:r>
          </a:p>
          <a:p>
            <a:pPr marL="893763" indent="-441325">
              <a:buFont typeface="Arial" panose="020B0604020202020204" pitchFamily="34" charset="0"/>
              <a:buChar char="•"/>
            </a:pPr>
            <a:r>
              <a:rPr lang="en-GB" noProof="0" dirty="0"/>
              <a:t>An app that generates a one-time code</a:t>
            </a:r>
          </a:p>
          <a:p>
            <a:r>
              <a:rPr lang="en-GB" noProof="0" dirty="0"/>
              <a:t>Even if someone knows your password, they can not get in without the second factor.</a:t>
            </a:r>
          </a:p>
        </p:txBody>
      </p:sp>
    </p:spTree>
    <p:extLst>
      <p:ext uri="{BB962C8B-B14F-4D97-AF65-F5344CB8AC3E}">
        <p14:creationId xmlns:p14="http://schemas.microsoft.com/office/powerpoint/2010/main" val="1139626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253AB10-1D69-2637-225F-C3DC3BD32CED}"/>
              </a:ext>
            </a:extLst>
          </p:cNvPr>
          <p:cNvSpPr>
            <a:spLocks noGrp="1"/>
          </p:cNvSpPr>
          <p:nvPr>
            <p:ph idx="1"/>
          </p:nvPr>
        </p:nvSpPr>
        <p:spPr/>
        <p:txBody>
          <a:bodyPr>
            <a:normAutofit fontScale="92500" lnSpcReduction="20000"/>
          </a:bodyPr>
          <a:lstStyle/>
          <a:p>
            <a:r>
              <a:rPr lang="en-GB" noProof="0" dirty="0"/>
              <a:t>Write a paragraph explaining what two-factor authentication (2FA) is and why it is important. In your paragraph, include:</a:t>
            </a:r>
          </a:p>
          <a:p>
            <a:pPr marL="893763" indent="-441325">
              <a:buFont typeface="Arial" panose="020B0604020202020204" pitchFamily="34" charset="0"/>
              <a:buChar char="•"/>
            </a:pPr>
            <a:r>
              <a:rPr lang="en-GB" noProof="0" dirty="0"/>
              <a:t>A definition of two-factor authentication in your own words</a:t>
            </a:r>
          </a:p>
          <a:p>
            <a:pPr marL="893763" indent="-441325">
              <a:buFont typeface="Arial" panose="020B0604020202020204" pitchFamily="34" charset="0"/>
              <a:buChar char="•"/>
            </a:pPr>
            <a:r>
              <a:rPr lang="en-GB" noProof="0" dirty="0"/>
              <a:t>An example of how it works in real life (such as logging into an email account or online banking)</a:t>
            </a:r>
          </a:p>
          <a:p>
            <a:pPr marL="893763" indent="-441325">
              <a:buFont typeface="Arial" panose="020B0604020202020204" pitchFamily="34" charset="0"/>
              <a:buChar char="•"/>
            </a:pPr>
            <a:r>
              <a:rPr lang="en-GB" noProof="0" dirty="0"/>
              <a:t>One reason why using 2FA makes your account more secure</a:t>
            </a:r>
          </a:p>
        </p:txBody>
      </p:sp>
      <p:sp>
        <p:nvSpPr>
          <p:cNvPr id="4" name="Title 3">
            <a:extLst>
              <a:ext uri="{FF2B5EF4-FFF2-40B4-BE49-F238E27FC236}">
                <a16:creationId xmlns:a16="http://schemas.microsoft.com/office/drawing/2014/main" id="{16F8B3A3-652B-E59B-1EFD-C778294949DC}"/>
              </a:ext>
            </a:extLst>
          </p:cNvPr>
          <p:cNvSpPr>
            <a:spLocks noGrp="1"/>
          </p:cNvSpPr>
          <p:nvPr>
            <p:ph type="title"/>
          </p:nvPr>
        </p:nvSpPr>
        <p:spPr/>
        <p:txBody>
          <a:bodyPr/>
          <a:lstStyle/>
          <a:p>
            <a:r>
              <a:rPr lang="en-GB" noProof="0" dirty="0"/>
              <a:t>1: Two-factor authentication</a:t>
            </a:r>
          </a:p>
        </p:txBody>
      </p:sp>
    </p:spTree>
    <p:extLst>
      <p:ext uri="{BB962C8B-B14F-4D97-AF65-F5344CB8AC3E}">
        <p14:creationId xmlns:p14="http://schemas.microsoft.com/office/powerpoint/2010/main" val="39443875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195E2-D86D-EBF6-053C-0501DF8DB42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28B8D8E-3AEF-7815-FEE8-6C001F2AD0D0}"/>
              </a:ext>
            </a:extLst>
          </p:cNvPr>
          <p:cNvSpPr>
            <a:spLocks noGrp="1"/>
          </p:cNvSpPr>
          <p:nvPr>
            <p:ph idx="1"/>
          </p:nvPr>
        </p:nvSpPr>
        <p:spPr/>
        <p:txBody>
          <a:bodyPr>
            <a:normAutofit fontScale="85000" lnSpcReduction="20000"/>
          </a:bodyPr>
          <a:lstStyle/>
          <a:p>
            <a:r>
              <a:rPr lang="en-GB" b="1" noProof="0" dirty="0">
                <a:solidFill>
                  <a:srgbClr val="C00000"/>
                </a:solidFill>
              </a:rPr>
              <a:t>Two-factor authentication (2FA) is a way of protecting your online accounts by requiring two different types of information before you can log in. </a:t>
            </a:r>
          </a:p>
          <a:p>
            <a:r>
              <a:rPr lang="en-GB" b="1" noProof="0" dirty="0">
                <a:solidFill>
                  <a:srgbClr val="C00000"/>
                </a:solidFill>
              </a:rPr>
              <a:t>For example, when you try to access your email, you might enter your password and then have to type in a code sent to your phone. </a:t>
            </a:r>
          </a:p>
          <a:p>
            <a:r>
              <a:rPr lang="en-GB" b="1" noProof="0" dirty="0">
                <a:solidFill>
                  <a:srgbClr val="C00000"/>
                </a:solidFill>
              </a:rPr>
              <a:t>This makes your account much more secure because even if someone knows your password, they can not get in without the second code. Using 2FA helps stop hackers from accessing your personal information and keeps your accounts safe.</a:t>
            </a:r>
          </a:p>
        </p:txBody>
      </p:sp>
      <p:sp>
        <p:nvSpPr>
          <p:cNvPr id="4" name="Title 3">
            <a:extLst>
              <a:ext uri="{FF2B5EF4-FFF2-40B4-BE49-F238E27FC236}">
                <a16:creationId xmlns:a16="http://schemas.microsoft.com/office/drawing/2014/main" id="{F0537C6B-60FD-841F-4194-8C77605D22ED}"/>
              </a:ext>
            </a:extLst>
          </p:cNvPr>
          <p:cNvSpPr>
            <a:spLocks noGrp="1"/>
          </p:cNvSpPr>
          <p:nvPr>
            <p:ph type="title"/>
          </p:nvPr>
        </p:nvSpPr>
        <p:spPr/>
        <p:txBody>
          <a:bodyPr/>
          <a:lstStyle/>
          <a:p>
            <a:r>
              <a:rPr lang="en-GB" sz="3600" noProof="0" dirty="0"/>
              <a:t>1: Two-factor authentication </a:t>
            </a:r>
            <a:r>
              <a:rPr lang="en-GB" sz="3600" noProof="0" dirty="0">
                <a:solidFill>
                  <a:srgbClr val="C00000"/>
                </a:solidFill>
              </a:rPr>
              <a:t>ANSWER</a:t>
            </a:r>
          </a:p>
        </p:txBody>
      </p:sp>
    </p:spTree>
    <p:extLst>
      <p:ext uri="{BB962C8B-B14F-4D97-AF65-F5344CB8AC3E}">
        <p14:creationId xmlns:p14="http://schemas.microsoft.com/office/powerpoint/2010/main" val="942673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56AD-607A-2F08-8015-EEF776D0B799}"/>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2AC88CD-FF44-A414-01C9-758C14978603}"/>
              </a:ext>
            </a:extLst>
          </p:cNvPr>
          <p:cNvSpPr/>
          <p:nvPr/>
        </p:nvSpPr>
        <p:spPr>
          <a:xfrm>
            <a:off x="393444" y="4864243"/>
            <a:ext cx="11364016" cy="763571"/>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Title 1">
            <a:extLst>
              <a:ext uri="{FF2B5EF4-FFF2-40B4-BE49-F238E27FC236}">
                <a16:creationId xmlns:a16="http://schemas.microsoft.com/office/drawing/2014/main" id="{B1C4A51A-73CF-416B-2545-4E6BCE4F89DA}"/>
              </a:ext>
            </a:extLst>
          </p:cNvPr>
          <p:cNvSpPr>
            <a:spLocks noGrp="1"/>
          </p:cNvSpPr>
          <p:nvPr>
            <p:ph type="title"/>
          </p:nvPr>
        </p:nvSpPr>
        <p:spPr/>
        <p:txBody>
          <a:bodyPr/>
          <a:lstStyle/>
          <a:p>
            <a:r>
              <a:rPr lang="en-GB" noProof="0" dirty="0"/>
              <a:t>Steps to success</a:t>
            </a:r>
          </a:p>
        </p:txBody>
      </p:sp>
      <p:sp>
        <p:nvSpPr>
          <p:cNvPr id="3" name="Content Placeholder 2">
            <a:extLst>
              <a:ext uri="{FF2B5EF4-FFF2-40B4-BE49-F238E27FC236}">
                <a16:creationId xmlns:a16="http://schemas.microsoft.com/office/drawing/2014/main" id="{C5A60DB4-3EAD-3A7E-44C6-B579206EE985}"/>
              </a:ext>
            </a:extLst>
          </p:cNvPr>
          <p:cNvSpPr>
            <a:spLocks noGrp="1"/>
          </p:cNvSpPr>
          <p:nvPr>
            <p:ph idx="1"/>
          </p:nvPr>
        </p:nvSpPr>
        <p:spPr>
          <a:xfrm>
            <a:off x="413992" y="1581149"/>
            <a:ext cx="10749308" cy="4685481"/>
          </a:xfrm>
        </p:spPr>
        <p:txBody>
          <a:bodyPr/>
          <a:lstStyle/>
          <a:p>
            <a:pPr marL="809625" indent="-723900">
              <a:buClr>
                <a:srgbClr val="C00000"/>
              </a:buClr>
              <a:buSzPct val="107000"/>
              <a:buFont typeface="+mj-lt"/>
              <a:buAutoNum type="arabicPeriod"/>
            </a:pPr>
            <a:r>
              <a:rPr lang="en-GB" sz="3600" noProof="0" dirty="0"/>
              <a:t>Firewalls</a:t>
            </a:r>
          </a:p>
          <a:p>
            <a:pPr marL="809625" indent="-723900">
              <a:buClr>
                <a:srgbClr val="C00000"/>
              </a:buClr>
              <a:buSzPct val="107000"/>
              <a:buFont typeface="+mj-lt"/>
              <a:buAutoNum type="arabicPeriod"/>
            </a:pPr>
            <a:r>
              <a:rPr lang="en-GB" sz="3600" noProof="0" dirty="0"/>
              <a:t>Antivirus software</a:t>
            </a:r>
          </a:p>
          <a:p>
            <a:pPr marL="809625" indent="-723900">
              <a:buClr>
                <a:srgbClr val="C00000"/>
              </a:buClr>
              <a:buSzPct val="107000"/>
              <a:buFont typeface="+mj-lt"/>
              <a:buAutoNum type="arabicPeriod"/>
            </a:pPr>
            <a:r>
              <a:rPr lang="en-GB" sz="3600" noProof="0" dirty="0"/>
              <a:t>Passwords</a:t>
            </a:r>
          </a:p>
          <a:p>
            <a:pPr marL="809625" indent="-723900">
              <a:buClr>
                <a:srgbClr val="C00000"/>
              </a:buClr>
              <a:buSzPct val="107000"/>
              <a:buFont typeface="+mj-lt"/>
              <a:buAutoNum type="arabicPeriod"/>
            </a:pPr>
            <a:r>
              <a:rPr lang="en-GB" sz="3600" noProof="0" dirty="0"/>
              <a:t>Two-factor authentication</a:t>
            </a:r>
          </a:p>
          <a:p>
            <a:pPr marL="809625" indent="-723900">
              <a:buClr>
                <a:srgbClr val="C00000"/>
              </a:buClr>
              <a:buSzPct val="107000"/>
              <a:buFont typeface="+mj-lt"/>
              <a:buAutoNum type="arabicPeriod"/>
            </a:pPr>
            <a:r>
              <a:rPr lang="en-GB" sz="3600" noProof="0" dirty="0"/>
              <a:t>Encryption</a:t>
            </a:r>
            <a:endParaRPr lang="en-GB" noProof="0" dirty="0"/>
          </a:p>
        </p:txBody>
      </p:sp>
    </p:spTree>
    <p:extLst>
      <p:ext uri="{BB962C8B-B14F-4D97-AF65-F5344CB8AC3E}">
        <p14:creationId xmlns:p14="http://schemas.microsoft.com/office/powerpoint/2010/main" val="115980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descr="Encoded message">
            <a:extLst>
              <a:ext uri="{FF2B5EF4-FFF2-40B4-BE49-F238E27FC236}">
                <a16:creationId xmlns:a16="http://schemas.microsoft.com/office/drawing/2014/main" id="{DA568570-92DC-5751-1B27-23BDAD4FFF4F}"/>
              </a:ext>
            </a:extLst>
          </p:cNvPr>
          <p:cNvSpPr>
            <a:spLocks noGrp="1"/>
          </p:cNvSpPr>
          <p:nvPr>
            <p:ph idx="1"/>
          </p:nvPr>
        </p:nvSpPr>
        <p:spPr/>
        <p:txBody>
          <a:bodyPr/>
          <a:lstStyle/>
          <a:p>
            <a:r>
              <a:rPr lang="en-GB" noProof="0" dirty="0"/>
              <a:t>What does this message mean?</a:t>
            </a:r>
          </a:p>
          <a:p>
            <a:endParaRPr lang="en-GB" noProof="0" dirty="0"/>
          </a:p>
          <a:p>
            <a:endParaRPr lang="en-GB" noProof="0" dirty="0"/>
          </a:p>
          <a:p>
            <a:r>
              <a:rPr lang="en-GB" noProof="0" dirty="0"/>
              <a:t>It is very difficult to work out the message unless you know the code.</a:t>
            </a:r>
          </a:p>
        </p:txBody>
      </p:sp>
      <p:sp>
        <p:nvSpPr>
          <p:cNvPr id="2" name="Title 1">
            <a:extLst>
              <a:ext uri="{FF2B5EF4-FFF2-40B4-BE49-F238E27FC236}">
                <a16:creationId xmlns:a16="http://schemas.microsoft.com/office/drawing/2014/main" id="{53D3D7A7-B82C-C970-D025-E59B0446848B}"/>
              </a:ext>
            </a:extLst>
          </p:cNvPr>
          <p:cNvSpPr>
            <a:spLocks noGrp="1"/>
          </p:cNvSpPr>
          <p:nvPr>
            <p:ph type="title"/>
          </p:nvPr>
        </p:nvSpPr>
        <p:spPr/>
        <p:txBody>
          <a:bodyPr/>
          <a:lstStyle/>
          <a:p>
            <a:r>
              <a:rPr lang="en-GB" noProof="0" dirty="0"/>
              <a:t>Encryption</a:t>
            </a:r>
          </a:p>
        </p:txBody>
      </p:sp>
      <p:pic>
        <p:nvPicPr>
          <p:cNvPr id="31" name="Picture 20" descr="Encoded message">
            <a:extLst>
              <a:ext uri="{FF2B5EF4-FFF2-40B4-BE49-F238E27FC236}">
                <a16:creationId xmlns:a16="http://schemas.microsoft.com/office/drawing/2014/main" id="{C7BAB6EB-802C-4B41-F9FA-70C094CFC10F}"/>
              </a:ext>
              <a:ext uri="{C183D7F6-B498-43B3-948B-1728B52AA6E4}">
                <adec:decorative xmlns:adec="http://schemas.microsoft.com/office/drawing/2017/decorative" val="0"/>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18114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1">
            <a:extLst>
              <a:ext uri="{FF2B5EF4-FFF2-40B4-BE49-F238E27FC236}">
                <a16:creationId xmlns:a16="http://schemas.microsoft.com/office/drawing/2014/main" id="{95E02932-DBA9-38ED-47F3-9BB10B6E967E}"/>
              </a:ext>
              <a:ext uri="{C183D7F6-B498-43B3-948B-1728B52AA6E4}">
                <adec:decorative xmlns:adec="http://schemas.microsoft.com/office/drawing/2017/decorative" val="1"/>
              </a:ext>
            </a:extLst>
          </p:cNvPr>
          <p:cNvPicPr>
            <a:picLocks noChangeAspect="1" noChangeArrowheads="1"/>
          </p:cNvPicPr>
          <p:nvPr/>
        </p:nvPicPr>
        <p:blipFill>
          <a:blip r:embed="rId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69566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2">
            <a:extLst>
              <a:ext uri="{FF2B5EF4-FFF2-40B4-BE49-F238E27FC236}">
                <a16:creationId xmlns:a16="http://schemas.microsoft.com/office/drawing/2014/main" id="{B2A62626-E1E1-189E-D7D6-62DE28879C38}"/>
              </a:ext>
              <a:ext uri="{C183D7F6-B498-43B3-948B-1728B52AA6E4}">
                <adec:decorative xmlns:adec="http://schemas.microsoft.com/office/drawing/2017/decorative" val="1"/>
              </a:ext>
            </a:extLst>
          </p:cNvPr>
          <p:cNvPicPr>
            <a:picLocks noChangeAspect="1" noChangeArrowheads="1"/>
          </p:cNvPicPr>
          <p:nvPr/>
        </p:nvPicPr>
        <p:blipFill>
          <a:blip r:embed="rId4">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21017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
            <a:extLst>
              <a:ext uri="{FF2B5EF4-FFF2-40B4-BE49-F238E27FC236}">
                <a16:creationId xmlns:a16="http://schemas.microsoft.com/office/drawing/2014/main" id="{AA17A5B9-430D-C68C-148C-62E4859AA7D7}"/>
              </a:ext>
              <a:ext uri="{C183D7F6-B498-43B3-948B-1728B52AA6E4}">
                <adec:decorative xmlns:adec="http://schemas.microsoft.com/office/drawing/2017/decorative" val="1"/>
              </a:ext>
            </a:extLst>
          </p:cNvPr>
          <p:cNvPicPr>
            <a:picLocks noChangeAspect="1" noChangeArrowheads="1"/>
          </p:cNvPicPr>
          <p:nvPr/>
        </p:nvPicPr>
        <p:blipFill>
          <a:blip r:embed="rId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72469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4">
            <a:extLst>
              <a:ext uri="{FF2B5EF4-FFF2-40B4-BE49-F238E27FC236}">
                <a16:creationId xmlns:a16="http://schemas.microsoft.com/office/drawing/2014/main" id="{CFFC834D-7F1F-93E0-0A11-A06DC1387AE8}"/>
              </a:ext>
              <a:ext uri="{C183D7F6-B498-43B3-948B-1728B52AA6E4}">
                <adec:decorative xmlns:adec="http://schemas.microsoft.com/office/drawing/2017/decorative" val="1"/>
              </a:ext>
            </a:extLst>
          </p:cNvPr>
          <p:cNvPicPr>
            <a:picLocks noChangeAspect="1" noChangeArrowheads="1"/>
          </p:cNvPicPr>
          <p:nvPr/>
        </p:nvPicPr>
        <p:blipFill>
          <a:blip r:embed="rId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23920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5">
            <a:extLst>
              <a:ext uri="{FF2B5EF4-FFF2-40B4-BE49-F238E27FC236}">
                <a16:creationId xmlns:a16="http://schemas.microsoft.com/office/drawing/2014/main" id="{55401516-09FF-ACE3-6D8E-A29E783A5B03}"/>
              </a:ext>
              <a:ext uri="{C183D7F6-B498-43B3-948B-1728B52AA6E4}">
                <adec:decorative xmlns:adec="http://schemas.microsoft.com/office/drawing/2017/decorative" val="1"/>
              </a:ext>
            </a:extLst>
          </p:cNvPr>
          <p:cNvPicPr>
            <a:picLocks noChangeAspect="1" noChangeArrowheads="1"/>
          </p:cNvPicPr>
          <p:nvPr/>
        </p:nvPicPr>
        <p:blipFill>
          <a:blip r:embed="rId7">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5372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6">
            <a:extLst>
              <a:ext uri="{FF2B5EF4-FFF2-40B4-BE49-F238E27FC236}">
                <a16:creationId xmlns:a16="http://schemas.microsoft.com/office/drawing/2014/main" id="{C12DA8BD-ED1D-156D-0A89-2E9F5E8601FA}"/>
              </a:ext>
              <a:ext uri="{C183D7F6-B498-43B3-948B-1728B52AA6E4}">
                <adec:decorative xmlns:adec="http://schemas.microsoft.com/office/drawing/2017/decorative" val="1"/>
              </a:ext>
            </a:extLst>
          </p:cNvPr>
          <p:cNvPicPr>
            <a:picLocks noChangeAspect="1" noChangeArrowheads="1"/>
          </p:cNvPicPr>
          <p:nvPr/>
        </p:nvPicPr>
        <p:blipFill>
          <a:blip r:embed="rId8">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6823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27">
            <a:extLst>
              <a:ext uri="{FF2B5EF4-FFF2-40B4-BE49-F238E27FC236}">
                <a16:creationId xmlns:a16="http://schemas.microsoft.com/office/drawing/2014/main" id="{2ADFC4BD-5E28-2CD1-2A5B-D95CD94562E1}"/>
              </a:ext>
              <a:ext uri="{C183D7F6-B498-43B3-948B-1728B52AA6E4}">
                <adec:decorative xmlns:adec="http://schemas.microsoft.com/office/drawing/2017/decorative" val="1"/>
              </a:ext>
            </a:extLst>
          </p:cNvPr>
          <p:cNvPicPr>
            <a:picLocks noChangeAspect="1" noChangeArrowheads="1"/>
          </p:cNvPicPr>
          <p:nvPr/>
        </p:nvPicPr>
        <p:blipFill>
          <a:blip r:embed="rId9">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78275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28">
            <a:extLst>
              <a:ext uri="{FF2B5EF4-FFF2-40B4-BE49-F238E27FC236}">
                <a16:creationId xmlns:a16="http://schemas.microsoft.com/office/drawing/2014/main" id="{9F02024A-749E-500F-F93B-21160D78FB5C}"/>
              </a:ext>
              <a:ext uri="{C183D7F6-B498-43B3-948B-1728B52AA6E4}">
                <adec:decorative xmlns:adec="http://schemas.microsoft.com/office/drawing/2017/decorative" val="1"/>
              </a:ext>
            </a:extLst>
          </p:cNvPr>
          <p:cNvPicPr>
            <a:picLocks noChangeAspect="1" noChangeArrowheads="1"/>
          </p:cNvPicPr>
          <p:nvPr/>
        </p:nvPicPr>
        <p:blipFill>
          <a:blip r:embed="rId10">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29726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9">
            <a:extLst>
              <a:ext uri="{FF2B5EF4-FFF2-40B4-BE49-F238E27FC236}">
                <a16:creationId xmlns:a16="http://schemas.microsoft.com/office/drawing/2014/main" id="{949D6B3A-9E82-97AF-4C06-CB4EEF12D671}"/>
              </a:ext>
              <a:ext uri="{C183D7F6-B498-43B3-948B-1728B52AA6E4}">
                <adec:decorative xmlns:adec="http://schemas.microsoft.com/office/drawing/2017/decorative" val="1"/>
              </a:ext>
            </a:extLst>
          </p:cNvPr>
          <p:cNvPicPr>
            <a:picLocks noChangeAspect="1" noChangeArrowheads="1"/>
          </p:cNvPicPr>
          <p:nvPr/>
        </p:nvPicPr>
        <p:blipFill>
          <a:blip r:embed="rId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1178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30">
            <a:extLst>
              <a:ext uri="{FF2B5EF4-FFF2-40B4-BE49-F238E27FC236}">
                <a16:creationId xmlns:a16="http://schemas.microsoft.com/office/drawing/2014/main" id="{F6ED3B4B-C629-99C8-0DA9-5A2515949185}"/>
              </a:ext>
              <a:ext uri="{C183D7F6-B498-43B3-948B-1728B52AA6E4}">
                <adec:decorative xmlns:adec="http://schemas.microsoft.com/office/drawing/2017/decorative" val="1"/>
              </a:ext>
            </a:extLst>
          </p:cNvPr>
          <p:cNvPicPr>
            <a:picLocks noChangeAspect="1" noChangeArrowheads="1"/>
          </p:cNvPicPr>
          <p:nvPr/>
        </p:nvPicPr>
        <p:blipFill>
          <a:blip r:embed="rId11">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78592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31">
            <a:extLst>
              <a:ext uri="{FF2B5EF4-FFF2-40B4-BE49-F238E27FC236}">
                <a16:creationId xmlns:a16="http://schemas.microsoft.com/office/drawing/2014/main" id="{D16C499A-E3AD-FD49-87D1-D2B0F2CBAD1A}"/>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300440"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32">
            <a:extLst>
              <a:ext uri="{FF2B5EF4-FFF2-40B4-BE49-F238E27FC236}">
                <a16:creationId xmlns:a16="http://schemas.microsoft.com/office/drawing/2014/main" id="{CD0BC23F-3014-233C-0B04-5547B4FC920A}"/>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1495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33">
            <a:extLst>
              <a:ext uri="{FF2B5EF4-FFF2-40B4-BE49-F238E27FC236}">
                <a16:creationId xmlns:a16="http://schemas.microsoft.com/office/drawing/2014/main" id="{C388D3DC-869D-EDD5-23A9-F87EB1D7DA3D}"/>
              </a:ext>
              <a:ext uri="{C183D7F6-B498-43B3-948B-1728B52AA6E4}">
                <adec:decorative xmlns:adec="http://schemas.microsoft.com/office/drawing/2017/decorative" val="1"/>
              </a:ext>
            </a:extLst>
          </p:cNvPr>
          <p:cNvPicPr>
            <a:picLocks noChangeAspect="1" noChangeArrowheads="1"/>
          </p:cNvPicPr>
          <p:nvPr/>
        </p:nvPicPr>
        <p:blipFill>
          <a:blip r:embed="rId7">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329470"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34">
            <a:extLst>
              <a:ext uri="{FF2B5EF4-FFF2-40B4-BE49-F238E27FC236}">
                <a16:creationId xmlns:a16="http://schemas.microsoft.com/office/drawing/2014/main" id="{76F847A7-D01A-1D69-E4AD-AE013B5AD90D}"/>
              </a:ext>
              <a:ext uri="{C183D7F6-B498-43B3-948B-1728B52AA6E4}">
                <adec:decorative xmlns:adec="http://schemas.microsoft.com/office/drawing/2017/decorative" val="1"/>
              </a:ext>
            </a:extLst>
          </p:cNvPr>
          <p:cNvPicPr>
            <a:picLocks noChangeAspect="1" noChangeArrowheads="1"/>
          </p:cNvPicPr>
          <p:nvPr/>
        </p:nvPicPr>
        <p:blipFill>
          <a:blip r:embed="rId1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4398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44">
            <a:extLst>
              <a:ext uri="{FF2B5EF4-FFF2-40B4-BE49-F238E27FC236}">
                <a16:creationId xmlns:a16="http://schemas.microsoft.com/office/drawing/2014/main" id="{E0E5C7EB-E363-9A7C-993A-30F62854940D}"/>
              </a:ext>
              <a:ext uri="{C183D7F6-B498-43B3-948B-1728B52AA6E4}">
                <adec:decorative xmlns:adec="http://schemas.microsoft.com/office/drawing/2017/decorative" val="1"/>
              </a:ext>
            </a:extLst>
          </p:cNvPr>
          <p:cNvPicPr>
            <a:picLocks noChangeAspect="1" noChangeArrowheads="1"/>
          </p:cNvPicPr>
          <p:nvPr/>
        </p:nvPicPr>
        <p:blipFill>
          <a:blip r:embed="rId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68342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45">
            <a:extLst>
              <a:ext uri="{FF2B5EF4-FFF2-40B4-BE49-F238E27FC236}">
                <a16:creationId xmlns:a16="http://schemas.microsoft.com/office/drawing/2014/main" id="{CDD5B655-61CF-11B7-CBCC-EAA6C629B32C}"/>
              </a:ext>
              <a:ext uri="{C183D7F6-B498-43B3-948B-1728B52AA6E4}">
                <adec:decorative xmlns:adec="http://schemas.microsoft.com/office/drawing/2017/decorative" val="1"/>
              </a:ext>
            </a:extLst>
          </p:cNvPr>
          <p:cNvPicPr>
            <a:picLocks noChangeAspect="1" noChangeArrowheads="1"/>
          </p:cNvPicPr>
          <p:nvPr/>
        </p:nvPicPr>
        <p:blipFill>
          <a:blip r:embed="rId10">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15604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46">
            <a:extLst>
              <a:ext uri="{FF2B5EF4-FFF2-40B4-BE49-F238E27FC236}">
                <a16:creationId xmlns:a16="http://schemas.microsoft.com/office/drawing/2014/main" id="{2BE809F3-03C8-A8E4-79CA-641DCCDA68AC}"/>
              </a:ext>
              <a:ext uri="{C183D7F6-B498-43B3-948B-1728B52AA6E4}">
                <adec:decorative xmlns:adec="http://schemas.microsoft.com/office/drawing/2017/decorative" val="1"/>
              </a:ext>
            </a:extLst>
          </p:cNvPr>
          <p:cNvPicPr>
            <a:picLocks noChangeAspect="1" noChangeArrowheads="1"/>
          </p:cNvPicPr>
          <p:nvPr/>
        </p:nvPicPr>
        <p:blipFill>
          <a:blip r:embed="rId1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651180"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47">
            <a:extLst>
              <a:ext uri="{FF2B5EF4-FFF2-40B4-BE49-F238E27FC236}">
                <a16:creationId xmlns:a16="http://schemas.microsoft.com/office/drawing/2014/main" id="{3047058C-0D05-938B-8115-809923A7ECC3}"/>
              </a:ext>
              <a:ext uri="{C183D7F6-B498-43B3-948B-1728B52AA6E4}">
                <adec:decorative xmlns:adec="http://schemas.microsoft.com/office/drawing/2017/decorative" val="1"/>
              </a:ext>
            </a:extLst>
          </p:cNvPr>
          <p:cNvPicPr>
            <a:picLocks noChangeAspect="1" noChangeArrowheads="1"/>
          </p:cNvPicPr>
          <p:nvPr/>
        </p:nvPicPr>
        <p:blipFill>
          <a:blip r:embed="rId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4973"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8">
            <a:extLst>
              <a:ext uri="{FF2B5EF4-FFF2-40B4-BE49-F238E27FC236}">
                <a16:creationId xmlns:a16="http://schemas.microsoft.com/office/drawing/2014/main" id="{04A0D6E8-9815-1689-E813-F8E349F7783C}"/>
              </a:ext>
              <a:ext uri="{C183D7F6-B498-43B3-948B-1728B52AA6E4}">
                <adec:decorative xmlns:adec="http://schemas.microsoft.com/office/drawing/2017/decorative" val="1"/>
              </a:ext>
            </a:extLst>
          </p:cNvPr>
          <p:cNvPicPr>
            <a:picLocks noChangeAspect="1" noChangeArrowheads="1"/>
          </p:cNvPicPr>
          <p:nvPr/>
        </p:nvPicPr>
        <p:blipFill>
          <a:blip r:embed="rId14">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16097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49">
            <a:extLst>
              <a:ext uri="{FF2B5EF4-FFF2-40B4-BE49-F238E27FC236}">
                <a16:creationId xmlns:a16="http://schemas.microsoft.com/office/drawing/2014/main" id="{61143928-CCF2-4786-C2E8-AF27EED1A0A5}"/>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633594"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50">
            <a:extLst>
              <a:ext uri="{FF2B5EF4-FFF2-40B4-BE49-F238E27FC236}">
                <a16:creationId xmlns:a16="http://schemas.microsoft.com/office/drawing/2014/main" id="{69B63AE9-E38D-6903-67EF-18654BA97DDE}"/>
              </a:ext>
              <a:ext uri="{C183D7F6-B498-43B3-948B-1728B52AA6E4}">
                <adec:decorative xmlns:adec="http://schemas.microsoft.com/office/drawing/2017/decorative" val="1"/>
              </a:ext>
            </a:extLst>
          </p:cNvPr>
          <p:cNvPicPr>
            <a:picLocks noChangeAspect="1" noChangeArrowheads="1"/>
          </p:cNvPicPr>
          <p:nvPr/>
        </p:nvPicPr>
        <p:blipFill>
          <a:blip r:embed="rId8">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2523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51">
            <a:extLst>
              <a:ext uri="{FF2B5EF4-FFF2-40B4-BE49-F238E27FC236}">
                <a16:creationId xmlns:a16="http://schemas.microsoft.com/office/drawing/2014/main" id="{2AE601BE-AE6A-7C69-88CC-FF8666506ACF}"/>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6422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52">
            <a:extLst>
              <a:ext uri="{FF2B5EF4-FFF2-40B4-BE49-F238E27FC236}">
                <a16:creationId xmlns:a16="http://schemas.microsoft.com/office/drawing/2014/main" id="{3941C516-97AA-E140-CA6D-AACEE43F1CCC}"/>
              </a:ext>
              <a:ext uri="{C183D7F6-B498-43B3-948B-1728B52AA6E4}">
                <adec:decorative xmlns:adec="http://schemas.microsoft.com/office/drawing/2017/decorative" val="1"/>
              </a:ext>
            </a:extLst>
          </p:cNvPr>
          <p:cNvPicPr>
            <a:picLocks noChangeAspect="1" noChangeArrowheads="1"/>
          </p:cNvPicPr>
          <p:nvPr/>
        </p:nvPicPr>
        <p:blipFill>
          <a:blip r:embed="rId1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502809"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53">
            <a:extLst>
              <a:ext uri="{FF2B5EF4-FFF2-40B4-BE49-F238E27FC236}">
                <a16:creationId xmlns:a16="http://schemas.microsoft.com/office/drawing/2014/main" id="{98F8888D-430E-71E7-0168-4DA373614E0B}"/>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97353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54">
            <a:extLst>
              <a:ext uri="{FF2B5EF4-FFF2-40B4-BE49-F238E27FC236}">
                <a16:creationId xmlns:a16="http://schemas.microsoft.com/office/drawing/2014/main" id="{8D882B7D-8278-A5D6-84E4-BDC00D89FE8D}"/>
              </a:ext>
              <a:ext uri="{C183D7F6-B498-43B3-948B-1728B52AA6E4}">
                <adec:decorative xmlns:adec="http://schemas.microsoft.com/office/drawing/2017/decorative" val="1"/>
              </a:ext>
            </a:extLst>
          </p:cNvPr>
          <p:cNvPicPr>
            <a:picLocks noChangeAspect="1" noChangeArrowheads="1"/>
          </p:cNvPicPr>
          <p:nvPr/>
        </p:nvPicPr>
        <p:blipFill>
          <a:blip r:embed="rId1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483473"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55">
            <a:extLst>
              <a:ext uri="{FF2B5EF4-FFF2-40B4-BE49-F238E27FC236}">
                <a16:creationId xmlns:a16="http://schemas.microsoft.com/office/drawing/2014/main" id="{434B2983-F4CE-E4CF-A182-8980461D3C9E}"/>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993410" y="3044339"/>
            <a:ext cx="460383" cy="460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0805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C594A3-B52D-CDC0-54B6-5C6A7C9966AF}"/>
              </a:ext>
            </a:extLst>
          </p:cNvPr>
          <p:cNvSpPr>
            <a:spLocks noGrp="1"/>
          </p:cNvSpPr>
          <p:nvPr>
            <p:ph idx="1"/>
          </p:nvPr>
        </p:nvSpPr>
        <p:spPr/>
        <p:txBody>
          <a:bodyPr/>
          <a:lstStyle/>
          <a:p>
            <a:r>
              <a:rPr lang="en-GB" noProof="0" dirty="0"/>
              <a:t>Now what does this message mean?</a:t>
            </a:r>
          </a:p>
        </p:txBody>
      </p:sp>
      <p:sp>
        <p:nvSpPr>
          <p:cNvPr id="2" name="Title 1">
            <a:extLst>
              <a:ext uri="{FF2B5EF4-FFF2-40B4-BE49-F238E27FC236}">
                <a16:creationId xmlns:a16="http://schemas.microsoft.com/office/drawing/2014/main" id="{2545B16C-C964-BF7A-16E1-8503BC14FC65}"/>
              </a:ext>
            </a:extLst>
          </p:cNvPr>
          <p:cNvSpPr>
            <a:spLocks noGrp="1"/>
          </p:cNvSpPr>
          <p:nvPr>
            <p:ph type="title"/>
          </p:nvPr>
        </p:nvSpPr>
        <p:spPr/>
        <p:txBody>
          <a:bodyPr/>
          <a:lstStyle/>
          <a:p>
            <a:r>
              <a:rPr lang="en-GB" noProof="0" dirty="0"/>
              <a:t>Encryption</a:t>
            </a:r>
          </a:p>
        </p:txBody>
      </p:sp>
      <p:pic>
        <p:nvPicPr>
          <p:cNvPr id="51" name="Picture 20" descr="Encoded message">
            <a:extLst>
              <a:ext uri="{FF2B5EF4-FFF2-40B4-BE49-F238E27FC236}">
                <a16:creationId xmlns:a16="http://schemas.microsoft.com/office/drawing/2014/main" id="{8C927E46-775A-DFD5-FD6D-8093E84D7533}"/>
              </a:ext>
              <a:ext uri="{C183D7F6-B498-43B3-948B-1728B52AA6E4}">
                <adec:decorative xmlns:adec="http://schemas.microsoft.com/office/drawing/2017/decorative" val="0"/>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18114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1">
            <a:extLst>
              <a:ext uri="{FF2B5EF4-FFF2-40B4-BE49-F238E27FC236}">
                <a16:creationId xmlns:a16="http://schemas.microsoft.com/office/drawing/2014/main" id="{8BB32D32-A5CD-A85F-74D1-6CD09C8F06D5}"/>
              </a:ext>
              <a:ext uri="{C183D7F6-B498-43B3-948B-1728B52AA6E4}">
                <adec:decorative xmlns:adec="http://schemas.microsoft.com/office/drawing/2017/decorative" val="1"/>
              </a:ext>
            </a:extLst>
          </p:cNvPr>
          <p:cNvPicPr>
            <a:picLocks noChangeAspect="1" noChangeArrowheads="1"/>
          </p:cNvPicPr>
          <p:nvPr/>
        </p:nvPicPr>
        <p:blipFill>
          <a:blip r:embed="rId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69566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2">
            <a:extLst>
              <a:ext uri="{FF2B5EF4-FFF2-40B4-BE49-F238E27FC236}">
                <a16:creationId xmlns:a16="http://schemas.microsoft.com/office/drawing/2014/main" id="{2178442E-629B-2F2C-2FE8-D3A66DD93FE3}"/>
              </a:ext>
              <a:ext uri="{C183D7F6-B498-43B3-948B-1728B52AA6E4}">
                <adec:decorative xmlns:adec="http://schemas.microsoft.com/office/drawing/2017/decorative" val="1"/>
              </a:ext>
            </a:extLst>
          </p:cNvPr>
          <p:cNvPicPr>
            <a:picLocks noChangeAspect="1" noChangeArrowheads="1"/>
          </p:cNvPicPr>
          <p:nvPr/>
        </p:nvPicPr>
        <p:blipFill>
          <a:blip r:embed="rId4">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21017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
            <a:extLst>
              <a:ext uri="{FF2B5EF4-FFF2-40B4-BE49-F238E27FC236}">
                <a16:creationId xmlns:a16="http://schemas.microsoft.com/office/drawing/2014/main" id="{C936DDE4-A3B1-2D4C-6246-2A846DD07A7B}"/>
              </a:ext>
              <a:ext uri="{C183D7F6-B498-43B3-948B-1728B52AA6E4}">
                <adec:decorative xmlns:adec="http://schemas.microsoft.com/office/drawing/2017/decorative" val="1"/>
              </a:ext>
            </a:extLst>
          </p:cNvPr>
          <p:cNvPicPr>
            <a:picLocks noChangeAspect="1" noChangeArrowheads="1"/>
          </p:cNvPicPr>
          <p:nvPr/>
        </p:nvPicPr>
        <p:blipFill>
          <a:blip r:embed="rId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72469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4">
            <a:extLst>
              <a:ext uri="{FF2B5EF4-FFF2-40B4-BE49-F238E27FC236}">
                <a16:creationId xmlns:a16="http://schemas.microsoft.com/office/drawing/2014/main" id="{A7445A80-9EC3-9F2E-93A3-EFE6642F124D}"/>
              </a:ext>
              <a:ext uri="{C183D7F6-B498-43B3-948B-1728B52AA6E4}">
                <adec:decorative xmlns:adec="http://schemas.microsoft.com/office/drawing/2017/decorative" val="1"/>
              </a:ext>
            </a:extLst>
          </p:cNvPr>
          <p:cNvPicPr>
            <a:picLocks noChangeAspect="1" noChangeArrowheads="1"/>
          </p:cNvPicPr>
          <p:nvPr/>
        </p:nvPicPr>
        <p:blipFill>
          <a:blip r:embed="rId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23920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5">
            <a:extLst>
              <a:ext uri="{FF2B5EF4-FFF2-40B4-BE49-F238E27FC236}">
                <a16:creationId xmlns:a16="http://schemas.microsoft.com/office/drawing/2014/main" id="{637DC310-7373-15BC-73C4-08174713910B}"/>
              </a:ext>
              <a:ext uri="{C183D7F6-B498-43B3-948B-1728B52AA6E4}">
                <adec:decorative xmlns:adec="http://schemas.microsoft.com/office/drawing/2017/decorative" val="1"/>
              </a:ext>
            </a:extLst>
          </p:cNvPr>
          <p:cNvPicPr>
            <a:picLocks noChangeAspect="1" noChangeArrowheads="1"/>
          </p:cNvPicPr>
          <p:nvPr/>
        </p:nvPicPr>
        <p:blipFill>
          <a:blip r:embed="rId7">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5372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6">
            <a:extLst>
              <a:ext uri="{FF2B5EF4-FFF2-40B4-BE49-F238E27FC236}">
                <a16:creationId xmlns:a16="http://schemas.microsoft.com/office/drawing/2014/main" id="{48CEFF6C-6FF3-97A8-14BC-4EA73BDF853C}"/>
              </a:ext>
              <a:ext uri="{C183D7F6-B498-43B3-948B-1728B52AA6E4}">
                <adec:decorative xmlns:adec="http://schemas.microsoft.com/office/drawing/2017/decorative" val="1"/>
              </a:ext>
            </a:extLst>
          </p:cNvPr>
          <p:cNvPicPr>
            <a:picLocks noChangeAspect="1" noChangeArrowheads="1"/>
          </p:cNvPicPr>
          <p:nvPr/>
        </p:nvPicPr>
        <p:blipFill>
          <a:blip r:embed="rId8">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6823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27">
            <a:extLst>
              <a:ext uri="{FF2B5EF4-FFF2-40B4-BE49-F238E27FC236}">
                <a16:creationId xmlns:a16="http://schemas.microsoft.com/office/drawing/2014/main" id="{4A6D3B92-CB8A-933C-64B7-2D0514C26450}"/>
              </a:ext>
              <a:ext uri="{C183D7F6-B498-43B3-948B-1728B52AA6E4}">
                <adec:decorative xmlns:adec="http://schemas.microsoft.com/office/drawing/2017/decorative" val="1"/>
              </a:ext>
            </a:extLst>
          </p:cNvPr>
          <p:cNvPicPr>
            <a:picLocks noChangeAspect="1" noChangeArrowheads="1"/>
          </p:cNvPicPr>
          <p:nvPr/>
        </p:nvPicPr>
        <p:blipFill>
          <a:blip r:embed="rId9">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78275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8">
            <a:extLst>
              <a:ext uri="{FF2B5EF4-FFF2-40B4-BE49-F238E27FC236}">
                <a16:creationId xmlns:a16="http://schemas.microsoft.com/office/drawing/2014/main" id="{DF2234B6-9743-971A-0E88-9D7F8744F1F3}"/>
              </a:ext>
              <a:ext uri="{C183D7F6-B498-43B3-948B-1728B52AA6E4}">
                <adec:decorative xmlns:adec="http://schemas.microsoft.com/office/drawing/2017/decorative" val="1"/>
              </a:ext>
            </a:extLst>
          </p:cNvPr>
          <p:cNvPicPr>
            <a:picLocks noChangeAspect="1" noChangeArrowheads="1"/>
          </p:cNvPicPr>
          <p:nvPr/>
        </p:nvPicPr>
        <p:blipFill>
          <a:blip r:embed="rId10">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29726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9">
            <a:extLst>
              <a:ext uri="{FF2B5EF4-FFF2-40B4-BE49-F238E27FC236}">
                <a16:creationId xmlns:a16="http://schemas.microsoft.com/office/drawing/2014/main" id="{A092187D-AB2F-36D9-F50F-F352BEEE8CBC}"/>
              </a:ext>
              <a:ext uri="{C183D7F6-B498-43B3-948B-1728B52AA6E4}">
                <adec:decorative xmlns:adec="http://schemas.microsoft.com/office/drawing/2017/decorative" val="1"/>
              </a:ext>
            </a:extLst>
          </p:cNvPr>
          <p:cNvPicPr>
            <a:picLocks noChangeAspect="1" noChangeArrowheads="1"/>
          </p:cNvPicPr>
          <p:nvPr/>
        </p:nvPicPr>
        <p:blipFill>
          <a:blip r:embed="rId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1178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30">
            <a:extLst>
              <a:ext uri="{FF2B5EF4-FFF2-40B4-BE49-F238E27FC236}">
                <a16:creationId xmlns:a16="http://schemas.microsoft.com/office/drawing/2014/main" id="{AFD32774-3845-B9BA-0B1B-12B1D04AC73D}"/>
              </a:ext>
              <a:ext uri="{C183D7F6-B498-43B3-948B-1728B52AA6E4}">
                <adec:decorative xmlns:adec="http://schemas.microsoft.com/office/drawing/2017/decorative" val="1"/>
              </a:ext>
            </a:extLst>
          </p:cNvPr>
          <p:cNvPicPr>
            <a:picLocks noChangeAspect="1" noChangeArrowheads="1"/>
          </p:cNvPicPr>
          <p:nvPr/>
        </p:nvPicPr>
        <p:blipFill>
          <a:blip r:embed="rId11">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78592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31">
            <a:extLst>
              <a:ext uri="{FF2B5EF4-FFF2-40B4-BE49-F238E27FC236}">
                <a16:creationId xmlns:a16="http://schemas.microsoft.com/office/drawing/2014/main" id="{9186880C-99D6-7809-BB57-46342EE3AF71}"/>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300440"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32">
            <a:extLst>
              <a:ext uri="{FF2B5EF4-FFF2-40B4-BE49-F238E27FC236}">
                <a16:creationId xmlns:a16="http://schemas.microsoft.com/office/drawing/2014/main" id="{77EC89F3-1E08-9853-4C89-CF9DDE51DD51}"/>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1495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24" name="Picture 33">
            <a:extLst>
              <a:ext uri="{FF2B5EF4-FFF2-40B4-BE49-F238E27FC236}">
                <a16:creationId xmlns:a16="http://schemas.microsoft.com/office/drawing/2014/main" id="{05CA87C6-D0AC-12F5-A47A-CE9D0D597C91}"/>
              </a:ext>
              <a:ext uri="{C183D7F6-B498-43B3-948B-1728B52AA6E4}">
                <adec:decorative xmlns:adec="http://schemas.microsoft.com/office/drawing/2017/decorative" val="1"/>
              </a:ext>
            </a:extLst>
          </p:cNvPr>
          <p:cNvPicPr>
            <a:picLocks noChangeAspect="1" noChangeArrowheads="1"/>
          </p:cNvPicPr>
          <p:nvPr/>
        </p:nvPicPr>
        <p:blipFill>
          <a:blip r:embed="rId7">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329470"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34">
            <a:extLst>
              <a:ext uri="{FF2B5EF4-FFF2-40B4-BE49-F238E27FC236}">
                <a16:creationId xmlns:a16="http://schemas.microsoft.com/office/drawing/2014/main" id="{977CE983-377C-5FE6-3615-C615E342F611}"/>
              </a:ext>
              <a:ext uri="{C183D7F6-B498-43B3-948B-1728B52AA6E4}">
                <adec:decorative xmlns:adec="http://schemas.microsoft.com/office/drawing/2017/decorative" val="1"/>
              </a:ext>
            </a:extLst>
          </p:cNvPr>
          <p:cNvPicPr>
            <a:picLocks noChangeAspect="1" noChangeArrowheads="1"/>
          </p:cNvPicPr>
          <p:nvPr/>
        </p:nvPicPr>
        <p:blipFill>
          <a:blip r:embed="rId1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4398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44">
            <a:extLst>
              <a:ext uri="{FF2B5EF4-FFF2-40B4-BE49-F238E27FC236}">
                <a16:creationId xmlns:a16="http://schemas.microsoft.com/office/drawing/2014/main" id="{2E3671F6-5417-EFD0-B8D5-FEB668F565E9}"/>
              </a:ext>
              <a:ext uri="{C183D7F6-B498-43B3-948B-1728B52AA6E4}">
                <adec:decorative xmlns:adec="http://schemas.microsoft.com/office/drawing/2017/decorative" val="1"/>
              </a:ext>
            </a:extLst>
          </p:cNvPr>
          <p:cNvPicPr>
            <a:picLocks noChangeAspect="1" noChangeArrowheads="1"/>
          </p:cNvPicPr>
          <p:nvPr/>
        </p:nvPicPr>
        <p:blipFill>
          <a:blip r:embed="rId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68342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45">
            <a:extLst>
              <a:ext uri="{FF2B5EF4-FFF2-40B4-BE49-F238E27FC236}">
                <a16:creationId xmlns:a16="http://schemas.microsoft.com/office/drawing/2014/main" id="{D4F5DDEF-A688-5F48-E41A-ED3D59B0C86E}"/>
              </a:ext>
              <a:ext uri="{C183D7F6-B498-43B3-948B-1728B52AA6E4}">
                <adec:decorative xmlns:adec="http://schemas.microsoft.com/office/drawing/2017/decorative" val="1"/>
              </a:ext>
            </a:extLst>
          </p:cNvPr>
          <p:cNvPicPr>
            <a:picLocks noChangeAspect="1" noChangeArrowheads="1"/>
          </p:cNvPicPr>
          <p:nvPr/>
        </p:nvPicPr>
        <p:blipFill>
          <a:blip r:embed="rId10">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15604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65" name="Picture 46">
            <a:extLst>
              <a:ext uri="{FF2B5EF4-FFF2-40B4-BE49-F238E27FC236}">
                <a16:creationId xmlns:a16="http://schemas.microsoft.com/office/drawing/2014/main" id="{9575407B-DF6E-B135-04AA-98E475ECEE00}"/>
              </a:ext>
              <a:ext uri="{C183D7F6-B498-43B3-948B-1728B52AA6E4}">
                <adec:decorative xmlns:adec="http://schemas.microsoft.com/office/drawing/2017/decorative" val="1"/>
              </a:ext>
            </a:extLst>
          </p:cNvPr>
          <p:cNvPicPr>
            <a:picLocks noChangeAspect="1" noChangeArrowheads="1"/>
          </p:cNvPicPr>
          <p:nvPr/>
        </p:nvPicPr>
        <p:blipFill>
          <a:blip r:embed="rId1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651180"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47">
            <a:extLst>
              <a:ext uri="{FF2B5EF4-FFF2-40B4-BE49-F238E27FC236}">
                <a16:creationId xmlns:a16="http://schemas.microsoft.com/office/drawing/2014/main" id="{9B396899-BED5-955A-5F53-2AD3AAADC975}"/>
              </a:ext>
              <a:ext uri="{C183D7F6-B498-43B3-948B-1728B52AA6E4}">
                <adec:decorative xmlns:adec="http://schemas.microsoft.com/office/drawing/2017/decorative" val="1"/>
              </a:ext>
            </a:extLst>
          </p:cNvPr>
          <p:cNvPicPr>
            <a:picLocks noChangeAspect="1" noChangeArrowheads="1"/>
          </p:cNvPicPr>
          <p:nvPr/>
        </p:nvPicPr>
        <p:blipFill>
          <a:blip r:embed="rId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4973"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80" name="Picture 48">
            <a:extLst>
              <a:ext uri="{FF2B5EF4-FFF2-40B4-BE49-F238E27FC236}">
                <a16:creationId xmlns:a16="http://schemas.microsoft.com/office/drawing/2014/main" id="{F1127C81-9B72-C0C8-78FE-AD9323E5842F}"/>
              </a:ext>
              <a:ext uri="{C183D7F6-B498-43B3-948B-1728B52AA6E4}">
                <adec:decorative xmlns:adec="http://schemas.microsoft.com/office/drawing/2017/decorative" val="1"/>
              </a:ext>
            </a:extLst>
          </p:cNvPr>
          <p:cNvPicPr>
            <a:picLocks noChangeAspect="1" noChangeArrowheads="1"/>
          </p:cNvPicPr>
          <p:nvPr/>
        </p:nvPicPr>
        <p:blipFill>
          <a:blip r:embed="rId14">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16097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81" name="Picture 49">
            <a:extLst>
              <a:ext uri="{FF2B5EF4-FFF2-40B4-BE49-F238E27FC236}">
                <a16:creationId xmlns:a16="http://schemas.microsoft.com/office/drawing/2014/main" id="{E719D145-5A19-03CF-AFFB-76AFDEA360E3}"/>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633594"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82" name="Picture 50">
            <a:extLst>
              <a:ext uri="{FF2B5EF4-FFF2-40B4-BE49-F238E27FC236}">
                <a16:creationId xmlns:a16="http://schemas.microsoft.com/office/drawing/2014/main" id="{0B6A4D87-E4E6-19E8-784B-BA40E93A494D}"/>
              </a:ext>
              <a:ext uri="{C183D7F6-B498-43B3-948B-1728B52AA6E4}">
                <adec:decorative xmlns:adec="http://schemas.microsoft.com/office/drawing/2017/decorative" val="1"/>
              </a:ext>
            </a:extLst>
          </p:cNvPr>
          <p:cNvPicPr>
            <a:picLocks noChangeAspect="1" noChangeArrowheads="1"/>
          </p:cNvPicPr>
          <p:nvPr/>
        </p:nvPicPr>
        <p:blipFill>
          <a:blip r:embed="rId8">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2523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83" name="Picture 51">
            <a:extLst>
              <a:ext uri="{FF2B5EF4-FFF2-40B4-BE49-F238E27FC236}">
                <a16:creationId xmlns:a16="http://schemas.microsoft.com/office/drawing/2014/main" id="{D5F13042-D2C6-4A58-DE3F-724DE6F7D955}"/>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6422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84" name="Picture 52">
            <a:extLst>
              <a:ext uri="{FF2B5EF4-FFF2-40B4-BE49-F238E27FC236}">
                <a16:creationId xmlns:a16="http://schemas.microsoft.com/office/drawing/2014/main" id="{68F0237C-EEAE-DA05-8905-FE3268EE6F6F}"/>
              </a:ext>
              <a:ext uri="{C183D7F6-B498-43B3-948B-1728B52AA6E4}">
                <adec:decorative xmlns:adec="http://schemas.microsoft.com/office/drawing/2017/decorative" val="1"/>
              </a:ext>
            </a:extLst>
          </p:cNvPr>
          <p:cNvPicPr>
            <a:picLocks noChangeAspect="1" noChangeArrowheads="1"/>
          </p:cNvPicPr>
          <p:nvPr/>
        </p:nvPicPr>
        <p:blipFill>
          <a:blip r:embed="rId1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502809"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85" name="Picture 53">
            <a:extLst>
              <a:ext uri="{FF2B5EF4-FFF2-40B4-BE49-F238E27FC236}">
                <a16:creationId xmlns:a16="http://schemas.microsoft.com/office/drawing/2014/main" id="{13C384DB-52C2-F41E-6BBA-C37196B09628}"/>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97353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86" name="Picture 54">
            <a:extLst>
              <a:ext uri="{FF2B5EF4-FFF2-40B4-BE49-F238E27FC236}">
                <a16:creationId xmlns:a16="http://schemas.microsoft.com/office/drawing/2014/main" id="{5449FAFC-2E03-1DD1-A32B-B2555F8B1E30}"/>
              </a:ext>
              <a:ext uri="{C183D7F6-B498-43B3-948B-1728B52AA6E4}">
                <adec:decorative xmlns:adec="http://schemas.microsoft.com/office/drawing/2017/decorative" val="1"/>
              </a:ext>
            </a:extLst>
          </p:cNvPr>
          <p:cNvPicPr>
            <a:picLocks noChangeAspect="1" noChangeArrowheads="1"/>
          </p:cNvPicPr>
          <p:nvPr/>
        </p:nvPicPr>
        <p:blipFill>
          <a:blip r:embed="rId1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483473"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87" name="Picture 55">
            <a:extLst>
              <a:ext uri="{FF2B5EF4-FFF2-40B4-BE49-F238E27FC236}">
                <a16:creationId xmlns:a16="http://schemas.microsoft.com/office/drawing/2014/main" id="{804086B3-22B6-092F-5E51-C5AF0C008A9C}"/>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993410" y="3044339"/>
            <a:ext cx="460383" cy="46038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088" name="Table 1087">
            <a:extLst>
              <a:ext uri="{FF2B5EF4-FFF2-40B4-BE49-F238E27FC236}">
                <a16:creationId xmlns:a16="http://schemas.microsoft.com/office/drawing/2014/main" id="{B6637045-F6A8-CCE9-FB85-3BF792FAF32C}"/>
              </a:ext>
              <a:ext uri="{C183D7F6-B498-43B3-948B-1728B52AA6E4}">
                <adec:decorative xmlns:adec="http://schemas.microsoft.com/office/drawing/2017/decorative" val="1"/>
              </a:ext>
            </a:extLst>
          </p:cNvPr>
          <p:cNvGraphicFramePr>
            <a:graphicFrameLocks noGrp="1"/>
          </p:cNvGraphicFramePr>
          <p:nvPr>
            <p:extLst>
              <p:ext uri="{D42A27DB-BD31-4B8C-83A1-F6EECF244321}">
                <p14:modId xmlns:p14="http://schemas.microsoft.com/office/powerpoint/2010/main" val="3002434342"/>
              </p:ext>
            </p:extLst>
          </p:nvPr>
        </p:nvGraphicFramePr>
        <p:xfrm>
          <a:off x="678094" y="4194059"/>
          <a:ext cx="3200970" cy="2424225"/>
        </p:xfrm>
        <a:graphic>
          <a:graphicData uri="http://schemas.openxmlformats.org/drawingml/2006/table">
            <a:tbl>
              <a:tblPr firstRow="1" bandRow="1">
                <a:tableStyleId>{5C22544A-7EE6-4342-B048-85BDC9FD1C3A}</a:tableStyleId>
              </a:tblPr>
              <a:tblGrid>
                <a:gridCol w="1066990">
                  <a:extLst>
                    <a:ext uri="{9D8B030D-6E8A-4147-A177-3AD203B41FA5}">
                      <a16:colId xmlns:a16="http://schemas.microsoft.com/office/drawing/2014/main" val="3669850132"/>
                    </a:ext>
                  </a:extLst>
                </a:gridCol>
                <a:gridCol w="1066990">
                  <a:extLst>
                    <a:ext uri="{9D8B030D-6E8A-4147-A177-3AD203B41FA5}">
                      <a16:colId xmlns:a16="http://schemas.microsoft.com/office/drawing/2014/main" val="2212514850"/>
                    </a:ext>
                  </a:extLst>
                </a:gridCol>
                <a:gridCol w="1066990">
                  <a:extLst>
                    <a:ext uri="{9D8B030D-6E8A-4147-A177-3AD203B41FA5}">
                      <a16:colId xmlns:a16="http://schemas.microsoft.com/office/drawing/2014/main" val="3748870464"/>
                    </a:ext>
                  </a:extLst>
                </a:gridCol>
              </a:tblGrid>
              <a:tr h="808075">
                <a:tc>
                  <a:txBody>
                    <a:bodyPr/>
                    <a:lstStyle/>
                    <a:p>
                      <a:pPr algn="ctr"/>
                      <a:r>
                        <a:rPr lang="en-GB" sz="3200" b="1" noProof="0" dirty="0">
                          <a:solidFill>
                            <a:srgbClr val="002570"/>
                          </a:solidFill>
                          <a:latin typeface="OpenDyslexicAlta" panose="00000500000000000000" pitchFamily="50" charset="0"/>
                        </a:rPr>
                        <a:t>A</a:t>
                      </a:r>
                    </a:p>
                  </a:txBody>
                  <a:tcPr anchor="ctr">
                    <a:lnR w="28575" cap="flat" cmpd="sng" algn="ctr">
                      <a:solidFill>
                        <a:srgbClr val="002570"/>
                      </a:solidFill>
                      <a:prstDash val="solid"/>
                      <a:round/>
                      <a:headEnd type="none" w="med" len="med"/>
                      <a:tailEnd type="none" w="med" len="med"/>
                    </a:lnR>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B</a:t>
                      </a:r>
                    </a:p>
                  </a:txBody>
                  <a:tcPr anchor="ct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C</a:t>
                      </a:r>
                    </a:p>
                  </a:txBody>
                  <a:tcPr anchor="ctr">
                    <a:lnL w="28575" cap="flat" cmpd="sng" algn="ctr">
                      <a:solidFill>
                        <a:srgbClr val="002570"/>
                      </a:solidFill>
                      <a:prstDash val="solid"/>
                      <a:round/>
                      <a:headEnd type="none" w="med" len="med"/>
                      <a:tailEnd type="none" w="med" len="med"/>
                    </a:lnL>
                    <a:lnB w="28575" cap="flat" cmpd="sng" algn="ctr">
                      <a:solidFill>
                        <a:srgbClr val="002570"/>
                      </a:solidFill>
                      <a:prstDash val="solid"/>
                      <a:round/>
                      <a:headEnd type="none" w="med" len="med"/>
                      <a:tailEnd type="none" w="med" len="med"/>
                    </a:lnB>
                    <a:noFill/>
                  </a:tcPr>
                </a:tc>
                <a:extLst>
                  <a:ext uri="{0D108BD9-81ED-4DB2-BD59-A6C34878D82A}">
                    <a16:rowId xmlns:a16="http://schemas.microsoft.com/office/drawing/2014/main" val="776176148"/>
                  </a:ext>
                </a:extLst>
              </a:tr>
              <a:tr h="808075">
                <a:tc>
                  <a:txBody>
                    <a:bodyPr/>
                    <a:lstStyle/>
                    <a:p>
                      <a:pPr algn="ctr"/>
                      <a:r>
                        <a:rPr lang="en-GB" sz="3200" b="1" noProof="0" dirty="0">
                          <a:solidFill>
                            <a:srgbClr val="002570"/>
                          </a:solidFill>
                          <a:latin typeface="OpenDyslexicAlta" panose="00000500000000000000" pitchFamily="50" charset="0"/>
                        </a:rPr>
                        <a:t>D</a:t>
                      </a:r>
                    </a:p>
                  </a:txBody>
                  <a:tcPr anchor="ctr">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E</a:t>
                      </a:r>
                    </a:p>
                  </a:txBody>
                  <a:tcPr anchor="ct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F</a:t>
                      </a:r>
                    </a:p>
                  </a:txBody>
                  <a:tcPr anchor="ctr">
                    <a:lnL w="28575" cap="flat" cmpd="sng" algn="ctr">
                      <a:solidFill>
                        <a:srgbClr val="002570"/>
                      </a:solidFill>
                      <a:prstDash val="solid"/>
                      <a:round/>
                      <a:headEnd type="none" w="med" len="med"/>
                      <a:tailEnd type="none" w="med" len="med"/>
                    </a:lnL>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extLst>
                  <a:ext uri="{0D108BD9-81ED-4DB2-BD59-A6C34878D82A}">
                    <a16:rowId xmlns:a16="http://schemas.microsoft.com/office/drawing/2014/main" val="2748425541"/>
                  </a:ext>
                </a:extLst>
              </a:tr>
              <a:tr h="808075">
                <a:tc>
                  <a:txBody>
                    <a:bodyPr/>
                    <a:lstStyle/>
                    <a:p>
                      <a:pPr algn="ctr"/>
                      <a:r>
                        <a:rPr lang="en-GB" sz="3200" b="1" noProof="0" dirty="0">
                          <a:solidFill>
                            <a:srgbClr val="002570"/>
                          </a:solidFill>
                          <a:latin typeface="OpenDyslexicAlta" panose="00000500000000000000" pitchFamily="50" charset="0"/>
                        </a:rPr>
                        <a:t>G</a:t>
                      </a:r>
                    </a:p>
                  </a:txBody>
                  <a:tcPr anchor="ctr">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noFill/>
                  </a:tcPr>
                </a:tc>
                <a:tc>
                  <a:txBody>
                    <a:bodyPr/>
                    <a:lstStyle/>
                    <a:p>
                      <a:pPr algn="ctr"/>
                      <a:r>
                        <a:rPr lang="en-GB" sz="3200" b="1" noProof="0" dirty="0">
                          <a:solidFill>
                            <a:srgbClr val="002570"/>
                          </a:solidFill>
                          <a:latin typeface="OpenDyslexicAlta" panose="00000500000000000000" pitchFamily="50" charset="0"/>
                        </a:rPr>
                        <a:t>H</a:t>
                      </a:r>
                    </a:p>
                  </a:txBody>
                  <a:tcPr anchor="ct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noFill/>
                  </a:tcPr>
                </a:tc>
                <a:tc>
                  <a:txBody>
                    <a:bodyPr/>
                    <a:lstStyle/>
                    <a:p>
                      <a:pPr algn="ctr"/>
                      <a:r>
                        <a:rPr lang="en-GB" sz="3200" b="1" noProof="0" dirty="0">
                          <a:solidFill>
                            <a:srgbClr val="002570"/>
                          </a:solidFill>
                          <a:latin typeface="OpenDyslexicAlta" panose="00000500000000000000" pitchFamily="50" charset="0"/>
                        </a:rPr>
                        <a:t>I</a:t>
                      </a:r>
                    </a:p>
                  </a:txBody>
                  <a:tcPr anchor="ctr">
                    <a:lnL w="28575" cap="flat" cmpd="sng" algn="ctr">
                      <a:solidFill>
                        <a:srgbClr val="002570"/>
                      </a:solidFill>
                      <a:prstDash val="solid"/>
                      <a:round/>
                      <a:headEnd type="none" w="med" len="med"/>
                      <a:tailEnd type="none" w="med" len="med"/>
                    </a:lnL>
                    <a:lnT w="28575" cap="flat" cmpd="sng" algn="ctr">
                      <a:solidFill>
                        <a:srgbClr val="002570"/>
                      </a:solidFill>
                      <a:prstDash val="solid"/>
                      <a:round/>
                      <a:headEnd type="none" w="med" len="med"/>
                      <a:tailEnd type="none" w="med" len="med"/>
                    </a:lnT>
                    <a:noFill/>
                  </a:tcPr>
                </a:tc>
                <a:extLst>
                  <a:ext uri="{0D108BD9-81ED-4DB2-BD59-A6C34878D82A}">
                    <a16:rowId xmlns:a16="http://schemas.microsoft.com/office/drawing/2014/main" val="943078370"/>
                  </a:ext>
                </a:extLst>
              </a:tr>
            </a:tbl>
          </a:graphicData>
        </a:graphic>
      </p:graphicFrame>
      <p:graphicFrame>
        <p:nvGraphicFramePr>
          <p:cNvPr id="1089" name="Table 1088">
            <a:extLst>
              <a:ext uri="{FF2B5EF4-FFF2-40B4-BE49-F238E27FC236}">
                <a16:creationId xmlns:a16="http://schemas.microsoft.com/office/drawing/2014/main" id="{85935D67-1B73-F2A7-67DC-30952D4A2A09}"/>
              </a:ext>
              <a:ext uri="{C183D7F6-B498-43B3-948B-1728B52AA6E4}">
                <adec:decorative xmlns:adec="http://schemas.microsoft.com/office/drawing/2017/decorative" val="1"/>
              </a:ext>
            </a:extLst>
          </p:cNvPr>
          <p:cNvGraphicFramePr>
            <a:graphicFrameLocks noGrp="1"/>
          </p:cNvGraphicFramePr>
          <p:nvPr>
            <p:extLst>
              <p:ext uri="{D42A27DB-BD31-4B8C-83A1-F6EECF244321}">
                <p14:modId xmlns:p14="http://schemas.microsoft.com/office/powerpoint/2010/main" val="603759400"/>
              </p:ext>
            </p:extLst>
          </p:nvPr>
        </p:nvGraphicFramePr>
        <p:xfrm>
          <a:off x="4081521" y="4194058"/>
          <a:ext cx="3200970" cy="2424225"/>
        </p:xfrm>
        <a:graphic>
          <a:graphicData uri="http://schemas.openxmlformats.org/drawingml/2006/table">
            <a:tbl>
              <a:tblPr firstRow="1" bandRow="1">
                <a:tableStyleId>{5C22544A-7EE6-4342-B048-85BDC9FD1C3A}</a:tableStyleId>
              </a:tblPr>
              <a:tblGrid>
                <a:gridCol w="1066990">
                  <a:extLst>
                    <a:ext uri="{9D8B030D-6E8A-4147-A177-3AD203B41FA5}">
                      <a16:colId xmlns:a16="http://schemas.microsoft.com/office/drawing/2014/main" val="3669850132"/>
                    </a:ext>
                  </a:extLst>
                </a:gridCol>
                <a:gridCol w="1066990">
                  <a:extLst>
                    <a:ext uri="{9D8B030D-6E8A-4147-A177-3AD203B41FA5}">
                      <a16:colId xmlns:a16="http://schemas.microsoft.com/office/drawing/2014/main" val="2212514850"/>
                    </a:ext>
                  </a:extLst>
                </a:gridCol>
                <a:gridCol w="1066990">
                  <a:extLst>
                    <a:ext uri="{9D8B030D-6E8A-4147-A177-3AD203B41FA5}">
                      <a16:colId xmlns:a16="http://schemas.microsoft.com/office/drawing/2014/main" val="3748870464"/>
                    </a:ext>
                  </a:extLst>
                </a:gridCol>
              </a:tblGrid>
              <a:tr h="808075">
                <a:tc>
                  <a:txBody>
                    <a:bodyPr/>
                    <a:lstStyle/>
                    <a:p>
                      <a:pPr algn="ctr"/>
                      <a:r>
                        <a:rPr lang="en-GB" sz="3200" b="1" noProof="0" dirty="0">
                          <a:solidFill>
                            <a:srgbClr val="002570"/>
                          </a:solidFill>
                          <a:latin typeface="OpenDyslexicAlta" panose="00000500000000000000" pitchFamily="50" charset="0"/>
                        </a:rPr>
                        <a:t>J</a:t>
                      </a:r>
                    </a:p>
                  </a:txBody>
                  <a:tcPr>
                    <a:lnR w="28575" cap="flat" cmpd="sng" algn="ctr">
                      <a:solidFill>
                        <a:srgbClr val="002570"/>
                      </a:solidFill>
                      <a:prstDash val="solid"/>
                      <a:round/>
                      <a:headEnd type="none" w="med" len="med"/>
                      <a:tailEnd type="none" w="med" len="med"/>
                    </a:lnR>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K</a:t>
                      </a:r>
                    </a:p>
                  </a:txBody>
                  <a:tcP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L</a:t>
                      </a:r>
                    </a:p>
                  </a:txBody>
                  <a:tcPr>
                    <a:lnL w="28575" cap="flat" cmpd="sng" algn="ctr">
                      <a:solidFill>
                        <a:srgbClr val="002570"/>
                      </a:solidFill>
                      <a:prstDash val="solid"/>
                      <a:round/>
                      <a:headEnd type="none" w="med" len="med"/>
                      <a:tailEnd type="none" w="med" len="med"/>
                    </a:lnL>
                    <a:lnB w="28575" cap="flat" cmpd="sng" algn="ctr">
                      <a:solidFill>
                        <a:srgbClr val="002570"/>
                      </a:solidFill>
                      <a:prstDash val="solid"/>
                      <a:round/>
                      <a:headEnd type="none" w="med" len="med"/>
                      <a:tailEnd type="none" w="med" len="med"/>
                    </a:lnB>
                    <a:noFill/>
                  </a:tcPr>
                </a:tc>
                <a:extLst>
                  <a:ext uri="{0D108BD9-81ED-4DB2-BD59-A6C34878D82A}">
                    <a16:rowId xmlns:a16="http://schemas.microsoft.com/office/drawing/2014/main" val="776176148"/>
                  </a:ext>
                </a:extLst>
              </a:tr>
              <a:tr h="808075">
                <a:tc>
                  <a:txBody>
                    <a:bodyPr/>
                    <a:lstStyle/>
                    <a:p>
                      <a:pPr algn="ctr"/>
                      <a:r>
                        <a:rPr lang="en-GB" sz="3200" b="1" noProof="0" dirty="0">
                          <a:solidFill>
                            <a:srgbClr val="002570"/>
                          </a:solidFill>
                          <a:latin typeface="OpenDyslexicAlta" panose="00000500000000000000" pitchFamily="50" charset="0"/>
                        </a:rPr>
                        <a:t>M</a:t>
                      </a:r>
                    </a:p>
                  </a:txBody>
                  <a:tcPr>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N</a:t>
                      </a:r>
                    </a:p>
                  </a:txBody>
                  <a:tcP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O</a:t>
                      </a:r>
                    </a:p>
                  </a:txBody>
                  <a:tcPr>
                    <a:lnL w="28575" cap="flat" cmpd="sng" algn="ctr">
                      <a:solidFill>
                        <a:srgbClr val="002570"/>
                      </a:solidFill>
                      <a:prstDash val="solid"/>
                      <a:round/>
                      <a:headEnd type="none" w="med" len="med"/>
                      <a:tailEnd type="none" w="med" len="med"/>
                    </a:lnL>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extLst>
                  <a:ext uri="{0D108BD9-81ED-4DB2-BD59-A6C34878D82A}">
                    <a16:rowId xmlns:a16="http://schemas.microsoft.com/office/drawing/2014/main" val="2748425541"/>
                  </a:ext>
                </a:extLst>
              </a:tr>
              <a:tr h="808075">
                <a:tc>
                  <a:txBody>
                    <a:bodyPr/>
                    <a:lstStyle/>
                    <a:p>
                      <a:pPr algn="ctr"/>
                      <a:r>
                        <a:rPr lang="en-GB" sz="3200" b="1" noProof="0" dirty="0">
                          <a:solidFill>
                            <a:srgbClr val="002570"/>
                          </a:solidFill>
                          <a:latin typeface="OpenDyslexicAlta" panose="00000500000000000000" pitchFamily="50" charset="0"/>
                        </a:rPr>
                        <a:t>P</a:t>
                      </a:r>
                    </a:p>
                  </a:txBody>
                  <a:tcPr>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noFill/>
                  </a:tcPr>
                </a:tc>
                <a:tc>
                  <a:txBody>
                    <a:bodyPr/>
                    <a:lstStyle/>
                    <a:p>
                      <a:pPr algn="ctr"/>
                      <a:r>
                        <a:rPr lang="en-GB" sz="3200" b="1" noProof="0" dirty="0">
                          <a:solidFill>
                            <a:srgbClr val="002570"/>
                          </a:solidFill>
                          <a:latin typeface="OpenDyslexicAlta" panose="00000500000000000000" pitchFamily="50" charset="0"/>
                        </a:rPr>
                        <a:t>Q</a:t>
                      </a:r>
                    </a:p>
                  </a:txBody>
                  <a:tcP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noFill/>
                  </a:tcPr>
                </a:tc>
                <a:tc>
                  <a:txBody>
                    <a:bodyPr/>
                    <a:lstStyle/>
                    <a:p>
                      <a:pPr algn="ctr"/>
                      <a:r>
                        <a:rPr lang="en-GB" sz="3200" b="1" noProof="0" dirty="0">
                          <a:solidFill>
                            <a:srgbClr val="002570"/>
                          </a:solidFill>
                          <a:latin typeface="OpenDyslexicAlta" panose="00000500000000000000" pitchFamily="50" charset="0"/>
                        </a:rPr>
                        <a:t>R</a:t>
                      </a:r>
                    </a:p>
                  </a:txBody>
                  <a:tcPr>
                    <a:lnL w="28575" cap="flat" cmpd="sng" algn="ctr">
                      <a:solidFill>
                        <a:srgbClr val="002570"/>
                      </a:solidFill>
                      <a:prstDash val="solid"/>
                      <a:round/>
                      <a:headEnd type="none" w="med" len="med"/>
                      <a:tailEnd type="none" w="med" len="med"/>
                    </a:lnL>
                    <a:lnT w="28575" cap="flat" cmpd="sng" algn="ctr">
                      <a:solidFill>
                        <a:srgbClr val="002570"/>
                      </a:solidFill>
                      <a:prstDash val="solid"/>
                      <a:round/>
                      <a:headEnd type="none" w="med" len="med"/>
                      <a:tailEnd type="none" w="med" len="med"/>
                    </a:lnT>
                    <a:noFill/>
                  </a:tcPr>
                </a:tc>
                <a:extLst>
                  <a:ext uri="{0D108BD9-81ED-4DB2-BD59-A6C34878D82A}">
                    <a16:rowId xmlns:a16="http://schemas.microsoft.com/office/drawing/2014/main" val="943078370"/>
                  </a:ext>
                </a:extLst>
              </a:tr>
            </a:tbl>
          </a:graphicData>
        </a:graphic>
      </p:graphicFrame>
      <p:grpSp>
        <p:nvGrpSpPr>
          <p:cNvPr id="1090" name="Group 1089">
            <a:extLst>
              <a:ext uri="{FF2B5EF4-FFF2-40B4-BE49-F238E27FC236}">
                <a16:creationId xmlns:a16="http://schemas.microsoft.com/office/drawing/2014/main" id="{F12BFD4D-1995-D298-0FF3-7FBEFAA734FD}"/>
              </a:ext>
              <a:ext uri="{C183D7F6-B498-43B3-948B-1728B52AA6E4}">
                <adec:decorative xmlns:adec="http://schemas.microsoft.com/office/drawing/2017/decorative" val="1"/>
              </a:ext>
            </a:extLst>
          </p:cNvPr>
          <p:cNvGrpSpPr/>
          <p:nvPr/>
        </p:nvGrpSpPr>
        <p:grpSpPr>
          <a:xfrm>
            <a:off x="4522362" y="4781076"/>
            <a:ext cx="2289826" cy="1691850"/>
            <a:chOff x="4460717" y="4605603"/>
            <a:chExt cx="2289826" cy="1691850"/>
          </a:xfrm>
        </p:grpSpPr>
        <p:sp>
          <p:nvSpPr>
            <p:cNvPr id="1091" name="Oval 1090">
              <a:extLst>
                <a:ext uri="{FF2B5EF4-FFF2-40B4-BE49-F238E27FC236}">
                  <a16:creationId xmlns:a16="http://schemas.microsoft.com/office/drawing/2014/main" id="{FE21766C-6D01-EA8E-58F7-0B1750603BF6}"/>
                </a:ext>
              </a:extLst>
            </p:cNvPr>
            <p:cNvSpPr/>
            <p:nvPr/>
          </p:nvSpPr>
          <p:spPr>
            <a:xfrm>
              <a:off x="4460717" y="4605603"/>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2" name="Oval 1091">
              <a:extLst>
                <a:ext uri="{FF2B5EF4-FFF2-40B4-BE49-F238E27FC236}">
                  <a16:creationId xmlns:a16="http://schemas.microsoft.com/office/drawing/2014/main" id="{8642C5D0-F4A6-67C9-1FD5-54EA2927E6C7}"/>
                </a:ext>
              </a:extLst>
            </p:cNvPr>
            <p:cNvSpPr/>
            <p:nvPr/>
          </p:nvSpPr>
          <p:spPr>
            <a:xfrm>
              <a:off x="5543303" y="4605603"/>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3" name="Oval 1092">
              <a:extLst>
                <a:ext uri="{FF2B5EF4-FFF2-40B4-BE49-F238E27FC236}">
                  <a16:creationId xmlns:a16="http://schemas.microsoft.com/office/drawing/2014/main" id="{1917E031-6718-41FF-BC0F-590EC14A8C4E}"/>
                </a:ext>
              </a:extLst>
            </p:cNvPr>
            <p:cNvSpPr/>
            <p:nvPr/>
          </p:nvSpPr>
          <p:spPr>
            <a:xfrm>
              <a:off x="6596430" y="4605603"/>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4" name="Oval 1093">
              <a:extLst>
                <a:ext uri="{FF2B5EF4-FFF2-40B4-BE49-F238E27FC236}">
                  <a16:creationId xmlns:a16="http://schemas.microsoft.com/office/drawing/2014/main" id="{80B9E410-5B24-6C5D-5120-47DAD009F9AE}"/>
                </a:ext>
              </a:extLst>
            </p:cNvPr>
            <p:cNvSpPr/>
            <p:nvPr/>
          </p:nvSpPr>
          <p:spPr>
            <a:xfrm>
              <a:off x="4460717" y="5370030"/>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5" name="Oval 1094">
              <a:extLst>
                <a:ext uri="{FF2B5EF4-FFF2-40B4-BE49-F238E27FC236}">
                  <a16:creationId xmlns:a16="http://schemas.microsoft.com/office/drawing/2014/main" id="{BB81384C-F605-1D7C-7B50-CDA35C14C6D2}"/>
                </a:ext>
              </a:extLst>
            </p:cNvPr>
            <p:cNvSpPr/>
            <p:nvPr/>
          </p:nvSpPr>
          <p:spPr>
            <a:xfrm>
              <a:off x="5543303" y="5370030"/>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6" name="Oval 1095">
              <a:extLst>
                <a:ext uri="{FF2B5EF4-FFF2-40B4-BE49-F238E27FC236}">
                  <a16:creationId xmlns:a16="http://schemas.microsoft.com/office/drawing/2014/main" id="{2E67490D-8DAB-BC21-AE73-6BC38CEFA630}"/>
                </a:ext>
              </a:extLst>
            </p:cNvPr>
            <p:cNvSpPr/>
            <p:nvPr/>
          </p:nvSpPr>
          <p:spPr>
            <a:xfrm>
              <a:off x="6596430" y="5370030"/>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7" name="Oval 1096">
              <a:extLst>
                <a:ext uri="{FF2B5EF4-FFF2-40B4-BE49-F238E27FC236}">
                  <a16:creationId xmlns:a16="http://schemas.microsoft.com/office/drawing/2014/main" id="{AF2D9FBF-E3F3-1D27-57B8-DB982C878E15}"/>
                </a:ext>
              </a:extLst>
            </p:cNvPr>
            <p:cNvSpPr/>
            <p:nvPr/>
          </p:nvSpPr>
          <p:spPr>
            <a:xfrm>
              <a:off x="4460717" y="6165279"/>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8" name="Oval 1097">
              <a:extLst>
                <a:ext uri="{FF2B5EF4-FFF2-40B4-BE49-F238E27FC236}">
                  <a16:creationId xmlns:a16="http://schemas.microsoft.com/office/drawing/2014/main" id="{E8D10A02-0581-3193-DA5D-A99496403B12}"/>
                </a:ext>
              </a:extLst>
            </p:cNvPr>
            <p:cNvSpPr/>
            <p:nvPr/>
          </p:nvSpPr>
          <p:spPr>
            <a:xfrm>
              <a:off x="5543303" y="6165279"/>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9" name="Oval 1098">
              <a:extLst>
                <a:ext uri="{FF2B5EF4-FFF2-40B4-BE49-F238E27FC236}">
                  <a16:creationId xmlns:a16="http://schemas.microsoft.com/office/drawing/2014/main" id="{1E3E98B0-24DB-CD63-53CE-4DF720F499D0}"/>
                </a:ext>
              </a:extLst>
            </p:cNvPr>
            <p:cNvSpPr/>
            <p:nvPr/>
          </p:nvSpPr>
          <p:spPr>
            <a:xfrm>
              <a:off x="6596430" y="6165279"/>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grpSp>
        <p:nvGrpSpPr>
          <p:cNvPr id="1100" name="Group 1099">
            <a:extLst>
              <a:ext uri="{FF2B5EF4-FFF2-40B4-BE49-F238E27FC236}">
                <a16:creationId xmlns:a16="http://schemas.microsoft.com/office/drawing/2014/main" id="{98731EC4-D46E-FCD0-0AF1-AADA90FCEB19}"/>
              </a:ext>
              <a:ext uri="{C183D7F6-B498-43B3-948B-1728B52AA6E4}">
                <adec:decorative xmlns:adec="http://schemas.microsoft.com/office/drawing/2017/decorative" val="1"/>
              </a:ext>
            </a:extLst>
          </p:cNvPr>
          <p:cNvGrpSpPr/>
          <p:nvPr/>
        </p:nvGrpSpPr>
        <p:grpSpPr>
          <a:xfrm>
            <a:off x="7792269" y="4555984"/>
            <a:ext cx="1582220" cy="1628107"/>
            <a:chOff x="7494899" y="4379725"/>
            <a:chExt cx="1582220" cy="1628107"/>
          </a:xfrm>
        </p:grpSpPr>
        <p:cxnSp>
          <p:nvCxnSpPr>
            <p:cNvPr id="1101" name="Straight Connector 1100">
              <a:extLst>
                <a:ext uri="{FF2B5EF4-FFF2-40B4-BE49-F238E27FC236}">
                  <a16:creationId xmlns:a16="http://schemas.microsoft.com/office/drawing/2014/main" id="{F3CB21E8-B6BC-C282-6965-D11F48AD8C1F}"/>
                </a:ext>
              </a:extLst>
            </p:cNvPr>
            <p:cNvCxnSpPr>
              <a:cxnSpLocks/>
            </p:cNvCxnSpPr>
            <p:nvPr/>
          </p:nvCxnSpPr>
          <p:spPr>
            <a:xfrm rot="2700000">
              <a:off x="7494901" y="5170835"/>
              <a:ext cx="1582220" cy="0"/>
            </a:xfrm>
            <a:prstGeom prst="line">
              <a:avLst/>
            </a:prstGeom>
            <a:ln w="28575">
              <a:solidFill>
                <a:srgbClr val="002570"/>
              </a:solidFill>
            </a:ln>
          </p:spPr>
          <p:style>
            <a:lnRef idx="2">
              <a:schemeClr val="accent1"/>
            </a:lnRef>
            <a:fillRef idx="0">
              <a:schemeClr val="accent1"/>
            </a:fillRef>
            <a:effectRef idx="1">
              <a:schemeClr val="accent1"/>
            </a:effectRef>
            <a:fontRef idx="minor">
              <a:schemeClr val="tx1"/>
            </a:fontRef>
          </p:style>
        </p:cxnSp>
        <p:cxnSp>
          <p:nvCxnSpPr>
            <p:cNvPr id="1102" name="Straight Connector 1101">
              <a:extLst>
                <a:ext uri="{FF2B5EF4-FFF2-40B4-BE49-F238E27FC236}">
                  <a16:creationId xmlns:a16="http://schemas.microsoft.com/office/drawing/2014/main" id="{61780950-7D30-0339-4FCD-6B738F5771A4}"/>
                </a:ext>
              </a:extLst>
            </p:cNvPr>
            <p:cNvCxnSpPr>
              <a:cxnSpLocks/>
            </p:cNvCxnSpPr>
            <p:nvPr/>
          </p:nvCxnSpPr>
          <p:spPr>
            <a:xfrm rot="18900000" flipV="1">
              <a:off x="7494899" y="5170834"/>
              <a:ext cx="1582220" cy="0"/>
            </a:xfrm>
            <a:prstGeom prst="line">
              <a:avLst/>
            </a:prstGeom>
            <a:ln w="28575">
              <a:solidFill>
                <a:srgbClr val="002570"/>
              </a:solidFill>
            </a:ln>
          </p:spPr>
          <p:style>
            <a:lnRef idx="2">
              <a:schemeClr val="accent1"/>
            </a:lnRef>
            <a:fillRef idx="0">
              <a:schemeClr val="accent1"/>
            </a:fillRef>
            <a:effectRef idx="1">
              <a:schemeClr val="accent1"/>
            </a:effectRef>
            <a:fontRef idx="minor">
              <a:schemeClr val="tx1"/>
            </a:fontRef>
          </p:style>
        </p:cxnSp>
        <p:sp>
          <p:nvSpPr>
            <p:cNvPr id="1103" name="TextBox 1102">
              <a:extLst>
                <a:ext uri="{FF2B5EF4-FFF2-40B4-BE49-F238E27FC236}">
                  <a16:creationId xmlns:a16="http://schemas.microsoft.com/office/drawing/2014/main" id="{610C5AC0-453F-5FED-D332-03F7591A04FF}"/>
                </a:ext>
              </a:extLst>
            </p:cNvPr>
            <p:cNvSpPr txBox="1"/>
            <p:nvPr/>
          </p:nvSpPr>
          <p:spPr>
            <a:xfrm>
              <a:off x="8037025" y="4430737"/>
              <a:ext cx="460383"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S</a:t>
              </a:r>
            </a:p>
          </p:txBody>
        </p:sp>
        <p:sp>
          <p:nvSpPr>
            <p:cNvPr id="1104" name="TextBox 1103">
              <a:extLst>
                <a:ext uri="{FF2B5EF4-FFF2-40B4-BE49-F238E27FC236}">
                  <a16:creationId xmlns:a16="http://schemas.microsoft.com/office/drawing/2014/main" id="{9872A173-18DD-3C08-EE5D-5EECC1302F49}"/>
                </a:ext>
              </a:extLst>
            </p:cNvPr>
            <p:cNvSpPr txBox="1"/>
            <p:nvPr/>
          </p:nvSpPr>
          <p:spPr>
            <a:xfrm>
              <a:off x="7555269" y="4941161"/>
              <a:ext cx="500458"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T</a:t>
              </a:r>
            </a:p>
          </p:txBody>
        </p:sp>
        <p:sp>
          <p:nvSpPr>
            <p:cNvPr id="1105" name="TextBox 1104">
              <a:extLst>
                <a:ext uri="{FF2B5EF4-FFF2-40B4-BE49-F238E27FC236}">
                  <a16:creationId xmlns:a16="http://schemas.microsoft.com/office/drawing/2014/main" id="{6FEB4114-2E54-638A-87D3-0209D189596D}"/>
                </a:ext>
              </a:extLst>
            </p:cNvPr>
            <p:cNvSpPr txBox="1"/>
            <p:nvPr/>
          </p:nvSpPr>
          <p:spPr>
            <a:xfrm>
              <a:off x="8550210" y="4941161"/>
              <a:ext cx="478016"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U</a:t>
              </a:r>
            </a:p>
          </p:txBody>
        </p:sp>
        <p:sp>
          <p:nvSpPr>
            <p:cNvPr id="1106" name="TextBox 1105">
              <a:extLst>
                <a:ext uri="{FF2B5EF4-FFF2-40B4-BE49-F238E27FC236}">
                  <a16:creationId xmlns:a16="http://schemas.microsoft.com/office/drawing/2014/main" id="{AFB30794-7503-D7A3-52E4-8DC80EF79489}"/>
                </a:ext>
              </a:extLst>
            </p:cNvPr>
            <p:cNvSpPr txBox="1"/>
            <p:nvPr/>
          </p:nvSpPr>
          <p:spPr>
            <a:xfrm>
              <a:off x="8022956" y="5423057"/>
              <a:ext cx="526106"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V</a:t>
              </a:r>
            </a:p>
          </p:txBody>
        </p:sp>
      </p:grpSp>
      <p:grpSp>
        <p:nvGrpSpPr>
          <p:cNvPr id="1107" name="Group 1106">
            <a:extLst>
              <a:ext uri="{FF2B5EF4-FFF2-40B4-BE49-F238E27FC236}">
                <a16:creationId xmlns:a16="http://schemas.microsoft.com/office/drawing/2014/main" id="{07FB06D0-CCEF-813D-1446-CF79AEC504F9}"/>
              </a:ext>
              <a:ext uri="{C183D7F6-B498-43B3-948B-1728B52AA6E4}">
                <adec:decorative xmlns:adec="http://schemas.microsoft.com/office/drawing/2017/decorative" val="1"/>
              </a:ext>
            </a:extLst>
          </p:cNvPr>
          <p:cNvGrpSpPr/>
          <p:nvPr/>
        </p:nvGrpSpPr>
        <p:grpSpPr>
          <a:xfrm>
            <a:off x="9786645" y="4562119"/>
            <a:ext cx="1582220" cy="1628107"/>
            <a:chOff x="9725000" y="4386646"/>
            <a:chExt cx="1582220" cy="1628107"/>
          </a:xfrm>
        </p:grpSpPr>
        <p:cxnSp>
          <p:nvCxnSpPr>
            <p:cNvPr id="1108" name="Straight Connector 1107">
              <a:extLst>
                <a:ext uri="{FF2B5EF4-FFF2-40B4-BE49-F238E27FC236}">
                  <a16:creationId xmlns:a16="http://schemas.microsoft.com/office/drawing/2014/main" id="{362472A1-8222-84D6-6DA8-EC01FED0B7F2}"/>
                </a:ext>
              </a:extLst>
            </p:cNvPr>
            <p:cNvCxnSpPr>
              <a:cxnSpLocks/>
            </p:cNvCxnSpPr>
            <p:nvPr/>
          </p:nvCxnSpPr>
          <p:spPr>
            <a:xfrm rot="2700000">
              <a:off x="9725002" y="5177756"/>
              <a:ext cx="1582220" cy="0"/>
            </a:xfrm>
            <a:prstGeom prst="line">
              <a:avLst/>
            </a:prstGeom>
            <a:ln w="28575">
              <a:solidFill>
                <a:srgbClr val="002570"/>
              </a:solidFill>
            </a:ln>
          </p:spPr>
          <p:style>
            <a:lnRef idx="2">
              <a:schemeClr val="accent1"/>
            </a:lnRef>
            <a:fillRef idx="0">
              <a:schemeClr val="accent1"/>
            </a:fillRef>
            <a:effectRef idx="1">
              <a:schemeClr val="accent1"/>
            </a:effectRef>
            <a:fontRef idx="minor">
              <a:schemeClr val="tx1"/>
            </a:fontRef>
          </p:style>
        </p:cxnSp>
        <p:cxnSp>
          <p:nvCxnSpPr>
            <p:cNvPr id="1109" name="Straight Connector 1108">
              <a:extLst>
                <a:ext uri="{FF2B5EF4-FFF2-40B4-BE49-F238E27FC236}">
                  <a16:creationId xmlns:a16="http://schemas.microsoft.com/office/drawing/2014/main" id="{D6803585-64A3-0F92-EC10-A29A6F8653E7}"/>
                </a:ext>
              </a:extLst>
            </p:cNvPr>
            <p:cNvCxnSpPr>
              <a:cxnSpLocks/>
            </p:cNvCxnSpPr>
            <p:nvPr/>
          </p:nvCxnSpPr>
          <p:spPr>
            <a:xfrm rot="18900000" flipV="1">
              <a:off x="9725000" y="5177755"/>
              <a:ext cx="1582220" cy="0"/>
            </a:xfrm>
            <a:prstGeom prst="line">
              <a:avLst/>
            </a:prstGeom>
            <a:ln w="28575">
              <a:solidFill>
                <a:srgbClr val="002570"/>
              </a:solidFill>
            </a:ln>
          </p:spPr>
          <p:style>
            <a:lnRef idx="2">
              <a:schemeClr val="accent1"/>
            </a:lnRef>
            <a:fillRef idx="0">
              <a:schemeClr val="accent1"/>
            </a:fillRef>
            <a:effectRef idx="1">
              <a:schemeClr val="accent1"/>
            </a:effectRef>
            <a:fontRef idx="minor">
              <a:schemeClr val="tx1"/>
            </a:fontRef>
          </p:style>
        </p:cxnSp>
        <p:sp>
          <p:nvSpPr>
            <p:cNvPr id="1110" name="TextBox 1109">
              <a:extLst>
                <a:ext uri="{FF2B5EF4-FFF2-40B4-BE49-F238E27FC236}">
                  <a16:creationId xmlns:a16="http://schemas.microsoft.com/office/drawing/2014/main" id="{BB2283AD-889C-5322-340F-D736762E27FB}"/>
                </a:ext>
              </a:extLst>
            </p:cNvPr>
            <p:cNvSpPr txBox="1"/>
            <p:nvPr/>
          </p:nvSpPr>
          <p:spPr>
            <a:xfrm>
              <a:off x="10185373" y="4437658"/>
              <a:ext cx="623889"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W</a:t>
              </a:r>
            </a:p>
          </p:txBody>
        </p:sp>
        <p:sp>
          <p:nvSpPr>
            <p:cNvPr id="1111" name="TextBox 1110">
              <a:extLst>
                <a:ext uri="{FF2B5EF4-FFF2-40B4-BE49-F238E27FC236}">
                  <a16:creationId xmlns:a16="http://schemas.microsoft.com/office/drawing/2014/main" id="{F685A6BA-8495-0F2E-C8FF-5293E0CEB1D4}"/>
                </a:ext>
              </a:extLst>
            </p:cNvPr>
            <p:cNvSpPr txBox="1"/>
            <p:nvPr/>
          </p:nvSpPr>
          <p:spPr>
            <a:xfrm>
              <a:off x="9776554" y="4948082"/>
              <a:ext cx="518091"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X</a:t>
              </a:r>
            </a:p>
          </p:txBody>
        </p:sp>
        <p:sp>
          <p:nvSpPr>
            <p:cNvPr id="1112" name="TextBox 1111">
              <a:extLst>
                <a:ext uri="{FF2B5EF4-FFF2-40B4-BE49-F238E27FC236}">
                  <a16:creationId xmlns:a16="http://schemas.microsoft.com/office/drawing/2014/main" id="{06006404-FF47-F034-0437-9FC1D87DA51E}"/>
                </a:ext>
              </a:extLst>
            </p:cNvPr>
            <p:cNvSpPr txBox="1"/>
            <p:nvPr/>
          </p:nvSpPr>
          <p:spPr>
            <a:xfrm>
              <a:off x="10765083" y="4948082"/>
              <a:ext cx="508473"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Y</a:t>
              </a:r>
            </a:p>
          </p:txBody>
        </p:sp>
        <p:sp>
          <p:nvSpPr>
            <p:cNvPr id="1113" name="TextBox 1112">
              <a:extLst>
                <a:ext uri="{FF2B5EF4-FFF2-40B4-BE49-F238E27FC236}">
                  <a16:creationId xmlns:a16="http://schemas.microsoft.com/office/drawing/2014/main" id="{467FDB10-0EEF-62EE-38FD-C57FBEC95D7B}"/>
                </a:ext>
              </a:extLst>
            </p:cNvPr>
            <p:cNvSpPr txBox="1"/>
            <p:nvPr/>
          </p:nvSpPr>
          <p:spPr>
            <a:xfrm>
              <a:off x="10269889" y="5429978"/>
              <a:ext cx="492443"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Z</a:t>
              </a:r>
            </a:p>
          </p:txBody>
        </p:sp>
        <p:sp>
          <p:nvSpPr>
            <p:cNvPr id="1114" name="Oval 1113">
              <a:extLst>
                <a:ext uri="{FF2B5EF4-FFF2-40B4-BE49-F238E27FC236}">
                  <a16:creationId xmlns:a16="http://schemas.microsoft.com/office/drawing/2014/main" id="{EE23720F-B779-121A-4D87-E06D4598D291}"/>
                </a:ext>
              </a:extLst>
            </p:cNvPr>
            <p:cNvSpPr/>
            <p:nvPr/>
          </p:nvSpPr>
          <p:spPr>
            <a:xfrm>
              <a:off x="10433213" y="4890260"/>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5" name="Oval 1114">
              <a:extLst>
                <a:ext uri="{FF2B5EF4-FFF2-40B4-BE49-F238E27FC236}">
                  <a16:creationId xmlns:a16="http://schemas.microsoft.com/office/drawing/2014/main" id="{00282D65-F717-B3D2-BBCE-0DA0B99555AD}"/>
                </a:ext>
              </a:extLst>
            </p:cNvPr>
            <p:cNvSpPr/>
            <p:nvPr/>
          </p:nvSpPr>
          <p:spPr>
            <a:xfrm>
              <a:off x="10192832" y="5111668"/>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6" name="Oval 1115">
              <a:extLst>
                <a:ext uri="{FF2B5EF4-FFF2-40B4-BE49-F238E27FC236}">
                  <a16:creationId xmlns:a16="http://schemas.microsoft.com/office/drawing/2014/main" id="{5674367C-4ED2-9589-B6B0-DF8EF8A00AEE}"/>
                </a:ext>
              </a:extLst>
            </p:cNvPr>
            <p:cNvSpPr/>
            <p:nvPr/>
          </p:nvSpPr>
          <p:spPr>
            <a:xfrm>
              <a:off x="10686651" y="5128478"/>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7" name="Oval 1116">
              <a:extLst>
                <a:ext uri="{FF2B5EF4-FFF2-40B4-BE49-F238E27FC236}">
                  <a16:creationId xmlns:a16="http://schemas.microsoft.com/office/drawing/2014/main" id="{1D61A0E7-FF85-7820-61D1-7710E18D3AA8}"/>
                </a:ext>
              </a:extLst>
            </p:cNvPr>
            <p:cNvSpPr/>
            <p:nvPr/>
          </p:nvSpPr>
          <p:spPr>
            <a:xfrm>
              <a:off x="10443836" y="5333069"/>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spTree>
    <p:extLst>
      <p:ext uri="{BB962C8B-B14F-4D97-AF65-F5344CB8AC3E}">
        <p14:creationId xmlns:p14="http://schemas.microsoft.com/office/powerpoint/2010/main" val="19167648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0D11-D143-06FA-EE48-E787AFC753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1538C7-CFB5-D20E-0AE0-E5E30ACBD500}"/>
              </a:ext>
            </a:extLst>
          </p:cNvPr>
          <p:cNvSpPr>
            <a:spLocks noGrp="1"/>
          </p:cNvSpPr>
          <p:nvPr>
            <p:ph type="title"/>
          </p:nvPr>
        </p:nvSpPr>
        <p:spPr/>
        <p:txBody>
          <a:bodyPr/>
          <a:lstStyle/>
          <a:p>
            <a:r>
              <a:rPr lang="en-GB" noProof="0" dirty="0"/>
              <a:t>Encryption</a:t>
            </a:r>
          </a:p>
        </p:txBody>
      </p:sp>
      <p:sp>
        <p:nvSpPr>
          <p:cNvPr id="3" name="Content Placeholder 2">
            <a:extLst>
              <a:ext uri="{FF2B5EF4-FFF2-40B4-BE49-F238E27FC236}">
                <a16:creationId xmlns:a16="http://schemas.microsoft.com/office/drawing/2014/main" id="{81A7EC2A-083D-15C6-DF75-B58C596DDC37}"/>
              </a:ext>
            </a:extLst>
          </p:cNvPr>
          <p:cNvSpPr>
            <a:spLocks noGrp="1"/>
          </p:cNvSpPr>
          <p:nvPr>
            <p:ph idx="1"/>
          </p:nvPr>
        </p:nvSpPr>
        <p:spPr/>
        <p:txBody>
          <a:bodyPr/>
          <a:lstStyle/>
          <a:p>
            <a:r>
              <a:rPr lang="en-GB" noProof="0" dirty="0"/>
              <a:t>The message says...</a:t>
            </a:r>
          </a:p>
          <a:p>
            <a:endParaRPr lang="en-GB" sz="2000" noProof="0" dirty="0"/>
          </a:p>
          <a:p>
            <a:endParaRPr lang="en-GB" noProof="0" dirty="0"/>
          </a:p>
          <a:p>
            <a:pPr algn="ctr"/>
            <a:r>
              <a:rPr lang="en-GB" b="1" noProof="0" dirty="0">
                <a:solidFill>
                  <a:srgbClr val="C00000"/>
                </a:solidFill>
              </a:rPr>
              <a:t>Encryption keeps your data safe</a:t>
            </a:r>
          </a:p>
        </p:txBody>
      </p:sp>
      <p:pic>
        <p:nvPicPr>
          <p:cNvPr id="1044" name="Picture 20" descr="Encoded message">
            <a:extLst>
              <a:ext uri="{FF2B5EF4-FFF2-40B4-BE49-F238E27FC236}">
                <a16:creationId xmlns:a16="http://schemas.microsoft.com/office/drawing/2014/main" id="{31A92021-ECEA-8EFD-24C1-69A798B7C773}"/>
              </a:ext>
              <a:ext uri="{C183D7F6-B498-43B3-948B-1728B52AA6E4}">
                <adec:decorative xmlns:adec="http://schemas.microsoft.com/office/drawing/2017/decorative" val="0"/>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18114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1">
            <a:extLst>
              <a:ext uri="{FF2B5EF4-FFF2-40B4-BE49-F238E27FC236}">
                <a16:creationId xmlns:a16="http://schemas.microsoft.com/office/drawing/2014/main" id="{5F8CA7FA-ECEB-0CE5-CF4E-079CF31EBD31}"/>
              </a:ext>
              <a:ext uri="{C183D7F6-B498-43B3-948B-1728B52AA6E4}">
                <adec:decorative xmlns:adec="http://schemas.microsoft.com/office/drawing/2017/decorative" val="1"/>
              </a:ext>
            </a:extLst>
          </p:cNvPr>
          <p:cNvPicPr>
            <a:picLocks noChangeAspect="1" noChangeArrowheads="1"/>
          </p:cNvPicPr>
          <p:nvPr/>
        </p:nvPicPr>
        <p:blipFill>
          <a:blip r:embed="rId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69566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a:extLst>
              <a:ext uri="{FF2B5EF4-FFF2-40B4-BE49-F238E27FC236}">
                <a16:creationId xmlns:a16="http://schemas.microsoft.com/office/drawing/2014/main" id="{5D2C93D1-DE16-DD02-D517-105A4E5C0D87}"/>
              </a:ext>
              <a:ext uri="{C183D7F6-B498-43B3-948B-1728B52AA6E4}">
                <adec:decorative xmlns:adec="http://schemas.microsoft.com/office/drawing/2017/decorative" val="1"/>
              </a:ext>
            </a:extLst>
          </p:cNvPr>
          <p:cNvPicPr>
            <a:picLocks noChangeAspect="1" noChangeArrowheads="1"/>
          </p:cNvPicPr>
          <p:nvPr/>
        </p:nvPicPr>
        <p:blipFill>
          <a:blip r:embed="rId4">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21017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47" name="Picture 23">
            <a:extLst>
              <a:ext uri="{FF2B5EF4-FFF2-40B4-BE49-F238E27FC236}">
                <a16:creationId xmlns:a16="http://schemas.microsoft.com/office/drawing/2014/main" id="{71CC90C2-A4CC-DA04-BF30-DF7C28DB7C27}"/>
              </a:ext>
              <a:ext uri="{C183D7F6-B498-43B3-948B-1728B52AA6E4}">
                <adec:decorative xmlns:adec="http://schemas.microsoft.com/office/drawing/2017/decorative" val="1"/>
              </a:ext>
            </a:extLst>
          </p:cNvPr>
          <p:cNvPicPr>
            <a:picLocks noChangeAspect="1" noChangeArrowheads="1"/>
          </p:cNvPicPr>
          <p:nvPr/>
        </p:nvPicPr>
        <p:blipFill>
          <a:blip r:embed="rId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72469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a:extLst>
              <a:ext uri="{FF2B5EF4-FFF2-40B4-BE49-F238E27FC236}">
                <a16:creationId xmlns:a16="http://schemas.microsoft.com/office/drawing/2014/main" id="{684FE8D2-4368-2AFF-AE08-8A1E366D4C06}"/>
              </a:ext>
              <a:ext uri="{C183D7F6-B498-43B3-948B-1728B52AA6E4}">
                <adec:decorative xmlns:adec="http://schemas.microsoft.com/office/drawing/2017/decorative" val="1"/>
              </a:ext>
            </a:extLst>
          </p:cNvPr>
          <p:cNvPicPr>
            <a:picLocks noChangeAspect="1" noChangeArrowheads="1"/>
          </p:cNvPicPr>
          <p:nvPr/>
        </p:nvPicPr>
        <p:blipFill>
          <a:blip r:embed="rId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23920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49" name="Picture 25">
            <a:extLst>
              <a:ext uri="{FF2B5EF4-FFF2-40B4-BE49-F238E27FC236}">
                <a16:creationId xmlns:a16="http://schemas.microsoft.com/office/drawing/2014/main" id="{A30832CA-5474-658C-12CC-A90BE56DC982}"/>
              </a:ext>
              <a:ext uri="{C183D7F6-B498-43B3-948B-1728B52AA6E4}">
                <adec:decorative xmlns:adec="http://schemas.microsoft.com/office/drawing/2017/decorative" val="1"/>
              </a:ext>
            </a:extLst>
          </p:cNvPr>
          <p:cNvPicPr>
            <a:picLocks noChangeAspect="1" noChangeArrowheads="1"/>
          </p:cNvPicPr>
          <p:nvPr/>
        </p:nvPicPr>
        <p:blipFill>
          <a:blip r:embed="rId7">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5372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a:extLst>
              <a:ext uri="{FF2B5EF4-FFF2-40B4-BE49-F238E27FC236}">
                <a16:creationId xmlns:a16="http://schemas.microsoft.com/office/drawing/2014/main" id="{28C2A504-454A-6E62-1A27-6A573EE570DA}"/>
              </a:ext>
              <a:ext uri="{C183D7F6-B498-43B3-948B-1728B52AA6E4}">
                <adec:decorative xmlns:adec="http://schemas.microsoft.com/office/drawing/2017/decorative" val="1"/>
              </a:ext>
            </a:extLst>
          </p:cNvPr>
          <p:cNvPicPr>
            <a:picLocks noChangeAspect="1" noChangeArrowheads="1"/>
          </p:cNvPicPr>
          <p:nvPr/>
        </p:nvPicPr>
        <p:blipFill>
          <a:blip r:embed="rId8">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6823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1" name="Picture 27">
            <a:extLst>
              <a:ext uri="{FF2B5EF4-FFF2-40B4-BE49-F238E27FC236}">
                <a16:creationId xmlns:a16="http://schemas.microsoft.com/office/drawing/2014/main" id="{35EDBC7D-BE46-EFDB-A341-8F279E21E81A}"/>
              </a:ext>
              <a:ext uri="{C183D7F6-B498-43B3-948B-1728B52AA6E4}">
                <adec:decorative xmlns:adec="http://schemas.microsoft.com/office/drawing/2017/decorative" val="1"/>
              </a:ext>
            </a:extLst>
          </p:cNvPr>
          <p:cNvPicPr>
            <a:picLocks noChangeAspect="1" noChangeArrowheads="1"/>
          </p:cNvPicPr>
          <p:nvPr/>
        </p:nvPicPr>
        <p:blipFill>
          <a:blip r:embed="rId9">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78275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2" name="Picture 28">
            <a:extLst>
              <a:ext uri="{FF2B5EF4-FFF2-40B4-BE49-F238E27FC236}">
                <a16:creationId xmlns:a16="http://schemas.microsoft.com/office/drawing/2014/main" id="{A9DAA521-35FC-0A8D-63A2-A443CA1CFC74}"/>
              </a:ext>
              <a:ext uri="{C183D7F6-B498-43B3-948B-1728B52AA6E4}">
                <adec:decorative xmlns:adec="http://schemas.microsoft.com/office/drawing/2017/decorative" val="1"/>
              </a:ext>
            </a:extLst>
          </p:cNvPr>
          <p:cNvPicPr>
            <a:picLocks noChangeAspect="1" noChangeArrowheads="1"/>
          </p:cNvPicPr>
          <p:nvPr/>
        </p:nvPicPr>
        <p:blipFill>
          <a:blip r:embed="rId10">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297267"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3" name="Picture 29">
            <a:extLst>
              <a:ext uri="{FF2B5EF4-FFF2-40B4-BE49-F238E27FC236}">
                <a16:creationId xmlns:a16="http://schemas.microsoft.com/office/drawing/2014/main" id="{71162AA2-BB74-49E8-4EA7-A9FF8DCFB134}"/>
              </a:ext>
              <a:ext uri="{C183D7F6-B498-43B3-948B-1728B52AA6E4}">
                <adec:decorative xmlns:adec="http://schemas.microsoft.com/office/drawing/2017/decorative" val="1"/>
              </a:ext>
            </a:extLst>
          </p:cNvPr>
          <p:cNvPicPr>
            <a:picLocks noChangeAspect="1" noChangeArrowheads="1"/>
          </p:cNvPicPr>
          <p:nvPr/>
        </p:nvPicPr>
        <p:blipFill>
          <a:blip r:embed="rId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11782"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4" name="Picture 30">
            <a:extLst>
              <a:ext uri="{FF2B5EF4-FFF2-40B4-BE49-F238E27FC236}">
                <a16:creationId xmlns:a16="http://schemas.microsoft.com/office/drawing/2014/main" id="{FFA574DF-6F72-753E-ABF0-6FF4E9D99975}"/>
              </a:ext>
              <a:ext uri="{C183D7F6-B498-43B3-948B-1728B52AA6E4}">
                <adec:decorative xmlns:adec="http://schemas.microsoft.com/office/drawing/2017/decorative" val="1"/>
              </a:ext>
            </a:extLst>
          </p:cNvPr>
          <p:cNvPicPr>
            <a:picLocks noChangeAspect="1" noChangeArrowheads="1"/>
          </p:cNvPicPr>
          <p:nvPr/>
        </p:nvPicPr>
        <p:blipFill>
          <a:blip r:embed="rId11">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78592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5" name="Picture 31">
            <a:extLst>
              <a:ext uri="{FF2B5EF4-FFF2-40B4-BE49-F238E27FC236}">
                <a16:creationId xmlns:a16="http://schemas.microsoft.com/office/drawing/2014/main" id="{5EA0F7FA-E522-F0A1-04E0-435CE94B361C}"/>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300440"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6" name="Picture 32">
            <a:extLst>
              <a:ext uri="{FF2B5EF4-FFF2-40B4-BE49-F238E27FC236}">
                <a16:creationId xmlns:a16="http://schemas.microsoft.com/office/drawing/2014/main" id="{6689331C-BFA2-87DF-074A-3DB5A7E4352D}"/>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1495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7" name="Picture 33">
            <a:extLst>
              <a:ext uri="{FF2B5EF4-FFF2-40B4-BE49-F238E27FC236}">
                <a16:creationId xmlns:a16="http://schemas.microsoft.com/office/drawing/2014/main" id="{1CD3AFF0-D56E-21DC-D1FC-058A36F254E8}"/>
              </a:ext>
              <a:ext uri="{C183D7F6-B498-43B3-948B-1728B52AA6E4}">
                <adec:decorative xmlns:adec="http://schemas.microsoft.com/office/drawing/2017/decorative" val="1"/>
              </a:ext>
            </a:extLst>
          </p:cNvPr>
          <p:cNvPicPr>
            <a:picLocks noChangeAspect="1" noChangeArrowheads="1"/>
          </p:cNvPicPr>
          <p:nvPr/>
        </p:nvPicPr>
        <p:blipFill>
          <a:blip r:embed="rId7">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329470"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a:extLst>
              <a:ext uri="{FF2B5EF4-FFF2-40B4-BE49-F238E27FC236}">
                <a16:creationId xmlns:a16="http://schemas.microsoft.com/office/drawing/2014/main" id="{12729FED-049D-ACAA-21A2-D64FC67F5B32}"/>
              </a:ext>
              <a:ext uri="{C183D7F6-B498-43B3-948B-1728B52AA6E4}">
                <adec:decorative xmlns:adec="http://schemas.microsoft.com/office/drawing/2017/decorative" val="1"/>
              </a:ext>
            </a:extLst>
          </p:cNvPr>
          <p:cNvPicPr>
            <a:picLocks noChangeAspect="1" noChangeArrowheads="1"/>
          </p:cNvPicPr>
          <p:nvPr/>
        </p:nvPicPr>
        <p:blipFill>
          <a:blip r:embed="rId1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43985" y="22649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68" name="Picture 44">
            <a:extLst>
              <a:ext uri="{FF2B5EF4-FFF2-40B4-BE49-F238E27FC236}">
                <a16:creationId xmlns:a16="http://schemas.microsoft.com/office/drawing/2014/main" id="{DA29E38C-8F7B-56DF-A4F0-192370A4B0B3}"/>
              </a:ext>
              <a:ext uri="{C183D7F6-B498-43B3-948B-1728B52AA6E4}">
                <adec:decorative xmlns:adec="http://schemas.microsoft.com/office/drawing/2017/decorative" val="1"/>
              </a:ext>
            </a:extLst>
          </p:cNvPr>
          <p:cNvPicPr>
            <a:picLocks noChangeAspect="1" noChangeArrowheads="1"/>
          </p:cNvPicPr>
          <p:nvPr/>
        </p:nvPicPr>
        <p:blipFill>
          <a:blip r:embed="rId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68342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69" name="Picture 45">
            <a:extLst>
              <a:ext uri="{FF2B5EF4-FFF2-40B4-BE49-F238E27FC236}">
                <a16:creationId xmlns:a16="http://schemas.microsoft.com/office/drawing/2014/main" id="{1814F1BB-6A39-3D02-C9F5-1C67532D9FE3}"/>
              </a:ext>
              <a:ext uri="{C183D7F6-B498-43B3-948B-1728B52AA6E4}">
                <adec:decorative xmlns:adec="http://schemas.microsoft.com/office/drawing/2017/decorative" val="1"/>
              </a:ext>
            </a:extLst>
          </p:cNvPr>
          <p:cNvPicPr>
            <a:picLocks noChangeAspect="1" noChangeArrowheads="1"/>
          </p:cNvPicPr>
          <p:nvPr/>
        </p:nvPicPr>
        <p:blipFill>
          <a:blip r:embed="rId10">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15604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46">
            <a:extLst>
              <a:ext uri="{FF2B5EF4-FFF2-40B4-BE49-F238E27FC236}">
                <a16:creationId xmlns:a16="http://schemas.microsoft.com/office/drawing/2014/main" id="{8D6E2CA6-6E49-8EDC-B910-89E89681149D}"/>
              </a:ext>
              <a:ext uri="{C183D7F6-B498-43B3-948B-1728B52AA6E4}">
                <adec:decorative xmlns:adec="http://schemas.microsoft.com/office/drawing/2017/decorative" val="1"/>
              </a:ext>
            </a:extLst>
          </p:cNvPr>
          <p:cNvPicPr>
            <a:picLocks noChangeAspect="1" noChangeArrowheads="1"/>
          </p:cNvPicPr>
          <p:nvPr/>
        </p:nvPicPr>
        <p:blipFill>
          <a:blip r:embed="rId13">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651180"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1" name="Picture 47">
            <a:extLst>
              <a:ext uri="{FF2B5EF4-FFF2-40B4-BE49-F238E27FC236}">
                <a16:creationId xmlns:a16="http://schemas.microsoft.com/office/drawing/2014/main" id="{E50B439F-6D89-563D-F882-3376D9CCA29F}"/>
              </a:ext>
              <a:ext uri="{C183D7F6-B498-43B3-948B-1728B52AA6E4}">
                <adec:decorative xmlns:adec="http://schemas.microsoft.com/office/drawing/2017/decorative" val="1"/>
              </a:ext>
            </a:extLst>
          </p:cNvPr>
          <p:cNvPicPr>
            <a:picLocks noChangeAspect="1" noChangeArrowheads="1"/>
          </p:cNvPicPr>
          <p:nvPr/>
        </p:nvPicPr>
        <p:blipFill>
          <a:blip r:embed="rId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4973"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2" name="Picture 48">
            <a:extLst>
              <a:ext uri="{FF2B5EF4-FFF2-40B4-BE49-F238E27FC236}">
                <a16:creationId xmlns:a16="http://schemas.microsoft.com/office/drawing/2014/main" id="{89167B2F-E79E-DBB0-D8CC-CA955D05F14B}"/>
              </a:ext>
              <a:ext uri="{C183D7F6-B498-43B3-948B-1728B52AA6E4}">
                <adec:decorative xmlns:adec="http://schemas.microsoft.com/office/drawing/2017/decorative" val="1"/>
              </a:ext>
            </a:extLst>
          </p:cNvPr>
          <p:cNvPicPr>
            <a:picLocks noChangeAspect="1" noChangeArrowheads="1"/>
          </p:cNvPicPr>
          <p:nvPr/>
        </p:nvPicPr>
        <p:blipFill>
          <a:blip r:embed="rId14">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16097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3" name="Picture 49">
            <a:extLst>
              <a:ext uri="{FF2B5EF4-FFF2-40B4-BE49-F238E27FC236}">
                <a16:creationId xmlns:a16="http://schemas.microsoft.com/office/drawing/2014/main" id="{5E51E795-EDB8-48EB-209A-CB07128D6E8F}"/>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633594"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4" name="Picture 50">
            <a:extLst>
              <a:ext uri="{FF2B5EF4-FFF2-40B4-BE49-F238E27FC236}">
                <a16:creationId xmlns:a16="http://schemas.microsoft.com/office/drawing/2014/main" id="{30C58D8B-E7D6-F38B-6F2A-4F808DB8B82C}"/>
              </a:ext>
              <a:ext uri="{C183D7F6-B498-43B3-948B-1728B52AA6E4}">
                <adec:decorative xmlns:adec="http://schemas.microsoft.com/office/drawing/2017/decorative" val="1"/>
              </a:ext>
            </a:extLst>
          </p:cNvPr>
          <p:cNvPicPr>
            <a:picLocks noChangeAspect="1" noChangeArrowheads="1"/>
          </p:cNvPicPr>
          <p:nvPr/>
        </p:nvPicPr>
        <p:blipFill>
          <a:blip r:embed="rId8">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2523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5" name="Picture 51">
            <a:extLst>
              <a:ext uri="{FF2B5EF4-FFF2-40B4-BE49-F238E27FC236}">
                <a16:creationId xmlns:a16="http://schemas.microsoft.com/office/drawing/2014/main" id="{700DF998-E485-779F-7748-5737653EEF18}"/>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64225"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6" name="Picture 52">
            <a:extLst>
              <a:ext uri="{FF2B5EF4-FFF2-40B4-BE49-F238E27FC236}">
                <a16:creationId xmlns:a16="http://schemas.microsoft.com/office/drawing/2014/main" id="{284DABC1-7C4A-E8A0-9699-4B2210CC6792}"/>
              </a:ext>
              <a:ext uri="{C183D7F6-B498-43B3-948B-1728B52AA6E4}">
                <adec:decorative xmlns:adec="http://schemas.microsoft.com/office/drawing/2017/decorative" val="1"/>
              </a:ext>
            </a:extLst>
          </p:cNvPr>
          <p:cNvPicPr>
            <a:picLocks noChangeAspect="1" noChangeArrowheads="1"/>
          </p:cNvPicPr>
          <p:nvPr/>
        </p:nvPicPr>
        <p:blipFill>
          <a:blip r:embed="rId1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502809"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7" name="Picture 53">
            <a:extLst>
              <a:ext uri="{FF2B5EF4-FFF2-40B4-BE49-F238E27FC236}">
                <a16:creationId xmlns:a16="http://schemas.microsoft.com/office/drawing/2014/main" id="{97616F90-D4B9-AECA-8F50-AD08B5F358DE}"/>
              </a:ext>
              <a:ext uri="{C183D7F6-B498-43B3-948B-1728B52AA6E4}">
                <adec:decorative xmlns:adec="http://schemas.microsoft.com/office/drawing/2017/decorative" val="1"/>
              </a:ext>
            </a:extLst>
          </p:cNvPr>
          <p:cNvPicPr>
            <a:picLocks noChangeAspect="1" noChangeArrowheads="1"/>
          </p:cNvPicPr>
          <p:nvPr/>
        </p:nvPicPr>
        <p:blipFill>
          <a:blip r:embed="rId15">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973536"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8" name="Picture 54">
            <a:extLst>
              <a:ext uri="{FF2B5EF4-FFF2-40B4-BE49-F238E27FC236}">
                <a16:creationId xmlns:a16="http://schemas.microsoft.com/office/drawing/2014/main" id="{CAB81412-1CFA-00CF-B468-B8935F1C81A4}"/>
              </a:ext>
              <a:ext uri="{C183D7F6-B498-43B3-948B-1728B52AA6E4}">
                <adec:decorative xmlns:adec="http://schemas.microsoft.com/office/drawing/2017/decorative" val="1"/>
              </a:ext>
            </a:extLst>
          </p:cNvPr>
          <p:cNvPicPr>
            <a:picLocks noChangeAspect="1" noChangeArrowheads="1"/>
          </p:cNvPicPr>
          <p:nvPr/>
        </p:nvPicPr>
        <p:blipFill>
          <a:blip r:embed="rId16">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483473" y="3044339"/>
            <a:ext cx="460383" cy="460383"/>
          </a:xfrm>
          <a:prstGeom prst="rect">
            <a:avLst/>
          </a:prstGeom>
          <a:noFill/>
          <a:extLst>
            <a:ext uri="{909E8E84-426E-40DD-AFC4-6F175D3DCCD1}">
              <a14:hiddenFill xmlns:a14="http://schemas.microsoft.com/office/drawing/2010/main">
                <a:solidFill>
                  <a:srgbClr val="FFFFFF"/>
                </a:solidFill>
              </a14:hiddenFill>
            </a:ext>
          </a:extLst>
        </p:spPr>
      </p:pic>
      <p:pic>
        <p:nvPicPr>
          <p:cNvPr id="1079" name="Picture 55">
            <a:extLst>
              <a:ext uri="{FF2B5EF4-FFF2-40B4-BE49-F238E27FC236}">
                <a16:creationId xmlns:a16="http://schemas.microsoft.com/office/drawing/2014/main" id="{9C6F36BB-4A75-8981-071C-1297A577F5A2}"/>
              </a:ext>
              <a:ext uri="{C183D7F6-B498-43B3-948B-1728B52AA6E4}">
                <adec:decorative xmlns:adec="http://schemas.microsoft.com/office/drawing/2017/decorative" val="1"/>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993410" y="3044339"/>
            <a:ext cx="460383" cy="46038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A86A41BC-9105-8E66-F471-82AEBA5804C9}"/>
              </a:ext>
              <a:ext uri="{C183D7F6-B498-43B3-948B-1728B52AA6E4}">
                <adec:decorative xmlns:adec="http://schemas.microsoft.com/office/drawing/2017/decorative" val="1"/>
              </a:ext>
            </a:extLst>
          </p:cNvPr>
          <p:cNvGraphicFramePr>
            <a:graphicFrameLocks noGrp="1"/>
          </p:cNvGraphicFramePr>
          <p:nvPr>
            <p:extLst>
              <p:ext uri="{D42A27DB-BD31-4B8C-83A1-F6EECF244321}">
                <p14:modId xmlns:p14="http://schemas.microsoft.com/office/powerpoint/2010/main" val="2106995852"/>
              </p:ext>
            </p:extLst>
          </p:nvPr>
        </p:nvGraphicFramePr>
        <p:xfrm>
          <a:off x="678094" y="4194059"/>
          <a:ext cx="3200970" cy="2424225"/>
        </p:xfrm>
        <a:graphic>
          <a:graphicData uri="http://schemas.openxmlformats.org/drawingml/2006/table">
            <a:tbl>
              <a:tblPr firstRow="1" bandRow="1">
                <a:tableStyleId>{5C22544A-7EE6-4342-B048-85BDC9FD1C3A}</a:tableStyleId>
              </a:tblPr>
              <a:tblGrid>
                <a:gridCol w="1066990">
                  <a:extLst>
                    <a:ext uri="{9D8B030D-6E8A-4147-A177-3AD203B41FA5}">
                      <a16:colId xmlns:a16="http://schemas.microsoft.com/office/drawing/2014/main" val="3669850132"/>
                    </a:ext>
                  </a:extLst>
                </a:gridCol>
                <a:gridCol w="1066990">
                  <a:extLst>
                    <a:ext uri="{9D8B030D-6E8A-4147-A177-3AD203B41FA5}">
                      <a16:colId xmlns:a16="http://schemas.microsoft.com/office/drawing/2014/main" val="2212514850"/>
                    </a:ext>
                  </a:extLst>
                </a:gridCol>
                <a:gridCol w="1066990">
                  <a:extLst>
                    <a:ext uri="{9D8B030D-6E8A-4147-A177-3AD203B41FA5}">
                      <a16:colId xmlns:a16="http://schemas.microsoft.com/office/drawing/2014/main" val="3748870464"/>
                    </a:ext>
                  </a:extLst>
                </a:gridCol>
              </a:tblGrid>
              <a:tr h="808075">
                <a:tc>
                  <a:txBody>
                    <a:bodyPr/>
                    <a:lstStyle/>
                    <a:p>
                      <a:pPr algn="ctr"/>
                      <a:r>
                        <a:rPr lang="en-GB" sz="3200" b="1" noProof="0" dirty="0">
                          <a:solidFill>
                            <a:srgbClr val="002570"/>
                          </a:solidFill>
                          <a:latin typeface="OpenDyslexicAlta" panose="00000500000000000000" pitchFamily="50" charset="0"/>
                        </a:rPr>
                        <a:t>A</a:t>
                      </a:r>
                    </a:p>
                  </a:txBody>
                  <a:tcPr anchor="ctr">
                    <a:lnR w="28575" cap="flat" cmpd="sng" algn="ctr">
                      <a:solidFill>
                        <a:srgbClr val="002570"/>
                      </a:solidFill>
                      <a:prstDash val="solid"/>
                      <a:round/>
                      <a:headEnd type="none" w="med" len="med"/>
                      <a:tailEnd type="none" w="med" len="med"/>
                    </a:lnR>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B</a:t>
                      </a:r>
                    </a:p>
                  </a:txBody>
                  <a:tcPr anchor="ct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C</a:t>
                      </a:r>
                    </a:p>
                  </a:txBody>
                  <a:tcPr anchor="ctr">
                    <a:lnL w="28575" cap="flat" cmpd="sng" algn="ctr">
                      <a:solidFill>
                        <a:srgbClr val="002570"/>
                      </a:solidFill>
                      <a:prstDash val="solid"/>
                      <a:round/>
                      <a:headEnd type="none" w="med" len="med"/>
                      <a:tailEnd type="none" w="med" len="med"/>
                    </a:lnL>
                    <a:lnB w="28575" cap="flat" cmpd="sng" algn="ctr">
                      <a:solidFill>
                        <a:srgbClr val="002570"/>
                      </a:solidFill>
                      <a:prstDash val="solid"/>
                      <a:round/>
                      <a:headEnd type="none" w="med" len="med"/>
                      <a:tailEnd type="none" w="med" len="med"/>
                    </a:lnB>
                    <a:noFill/>
                  </a:tcPr>
                </a:tc>
                <a:extLst>
                  <a:ext uri="{0D108BD9-81ED-4DB2-BD59-A6C34878D82A}">
                    <a16:rowId xmlns:a16="http://schemas.microsoft.com/office/drawing/2014/main" val="776176148"/>
                  </a:ext>
                </a:extLst>
              </a:tr>
              <a:tr h="808075">
                <a:tc>
                  <a:txBody>
                    <a:bodyPr/>
                    <a:lstStyle/>
                    <a:p>
                      <a:pPr algn="ctr"/>
                      <a:r>
                        <a:rPr lang="en-GB" sz="3200" b="1" noProof="0" dirty="0">
                          <a:solidFill>
                            <a:srgbClr val="002570"/>
                          </a:solidFill>
                          <a:latin typeface="OpenDyslexicAlta" panose="00000500000000000000" pitchFamily="50" charset="0"/>
                        </a:rPr>
                        <a:t>D</a:t>
                      </a:r>
                    </a:p>
                  </a:txBody>
                  <a:tcPr anchor="ctr">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E</a:t>
                      </a:r>
                    </a:p>
                  </a:txBody>
                  <a:tcPr anchor="ct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F</a:t>
                      </a:r>
                    </a:p>
                  </a:txBody>
                  <a:tcPr anchor="ctr">
                    <a:lnL w="28575" cap="flat" cmpd="sng" algn="ctr">
                      <a:solidFill>
                        <a:srgbClr val="002570"/>
                      </a:solidFill>
                      <a:prstDash val="solid"/>
                      <a:round/>
                      <a:headEnd type="none" w="med" len="med"/>
                      <a:tailEnd type="none" w="med" len="med"/>
                    </a:lnL>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extLst>
                  <a:ext uri="{0D108BD9-81ED-4DB2-BD59-A6C34878D82A}">
                    <a16:rowId xmlns:a16="http://schemas.microsoft.com/office/drawing/2014/main" val="2748425541"/>
                  </a:ext>
                </a:extLst>
              </a:tr>
              <a:tr h="808075">
                <a:tc>
                  <a:txBody>
                    <a:bodyPr/>
                    <a:lstStyle/>
                    <a:p>
                      <a:pPr algn="ctr"/>
                      <a:r>
                        <a:rPr lang="en-GB" sz="3200" b="1" noProof="0" dirty="0">
                          <a:solidFill>
                            <a:srgbClr val="002570"/>
                          </a:solidFill>
                          <a:latin typeface="OpenDyslexicAlta" panose="00000500000000000000" pitchFamily="50" charset="0"/>
                        </a:rPr>
                        <a:t>G</a:t>
                      </a:r>
                    </a:p>
                  </a:txBody>
                  <a:tcPr anchor="ctr">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noFill/>
                  </a:tcPr>
                </a:tc>
                <a:tc>
                  <a:txBody>
                    <a:bodyPr/>
                    <a:lstStyle/>
                    <a:p>
                      <a:pPr algn="ctr"/>
                      <a:r>
                        <a:rPr lang="en-GB" sz="3200" b="1" noProof="0" dirty="0">
                          <a:solidFill>
                            <a:srgbClr val="002570"/>
                          </a:solidFill>
                          <a:latin typeface="OpenDyslexicAlta" panose="00000500000000000000" pitchFamily="50" charset="0"/>
                        </a:rPr>
                        <a:t>H</a:t>
                      </a:r>
                    </a:p>
                  </a:txBody>
                  <a:tcPr anchor="ct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noFill/>
                  </a:tcPr>
                </a:tc>
                <a:tc>
                  <a:txBody>
                    <a:bodyPr/>
                    <a:lstStyle/>
                    <a:p>
                      <a:pPr algn="ctr"/>
                      <a:r>
                        <a:rPr lang="en-GB" sz="3200" b="1" noProof="0" dirty="0">
                          <a:solidFill>
                            <a:srgbClr val="002570"/>
                          </a:solidFill>
                          <a:latin typeface="OpenDyslexicAlta" panose="00000500000000000000" pitchFamily="50" charset="0"/>
                        </a:rPr>
                        <a:t>I</a:t>
                      </a:r>
                    </a:p>
                  </a:txBody>
                  <a:tcPr anchor="ctr">
                    <a:lnL w="28575" cap="flat" cmpd="sng" algn="ctr">
                      <a:solidFill>
                        <a:srgbClr val="002570"/>
                      </a:solidFill>
                      <a:prstDash val="solid"/>
                      <a:round/>
                      <a:headEnd type="none" w="med" len="med"/>
                      <a:tailEnd type="none" w="med" len="med"/>
                    </a:lnL>
                    <a:lnT w="28575" cap="flat" cmpd="sng" algn="ctr">
                      <a:solidFill>
                        <a:srgbClr val="002570"/>
                      </a:solidFill>
                      <a:prstDash val="solid"/>
                      <a:round/>
                      <a:headEnd type="none" w="med" len="med"/>
                      <a:tailEnd type="none" w="med" len="med"/>
                    </a:lnT>
                    <a:noFill/>
                  </a:tcPr>
                </a:tc>
                <a:extLst>
                  <a:ext uri="{0D108BD9-81ED-4DB2-BD59-A6C34878D82A}">
                    <a16:rowId xmlns:a16="http://schemas.microsoft.com/office/drawing/2014/main" val="943078370"/>
                  </a:ext>
                </a:extLst>
              </a:tr>
            </a:tbl>
          </a:graphicData>
        </a:graphic>
      </p:graphicFrame>
      <p:graphicFrame>
        <p:nvGraphicFramePr>
          <p:cNvPr id="10" name="Table 9">
            <a:extLst>
              <a:ext uri="{FF2B5EF4-FFF2-40B4-BE49-F238E27FC236}">
                <a16:creationId xmlns:a16="http://schemas.microsoft.com/office/drawing/2014/main" id="{D0455F7F-2E2B-FC94-3386-19FA86357218}"/>
              </a:ext>
              <a:ext uri="{C183D7F6-B498-43B3-948B-1728B52AA6E4}">
                <adec:decorative xmlns:adec="http://schemas.microsoft.com/office/drawing/2017/decorative" val="1"/>
              </a:ext>
            </a:extLst>
          </p:cNvPr>
          <p:cNvGraphicFramePr>
            <a:graphicFrameLocks noGrp="1"/>
          </p:cNvGraphicFramePr>
          <p:nvPr>
            <p:extLst>
              <p:ext uri="{D42A27DB-BD31-4B8C-83A1-F6EECF244321}">
                <p14:modId xmlns:p14="http://schemas.microsoft.com/office/powerpoint/2010/main" val="921283517"/>
              </p:ext>
            </p:extLst>
          </p:nvPr>
        </p:nvGraphicFramePr>
        <p:xfrm>
          <a:off x="4081521" y="4194058"/>
          <a:ext cx="3200970" cy="2424225"/>
        </p:xfrm>
        <a:graphic>
          <a:graphicData uri="http://schemas.openxmlformats.org/drawingml/2006/table">
            <a:tbl>
              <a:tblPr firstRow="1" bandRow="1">
                <a:tableStyleId>{5C22544A-7EE6-4342-B048-85BDC9FD1C3A}</a:tableStyleId>
              </a:tblPr>
              <a:tblGrid>
                <a:gridCol w="1066990">
                  <a:extLst>
                    <a:ext uri="{9D8B030D-6E8A-4147-A177-3AD203B41FA5}">
                      <a16:colId xmlns:a16="http://schemas.microsoft.com/office/drawing/2014/main" val="3669850132"/>
                    </a:ext>
                  </a:extLst>
                </a:gridCol>
                <a:gridCol w="1066990">
                  <a:extLst>
                    <a:ext uri="{9D8B030D-6E8A-4147-A177-3AD203B41FA5}">
                      <a16:colId xmlns:a16="http://schemas.microsoft.com/office/drawing/2014/main" val="2212514850"/>
                    </a:ext>
                  </a:extLst>
                </a:gridCol>
                <a:gridCol w="1066990">
                  <a:extLst>
                    <a:ext uri="{9D8B030D-6E8A-4147-A177-3AD203B41FA5}">
                      <a16:colId xmlns:a16="http://schemas.microsoft.com/office/drawing/2014/main" val="3748870464"/>
                    </a:ext>
                  </a:extLst>
                </a:gridCol>
              </a:tblGrid>
              <a:tr h="808075">
                <a:tc>
                  <a:txBody>
                    <a:bodyPr/>
                    <a:lstStyle/>
                    <a:p>
                      <a:pPr algn="ctr"/>
                      <a:r>
                        <a:rPr lang="en-GB" sz="3200" b="1" noProof="0" dirty="0">
                          <a:solidFill>
                            <a:srgbClr val="002570"/>
                          </a:solidFill>
                          <a:latin typeface="OpenDyslexicAlta" panose="00000500000000000000" pitchFamily="50" charset="0"/>
                        </a:rPr>
                        <a:t>J</a:t>
                      </a:r>
                    </a:p>
                  </a:txBody>
                  <a:tcPr>
                    <a:lnR w="28575" cap="flat" cmpd="sng" algn="ctr">
                      <a:solidFill>
                        <a:srgbClr val="002570"/>
                      </a:solidFill>
                      <a:prstDash val="solid"/>
                      <a:round/>
                      <a:headEnd type="none" w="med" len="med"/>
                      <a:tailEnd type="none" w="med" len="med"/>
                    </a:lnR>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K</a:t>
                      </a:r>
                    </a:p>
                  </a:txBody>
                  <a:tcP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L</a:t>
                      </a:r>
                    </a:p>
                  </a:txBody>
                  <a:tcPr>
                    <a:lnL w="28575" cap="flat" cmpd="sng" algn="ctr">
                      <a:solidFill>
                        <a:srgbClr val="002570"/>
                      </a:solidFill>
                      <a:prstDash val="solid"/>
                      <a:round/>
                      <a:headEnd type="none" w="med" len="med"/>
                      <a:tailEnd type="none" w="med" len="med"/>
                    </a:lnL>
                    <a:lnB w="28575" cap="flat" cmpd="sng" algn="ctr">
                      <a:solidFill>
                        <a:srgbClr val="002570"/>
                      </a:solidFill>
                      <a:prstDash val="solid"/>
                      <a:round/>
                      <a:headEnd type="none" w="med" len="med"/>
                      <a:tailEnd type="none" w="med" len="med"/>
                    </a:lnB>
                    <a:noFill/>
                  </a:tcPr>
                </a:tc>
                <a:extLst>
                  <a:ext uri="{0D108BD9-81ED-4DB2-BD59-A6C34878D82A}">
                    <a16:rowId xmlns:a16="http://schemas.microsoft.com/office/drawing/2014/main" val="776176148"/>
                  </a:ext>
                </a:extLst>
              </a:tr>
              <a:tr h="808075">
                <a:tc>
                  <a:txBody>
                    <a:bodyPr/>
                    <a:lstStyle/>
                    <a:p>
                      <a:pPr algn="ctr"/>
                      <a:r>
                        <a:rPr lang="en-GB" sz="3200" b="1" noProof="0" dirty="0">
                          <a:solidFill>
                            <a:srgbClr val="002570"/>
                          </a:solidFill>
                          <a:latin typeface="OpenDyslexicAlta" panose="00000500000000000000" pitchFamily="50" charset="0"/>
                        </a:rPr>
                        <a:t>M</a:t>
                      </a:r>
                    </a:p>
                  </a:txBody>
                  <a:tcPr>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N</a:t>
                      </a:r>
                    </a:p>
                  </a:txBody>
                  <a:tcP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tc>
                  <a:txBody>
                    <a:bodyPr/>
                    <a:lstStyle/>
                    <a:p>
                      <a:pPr algn="ctr"/>
                      <a:r>
                        <a:rPr lang="en-GB" sz="3200" b="1" noProof="0" dirty="0">
                          <a:solidFill>
                            <a:srgbClr val="002570"/>
                          </a:solidFill>
                          <a:latin typeface="OpenDyslexicAlta" panose="00000500000000000000" pitchFamily="50" charset="0"/>
                        </a:rPr>
                        <a:t>O</a:t>
                      </a:r>
                    </a:p>
                  </a:txBody>
                  <a:tcPr>
                    <a:lnL w="28575" cap="flat" cmpd="sng" algn="ctr">
                      <a:solidFill>
                        <a:srgbClr val="002570"/>
                      </a:solidFill>
                      <a:prstDash val="solid"/>
                      <a:round/>
                      <a:headEnd type="none" w="med" len="med"/>
                      <a:tailEnd type="none" w="med" len="med"/>
                    </a:lnL>
                    <a:lnT w="28575" cap="flat" cmpd="sng" algn="ctr">
                      <a:solidFill>
                        <a:srgbClr val="002570"/>
                      </a:solidFill>
                      <a:prstDash val="solid"/>
                      <a:round/>
                      <a:headEnd type="none" w="med" len="med"/>
                      <a:tailEnd type="none" w="med" len="med"/>
                    </a:lnT>
                    <a:lnB w="28575" cap="flat" cmpd="sng" algn="ctr">
                      <a:solidFill>
                        <a:srgbClr val="002570"/>
                      </a:solidFill>
                      <a:prstDash val="solid"/>
                      <a:round/>
                      <a:headEnd type="none" w="med" len="med"/>
                      <a:tailEnd type="none" w="med" len="med"/>
                    </a:lnB>
                    <a:noFill/>
                  </a:tcPr>
                </a:tc>
                <a:extLst>
                  <a:ext uri="{0D108BD9-81ED-4DB2-BD59-A6C34878D82A}">
                    <a16:rowId xmlns:a16="http://schemas.microsoft.com/office/drawing/2014/main" val="2748425541"/>
                  </a:ext>
                </a:extLst>
              </a:tr>
              <a:tr h="808075">
                <a:tc>
                  <a:txBody>
                    <a:bodyPr/>
                    <a:lstStyle/>
                    <a:p>
                      <a:pPr algn="ctr"/>
                      <a:r>
                        <a:rPr lang="en-GB" sz="3200" b="1" noProof="0" dirty="0">
                          <a:solidFill>
                            <a:srgbClr val="002570"/>
                          </a:solidFill>
                          <a:latin typeface="OpenDyslexicAlta" panose="00000500000000000000" pitchFamily="50" charset="0"/>
                        </a:rPr>
                        <a:t>P</a:t>
                      </a:r>
                    </a:p>
                  </a:txBody>
                  <a:tcPr>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noFill/>
                  </a:tcPr>
                </a:tc>
                <a:tc>
                  <a:txBody>
                    <a:bodyPr/>
                    <a:lstStyle/>
                    <a:p>
                      <a:pPr algn="ctr"/>
                      <a:r>
                        <a:rPr lang="en-GB" sz="3200" b="1" noProof="0" dirty="0">
                          <a:solidFill>
                            <a:srgbClr val="002570"/>
                          </a:solidFill>
                          <a:latin typeface="OpenDyslexicAlta" panose="00000500000000000000" pitchFamily="50" charset="0"/>
                        </a:rPr>
                        <a:t>Q</a:t>
                      </a:r>
                    </a:p>
                  </a:txBody>
                  <a:tcPr>
                    <a:lnL w="28575" cap="flat" cmpd="sng" algn="ctr">
                      <a:solidFill>
                        <a:srgbClr val="002570"/>
                      </a:solidFill>
                      <a:prstDash val="solid"/>
                      <a:round/>
                      <a:headEnd type="none" w="med" len="med"/>
                      <a:tailEnd type="none" w="med" len="med"/>
                    </a:lnL>
                    <a:lnR w="28575" cap="flat" cmpd="sng" algn="ctr">
                      <a:solidFill>
                        <a:srgbClr val="002570"/>
                      </a:solidFill>
                      <a:prstDash val="solid"/>
                      <a:round/>
                      <a:headEnd type="none" w="med" len="med"/>
                      <a:tailEnd type="none" w="med" len="med"/>
                    </a:lnR>
                    <a:lnT w="28575" cap="flat" cmpd="sng" algn="ctr">
                      <a:solidFill>
                        <a:srgbClr val="002570"/>
                      </a:solidFill>
                      <a:prstDash val="solid"/>
                      <a:round/>
                      <a:headEnd type="none" w="med" len="med"/>
                      <a:tailEnd type="none" w="med" len="med"/>
                    </a:lnT>
                    <a:noFill/>
                  </a:tcPr>
                </a:tc>
                <a:tc>
                  <a:txBody>
                    <a:bodyPr/>
                    <a:lstStyle/>
                    <a:p>
                      <a:pPr algn="ctr"/>
                      <a:r>
                        <a:rPr lang="en-GB" sz="3200" b="1" noProof="0" dirty="0">
                          <a:solidFill>
                            <a:srgbClr val="002570"/>
                          </a:solidFill>
                          <a:latin typeface="OpenDyslexicAlta" panose="00000500000000000000" pitchFamily="50" charset="0"/>
                        </a:rPr>
                        <a:t>R</a:t>
                      </a:r>
                    </a:p>
                  </a:txBody>
                  <a:tcPr>
                    <a:lnL w="28575" cap="flat" cmpd="sng" algn="ctr">
                      <a:solidFill>
                        <a:srgbClr val="002570"/>
                      </a:solidFill>
                      <a:prstDash val="solid"/>
                      <a:round/>
                      <a:headEnd type="none" w="med" len="med"/>
                      <a:tailEnd type="none" w="med" len="med"/>
                    </a:lnL>
                    <a:lnT w="28575" cap="flat" cmpd="sng" algn="ctr">
                      <a:solidFill>
                        <a:srgbClr val="002570"/>
                      </a:solidFill>
                      <a:prstDash val="solid"/>
                      <a:round/>
                      <a:headEnd type="none" w="med" len="med"/>
                      <a:tailEnd type="none" w="med" len="med"/>
                    </a:lnT>
                    <a:noFill/>
                  </a:tcPr>
                </a:tc>
                <a:extLst>
                  <a:ext uri="{0D108BD9-81ED-4DB2-BD59-A6C34878D82A}">
                    <a16:rowId xmlns:a16="http://schemas.microsoft.com/office/drawing/2014/main" val="943078370"/>
                  </a:ext>
                </a:extLst>
              </a:tr>
            </a:tbl>
          </a:graphicData>
        </a:graphic>
      </p:graphicFrame>
      <p:grpSp>
        <p:nvGrpSpPr>
          <p:cNvPr id="11" name="Group 10">
            <a:extLst>
              <a:ext uri="{FF2B5EF4-FFF2-40B4-BE49-F238E27FC236}">
                <a16:creationId xmlns:a16="http://schemas.microsoft.com/office/drawing/2014/main" id="{7516D0BD-E071-13AC-08A7-AE624FB31CE5}"/>
              </a:ext>
              <a:ext uri="{C183D7F6-B498-43B3-948B-1728B52AA6E4}">
                <adec:decorative xmlns:adec="http://schemas.microsoft.com/office/drawing/2017/decorative" val="1"/>
              </a:ext>
            </a:extLst>
          </p:cNvPr>
          <p:cNvGrpSpPr/>
          <p:nvPr/>
        </p:nvGrpSpPr>
        <p:grpSpPr>
          <a:xfrm>
            <a:off x="4522362" y="4781076"/>
            <a:ext cx="2289826" cy="1691850"/>
            <a:chOff x="4460717" y="4605603"/>
            <a:chExt cx="2289826" cy="1691850"/>
          </a:xfrm>
        </p:grpSpPr>
        <p:sp>
          <p:nvSpPr>
            <p:cNvPr id="12" name="Oval 11">
              <a:extLst>
                <a:ext uri="{FF2B5EF4-FFF2-40B4-BE49-F238E27FC236}">
                  <a16:creationId xmlns:a16="http://schemas.microsoft.com/office/drawing/2014/main" id="{959D2E01-C558-9D7E-53FC-E103DCA78AD2}"/>
                </a:ext>
              </a:extLst>
            </p:cNvPr>
            <p:cNvSpPr/>
            <p:nvPr/>
          </p:nvSpPr>
          <p:spPr>
            <a:xfrm>
              <a:off x="4460717" y="4605603"/>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Oval 12">
              <a:extLst>
                <a:ext uri="{FF2B5EF4-FFF2-40B4-BE49-F238E27FC236}">
                  <a16:creationId xmlns:a16="http://schemas.microsoft.com/office/drawing/2014/main" id="{436E80DB-30BD-54B1-AC9A-B8555FE162CA}"/>
                </a:ext>
              </a:extLst>
            </p:cNvPr>
            <p:cNvSpPr/>
            <p:nvPr/>
          </p:nvSpPr>
          <p:spPr>
            <a:xfrm>
              <a:off x="5543303" y="4605603"/>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 name="Oval 13">
              <a:extLst>
                <a:ext uri="{FF2B5EF4-FFF2-40B4-BE49-F238E27FC236}">
                  <a16:creationId xmlns:a16="http://schemas.microsoft.com/office/drawing/2014/main" id="{248C725A-F192-C0DC-E6A3-C57B3FD5BD29}"/>
                </a:ext>
              </a:extLst>
            </p:cNvPr>
            <p:cNvSpPr/>
            <p:nvPr/>
          </p:nvSpPr>
          <p:spPr>
            <a:xfrm>
              <a:off x="6596430" y="4605603"/>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14">
              <a:extLst>
                <a:ext uri="{FF2B5EF4-FFF2-40B4-BE49-F238E27FC236}">
                  <a16:creationId xmlns:a16="http://schemas.microsoft.com/office/drawing/2014/main" id="{5FD104F0-0E63-5162-AFBA-7905F75279A3}"/>
                </a:ext>
              </a:extLst>
            </p:cNvPr>
            <p:cNvSpPr/>
            <p:nvPr/>
          </p:nvSpPr>
          <p:spPr>
            <a:xfrm>
              <a:off x="4460717" y="5370030"/>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2" name="Oval 21">
              <a:extLst>
                <a:ext uri="{FF2B5EF4-FFF2-40B4-BE49-F238E27FC236}">
                  <a16:creationId xmlns:a16="http://schemas.microsoft.com/office/drawing/2014/main" id="{D1DC9997-C305-236A-FD07-54F80CE38492}"/>
                </a:ext>
              </a:extLst>
            </p:cNvPr>
            <p:cNvSpPr/>
            <p:nvPr/>
          </p:nvSpPr>
          <p:spPr>
            <a:xfrm>
              <a:off x="5543303" y="5370030"/>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 name="Oval 22">
              <a:extLst>
                <a:ext uri="{FF2B5EF4-FFF2-40B4-BE49-F238E27FC236}">
                  <a16:creationId xmlns:a16="http://schemas.microsoft.com/office/drawing/2014/main" id="{99FBF593-E9D4-8601-E075-1F8B4341A1DC}"/>
                </a:ext>
              </a:extLst>
            </p:cNvPr>
            <p:cNvSpPr/>
            <p:nvPr/>
          </p:nvSpPr>
          <p:spPr>
            <a:xfrm>
              <a:off x="6596430" y="5370030"/>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4" name="Oval 23">
              <a:extLst>
                <a:ext uri="{FF2B5EF4-FFF2-40B4-BE49-F238E27FC236}">
                  <a16:creationId xmlns:a16="http://schemas.microsoft.com/office/drawing/2014/main" id="{17BB2B90-9BD1-40FE-E701-F7A6DA9A992C}"/>
                </a:ext>
              </a:extLst>
            </p:cNvPr>
            <p:cNvSpPr/>
            <p:nvPr/>
          </p:nvSpPr>
          <p:spPr>
            <a:xfrm>
              <a:off x="4460717" y="6165279"/>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 name="Oval 24">
              <a:extLst>
                <a:ext uri="{FF2B5EF4-FFF2-40B4-BE49-F238E27FC236}">
                  <a16:creationId xmlns:a16="http://schemas.microsoft.com/office/drawing/2014/main" id="{10E675C7-9713-1156-7D4B-98DEDA6B9494}"/>
                </a:ext>
              </a:extLst>
            </p:cNvPr>
            <p:cNvSpPr/>
            <p:nvPr/>
          </p:nvSpPr>
          <p:spPr>
            <a:xfrm>
              <a:off x="5543303" y="6165279"/>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6" name="Oval 25">
              <a:extLst>
                <a:ext uri="{FF2B5EF4-FFF2-40B4-BE49-F238E27FC236}">
                  <a16:creationId xmlns:a16="http://schemas.microsoft.com/office/drawing/2014/main" id="{4BA31D09-BA4E-E800-7E20-86C3907F3561}"/>
                </a:ext>
              </a:extLst>
            </p:cNvPr>
            <p:cNvSpPr/>
            <p:nvPr/>
          </p:nvSpPr>
          <p:spPr>
            <a:xfrm>
              <a:off x="6596430" y="6165279"/>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grpSp>
        <p:nvGrpSpPr>
          <p:cNvPr id="27" name="Group 26">
            <a:extLst>
              <a:ext uri="{FF2B5EF4-FFF2-40B4-BE49-F238E27FC236}">
                <a16:creationId xmlns:a16="http://schemas.microsoft.com/office/drawing/2014/main" id="{A040A3FE-D503-DD3E-F4EF-5F23916BB830}"/>
              </a:ext>
              <a:ext uri="{C183D7F6-B498-43B3-948B-1728B52AA6E4}">
                <adec:decorative xmlns:adec="http://schemas.microsoft.com/office/drawing/2017/decorative" val="1"/>
              </a:ext>
            </a:extLst>
          </p:cNvPr>
          <p:cNvGrpSpPr/>
          <p:nvPr/>
        </p:nvGrpSpPr>
        <p:grpSpPr>
          <a:xfrm>
            <a:off x="7792269" y="4555984"/>
            <a:ext cx="1582220" cy="1628107"/>
            <a:chOff x="7494899" y="4379725"/>
            <a:chExt cx="1582220" cy="1628107"/>
          </a:xfrm>
        </p:grpSpPr>
        <p:cxnSp>
          <p:nvCxnSpPr>
            <p:cNvPr id="28" name="Straight Connector 27">
              <a:extLst>
                <a:ext uri="{FF2B5EF4-FFF2-40B4-BE49-F238E27FC236}">
                  <a16:creationId xmlns:a16="http://schemas.microsoft.com/office/drawing/2014/main" id="{BDC402E6-2D98-9773-EE5A-BA3F6AA3FCD9}"/>
                </a:ext>
              </a:extLst>
            </p:cNvPr>
            <p:cNvCxnSpPr>
              <a:cxnSpLocks/>
            </p:cNvCxnSpPr>
            <p:nvPr/>
          </p:nvCxnSpPr>
          <p:spPr>
            <a:xfrm rot="2700000">
              <a:off x="7494901" y="5170835"/>
              <a:ext cx="1582220" cy="0"/>
            </a:xfrm>
            <a:prstGeom prst="line">
              <a:avLst/>
            </a:prstGeom>
            <a:ln w="28575">
              <a:solidFill>
                <a:srgbClr val="002570"/>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AB88972B-F773-A7C0-F0D0-6924CB43CEA8}"/>
                </a:ext>
              </a:extLst>
            </p:cNvPr>
            <p:cNvCxnSpPr>
              <a:cxnSpLocks/>
            </p:cNvCxnSpPr>
            <p:nvPr/>
          </p:nvCxnSpPr>
          <p:spPr>
            <a:xfrm rot="18900000" flipV="1">
              <a:off x="7494899" y="5170834"/>
              <a:ext cx="1582220" cy="0"/>
            </a:xfrm>
            <a:prstGeom prst="line">
              <a:avLst/>
            </a:prstGeom>
            <a:ln w="28575">
              <a:solidFill>
                <a:srgbClr val="002570"/>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5CFE3AF-EC4B-37B5-561E-C4A0BCBC821D}"/>
                </a:ext>
              </a:extLst>
            </p:cNvPr>
            <p:cNvSpPr txBox="1"/>
            <p:nvPr/>
          </p:nvSpPr>
          <p:spPr>
            <a:xfrm>
              <a:off x="8037025" y="4430737"/>
              <a:ext cx="460383"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S</a:t>
              </a:r>
            </a:p>
          </p:txBody>
        </p:sp>
        <p:sp>
          <p:nvSpPr>
            <p:cNvPr id="50" name="TextBox 49">
              <a:extLst>
                <a:ext uri="{FF2B5EF4-FFF2-40B4-BE49-F238E27FC236}">
                  <a16:creationId xmlns:a16="http://schemas.microsoft.com/office/drawing/2014/main" id="{615ED8F6-C278-4772-464C-9C4D9E59CE17}"/>
                </a:ext>
              </a:extLst>
            </p:cNvPr>
            <p:cNvSpPr txBox="1"/>
            <p:nvPr/>
          </p:nvSpPr>
          <p:spPr>
            <a:xfrm>
              <a:off x="7555269" y="4941161"/>
              <a:ext cx="500458"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T</a:t>
              </a:r>
            </a:p>
          </p:txBody>
        </p:sp>
        <p:sp>
          <p:nvSpPr>
            <p:cNvPr id="51" name="TextBox 50">
              <a:extLst>
                <a:ext uri="{FF2B5EF4-FFF2-40B4-BE49-F238E27FC236}">
                  <a16:creationId xmlns:a16="http://schemas.microsoft.com/office/drawing/2014/main" id="{B3C4445D-A892-BB2F-35D3-178EC23D2C16}"/>
                </a:ext>
              </a:extLst>
            </p:cNvPr>
            <p:cNvSpPr txBox="1"/>
            <p:nvPr/>
          </p:nvSpPr>
          <p:spPr>
            <a:xfrm>
              <a:off x="8550210" y="4941161"/>
              <a:ext cx="478016"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U</a:t>
              </a:r>
            </a:p>
          </p:txBody>
        </p:sp>
        <p:sp>
          <p:nvSpPr>
            <p:cNvPr id="52" name="TextBox 51">
              <a:extLst>
                <a:ext uri="{FF2B5EF4-FFF2-40B4-BE49-F238E27FC236}">
                  <a16:creationId xmlns:a16="http://schemas.microsoft.com/office/drawing/2014/main" id="{5BF4F66C-2852-16D6-2A02-9693B63B5B3E}"/>
                </a:ext>
              </a:extLst>
            </p:cNvPr>
            <p:cNvSpPr txBox="1"/>
            <p:nvPr/>
          </p:nvSpPr>
          <p:spPr>
            <a:xfrm>
              <a:off x="8022956" y="5423057"/>
              <a:ext cx="526106"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V</a:t>
              </a:r>
            </a:p>
          </p:txBody>
        </p:sp>
      </p:grpSp>
      <p:grpSp>
        <p:nvGrpSpPr>
          <p:cNvPr id="53" name="Group 52">
            <a:extLst>
              <a:ext uri="{FF2B5EF4-FFF2-40B4-BE49-F238E27FC236}">
                <a16:creationId xmlns:a16="http://schemas.microsoft.com/office/drawing/2014/main" id="{77B23F58-CDF5-28D2-7CAF-A8DE20715DE2}"/>
              </a:ext>
              <a:ext uri="{C183D7F6-B498-43B3-948B-1728B52AA6E4}">
                <adec:decorative xmlns:adec="http://schemas.microsoft.com/office/drawing/2017/decorative" val="1"/>
              </a:ext>
            </a:extLst>
          </p:cNvPr>
          <p:cNvGrpSpPr/>
          <p:nvPr/>
        </p:nvGrpSpPr>
        <p:grpSpPr>
          <a:xfrm>
            <a:off x="9786645" y="4562119"/>
            <a:ext cx="1582220" cy="1628107"/>
            <a:chOff x="9725000" y="4386646"/>
            <a:chExt cx="1582220" cy="1628107"/>
          </a:xfrm>
        </p:grpSpPr>
        <p:cxnSp>
          <p:nvCxnSpPr>
            <p:cNvPr id="54" name="Straight Connector 53">
              <a:extLst>
                <a:ext uri="{FF2B5EF4-FFF2-40B4-BE49-F238E27FC236}">
                  <a16:creationId xmlns:a16="http://schemas.microsoft.com/office/drawing/2014/main" id="{AEE3A064-0A48-F33F-E40B-5C4A66BD73F2}"/>
                </a:ext>
              </a:extLst>
            </p:cNvPr>
            <p:cNvCxnSpPr>
              <a:cxnSpLocks/>
            </p:cNvCxnSpPr>
            <p:nvPr/>
          </p:nvCxnSpPr>
          <p:spPr>
            <a:xfrm rot="2700000">
              <a:off x="9725002" y="5177756"/>
              <a:ext cx="1582220" cy="0"/>
            </a:xfrm>
            <a:prstGeom prst="line">
              <a:avLst/>
            </a:prstGeom>
            <a:ln w="28575">
              <a:solidFill>
                <a:srgbClr val="00257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55E9E8C-3764-FC92-1F1C-60998E9EB645}"/>
                </a:ext>
              </a:extLst>
            </p:cNvPr>
            <p:cNvCxnSpPr>
              <a:cxnSpLocks/>
            </p:cNvCxnSpPr>
            <p:nvPr/>
          </p:nvCxnSpPr>
          <p:spPr>
            <a:xfrm rot="18900000" flipV="1">
              <a:off x="9725000" y="5177755"/>
              <a:ext cx="1582220" cy="0"/>
            </a:xfrm>
            <a:prstGeom prst="line">
              <a:avLst/>
            </a:prstGeom>
            <a:ln w="28575">
              <a:solidFill>
                <a:srgbClr val="002570"/>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AE30BB3E-EDAA-3B6E-9622-B3FA6FCA607C}"/>
                </a:ext>
              </a:extLst>
            </p:cNvPr>
            <p:cNvSpPr txBox="1"/>
            <p:nvPr/>
          </p:nvSpPr>
          <p:spPr>
            <a:xfrm>
              <a:off x="10185373" y="4437658"/>
              <a:ext cx="623889"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W</a:t>
              </a:r>
            </a:p>
          </p:txBody>
        </p:sp>
        <p:sp>
          <p:nvSpPr>
            <p:cNvPr id="57" name="TextBox 56">
              <a:extLst>
                <a:ext uri="{FF2B5EF4-FFF2-40B4-BE49-F238E27FC236}">
                  <a16:creationId xmlns:a16="http://schemas.microsoft.com/office/drawing/2014/main" id="{4A5EE10E-68C7-469F-EE37-12045E4BFB59}"/>
                </a:ext>
              </a:extLst>
            </p:cNvPr>
            <p:cNvSpPr txBox="1"/>
            <p:nvPr/>
          </p:nvSpPr>
          <p:spPr>
            <a:xfrm>
              <a:off x="9776554" y="4948082"/>
              <a:ext cx="518091"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X</a:t>
              </a:r>
            </a:p>
          </p:txBody>
        </p:sp>
        <p:sp>
          <p:nvSpPr>
            <p:cNvPr id="58" name="TextBox 57">
              <a:extLst>
                <a:ext uri="{FF2B5EF4-FFF2-40B4-BE49-F238E27FC236}">
                  <a16:creationId xmlns:a16="http://schemas.microsoft.com/office/drawing/2014/main" id="{9C93E03C-BC6C-6FBA-C63E-877E654EB367}"/>
                </a:ext>
              </a:extLst>
            </p:cNvPr>
            <p:cNvSpPr txBox="1"/>
            <p:nvPr/>
          </p:nvSpPr>
          <p:spPr>
            <a:xfrm>
              <a:off x="10765083" y="4948082"/>
              <a:ext cx="508473"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Y</a:t>
              </a:r>
            </a:p>
          </p:txBody>
        </p:sp>
        <p:sp>
          <p:nvSpPr>
            <p:cNvPr id="59" name="TextBox 58">
              <a:extLst>
                <a:ext uri="{FF2B5EF4-FFF2-40B4-BE49-F238E27FC236}">
                  <a16:creationId xmlns:a16="http://schemas.microsoft.com/office/drawing/2014/main" id="{B46AF60C-C95A-D051-0A23-684A62260D6D}"/>
                </a:ext>
              </a:extLst>
            </p:cNvPr>
            <p:cNvSpPr txBox="1"/>
            <p:nvPr/>
          </p:nvSpPr>
          <p:spPr>
            <a:xfrm>
              <a:off x="10269889" y="5429978"/>
              <a:ext cx="492443" cy="584775"/>
            </a:xfrm>
            <a:prstGeom prst="rect">
              <a:avLst/>
            </a:prstGeom>
            <a:noFill/>
          </p:spPr>
          <p:txBody>
            <a:bodyPr wrap="none" rtlCol="0">
              <a:spAutoFit/>
            </a:bodyPr>
            <a:lstStyle/>
            <a:p>
              <a:pPr algn="ctr"/>
              <a:r>
                <a:rPr lang="en-GB" sz="3200" b="1" noProof="0" dirty="0">
                  <a:solidFill>
                    <a:srgbClr val="002570"/>
                  </a:solidFill>
                  <a:latin typeface="OpenDyslexicAlta" panose="00000500000000000000" pitchFamily="50" charset="0"/>
                </a:rPr>
                <a:t>Z</a:t>
              </a:r>
            </a:p>
          </p:txBody>
        </p:sp>
        <p:sp>
          <p:nvSpPr>
            <p:cNvPr id="60" name="Oval 59">
              <a:extLst>
                <a:ext uri="{FF2B5EF4-FFF2-40B4-BE49-F238E27FC236}">
                  <a16:creationId xmlns:a16="http://schemas.microsoft.com/office/drawing/2014/main" id="{E79FAF10-2400-1FE7-D479-B45B25310959}"/>
                </a:ext>
              </a:extLst>
            </p:cNvPr>
            <p:cNvSpPr/>
            <p:nvPr/>
          </p:nvSpPr>
          <p:spPr>
            <a:xfrm>
              <a:off x="10433213" y="4890260"/>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1" name="Oval 60">
              <a:extLst>
                <a:ext uri="{FF2B5EF4-FFF2-40B4-BE49-F238E27FC236}">
                  <a16:creationId xmlns:a16="http://schemas.microsoft.com/office/drawing/2014/main" id="{407B482C-9343-268C-9F02-9D2F8B09AEA3}"/>
                </a:ext>
              </a:extLst>
            </p:cNvPr>
            <p:cNvSpPr/>
            <p:nvPr/>
          </p:nvSpPr>
          <p:spPr>
            <a:xfrm>
              <a:off x="10192832" y="5111668"/>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2" name="Oval 61">
              <a:extLst>
                <a:ext uri="{FF2B5EF4-FFF2-40B4-BE49-F238E27FC236}">
                  <a16:creationId xmlns:a16="http://schemas.microsoft.com/office/drawing/2014/main" id="{C32E578E-9DCE-3C38-2918-F1CB67F60494}"/>
                </a:ext>
              </a:extLst>
            </p:cNvPr>
            <p:cNvSpPr/>
            <p:nvPr/>
          </p:nvSpPr>
          <p:spPr>
            <a:xfrm>
              <a:off x="10686651" y="5128478"/>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3" name="Oval 62">
              <a:extLst>
                <a:ext uri="{FF2B5EF4-FFF2-40B4-BE49-F238E27FC236}">
                  <a16:creationId xmlns:a16="http://schemas.microsoft.com/office/drawing/2014/main" id="{CCFE9DAA-71DE-8C9A-C9B7-FD375DD68307}"/>
                </a:ext>
              </a:extLst>
            </p:cNvPr>
            <p:cNvSpPr/>
            <p:nvPr/>
          </p:nvSpPr>
          <p:spPr>
            <a:xfrm>
              <a:off x="10443836" y="5333069"/>
              <a:ext cx="154113" cy="132174"/>
            </a:xfrm>
            <a:prstGeom prst="ellipse">
              <a:avLst/>
            </a:prstGeom>
            <a:solidFill>
              <a:srgbClr val="002570"/>
            </a:solidFill>
            <a:ln>
              <a:solidFill>
                <a:srgbClr val="0025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spTree>
    <p:extLst>
      <p:ext uri="{BB962C8B-B14F-4D97-AF65-F5344CB8AC3E}">
        <p14:creationId xmlns:p14="http://schemas.microsoft.com/office/powerpoint/2010/main" val="21310136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5BDB9E9-B563-1302-16B5-DB3317758289}"/>
              </a:ext>
            </a:extLst>
          </p:cNvPr>
          <p:cNvSpPr>
            <a:spLocks noGrp="1"/>
          </p:cNvSpPr>
          <p:nvPr>
            <p:ph type="title"/>
          </p:nvPr>
        </p:nvSpPr>
        <p:spPr/>
        <p:txBody>
          <a:bodyPr/>
          <a:lstStyle/>
          <a:p>
            <a:r>
              <a:rPr lang="en-GB" noProof="0" dirty="0"/>
              <a:t>Encryption</a:t>
            </a:r>
          </a:p>
        </p:txBody>
      </p:sp>
      <p:sp>
        <p:nvSpPr>
          <p:cNvPr id="5" name="Content Placeholder 4">
            <a:extLst>
              <a:ext uri="{FF2B5EF4-FFF2-40B4-BE49-F238E27FC236}">
                <a16:creationId xmlns:a16="http://schemas.microsoft.com/office/drawing/2014/main" id="{6EF0E509-94AA-22FB-F3ED-D3F937E66AF5}"/>
              </a:ext>
            </a:extLst>
          </p:cNvPr>
          <p:cNvSpPr>
            <a:spLocks noGrp="1"/>
          </p:cNvSpPr>
          <p:nvPr>
            <p:ph idx="1"/>
          </p:nvPr>
        </p:nvSpPr>
        <p:spPr/>
        <p:txBody>
          <a:bodyPr>
            <a:normAutofit fontScale="92500" lnSpcReduction="10000"/>
          </a:bodyPr>
          <a:lstStyle/>
          <a:p>
            <a:r>
              <a:rPr lang="en-GB" noProof="0" dirty="0"/>
              <a:t>Encryption is a way of turning information into a secret code so that only the right people can read it.</a:t>
            </a:r>
          </a:p>
          <a:p>
            <a:r>
              <a:rPr lang="en-GB" noProof="0" dirty="0"/>
              <a:t>When you send a message or file that is encrypted, the information is scrambled using a special key.</a:t>
            </a:r>
          </a:p>
          <a:p>
            <a:r>
              <a:rPr lang="en-GB" noProof="0" dirty="0"/>
              <a:t>If someone tries to read the encrypted data without the key, it appears as random letters and numbers.</a:t>
            </a:r>
          </a:p>
          <a:p>
            <a:endParaRPr lang="en-GB" noProof="0" dirty="0"/>
          </a:p>
        </p:txBody>
      </p:sp>
    </p:spTree>
    <p:extLst>
      <p:ext uri="{BB962C8B-B14F-4D97-AF65-F5344CB8AC3E}">
        <p14:creationId xmlns:p14="http://schemas.microsoft.com/office/powerpoint/2010/main" val="3864111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2DE85-79B0-F814-57E1-8E5807688A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3F79039-0D1E-FCC8-79D1-D0F9574CF3AC}"/>
              </a:ext>
            </a:extLst>
          </p:cNvPr>
          <p:cNvSpPr>
            <a:spLocks noGrp="1"/>
          </p:cNvSpPr>
          <p:nvPr>
            <p:ph type="title"/>
          </p:nvPr>
        </p:nvSpPr>
        <p:spPr/>
        <p:txBody>
          <a:bodyPr/>
          <a:lstStyle/>
          <a:p>
            <a:r>
              <a:rPr lang="en-GB" noProof="0" dirty="0"/>
              <a:t>Encryption</a:t>
            </a:r>
          </a:p>
        </p:txBody>
      </p:sp>
      <p:sp>
        <p:nvSpPr>
          <p:cNvPr id="5" name="Content Placeholder 4">
            <a:extLst>
              <a:ext uri="{FF2B5EF4-FFF2-40B4-BE49-F238E27FC236}">
                <a16:creationId xmlns:a16="http://schemas.microsoft.com/office/drawing/2014/main" id="{66B1BAF4-7C12-095C-648A-7D9EE4E1BE96}"/>
              </a:ext>
            </a:extLst>
          </p:cNvPr>
          <p:cNvSpPr>
            <a:spLocks noGrp="1"/>
          </p:cNvSpPr>
          <p:nvPr>
            <p:ph idx="1"/>
          </p:nvPr>
        </p:nvSpPr>
        <p:spPr/>
        <p:txBody>
          <a:bodyPr>
            <a:normAutofit fontScale="92500" lnSpcReduction="20000"/>
          </a:bodyPr>
          <a:lstStyle/>
          <a:p>
            <a:r>
              <a:rPr lang="en-GB" noProof="0" dirty="0"/>
              <a:t>Only someone with the correct key can unscramble (decrypt) the information and make sense of it.</a:t>
            </a:r>
          </a:p>
          <a:p>
            <a:r>
              <a:rPr lang="en-GB" noProof="0" dirty="0"/>
              <a:t>Encryption is used for things like online banking, messaging apps and shopping websites to protect your personal details.</a:t>
            </a:r>
          </a:p>
          <a:p>
            <a:r>
              <a:rPr lang="en-GB" noProof="0" dirty="0"/>
              <a:t>Even if a hacker intercepts the data, they will not be able to read it without the key.</a:t>
            </a:r>
          </a:p>
          <a:p>
            <a:r>
              <a:rPr lang="en-GB" noProof="0" dirty="0"/>
              <a:t>This helps keep your private information safe from cyber criminals.</a:t>
            </a:r>
          </a:p>
          <a:p>
            <a:endParaRPr lang="en-GB" noProof="0" dirty="0"/>
          </a:p>
        </p:txBody>
      </p:sp>
    </p:spTree>
    <p:extLst>
      <p:ext uri="{BB962C8B-B14F-4D97-AF65-F5344CB8AC3E}">
        <p14:creationId xmlns:p14="http://schemas.microsoft.com/office/powerpoint/2010/main" val="3260901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D6B4A-DF76-57A5-83BB-BC08BEE6902F}"/>
              </a:ext>
            </a:extLst>
          </p:cNvPr>
          <p:cNvSpPr>
            <a:spLocks noGrp="1"/>
          </p:cNvSpPr>
          <p:nvPr>
            <p:ph type="title"/>
          </p:nvPr>
        </p:nvSpPr>
        <p:spPr/>
        <p:txBody>
          <a:bodyPr/>
          <a:lstStyle/>
          <a:p>
            <a:r>
              <a:rPr lang="en-GB" noProof="0" dirty="0"/>
              <a:t>Encryption</a:t>
            </a:r>
          </a:p>
        </p:txBody>
      </p:sp>
      <p:sp>
        <p:nvSpPr>
          <p:cNvPr id="3" name="Content Placeholder 2">
            <a:extLst>
              <a:ext uri="{FF2B5EF4-FFF2-40B4-BE49-F238E27FC236}">
                <a16:creationId xmlns:a16="http://schemas.microsoft.com/office/drawing/2014/main" id="{8732C1C7-74ED-FF39-B0B7-85A4F9687AD6}"/>
              </a:ext>
            </a:extLst>
          </p:cNvPr>
          <p:cNvSpPr>
            <a:spLocks noGrp="1"/>
          </p:cNvSpPr>
          <p:nvPr>
            <p:ph idx="1"/>
          </p:nvPr>
        </p:nvSpPr>
        <p:spPr/>
        <p:txBody>
          <a:bodyPr>
            <a:normAutofit fontScale="92500" lnSpcReduction="10000"/>
          </a:bodyPr>
          <a:lstStyle/>
          <a:p>
            <a:r>
              <a:rPr lang="en-GB" noProof="0" dirty="0"/>
              <a:t>There are lots of different ways to encrypt data and not all systems use the same method.</a:t>
            </a:r>
          </a:p>
          <a:p>
            <a:r>
              <a:rPr lang="en-GB" noProof="0" dirty="0"/>
              <a:t>Some systems use multiple layers of encryption to make information even more secure.</a:t>
            </a:r>
          </a:p>
          <a:p>
            <a:r>
              <a:rPr lang="en-GB" noProof="0" dirty="0"/>
              <a:t>This means that even if one layer is broken, the data is still protected by another layer.</a:t>
            </a:r>
          </a:p>
          <a:p>
            <a:r>
              <a:rPr lang="en-GB" noProof="0" dirty="0"/>
              <a:t>Using several types of encryption together helps keep sensitive information safe from cyber criminals.</a:t>
            </a:r>
          </a:p>
        </p:txBody>
      </p:sp>
    </p:spTree>
    <p:extLst>
      <p:ext uri="{BB962C8B-B14F-4D97-AF65-F5344CB8AC3E}">
        <p14:creationId xmlns:p14="http://schemas.microsoft.com/office/powerpoint/2010/main" val="1667967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4614C-F30D-2495-5C0A-1AF1C155752C}"/>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95AB2C7-4E5E-3F7F-4842-3D8C3B47E7C8}"/>
              </a:ext>
            </a:extLst>
          </p:cNvPr>
          <p:cNvSpPr/>
          <p:nvPr/>
        </p:nvSpPr>
        <p:spPr>
          <a:xfrm>
            <a:off x="568104" y="2836310"/>
            <a:ext cx="10877307" cy="130417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Content Placeholder 2">
            <a:extLst>
              <a:ext uri="{FF2B5EF4-FFF2-40B4-BE49-F238E27FC236}">
                <a16:creationId xmlns:a16="http://schemas.microsoft.com/office/drawing/2014/main" id="{2832A168-B88E-2B10-AC23-7CD803C68029}"/>
              </a:ext>
            </a:extLst>
          </p:cNvPr>
          <p:cNvSpPr>
            <a:spLocks noGrp="1"/>
          </p:cNvSpPr>
          <p:nvPr>
            <p:ph idx="1"/>
          </p:nvPr>
        </p:nvSpPr>
        <p:spPr/>
        <p:txBody>
          <a:bodyPr>
            <a:normAutofit/>
          </a:bodyPr>
          <a:lstStyle/>
          <a:p>
            <a:r>
              <a:rPr lang="en-GB" noProof="0" dirty="0"/>
              <a:t>What does encryption do to information?</a:t>
            </a:r>
          </a:p>
          <a:p>
            <a:pPr marL="1079500" indent="-627063">
              <a:buFont typeface="+mj-lt"/>
              <a:buAutoNum type="alphaLcParenR"/>
            </a:pPr>
            <a:r>
              <a:rPr lang="en-GB" noProof="0" dirty="0"/>
              <a:t>Deletes it</a:t>
            </a:r>
          </a:p>
          <a:p>
            <a:pPr marL="1079500" indent="-627063">
              <a:buFont typeface="+mj-lt"/>
              <a:buAutoNum type="alphaLcParenR"/>
            </a:pPr>
            <a:r>
              <a:rPr lang="en-GB" noProof="0" dirty="0"/>
              <a:t>Scrambles it so only authorised people can read it</a:t>
            </a:r>
          </a:p>
          <a:p>
            <a:pPr marL="1079500" indent="-627063">
              <a:buFont typeface="+mj-lt"/>
              <a:buAutoNum type="alphaLcParenR"/>
            </a:pPr>
            <a:r>
              <a:rPr lang="en-GB" noProof="0" dirty="0"/>
              <a:t>Makes it bigger</a:t>
            </a:r>
          </a:p>
          <a:p>
            <a:pPr marL="1079500" indent="-627063">
              <a:buFont typeface="+mj-lt"/>
              <a:buAutoNum type="alphaLcParenR"/>
            </a:pPr>
            <a:r>
              <a:rPr lang="en-GB" noProof="0" dirty="0"/>
              <a:t>Sends it to everyone</a:t>
            </a:r>
          </a:p>
        </p:txBody>
      </p:sp>
      <p:sp>
        <p:nvSpPr>
          <p:cNvPr id="2" name="Title 1">
            <a:extLst>
              <a:ext uri="{FF2B5EF4-FFF2-40B4-BE49-F238E27FC236}">
                <a16:creationId xmlns:a16="http://schemas.microsoft.com/office/drawing/2014/main" id="{28847EA0-B31A-D22E-F801-E01BDA12972F}"/>
              </a:ext>
            </a:extLst>
          </p:cNvPr>
          <p:cNvSpPr>
            <a:spLocks noGrp="1"/>
          </p:cNvSpPr>
          <p:nvPr>
            <p:ph type="title"/>
          </p:nvPr>
        </p:nvSpPr>
        <p:spPr/>
        <p:txBody>
          <a:bodyPr/>
          <a:lstStyle/>
          <a:p>
            <a:r>
              <a:rPr lang="en-GB" noProof="0" dirty="0"/>
              <a:t>Encryption</a:t>
            </a:r>
          </a:p>
        </p:txBody>
      </p:sp>
    </p:spTree>
    <p:extLst>
      <p:ext uri="{BB962C8B-B14F-4D97-AF65-F5344CB8AC3E}">
        <p14:creationId xmlns:p14="http://schemas.microsoft.com/office/powerpoint/2010/main" val="3492771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4D846-2823-9454-EE2C-FFC56B0A4775}"/>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2EFC7BF8-0F76-8188-C8E4-2E54297A2288}"/>
              </a:ext>
            </a:extLst>
          </p:cNvPr>
          <p:cNvSpPr/>
          <p:nvPr/>
        </p:nvSpPr>
        <p:spPr>
          <a:xfrm>
            <a:off x="657346" y="4962456"/>
            <a:ext cx="10877307" cy="130417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Content Placeholder 2">
            <a:extLst>
              <a:ext uri="{FF2B5EF4-FFF2-40B4-BE49-F238E27FC236}">
                <a16:creationId xmlns:a16="http://schemas.microsoft.com/office/drawing/2014/main" id="{F056CD35-7BA5-F214-A19D-787638B607F6}"/>
              </a:ext>
            </a:extLst>
          </p:cNvPr>
          <p:cNvSpPr>
            <a:spLocks noGrp="1"/>
          </p:cNvSpPr>
          <p:nvPr>
            <p:ph idx="1"/>
          </p:nvPr>
        </p:nvSpPr>
        <p:spPr/>
        <p:txBody>
          <a:bodyPr>
            <a:normAutofit lnSpcReduction="10000"/>
          </a:bodyPr>
          <a:lstStyle/>
          <a:p>
            <a:r>
              <a:rPr lang="en-GB" noProof="0" dirty="0"/>
              <a:t>Why is encryption important when sending messages online?</a:t>
            </a:r>
          </a:p>
          <a:p>
            <a:pPr marL="1079500" indent="-627063">
              <a:lnSpc>
                <a:spcPct val="100000"/>
              </a:lnSpc>
              <a:buFont typeface="+mj-lt"/>
              <a:buAutoNum type="alphaLcParenR"/>
            </a:pPr>
            <a:r>
              <a:rPr lang="en-GB" noProof="0" dirty="0"/>
              <a:t>It makes messages more colourful</a:t>
            </a:r>
          </a:p>
          <a:p>
            <a:pPr marL="1079500" indent="-627063">
              <a:lnSpc>
                <a:spcPct val="100000"/>
              </a:lnSpc>
              <a:buFont typeface="+mj-lt"/>
              <a:buAutoNum type="alphaLcParenR"/>
            </a:pPr>
            <a:r>
              <a:rPr lang="en-GB" noProof="0" dirty="0"/>
              <a:t>It makes messages arrive faster</a:t>
            </a:r>
          </a:p>
          <a:p>
            <a:pPr marL="1079500" indent="-627063">
              <a:lnSpc>
                <a:spcPct val="100000"/>
              </a:lnSpc>
              <a:buFont typeface="+mj-lt"/>
              <a:buAutoNum type="alphaLcParenR"/>
            </a:pPr>
            <a:r>
              <a:rPr lang="en-GB" noProof="0" dirty="0"/>
              <a:t>It checks spelling</a:t>
            </a:r>
          </a:p>
          <a:p>
            <a:pPr marL="1079500" indent="-627063">
              <a:lnSpc>
                <a:spcPct val="100000"/>
              </a:lnSpc>
              <a:buFont typeface="+mj-lt"/>
              <a:buAutoNum type="alphaLcParenR"/>
            </a:pPr>
            <a:r>
              <a:rPr lang="en-GB" noProof="0" dirty="0"/>
              <a:t>It keeps messages secret from anyone who shouldn’t see them</a:t>
            </a:r>
          </a:p>
        </p:txBody>
      </p:sp>
      <p:sp>
        <p:nvSpPr>
          <p:cNvPr id="2" name="Title 1">
            <a:extLst>
              <a:ext uri="{FF2B5EF4-FFF2-40B4-BE49-F238E27FC236}">
                <a16:creationId xmlns:a16="http://schemas.microsoft.com/office/drawing/2014/main" id="{1BFFB456-8749-712E-22FC-B736BB785F2D}"/>
              </a:ext>
            </a:extLst>
          </p:cNvPr>
          <p:cNvSpPr>
            <a:spLocks noGrp="1"/>
          </p:cNvSpPr>
          <p:nvPr>
            <p:ph type="title"/>
          </p:nvPr>
        </p:nvSpPr>
        <p:spPr/>
        <p:txBody>
          <a:bodyPr/>
          <a:lstStyle/>
          <a:p>
            <a:r>
              <a:rPr lang="en-GB" noProof="0" dirty="0"/>
              <a:t>Encryption</a:t>
            </a:r>
          </a:p>
        </p:txBody>
      </p:sp>
    </p:spTree>
    <p:extLst>
      <p:ext uri="{BB962C8B-B14F-4D97-AF65-F5344CB8AC3E}">
        <p14:creationId xmlns:p14="http://schemas.microsoft.com/office/powerpoint/2010/main" val="397279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2D3E2-5806-B521-D645-15BAFDE72C41}"/>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FDE96FBD-E527-EC9C-B858-CC850C6A8A67}"/>
              </a:ext>
            </a:extLst>
          </p:cNvPr>
          <p:cNvSpPr/>
          <p:nvPr/>
        </p:nvSpPr>
        <p:spPr>
          <a:xfrm>
            <a:off x="657346" y="2486089"/>
            <a:ext cx="10877307" cy="942912"/>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Content Placeholder 2">
            <a:extLst>
              <a:ext uri="{FF2B5EF4-FFF2-40B4-BE49-F238E27FC236}">
                <a16:creationId xmlns:a16="http://schemas.microsoft.com/office/drawing/2014/main" id="{B79A76EC-6E39-B730-0F12-50FFDE1E8114}"/>
              </a:ext>
            </a:extLst>
          </p:cNvPr>
          <p:cNvSpPr>
            <a:spLocks noGrp="1"/>
          </p:cNvSpPr>
          <p:nvPr>
            <p:ph idx="1"/>
          </p:nvPr>
        </p:nvSpPr>
        <p:spPr/>
        <p:txBody>
          <a:bodyPr>
            <a:normAutofit/>
          </a:bodyPr>
          <a:lstStyle/>
          <a:p>
            <a:r>
              <a:rPr lang="en-GB" noProof="0" dirty="0"/>
              <a:t>What is needed to unscramble (decrypt) encrypted information?</a:t>
            </a:r>
          </a:p>
          <a:p>
            <a:pPr marL="1079500" indent="-627063">
              <a:lnSpc>
                <a:spcPct val="100000"/>
              </a:lnSpc>
              <a:buFont typeface="+mj-lt"/>
              <a:buAutoNum type="alphaLcParenR"/>
            </a:pPr>
            <a:r>
              <a:rPr lang="en-GB" noProof="0" dirty="0"/>
              <a:t>A password or key</a:t>
            </a:r>
          </a:p>
          <a:p>
            <a:pPr marL="1079500" indent="-627063">
              <a:lnSpc>
                <a:spcPct val="100000"/>
              </a:lnSpc>
              <a:buFont typeface="+mj-lt"/>
              <a:buAutoNum type="alphaLcParenR"/>
            </a:pPr>
            <a:r>
              <a:rPr lang="en-GB" noProof="0" dirty="0"/>
              <a:t>The original computer</a:t>
            </a:r>
          </a:p>
          <a:p>
            <a:pPr marL="1079500" indent="-627063">
              <a:lnSpc>
                <a:spcPct val="100000"/>
              </a:lnSpc>
              <a:buFont typeface="+mj-lt"/>
              <a:buAutoNum type="alphaLcParenR"/>
            </a:pPr>
            <a:r>
              <a:rPr lang="en-GB" noProof="0" dirty="0"/>
              <a:t>A printer</a:t>
            </a:r>
          </a:p>
          <a:p>
            <a:pPr marL="1079500" indent="-627063">
              <a:lnSpc>
                <a:spcPct val="100000"/>
              </a:lnSpc>
              <a:buFont typeface="+mj-lt"/>
              <a:buAutoNum type="alphaLcParenR"/>
            </a:pPr>
            <a:r>
              <a:rPr lang="en-GB" noProof="0" dirty="0"/>
              <a:t>A phone number</a:t>
            </a:r>
          </a:p>
        </p:txBody>
      </p:sp>
      <p:sp>
        <p:nvSpPr>
          <p:cNvPr id="2" name="Title 1">
            <a:extLst>
              <a:ext uri="{FF2B5EF4-FFF2-40B4-BE49-F238E27FC236}">
                <a16:creationId xmlns:a16="http://schemas.microsoft.com/office/drawing/2014/main" id="{20F25D35-FBD9-6764-91CF-505C69B31028}"/>
              </a:ext>
            </a:extLst>
          </p:cNvPr>
          <p:cNvSpPr>
            <a:spLocks noGrp="1"/>
          </p:cNvSpPr>
          <p:nvPr>
            <p:ph type="title"/>
          </p:nvPr>
        </p:nvSpPr>
        <p:spPr/>
        <p:txBody>
          <a:bodyPr/>
          <a:lstStyle/>
          <a:p>
            <a:r>
              <a:rPr lang="en-GB" noProof="0" dirty="0"/>
              <a:t>Encryption</a:t>
            </a:r>
          </a:p>
        </p:txBody>
      </p:sp>
    </p:spTree>
    <p:extLst>
      <p:ext uri="{BB962C8B-B14F-4D97-AF65-F5344CB8AC3E}">
        <p14:creationId xmlns:p14="http://schemas.microsoft.com/office/powerpoint/2010/main" val="1856399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53A33-58C5-A7E8-BFCC-F2DB77B0B7EA}"/>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468E4BA4-4C01-301D-527F-69E87F480389}"/>
              </a:ext>
            </a:extLst>
          </p:cNvPr>
          <p:cNvSpPr/>
          <p:nvPr/>
        </p:nvSpPr>
        <p:spPr>
          <a:xfrm>
            <a:off x="657346" y="4250204"/>
            <a:ext cx="10877307" cy="91769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Content Placeholder 2">
            <a:extLst>
              <a:ext uri="{FF2B5EF4-FFF2-40B4-BE49-F238E27FC236}">
                <a16:creationId xmlns:a16="http://schemas.microsoft.com/office/drawing/2014/main" id="{362D86F0-779F-92A5-30F4-F34B8F251A48}"/>
              </a:ext>
            </a:extLst>
          </p:cNvPr>
          <p:cNvSpPr>
            <a:spLocks noGrp="1"/>
          </p:cNvSpPr>
          <p:nvPr>
            <p:ph idx="1"/>
          </p:nvPr>
        </p:nvSpPr>
        <p:spPr/>
        <p:txBody>
          <a:bodyPr>
            <a:normAutofit/>
          </a:bodyPr>
          <a:lstStyle/>
          <a:p>
            <a:r>
              <a:rPr lang="en-GB" noProof="0" dirty="0"/>
              <a:t>If a hacker intercepts encrypted data but doesn’t have the key, what will they see?</a:t>
            </a:r>
          </a:p>
          <a:p>
            <a:pPr marL="1079500" indent="-627063">
              <a:lnSpc>
                <a:spcPct val="100000"/>
              </a:lnSpc>
              <a:buFont typeface="+mj-lt"/>
              <a:buAutoNum type="alphaLcParenR"/>
            </a:pPr>
            <a:r>
              <a:rPr lang="en-GB" noProof="0" dirty="0"/>
              <a:t>The original message</a:t>
            </a:r>
          </a:p>
          <a:p>
            <a:pPr marL="1079500" indent="-627063">
              <a:lnSpc>
                <a:spcPct val="100000"/>
              </a:lnSpc>
              <a:buFont typeface="+mj-lt"/>
              <a:buAutoNum type="alphaLcParenR"/>
            </a:pPr>
            <a:r>
              <a:rPr lang="en-GB" noProof="0" dirty="0"/>
              <a:t>A picture</a:t>
            </a:r>
          </a:p>
          <a:p>
            <a:pPr marL="1079500" indent="-627063">
              <a:lnSpc>
                <a:spcPct val="100000"/>
              </a:lnSpc>
              <a:buFont typeface="+mj-lt"/>
              <a:buAutoNum type="alphaLcParenR"/>
            </a:pPr>
            <a:r>
              <a:rPr lang="en-GB" noProof="0" dirty="0"/>
              <a:t>Random letters and numbers</a:t>
            </a:r>
          </a:p>
          <a:p>
            <a:pPr marL="1079500" indent="-627063">
              <a:lnSpc>
                <a:spcPct val="100000"/>
              </a:lnSpc>
              <a:buFont typeface="+mj-lt"/>
              <a:buAutoNum type="alphaLcParenR"/>
            </a:pPr>
            <a:r>
              <a:rPr lang="en-GB" noProof="0" dirty="0"/>
              <a:t>The sender’s name</a:t>
            </a:r>
          </a:p>
        </p:txBody>
      </p:sp>
      <p:sp>
        <p:nvSpPr>
          <p:cNvPr id="2" name="Title 1">
            <a:extLst>
              <a:ext uri="{FF2B5EF4-FFF2-40B4-BE49-F238E27FC236}">
                <a16:creationId xmlns:a16="http://schemas.microsoft.com/office/drawing/2014/main" id="{E97A7D12-6912-3686-23CC-7ABD8298DC67}"/>
              </a:ext>
            </a:extLst>
          </p:cNvPr>
          <p:cNvSpPr>
            <a:spLocks noGrp="1"/>
          </p:cNvSpPr>
          <p:nvPr>
            <p:ph type="title"/>
          </p:nvPr>
        </p:nvSpPr>
        <p:spPr/>
        <p:txBody>
          <a:bodyPr/>
          <a:lstStyle/>
          <a:p>
            <a:r>
              <a:rPr lang="en-GB" noProof="0" dirty="0"/>
              <a:t>Encryption</a:t>
            </a:r>
          </a:p>
        </p:txBody>
      </p:sp>
    </p:spTree>
    <p:extLst>
      <p:ext uri="{BB962C8B-B14F-4D97-AF65-F5344CB8AC3E}">
        <p14:creationId xmlns:p14="http://schemas.microsoft.com/office/powerpoint/2010/main" val="2760964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B9F1-6194-E825-3FA4-BB30B58D7EB4}"/>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DE335204-B872-01C7-6A5B-C4A2D1103092}"/>
              </a:ext>
            </a:extLst>
          </p:cNvPr>
          <p:cNvSpPr/>
          <p:nvPr/>
        </p:nvSpPr>
        <p:spPr>
          <a:xfrm>
            <a:off x="657346" y="5435029"/>
            <a:ext cx="11024371" cy="831602"/>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Content Placeholder 2">
            <a:extLst>
              <a:ext uri="{FF2B5EF4-FFF2-40B4-BE49-F238E27FC236}">
                <a16:creationId xmlns:a16="http://schemas.microsoft.com/office/drawing/2014/main" id="{64088BCD-3EE6-2F99-C4E7-C95847823042}"/>
              </a:ext>
            </a:extLst>
          </p:cNvPr>
          <p:cNvSpPr>
            <a:spLocks noGrp="1"/>
          </p:cNvSpPr>
          <p:nvPr>
            <p:ph idx="1"/>
          </p:nvPr>
        </p:nvSpPr>
        <p:spPr/>
        <p:txBody>
          <a:bodyPr>
            <a:normAutofit/>
          </a:bodyPr>
          <a:lstStyle/>
          <a:p>
            <a:r>
              <a:rPr lang="en-GB" noProof="0" dirty="0"/>
              <a:t>Which of the following is a real-world example of encryption?</a:t>
            </a:r>
          </a:p>
          <a:p>
            <a:pPr marL="1079500" indent="-627063">
              <a:lnSpc>
                <a:spcPct val="110000"/>
              </a:lnSpc>
              <a:buFont typeface="+mj-lt"/>
              <a:buAutoNum type="alphaLcParenR"/>
            </a:pPr>
            <a:r>
              <a:rPr lang="en-GB" noProof="0" dirty="0"/>
              <a:t>Writing your name on your exercise book</a:t>
            </a:r>
          </a:p>
          <a:p>
            <a:pPr marL="1079500" indent="-627063">
              <a:lnSpc>
                <a:spcPct val="110000"/>
              </a:lnSpc>
              <a:buFont typeface="+mj-lt"/>
              <a:buAutoNum type="alphaLcParenR"/>
            </a:pPr>
            <a:r>
              <a:rPr lang="en-GB" noProof="0" dirty="0"/>
              <a:t>Locking your bike with a key</a:t>
            </a:r>
          </a:p>
          <a:p>
            <a:pPr marL="1079500" indent="-627063">
              <a:lnSpc>
                <a:spcPct val="110000"/>
              </a:lnSpc>
              <a:buFont typeface="+mj-lt"/>
              <a:buAutoNum type="alphaLcParenR"/>
            </a:pPr>
            <a:r>
              <a:rPr lang="en-GB" noProof="0" dirty="0"/>
              <a:t>Printing out your homework</a:t>
            </a:r>
          </a:p>
          <a:p>
            <a:pPr marL="1079500" indent="-627063">
              <a:lnSpc>
                <a:spcPct val="110000"/>
              </a:lnSpc>
              <a:buFont typeface="+mj-lt"/>
              <a:buAutoNum type="alphaLcParenR"/>
            </a:pPr>
            <a:r>
              <a:rPr lang="en-GB" noProof="0" dirty="0"/>
              <a:t>Sending a message in a messaging app</a:t>
            </a:r>
          </a:p>
        </p:txBody>
      </p:sp>
      <p:sp>
        <p:nvSpPr>
          <p:cNvPr id="2" name="Title 1">
            <a:extLst>
              <a:ext uri="{FF2B5EF4-FFF2-40B4-BE49-F238E27FC236}">
                <a16:creationId xmlns:a16="http://schemas.microsoft.com/office/drawing/2014/main" id="{BD71D5B3-D079-8EF3-06FC-E17D2CCEDC31}"/>
              </a:ext>
            </a:extLst>
          </p:cNvPr>
          <p:cNvSpPr>
            <a:spLocks noGrp="1"/>
          </p:cNvSpPr>
          <p:nvPr>
            <p:ph type="title"/>
          </p:nvPr>
        </p:nvSpPr>
        <p:spPr/>
        <p:txBody>
          <a:bodyPr/>
          <a:lstStyle/>
          <a:p>
            <a:r>
              <a:rPr lang="en-GB" noProof="0" dirty="0"/>
              <a:t>Encryption</a:t>
            </a:r>
          </a:p>
        </p:txBody>
      </p:sp>
    </p:spTree>
    <p:extLst>
      <p:ext uri="{BB962C8B-B14F-4D97-AF65-F5344CB8AC3E}">
        <p14:creationId xmlns:p14="http://schemas.microsoft.com/office/powerpoint/2010/main" val="4115079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CC12CC-70DF-DBCA-0757-63EAC20FF4AB}"/>
              </a:ext>
            </a:extLst>
          </p:cNvPr>
          <p:cNvSpPr>
            <a:spLocks noGrp="1"/>
          </p:cNvSpPr>
          <p:nvPr>
            <p:ph type="title"/>
          </p:nvPr>
        </p:nvSpPr>
        <p:spPr/>
        <p:txBody>
          <a:bodyPr/>
          <a:lstStyle/>
          <a:p>
            <a:r>
              <a:rPr lang="en-GB" noProof="0" dirty="0"/>
              <a:t>Encryption</a:t>
            </a:r>
          </a:p>
        </p:txBody>
      </p:sp>
      <p:sp>
        <p:nvSpPr>
          <p:cNvPr id="5" name="Content Placeholder 4">
            <a:extLst>
              <a:ext uri="{FF2B5EF4-FFF2-40B4-BE49-F238E27FC236}">
                <a16:creationId xmlns:a16="http://schemas.microsoft.com/office/drawing/2014/main" id="{04559492-2C20-7D19-C80A-3781F09DDA3C}"/>
              </a:ext>
            </a:extLst>
          </p:cNvPr>
          <p:cNvSpPr>
            <a:spLocks noGrp="1"/>
          </p:cNvSpPr>
          <p:nvPr>
            <p:ph idx="1"/>
          </p:nvPr>
        </p:nvSpPr>
        <p:spPr/>
        <p:txBody>
          <a:bodyPr>
            <a:normAutofit/>
          </a:bodyPr>
          <a:lstStyle/>
          <a:p>
            <a:r>
              <a:rPr lang="en-GB" noProof="0" dirty="0"/>
              <a:t>When you send a message or photo to a friend using WhatsApp or iMessage, encryption scrambles your message so only you and the person you are chatting with can read it.</a:t>
            </a:r>
          </a:p>
          <a:p>
            <a:r>
              <a:rPr lang="en-GB" noProof="0" dirty="0"/>
              <a:t>Even if someone intercepts the message while it is being sent, they will not be able to understand it.</a:t>
            </a:r>
          </a:p>
          <a:p>
            <a:endParaRPr lang="en-GB" noProof="0" dirty="0"/>
          </a:p>
        </p:txBody>
      </p:sp>
    </p:spTree>
    <p:extLst>
      <p:ext uri="{BB962C8B-B14F-4D97-AF65-F5344CB8AC3E}">
        <p14:creationId xmlns:p14="http://schemas.microsoft.com/office/powerpoint/2010/main" val="365324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3A6E3-CDEA-1C6D-4F03-C9E9269CDA3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B8ED26E-3D1D-E18B-C936-5EEC8989602D}"/>
              </a:ext>
            </a:extLst>
          </p:cNvPr>
          <p:cNvSpPr>
            <a:spLocks noGrp="1"/>
          </p:cNvSpPr>
          <p:nvPr>
            <p:ph type="title"/>
          </p:nvPr>
        </p:nvSpPr>
        <p:spPr/>
        <p:txBody>
          <a:bodyPr/>
          <a:lstStyle/>
          <a:p>
            <a:r>
              <a:rPr lang="en-GB" noProof="0" dirty="0"/>
              <a:t>Encryption</a:t>
            </a:r>
          </a:p>
        </p:txBody>
      </p:sp>
      <p:sp>
        <p:nvSpPr>
          <p:cNvPr id="5" name="Content Placeholder 4">
            <a:extLst>
              <a:ext uri="{FF2B5EF4-FFF2-40B4-BE49-F238E27FC236}">
                <a16:creationId xmlns:a16="http://schemas.microsoft.com/office/drawing/2014/main" id="{9479AD23-D57D-FFA5-62F2-B3F9E0E5022B}"/>
              </a:ext>
            </a:extLst>
          </p:cNvPr>
          <p:cNvSpPr>
            <a:spLocks noGrp="1"/>
          </p:cNvSpPr>
          <p:nvPr>
            <p:ph idx="1"/>
          </p:nvPr>
        </p:nvSpPr>
        <p:spPr/>
        <p:txBody>
          <a:bodyPr>
            <a:normAutofit/>
          </a:bodyPr>
          <a:lstStyle/>
          <a:p>
            <a:r>
              <a:rPr lang="en-GB" noProof="0" dirty="0"/>
              <a:t>When you buy something online and enter your card details, encryption protects your payment information so it cannot be stolen by hackers.</a:t>
            </a:r>
          </a:p>
          <a:p>
            <a:r>
              <a:rPr lang="en-GB" dirty="0"/>
              <a:t>You can tell if a website uses encryption as the address starts with </a:t>
            </a:r>
            <a:r>
              <a:rPr lang="en-GB" b="1" dirty="0"/>
              <a:t>https</a:t>
            </a:r>
            <a:r>
              <a:rPr lang="en-GB" dirty="0"/>
              <a:t> rather than </a:t>
            </a:r>
            <a:r>
              <a:rPr lang="en-GB" b="1" dirty="0"/>
              <a:t>http</a:t>
            </a:r>
            <a:r>
              <a:rPr lang="en-GB" dirty="0"/>
              <a:t>.</a:t>
            </a:r>
            <a:endParaRPr lang="en-GB" noProof="0" dirty="0"/>
          </a:p>
          <a:p>
            <a:endParaRPr lang="en-GB" noProof="0" dirty="0"/>
          </a:p>
        </p:txBody>
      </p:sp>
      <p:pic>
        <p:nvPicPr>
          <p:cNvPr id="3" name="Picture 2" descr="Website address showing https://www.bbc.co.uk">
            <a:extLst>
              <a:ext uri="{FF2B5EF4-FFF2-40B4-BE49-F238E27FC236}">
                <a16:creationId xmlns:a16="http://schemas.microsoft.com/office/drawing/2014/main" id="{BE9BE5CB-C570-267C-6C15-EA7D063109F6}"/>
              </a:ext>
            </a:extLst>
          </p:cNvPr>
          <p:cNvPicPr>
            <a:picLocks noChangeAspect="1"/>
          </p:cNvPicPr>
          <p:nvPr/>
        </p:nvPicPr>
        <p:blipFill>
          <a:blip r:embed="rId2"/>
          <a:stretch>
            <a:fillRect/>
          </a:stretch>
        </p:blipFill>
        <p:spPr>
          <a:xfrm>
            <a:off x="2402169" y="5373378"/>
            <a:ext cx="6938340" cy="801390"/>
          </a:xfrm>
          <a:prstGeom prst="rect">
            <a:avLst/>
          </a:prstGeom>
        </p:spPr>
      </p:pic>
    </p:spTree>
    <p:extLst>
      <p:ext uri="{BB962C8B-B14F-4D97-AF65-F5344CB8AC3E}">
        <p14:creationId xmlns:p14="http://schemas.microsoft.com/office/powerpoint/2010/main" val="58865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A7D1A-4145-945F-8D1E-F701C987D66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F451DD7-1A2F-72DA-87E3-16287DFC1BEE}"/>
              </a:ext>
            </a:extLst>
          </p:cNvPr>
          <p:cNvSpPr>
            <a:spLocks noGrp="1"/>
          </p:cNvSpPr>
          <p:nvPr>
            <p:ph type="title"/>
          </p:nvPr>
        </p:nvSpPr>
        <p:spPr/>
        <p:txBody>
          <a:bodyPr/>
          <a:lstStyle/>
          <a:p>
            <a:r>
              <a:rPr lang="en-GB" noProof="0" dirty="0"/>
              <a:t>Encryption</a:t>
            </a:r>
          </a:p>
        </p:txBody>
      </p:sp>
      <p:sp>
        <p:nvSpPr>
          <p:cNvPr id="5" name="Content Placeholder 4">
            <a:extLst>
              <a:ext uri="{FF2B5EF4-FFF2-40B4-BE49-F238E27FC236}">
                <a16:creationId xmlns:a16="http://schemas.microsoft.com/office/drawing/2014/main" id="{49B9F687-C140-F2DF-428E-B50BED546669}"/>
              </a:ext>
            </a:extLst>
          </p:cNvPr>
          <p:cNvSpPr>
            <a:spLocks noGrp="1"/>
          </p:cNvSpPr>
          <p:nvPr>
            <p:ph idx="1"/>
          </p:nvPr>
        </p:nvSpPr>
        <p:spPr/>
        <p:txBody>
          <a:bodyPr/>
          <a:lstStyle/>
          <a:p>
            <a:r>
              <a:rPr lang="en-GB" noProof="0" dirty="0"/>
              <a:t>When you log into your school email or cloud storage, your username and password are encrypted while being sent over the internet.</a:t>
            </a:r>
          </a:p>
          <a:p>
            <a:r>
              <a:rPr lang="en-GB" noProof="0" dirty="0"/>
              <a:t>This prevents anyone from stealing your login details if they try to intercept them.</a:t>
            </a:r>
          </a:p>
        </p:txBody>
      </p:sp>
    </p:spTree>
    <p:extLst>
      <p:ext uri="{BB962C8B-B14F-4D97-AF65-F5344CB8AC3E}">
        <p14:creationId xmlns:p14="http://schemas.microsoft.com/office/powerpoint/2010/main" val="2707754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6B302F-FB72-C6D4-7A26-4F152ACE99C3}"/>
              </a:ext>
            </a:extLst>
          </p:cNvPr>
          <p:cNvSpPr>
            <a:spLocks noGrp="1"/>
          </p:cNvSpPr>
          <p:nvPr>
            <p:ph idx="1"/>
          </p:nvPr>
        </p:nvSpPr>
        <p:spPr/>
        <p:txBody>
          <a:bodyPr>
            <a:normAutofit fontScale="92500"/>
          </a:bodyPr>
          <a:lstStyle/>
          <a:p>
            <a:pPr>
              <a:spcAft>
                <a:spcPts val="600"/>
              </a:spcAft>
            </a:pPr>
            <a:r>
              <a:rPr lang="en-GB" sz="3200" noProof="0" dirty="0"/>
              <a:t>Imagine you are explaining encryption to someone who has never heard of it before. Answer these questions:</a:t>
            </a:r>
          </a:p>
          <a:p>
            <a:pPr marL="893763" indent="-441325">
              <a:spcAft>
                <a:spcPts val="600"/>
              </a:spcAft>
              <a:buFont typeface="+mj-lt"/>
              <a:buAutoNum type="arabicPeriod"/>
            </a:pPr>
            <a:r>
              <a:rPr lang="en-GB" sz="3200" noProof="0" dirty="0"/>
              <a:t>What is encryption?</a:t>
            </a:r>
          </a:p>
          <a:p>
            <a:pPr marL="893763" indent="-441325">
              <a:spcAft>
                <a:spcPts val="600"/>
              </a:spcAft>
              <a:buFont typeface="+mj-lt"/>
              <a:buAutoNum type="arabicPeriod"/>
            </a:pPr>
            <a:r>
              <a:rPr lang="en-GB" sz="3200" noProof="0" dirty="0"/>
              <a:t>Give one example of where encryption is used in everyday life.</a:t>
            </a:r>
          </a:p>
          <a:p>
            <a:pPr marL="893763" indent="-441325">
              <a:spcAft>
                <a:spcPts val="600"/>
              </a:spcAft>
              <a:buFont typeface="+mj-lt"/>
              <a:buAutoNum type="arabicPeriod"/>
            </a:pPr>
            <a:r>
              <a:rPr lang="en-GB" sz="3200" noProof="0" dirty="0"/>
              <a:t>How does encryption help keep information safe?</a:t>
            </a:r>
          </a:p>
          <a:p>
            <a:pPr marL="893763" indent="-441325">
              <a:spcAft>
                <a:spcPts val="600"/>
              </a:spcAft>
              <a:buFont typeface="+mj-lt"/>
              <a:buAutoNum type="arabicPeriod"/>
            </a:pPr>
            <a:r>
              <a:rPr lang="en-GB" sz="3200" noProof="0" dirty="0"/>
              <a:t>Describe what could happen if important information such as a bank password or a private message was sent without encryption.</a:t>
            </a:r>
          </a:p>
          <a:p>
            <a:pPr>
              <a:spcAft>
                <a:spcPts val="600"/>
              </a:spcAft>
            </a:pPr>
            <a:endParaRPr lang="en-GB" sz="3200" noProof="0" dirty="0"/>
          </a:p>
        </p:txBody>
      </p:sp>
      <p:sp>
        <p:nvSpPr>
          <p:cNvPr id="4" name="Title 3">
            <a:extLst>
              <a:ext uri="{FF2B5EF4-FFF2-40B4-BE49-F238E27FC236}">
                <a16:creationId xmlns:a16="http://schemas.microsoft.com/office/drawing/2014/main" id="{6F9C5F2A-FEEF-4A6F-594C-B7516A54AF62}"/>
              </a:ext>
            </a:extLst>
          </p:cNvPr>
          <p:cNvSpPr>
            <a:spLocks noGrp="1"/>
          </p:cNvSpPr>
          <p:nvPr>
            <p:ph type="title"/>
          </p:nvPr>
        </p:nvSpPr>
        <p:spPr/>
        <p:txBody>
          <a:bodyPr/>
          <a:lstStyle/>
          <a:p>
            <a:r>
              <a:rPr lang="en-GB" noProof="0" dirty="0"/>
              <a:t>2: Encryption</a:t>
            </a:r>
          </a:p>
        </p:txBody>
      </p:sp>
    </p:spTree>
    <p:extLst>
      <p:ext uri="{BB962C8B-B14F-4D97-AF65-F5344CB8AC3E}">
        <p14:creationId xmlns:p14="http://schemas.microsoft.com/office/powerpoint/2010/main" val="200983646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1BF9F-3135-AD4C-3350-9C7909571A1E}"/>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E9CFC3D-69BA-39CB-1B27-4B775DBAF113}"/>
              </a:ext>
            </a:extLst>
          </p:cNvPr>
          <p:cNvSpPr>
            <a:spLocks noGrp="1"/>
          </p:cNvSpPr>
          <p:nvPr>
            <p:ph idx="1"/>
          </p:nvPr>
        </p:nvSpPr>
        <p:spPr/>
        <p:txBody>
          <a:bodyPr>
            <a:normAutofit/>
          </a:bodyPr>
          <a:lstStyle/>
          <a:p>
            <a:pPr marL="514350" indent="-514350">
              <a:spcAft>
                <a:spcPts val="600"/>
              </a:spcAft>
              <a:buFont typeface="+mj-lt"/>
              <a:buAutoNum type="arabicPeriod"/>
            </a:pPr>
            <a:r>
              <a:rPr lang="en-GB" sz="3200" noProof="0" dirty="0"/>
              <a:t>What is encryption?</a:t>
            </a:r>
          </a:p>
          <a:p>
            <a:pPr>
              <a:spcAft>
                <a:spcPts val="600"/>
              </a:spcAft>
            </a:pPr>
            <a:r>
              <a:rPr lang="en-GB" sz="3200" b="1" noProof="0" dirty="0">
                <a:solidFill>
                  <a:srgbClr val="C00000"/>
                </a:solidFill>
              </a:rPr>
              <a:t>Encryption is a way of turning information into a secret code so only authorised people can read it.</a:t>
            </a:r>
          </a:p>
          <a:p>
            <a:pPr marL="514350" indent="-514350">
              <a:spcAft>
                <a:spcPts val="600"/>
              </a:spcAft>
              <a:buFont typeface="+mj-lt"/>
              <a:buAutoNum type="arabicPeriod" startAt="2"/>
            </a:pPr>
            <a:r>
              <a:rPr lang="en-GB" sz="3200" noProof="0" dirty="0"/>
              <a:t>Give one example of where encryption is used in everyday life.</a:t>
            </a:r>
          </a:p>
          <a:p>
            <a:pPr>
              <a:spcAft>
                <a:spcPts val="600"/>
              </a:spcAft>
            </a:pPr>
            <a:r>
              <a:rPr lang="en-GB" sz="3200" b="1" noProof="0" dirty="0">
                <a:solidFill>
                  <a:srgbClr val="C00000"/>
                </a:solidFill>
              </a:rPr>
              <a:t>Encryption is used in messaging apps such as WhatsApp to keep your conversations private.</a:t>
            </a:r>
          </a:p>
        </p:txBody>
      </p:sp>
      <p:sp>
        <p:nvSpPr>
          <p:cNvPr id="4" name="Title 3">
            <a:extLst>
              <a:ext uri="{FF2B5EF4-FFF2-40B4-BE49-F238E27FC236}">
                <a16:creationId xmlns:a16="http://schemas.microsoft.com/office/drawing/2014/main" id="{AE8363D5-0131-00BC-F579-FCE032CDFD45}"/>
              </a:ext>
            </a:extLst>
          </p:cNvPr>
          <p:cNvSpPr>
            <a:spLocks noGrp="1"/>
          </p:cNvSpPr>
          <p:nvPr>
            <p:ph type="title"/>
          </p:nvPr>
        </p:nvSpPr>
        <p:spPr/>
        <p:txBody>
          <a:bodyPr/>
          <a:lstStyle/>
          <a:p>
            <a:r>
              <a:rPr lang="en-GB" noProof="0" dirty="0"/>
              <a:t>2: Encryption </a:t>
            </a:r>
            <a:r>
              <a:rPr lang="en-GB" noProof="0" dirty="0">
                <a:solidFill>
                  <a:srgbClr val="C00000"/>
                </a:solidFill>
              </a:rPr>
              <a:t>ANSWERS</a:t>
            </a:r>
          </a:p>
        </p:txBody>
      </p:sp>
    </p:spTree>
    <p:extLst>
      <p:ext uri="{BB962C8B-B14F-4D97-AF65-F5344CB8AC3E}">
        <p14:creationId xmlns:p14="http://schemas.microsoft.com/office/powerpoint/2010/main" val="1425357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AAB8-5BBA-1633-FACA-80AD2136A99E}"/>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8A9FFF2-B2C1-45C2-AC47-5294D627C346}"/>
              </a:ext>
            </a:extLst>
          </p:cNvPr>
          <p:cNvSpPr>
            <a:spLocks noGrp="1"/>
          </p:cNvSpPr>
          <p:nvPr>
            <p:ph idx="1"/>
          </p:nvPr>
        </p:nvSpPr>
        <p:spPr/>
        <p:txBody>
          <a:bodyPr>
            <a:normAutofit lnSpcReduction="10000"/>
          </a:bodyPr>
          <a:lstStyle/>
          <a:p>
            <a:pPr marL="514350" indent="-514350">
              <a:spcAft>
                <a:spcPts val="600"/>
              </a:spcAft>
              <a:buFont typeface="+mj-lt"/>
              <a:buAutoNum type="arabicPeriod" startAt="3"/>
            </a:pPr>
            <a:r>
              <a:rPr lang="en-GB" sz="3200" noProof="0" dirty="0"/>
              <a:t>How does encryption help keep information safe?</a:t>
            </a:r>
          </a:p>
          <a:p>
            <a:pPr>
              <a:spcAft>
                <a:spcPts val="600"/>
              </a:spcAft>
            </a:pPr>
            <a:r>
              <a:rPr lang="en-GB" sz="3200" b="1" noProof="0" dirty="0">
                <a:solidFill>
                  <a:srgbClr val="C00000"/>
                </a:solidFill>
              </a:rPr>
              <a:t>Encryption scrambles data so that, even if someone intercepts it, they can not understand it without the special key.</a:t>
            </a:r>
          </a:p>
          <a:p>
            <a:pPr marL="514350" indent="-514350">
              <a:spcAft>
                <a:spcPts val="600"/>
              </a:spcAft>
              <a:buFont typeface="+mj-lt"/>
              <a:buAutoNum type="arabicPeriod" startAt="4"/>
            </a:pPr>
            <a:r>
              <a:rPr lang="en-GB" sz="3200" noProof="0" dirty="0"/>
              <a:t>Describe what could happen if important information, such as a bank password or a private message, was sent without encryption.</a:t>
            </a:r>
          </a:p>
          <a:p>
            <a:pPr>
              <a:spcAft>
                <a:spcPts val="600"/>
              </a:spcAft>
            </a:pPr>
            <a:r>
              <a:rPr lang="en-GB" sz="3200" b="1" noProof="0" dirty="0">
                <a:solidFill>
                  <a:srgbClr val="C00000"/>
                </a:solidFill>
              </a:rPr>
              <a:t>If important information is sent without encryption, hackers could easily read it and use it to steal money or personal details.</a:t>
            </a:r>
          </a:p>
        </p:txBody>
      </p:sp>
      <p:sp>
        <p:nvSpPr>
          <p:cNvPr id="4" name="Title 3">
            <a:extLst>
              <a:ext uri="{FF2B5EF4-FFF2-40B4-BE49-F238E27FC236}">
                <a16:creationId xmlns:a16="http://schemas.microsoft.com/office/drawing/2014/main" id="{08258DC9-62D2-BBA8-32DE-F2B9FF528249}"/>
              </a:ext>
            </a:extLst>
          </p:cNvPr>
          <p:cNvSpPr>
            <a:spLocks noGrp="1"/>
          </p:cNvSpPr>
          <p:nvPr>
            <p:ph type="title"/>
          </p:nvPr>
        </p:nvSpPr>
        <p:spPr/>
        <p:txBody>
          <a:bodyPr/>
          <a:lstStyle/>
          <a:p>
            <a:r>
              <a:rPr lang="en-GB" noProof="0" dirty="0"/>
              <a:t>2: Encryption </a:t>
            </a:r>
            <a:r>
              <a:rPr lang="en-GB" noProof="0" dirty="0">
                <a:solidFill>
                  <a:srgbClr val="C00000"/>
                </a:solidFill>
              </a:rPr>
              <a:t>ANSWERS</a:t>
            </a:r>
          </a:p>
        </p:txBody>
      </p:sp>
    </p:spTree>
    <p:extLst>
      <p:ext uri="{BB962C8B-B14F-4D97-AF65-F5344CB8AC3E}">
        <p14:creationId xmlns:p14="http://schemas.microsoft.com/office/powerpoint/2010/main" val="378525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20DD-1B34-3F6E-ECDA-C3BBC48CDD02}"/>
              </a:ext>
            </a:extLst>
          </p:cNvPr>
          <p:cNvSpPr>
            <a:spLocks noGrp="1"/>
          </p:cNvSpPr>
          <p:nvPr>
            <p:ph type="title"/>
          </p:nvPr>
        </p:nvSpPr>
        <p:spPr/>
        <p:txBody>
          <a:bodyPr/>
          <a:lstStyle/>
          <a:p>
            <a:r>
              <a:rPr lang="en-GB" noProof="0" dirty="0"/>
              <a:t>Summary of lesson</a:t>
            </a:r>
          </a:p>
        </p:txBody>
      </p:sp>
      <p:sp>
        <p:nvSpPr>
          <p:cNvPr id="3" name="Content Placeholder 2">
            <a:extLst>
              <a:ext uri="{FF2B5EF4-FFF2-40B4-BE49-F238E27FC236}">
                <a16:creationId xmlns:a16="http://schemas.microsoft.com/office/drawing/2014/main" id="{C7B2BC8E-D2E8-90F7-8C7A-DFC54C6F6B13}"/>
              </a:ext>
            </a:extLst>
          </p:cNvPr>
          <p:cNvSpPr>
            <a:spLocks noGrp="1"/>
          </p:cNvSpPr>
          <p:nvPr>
            <p:ph idx="1"/>
          </p:nvPr>
        </p:nvSpPr>
        <p:spPr/>
        <p:txBody>
          <a:bodyPr>
            <a:normAutofit fontScale="92500" lnSpcReduction="20000"/>
          </a:bodyPr>
          <a:lstStyle/>
          <a:p>
            <a:r>
              <a:rPr lang="en-GB" noProof="0" dirty="0"/>
              <a:t>Firewalls and antivirus software act as digital bodyguards, blocking threats and removing harmful software. </a:t>
            </a:r>
          </a:p>
          <a:p>
            <a:r>
              <a:rPr lang="en-GB" noProof="0" dirty="0"/>
              <a:t>Strong passwords and two-factor authentication add extra layers of protection and encryption keeps information hidden from prying eyes.</a:t>
            </a:r>
          </a:p>
          <a:p>
            <a:r>
              <a:rPr lang="en-GB" noProof="0" dirty="0"/>
              <a:t>Today you used </a:t>
            </a:r>
            <a:r>
              <a:rPr lang="en-GB" b="1" noProof="0" dirty="0"/>
              <a:t>analytical thinking </a:t>
            </a:r>
            <a:r>
              <a:rPr lang="en-GB" noProof="0" dirty="0"/>
              <a:t>to rate different password strengths and when attempting to decode a message. You also developed </a:t>
            </a:r>
            <a:r>
              <a:rPr lang="en-GB" b="1" noProof="0" dirty="0"/>
              <a:t>communication skills </a:t>
            </a:r>
            <a:r>
              <a:rPr lang="en-GB" noProof="0" dirty="0"/>
              <a:t>when discussing ideas and writing your answers.</a:t>
            </a:r>
          </a:p>
        </p:txBody>
      </p:sp>
    </p:spTree>
    <p:extLst>
      <p:ext uri="{BB962C8B-B14F-4D97-AF65-F5344CB8AC3E}">
        <p14:creationId xmlns:p14="http://schemas.microsoft.com/office/powerpoint/2010/main" val="2757112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9F27A30-74F1-B68F-DB4C-1E52B13E6B0A}"/>
              </a:ext>
            </a:extLst>
          </p:cNvPr>
          <p:cNvSpPr>
            <a:spLocks noGrp="1"/>
          </p:cNvSpPr>
          <p:nvPr>
            <p:ph type="body" sz="quarter" idx="10"/>
          </p:nvPr>
        </p:nvSpPr>
        <p:spPr/>
        <p:txBody>
          <a:bodyPr>
            <a:normAutofit/>
          </a:bodyPr>
          <a:lstStyle/>
          <a:p>
            <a:r>
              <a:rPr lang="en-GB" sz="2800" noProof="0" dirty="0">
                <a:solidFill>
                  <a:srgbClr val="C00000"/>
                </a:solidFill>
                <a:hlinkClick r:id="rId2">
                  <a:extLst>
                    <a:ext uri="{A12FA001-AC4F-418D-AE19-62706E023703}">
                      <ahyp:hlinkClr xmlns:ahyp="http://schemas.microsoft.com/office/drawing/2018/hyperlinkcolor" val="tx"/>
                    </a:ext>
                  </a:extLst>
                </a:hlinkClick>
              </a:rPr>
              <a:t>https://www.nicholawilkin.com/terms</a:t>
            </a:r>
            <a:r>
              <a:rPr lang="en-GB" sz="2800" noProof="0" dirty="0">
                <a:solidFill>
                  <a:srgbClr val="C00000"/>
                </a:solidFill>
              </a:rPr>
              <a:t> </a:t>
            </a:r>
          </a:p>
        </p:txBody>
      </p:sp>
      <p:sp>
        <p:nvSpPr>
          <p:cNvPr id="8" name="Title 7">
            <a:extLst>
              <a:ext uri="{FF2B5EF4-FFF2-40B4-BE49-F238E27FC236}">
                <a16:creationId xmlns:a16="http://schemas.microsoft.com/office/drawing/2014/main" id="{AD801862-38A1-2E92-3A46-84D475AF4FD0}"/>
              </a:ext>
            </a:extLst>
          </p:cNvPr>
          <p:cNvSpPr>
            <a:spLocks noGrp="1"/>
          </p:cNvSpPr>
          <p:nvPr>
            <p:ph type="title"/>
          </p:nvPr>
        </p:nvSpPr>
        <p:spPr/>
        <p:txBody>
          <a:bodyPr/>
          <a:lstStyle/>
          <a:p>
            <a:r>
              <a:rPr lang="en-GB" noProof="0" dirty="0"/>
              <a:t>© 2025 Nichola Wilkin Ltd</a:t>
            </a:r>
          </a:p>
        </p:txBody>
      </p:sp>
    </p:spTree>
    <p:extLst>
      <p:ext uri="{BB962C8B-B14F-4D97-AF65-F5344CB8AC3E}">
        <p14:creationId xmlns:p14="http://schemas.microsoft.com/office/powerpoint/2010/main" val="5496283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2" id="{9546B4CD-A1D5-4DFE-B56F-C863773A2EAD}" vid="{EAACDE77-F2E5-4310-8C19-1E4AFB9A93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NEW Example Lesson 2</Template>
  <TotalTime>330</TotalTime>
  <Words>3287</Words>
  <Application>Microsoft Office PowerPoint</Application>
  <PresentationFormat>Widescreen</PresentationFormat>
  <Paragraphs>343</Paragraphs>
  <Slides>58</Slides>
  <Notes>5</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58</vt:i4>
      </vt:variant>
    </vt:vector>
  </HeadingPairs>
  <TitlesOfParts>
    <vt:vector size="62" baseType="lpstr">
      <vt:lpstr>OpenDyslexicAlta</vt:lpstr>
      <vt:lpstr>Arial</vt:lpstr>
      <vt:lpstr>Aptos</vt:lpstr>
      <vt:lpstr>Office Theme</vt:lpstr>
      <vt:lpstr>Important note for teachers</vt:lpstr>
      <vt:lpstr>Defence mechanisms</vt:lpstr>
      <vt:lpstr>Objective</vt:lpstr>
      <vt:lpstr>Keywords</vt:lpstr>
      <vt:lpstr>What do you already know?</vt:lpstr>
      <vt:lpstr>Steps to success</vt:lpstr>
      <vt:lpstr>Firewalls</vt:lpstr>
      <vt:lpstr>Firewall ANSWERS</vt:lpstr>
      <vt:lpstr>Firewall ANSWERS</vt:lpstr>
      <vt:lpstr>Firewall ANSWERS</vt:lpstr>
      <vt:lpstr>Firewall ANSWERS</vt:lpstr>
      <vt:lpstr>Firewalls</vt:lpstr>
      <vt:lpstr>Firewalls</vt:lpstr>
      <vt:lpstr>Firewalls</vt:lpstr>
      <vt:lpstr>Firewalls</vt:lpstr>
      <vt:lpstr>Steps to success</vt:lpstr>
      <vt:lpstr>Antivirus software</vt:lpstr>
      <vt:lpstr>Antivirus software</vt:lpstr>
      <vt:lpstr>Antivirus software</vt:lpstr>
      <vt:lpstr>Antivirus software</vt:lpstr>
      <vt:lpstr>Antivirus software</vt:lpstr>
      <vt:lpstr>Steps to success</vt:lpstr>
      <vt:lpstr>Passwords</vt:lpstr>
      <vt:lpstr>Passwords</vt:lpstr>
      <vt:lpstr>Passwords</vt:lpstr>
      <vt:lpstr>Passwords</vt:lpstr>
      <vt:lpstr>Passwords</vt:lpstr>
      <vt:lpstr>Passwords</vt:lpstr>
      <vt:lpstr>Passwords</vt:lpstr>
      <vt:lpstr>Passwords</vt:lpstr>
      <vt:lpstr>Steps to success</vt:lpstr>
      <vt:lpstr>Two-factor authentication </vt:lpstr>
      <vt:lpstr>Two-factor authentication</vt:lpstr>
      <vt:lpstr>Two-factor authentication</vt:lpstr>
      <vt:lpstr>Two-factor authentication </vt:lpstr>
      <vt:lpstr>Two-factor authentication </vt:lpstr>
      <vt:lpstr>1: Two-factor authentication</vt:lpstr>
      <vt:lpstr>1: Two-factor authentication ANSWER</vt:lpstr>
      <vt:lpstr>Steps to success</vt:lpstr>
      <vt:lpstr>Encryption</vt:lpstr>
      <vt:lpstr>Encryption</vt:lpstr>
      <vt:lpstr>Encryption</vt:lpstr>
      <vt:lpstr>Encryption</vt:lpstr>
      <vt:lpstr>Encryption</vt:lpstr>
      <vt:lpstr>Encryption</vt:lpstr>
      <vt:lpstr>Encryption</vt:lpstr>
      <vt:lpstr>Encryption</vt:lpstr>
      <vt:lpstr>Encryption</vt:lpstr>
      <vt:lpstr>Encryption</vt:lpstr>
      <vt:lpstr>Encryption</vt:lpstr>
      <vt:lpstr>Encryption</vt:lpstr>
      <vt:lpstr>Encryption</vt:lpstr>
      <vt:lpstr>Encryption</vt:lpstr>
      <vt:lpstr>2: Encryption</vt:lpstr>
      <vt:lpstr>2: Encryption ANSWERS</vt:lpstr>
      <vt:lpstr>2: Encryption ANSWERS</vt:lpstr>
      <vt:lpstr>Summary of lesson</vt:lpstr>
      <vt:lpstr>© 2025 Nichola Wilkin Ltd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Nicky Lacey</dc:creator>
  <dc:description>© 2025 Nichola Wilkin Ltd</dc:description>
  <cp:lastModifiedBy>Nicky Lacey</cp:lastModifiedBy>
  <cp:revision>9</cp:revision>
  <dcterms:created xsi:type="dcterms:W3CDTF">2025-05-20T06:08:40Z</dcterms:created>
  <dcterms:modified xsi:type="dcterms:W3CDTF">2025-06-19T07:30:21Z</dcterms:modified>
  <cp:category>© 2025 Nichola Wilkin Ltd</cp:category>
</cp:coreProperties>
</file>