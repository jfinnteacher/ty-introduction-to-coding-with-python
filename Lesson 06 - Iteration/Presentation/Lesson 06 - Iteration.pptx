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embeddedFontLst>
    <p:embeddedFont>
      <p:font typeface="Libre Franklin" pitchFamily="2" charset="0"/>
      <p:regular r:id="rId26"/>
      <p:bold r:id="rId27"/>
      <p:italic r:id="rId28"/>
      <p:boldItalic r:id="rId29"/>
    </p:embeddedFont>
    <p:embeddedFont>
      <p:font typeface="Libre Franklin Medium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rQ4HF0+9J4+/Q5GUBcWB80Obp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 Medium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 Medium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4" descr="A logo for a college&#10;&#10;AI-generated content may be incorrect."/>
          <p:cNvPicPr preferRelativeResize="0"/>
          <p:nvPr/>
        </p:nvPicPr>
        <p:blipFill rotWithShape="1">
          <a:blip r:embed="rId13">
            <a:alphaModFix/>
          </a:blip>
          <a:srcRect l="13218" t="10376" r="14368" b="17519"/>
          <a:stretch/>
        </p:blipFill>
        <p:spPr>
          <a:xfrm>
            <a:off x="10557164" y="185738"/>
            <a:ext cx="1378527" cy="137262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  <a:defRPr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</a:pPr>
            <a:r>
              <a:rPr lang="en-GB"/>
              <a:t>Lesson 06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/>
              <a:t>Iteration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GB"/>
              <a:t>What is Iteration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2400"/>
              <a:t>Iteration is the form of program control that allows us to instruct the computer to carry out a task over and over again by repeating a section of code, also called repetition, e.G. Taking in data from the user relating to multiple employees, students, repeated calculations etc.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2400"/>
              <a:t>The program structure that is used to control this repetition is called a loop.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2400"/>
              <a:t>There are two types of loops in python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2000"/>
              <a:t>While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GB" sz="2000"/>
              <a:t>For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</a:pPr>
            <a:r>
              <a:rPr lang="en-GB"/>
              <a:t>The While Loop</a:t>
            </a:r>
            <a:endParaRPr/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89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7220"/>
              <a:buChar char="•"/>
            </a:pPr>
            <a:r>
              <a:rPr lang="en-GB"/>
              <a:t>The while statement continually executes a block of statements while a particular condition is true, similar structure to an if statement.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7220"/>
              <a:buChar char="•"/>
            </a:pPr>
            <a:r>
              <a:rPr lang="en-GB"/>
              <a:t>The while statement evaluates the condition, which must return a boolean value, either true or false.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grpSp>
        <p:nvGrpSpPr>
          <p:cNvPr id="109" name="Google Shape;109;p4"/>
          <p:cNvGrpSpPr/>
          <p:nvPr/>
        </p:nvGrpSpPr>
        <p:grpSpPr>
          <a:xfrm>
            <a:off x="845127" y="3636812"/>
            <a:ext cx="10931990" cy="2906574"/>
            <a:chOff x="0" y="3429000"/>
            <a:chExt cx="10931990" cy="2906574"/>
          </a:xfrm>
        </p:grpSpPr>
        <p:sp>
          <p:nvSpPr>
            <p:cNvPr id="110" name="Google Shape;110;p4"/>
            <p:cNvSpPr txBox="1"/>
            <p:nvPr/>
          </p:nvSpPr>
          <p:spPr>
            <a:xfrm>
              <a:off x="3828468" y="3429000"/>
              <a:ext cx="4805570" cy="15696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counter = 0</a:t>
              </a: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while counter &lt; 10:</a:t>
              </a: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print(counter)</a:t>
              </a: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counter += 1</a:t>
              </a:r>
              <a:endParaRPr sz="24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0" y="4324499"/>
              <a:ext cx="397634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wentieth Century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Indentation is really important</a:t>
              </a: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661981" y="5217422"/>
              <a:ext cx="1565412" cy="1118152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5875" cap="flat" cmpd="sng">
              <a:solidFill>
                <a:srgbClr val="2276A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939085" y="5791200"/>
              <a:ext cx="49929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wentieth Century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Indented code is run inside of the loop</a:t>
              </a: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F67"/>
              </a:buClr>
              <a:buSzPts val="2800"/>
              <a:buChar char="•"/>
            </a:pPr>
            <a:r>
              <a:rPr lang="en-GB">
                <a:latin typeface="Twentieth Century"/>
                <a:ea typeface="Twentieth Century"/>
                <a:cs typeface="Twentieth Century"/>
                <a:sym typeface="Twentieth Century"/>
              </a:rPr>
              <a:t>Lets build a program which prints and counts from a start number to an end number.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67"/>
              </a:buClr>
              <a:buSzPts val="2800"/>
              <a:buChar char="•"/>
            </a:pPr>
            <a:r>
              <a:rPr lang="en-GB">
                <a:latin typeface="Twentieth Century"/>
                <a:ea typeface="Twentieth Century"/>
                <a:cs typeface="Twentieth Century"/>
                <a:sym typeface="Twentieth Century"/>
              </a:rPr>
              <a:t>So, what inputs will our program need?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67"/>
              </a:buClr>
              <a:buSzPts val="2800"/>
              <a:buChar char="•"/>
            </a:pPr>
            <a:r>
              <a:rPr lang="en-GB">
                <a:latin typeface="Twentieth Century"/>
                <a:ea typeface="Twentieth Century"/>
                <a:cs typeface="Twentieth Century"/>
                <a:sym typeface="Twentieth Century"/>
              </a:rPr>
              <a:t>Inputs: startNumber, endNumber</a:t>
            </a:r>
            <a:endParaRPr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67"/>
              </a:buClr>
              <a:buSzPts val="2800"/>
              <a:buChar char="•"/>
            </a:pPr>
            <a:r>
              <a:rPr lang="en-GB">
                <a:latin typeface="Twentieth Century"/>
                <a:ea typeface="Twentieth Century"/>
                <a:cs typeface="Twentieth Century"/>
                <a:sym typeface="Twentieth Century"/>
              </a:rPr>
              <a:t>So we want to print all the numbers between the startNumber and the endNumber and add all the numbers up too.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 Medium"/>
              <a:buNone/>
            </a:pPr>
            <a:endParaRPr/>
          </a:p>
        </p:txBody>
      </p:sp>
      <p:pic>
        <p:nvPicPr>
          <p:cNvPr id="125" name="Google Shape;125;p6" descr="A screenshot of a computer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-1294" b="-874"/>
          <a:stretch/>
        </p:blipFill>
        <p:spPr>
          <a:xfrm>
            <a:off x="5827425" y="259774"/>
            <a:ext cx="3420484" cy="5609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800"/>
              <a:t>An algorithm is a set of steps to be followed to solve a problem.</a:t>
            </a:r>
            <a:br>
              <a:rPr lang="en-GB" sz="2800"/>
            </a:br>
            <a:r>
              <a:rPr lang="en-GB" sz="2800"/>
              <a:t> </a:t>
            </a:r>
            <a:br>
              <a:rPr lang="en-GB" sz="2800"/>
            </a:br>
            <a:r>
              <a:rPr lang="en-GB" sz="2800"/>
              <a:t>This is what the algorithm for our program would look like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/>
        </p:nvSpPr>
        <p:spPr>
          <a:xfrm>
            <a:off x="194553" y="633404"/>
            <a:ext cx="11802894" cy="600316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INDENTATION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GB" sz="28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COUNTER &lt;= ENDNUMBER:</a:t>
            </a:r>
            <a:endParaRPr sz="2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GB" sz="28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PRINT("THE COUNTER VALUE IS :",COUNTER)</a:t>
            </a:r>
            <a:endParaRPr sz="2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GB" sz="28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TOTAL += COUNTER</a:t>
            </a:r>
            <a:endParaRPr sz="2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GB" sz="28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COUNTER +=1</a:t>
            </a:r>
            <a:endParaRPr sz="2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GB" sz="2000" b="1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Notice the indentation! This is extremely important in python.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GB" sz="2000" b="1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It indicates what block of code belongs to what statement.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endParaRPr sz="2000" b="1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468549" y="262647"/>
            <a:ext cx="10591800" cy="6254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STARTNUMBER = INT(INPUT("PLEASE ENTER A START VALUE: "))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ENDNUMBER = INT(INPUT("PLEASE ENTER AN END VALUE: "))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COUNTER = STARTNUMBER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COUNTER &lt;= ENDNUMBER: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PRINT("THE COUNTER VALUE IS :",COUNTER)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TOTAL += COUNTER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COUNTER +=1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Noto Sans Symbols"/>
              <a:buNone/>
            </a:pPr>
            <a:r>
              <a:rPr lang="en-GB" sz="19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PRINT("TOTAL IS :",TOTAL)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●"/>
            </a:pPr>
            <a:r>
              <a:rPr lang="en-GB"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INPUT: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STARTNUMBER = 1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●"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ENDNUMBER = 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851170" y="2979520"/>
            <a:ext cx="459237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counter value is : 1</a:t>
            </a:r>
            <a:endParaRPr sz="1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counter value is : 2</a:t>
            </a:r>
            <a:endParaRPr sz="1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counter value is : 3</a:t>
            </a:r>
            <a:endParaRPr sz="1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counter value is : 4</a:t>
            </a:r>
            <a:endParaRPr sz="1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 counter value is : 5</a:t>
            </a:r>
            <a:endParaRPr sz="1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Total is : 15</a:t>
            </a:r>
            <a:endParaRPr sz="18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870220" y="481013"/>
            <a:ext cx="2106613" cy="23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None/>
            </a:pPr>
            <a:endParaRPr sz="18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876570" y="504826"/>
            <a:ext cx="1036638" cy="37306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None/>
            </a:pPr>
            <a:endParaRPr sz="18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913208" y="504826"/>
            <a:ext cx="1036638" cy="37306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None/>
            </a:pPr>
            <a:endParaRPr sz="18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45" name="Google Shape;145;p9"/>
          <p:cNvCxnSpPr/>
          <p:nvPr/>
        </p:nvCxnSpPr>
        <p:spPr>
          <a:xfrm>
            <a:off x="1913208" y="500063"/>
            <a:ext cx="0" cy="2238375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6" name="Google Shape;146;p9"/>
          <p:cNvCxnSpPr/>
          <p:nvPr/>
        </p:nvCxnSpPr>
        <p:spPr>
          <a:xfrm>
            <a:off x="870220" y="877888"/>
            <a:ext cx="2085975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9"/>
          <p:cNvCxnSpPr/>
          <p:nvPr/>
        </p:nvCxnSpPr>
        <p:spPr>
          <a:xfrm>
            <a:off x="870220" y="1247776"/>
            <a:ext cx="2085975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8" name="Google Shape;148;p9"/>
          <p:cNvCxnSpPr/>
          <p:nvPr/>
        </p:nvCxnSpPr>
        <p:spPr>
          <a:xfrm>
            <a:off x="870220" y="1617663"/>
            <a:ext cx="2085975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9" name="Google Shape;149;p9"/>
          <p:cNvCxnSpPr/>
          <p:nvPr/>
        </p:nvCxnSpPr>
        <p:spPr>
          <a:xfrm>
            <a:off x="870220" y="1990726"/>
            <a:ext cx="2085975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9"/>
          <p:cNvCxnSpPr/>
          <p:nvPr/>
        </p:nvCxnSpPr>
        <p:spPr>
          <a:xfrm>
            <a:off x="870220" y="2360613"/>
            <a:ext cx="2085975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9"/>
          <p:cNvCxnSpPr/>
          <p:nvPr/>
        </p:nvCxnSpPr>
        <p:spPr>
          <a:xfrm>
            <a:off x="876570" y="500063"/>
            <a:ext cx="0" cy="2238375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9"/>
          <p:cNvCxnSpPr/>
          <p:nvPr/>
        </p:nvCxnSpPr>
        <p:spPr>
          <a:xfrm>
            <a:off x="2949845" y="500063"/>
            <a:ext cx="0" cy="2238375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9"/>
          <p:cNvCxnSpPr/>
          <p:nvPr/>
        </p:nvCxnSpPr>
        <p:spPr>
          <a:xfrm>
            <a:off x="870220" y="504826"/>
            <a:ext cx="2085975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9"/>
          <p:cNvCxnSpPr/>
          <p:nvPr/>
        </p:nvCxnSpPr>
        <p:spPr>
          <a:xfrm>
            <a:off x="870220" y="2730501"/>
            <a:ext cx="2085975" cy="0"/>
          </a:xfrm>
          <a:prstGeom prst="straightConnector1">
            <a:avLst/>
          </a:prstGeom>
          <a:noFill/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5" name="Google Shape;155;p9"/>
          <p:cNvSpPr/>
          <p:nvPr/>
        </p:nvSpPr>
        <p:spPr>
          <a:xfrm>
            <a:off x="968645" y="549276"/>
            <a:ext cx="86360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counter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005283" y="549276"/>
            <a:ext cx="573088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9"/>
          <p:cNvGrpSpPr/>
          <p:nvPr/>
        </p:nvGrpSpPr>
        <p:grpSpPr>
          <a:xfrm>
            <a:off x="876570" y="877888"/>
            <a:ext cx="1036638" cy="381000"/>
            <a:chOff x="6197600" y="2249488"/>
            <a:chExt cx="1036638" cy="381000"/>
          </a:xfrm>
        </p:grpSpPr>
        <p:sp>
          <p:nvSpPr>
            <p:cNvPr id="158" name="Google Shape;158;p9"/>
            <p:cNvSpPr/>
            <p:nvPr/>
          </p:nvSpPr>
          <p:spPr>
            <a:xfrm>
              <a:off x="6197600" y="2249488"/>
              <a:ext cx="1036638" cy="369888"/>
            </a:xfrm>
            <a:prstGeom prst="rect">
              <a:avLst/>
            </a:prstGeom>
            <a:solidFill>
              <a:srgbClr val="CFD5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6289675" y="2290763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9"/>
          <p:cNvGrpSpPr/>
          <p:nvPr/>
        </p:nvGrpSpPr>
        <p:grpSpPr>
          <a:xfrm>
            <a:off x="1913208" y="877888"/>
            <a:ext cx="1036638" cy="381000"/>
            <a:chOff x="7234238" y="2249488"/>
            <a:chExt cx="1036638" cy="381000"/>
          </a:xfrm>
        </p:grpSpPr>
        <p:sp>
          <p:nvSpPr>
            <p:cNvPr id="161" name="Google Shape;161;p9"/>
            <p:cNvSpPr/>
            <p:nvPr/>
          </p:nvSpPr>
          <p:spPr>
            <a:xfrm>
              <a:off x="7234238" y="2249488"/>
              <a:ext cx="1036638" cy="369888"/>
            </a:xfrm>
            <a:prstGeom prst="rect">
              <a:avLst/>
            </a:prstGeom>
            <a:solidFill>
              <a:srgbClr val="CFD5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7326313" y="2290763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9"/>
          <p:cNvGrpSpPr/>
          <p:nvPr/>
        </p:nvGrpSpPr>
        <p:grpSpPr>
          <a:xfrm>
            <a:off x="876570" y="1247776"/>
            <a:ext cx="1036638" cy="382587"/>
            <a:chOff x="6197600" y="2619376"/>
            <a:chExt cx="1036638" cy="382587"/>
          </a:xfrm>
        </p:grpSpPr>
        <p:sp>
          <p:nvSpPr>
            <p:cNvPr id="164" name="Google Shape;164;p9"/>
            <p:cNvSpPr/>
            <p:nvPr/>
          </p:nvSpPr>
          <p:spPr>
            <a:xfrm>
              <a:off x="6197600" y="2619376"/>
              <a:ext cx="1036638" cy="369888"/>
            </a:xfrm>
            <a:prstGeom prst="rect">
              <a:avLst/>
            </a:prstGeom>
            <a:solidFill>
              <a:srgbClr val="E9EB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6289675" y="2662238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9"/>
          <p:cNvGrpSpPr/>
          <p:nvPr/>
        </p:nvGrpSpPr>
        <p:grpSpPr>
          <a:xfrm>
            <a:off x="1913208" y="1247776"/>
            <a:ext cx="1036638" cy="382587"/>
            <a:chOff x="7234238" y="2619376"/>
            <a:chExt cx="1036638" cy="382587"/>
          </a:xfrm>
        </p:grpSpPr>
        <p:sp>
          <p:nvSpPr>
            <p:cNvPr id="167" name="Google Shape;167;p9"/>
            <p:cNvSpPr/>
            <p:nvPr/>
          </p:nvSpPr>
          <p:spPr>
            <a:xfrm>
              <a:off x="7234238" y="2619376"/>
              <a:ext cx="1036638" cy="369888"/>
            </a:xfrm>
            <a:prstGeom prst="rect">
              <a:avLst/>
            </a:prstGeom>
            <a:solidFill>
              <a:srgbClr val="E9EB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326313" y="2662238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9"/>
          <p:cNvGrpSpPr/>
          <p:nvPr/>
        </p:nvGrpSpPr>
        <p:grpSpPr>
          <a:xfrm>
            <a:off x="876570" y="1617663"/>
            <a:ext cx="1036638" cy="384175"/>
            <a:chOff x="6197600" y="2989263"/>
            <a:chExt cx="1036638" cy="384175"/>
          </a:xfrm>
        </p:grpSpPr>
        <p:sp>
          <p:nvSpPr>
            <p:cNvPr id="170" name="Google Shape;170;p9"/>
            <p:cNvSpPr/>
            <p:nvPr/>
          </p:nvSpPr>
          <p:spPr>
            <a:xfrm>
              <a:off x="6197600" y="2989263"/>
              <a:ext cx="1036638" cy="373063"/>
            </a:xfrm>
            <a:prstGeom prst="rect">
              <a:avLst/>
            </a:prstGeom>
            <a:solidFill>
              <a:srgbClr val="CFD5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6289675" y="3033713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p9"/>
          <p:cNvGrpSpPr/>
          <p:nvPr/>
        </p:nvGrpSpPr>
        <p:grpSpPr>
          <a:xfrm>
            <a:off x="1913208" y="1617663"/>
            <a:ext cx="1036638" cy="384175"/>
            <a:chOff x="7234238" y="2989263"/>
            <a:chExt cx="1036638" cy="384175"/>
          </a:xfrm>
        </p:grpSpPr>
        <p:sp>
          <p:nvSpPr>
            <p:cNvPr id="173" name="Google Shape;173;p9"/>
            <p:cNvSpPr/>
            <p:nvPr/>
          </p:nvSpPr>
          <p:spPr>
            <a:xfrm>
              <a:off x="7234238" y="2989263"/>
              <a:ext cx="1036638" cy="373063"/>
            </a:xfrm>
            <a:prstGeom prst="rect">
              <a:avLst/>
            </a:prstGeom>
            <a:solidFill>
              <a:srgbClr val="CFD5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7326313" y="3033713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" name="Google Shape;175;p9"/>
          <p:cNvGrpSpPr/>
          <p:nvPr/>
        </p:nvGrpSpPr>
        <p:grpSpPr>
          <a:xfrm>
            <a:off x="876570" y="1990726"/>
            <a:ext cx="1036638" cy="381000"/>
            <a:chOff x="6197600" y="3362326"/>
            <a:chExt cx="1036638" cy="381000"/>
          </a:xfrm>
        </p:grpSpPr>
        <p:sp>
          <p:nvSpPr>
            <p:cNvPr id="176" name="Google Shape;176;p9"/>
            <p:cNvSpPr/>
            <p:nvPr/>
          </p:nvSpPr>
          <p:spPr>
            <a:xfrm>
              <a:off x="6197600" y="3362326"/>
              <a:ext cx="1036638" cy="369888"/>
            </a:xfrm>
            <a:prstGeom prst="rect">
              <a:avLst/>
            </a:prstGeom>
            <a:solidFill>
              <a:srgbClr val="E9EB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6289675" y="3403601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9"/>
          <p:cNvGrpSpPr/>
          <p:nvPr/>
        </p:nvGrpSpPr>
        <p:grpSpPr>
          <a:xfrm>
            <a:off x="1913208" y="1990726"/>
            <a:ext cx="1036638" cy="381000"/>
            <a:chOff x="7234238" y="3362326"/>
            <a:chExt cx="1036638" cy="381000"/>
          </a:xfrm>
        </p:grpSpPr>
        <p:sp>
          <p:nvSpPr>
            <p:cNvPr id="179" name="Google Shape;179;p9"/>
            <p:cNvSpPr/>
            <p:nvPr/>
          </p:nvSpPr>
          <p:spPr>
            <a:xfrm>
              <a:off x="7234238" y="3362326"/>
              <a:ext cx="1036638" cy="369888"/>
            </a:xfrm>
            <a:prstGeom prst="rect">
              <a:avLst/>
            </a:prstGeom>
            <a:solidFill>
              <a:srgbClr val="E9EB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7326313" y="3403601"/>
              <a:ext cx="350838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" name="Google Shape;181;p9"/>
          <p:cNvGrpSpPr/>
          <p:nvPr/>
        </p:nvGrpSpPr>
        <p:grpSpPr>
          <a:xfrm>
            <a:off x="876570" y="2360613"/>
            <a:ext cx="1036638" cy="382588"/>
            <a:chOff x="6197600" y="3732213"/>
            <a:chExt cx="1036638" cy="382588"/>
          </a:xfrm>
        </p:grpSpPr>
        <p:sp>
          <p:nvSpPr>
            <p:cNvPr id="182" name="Google Shape;182;p9"/>
            <p:cNvSpPr/>
            <p:nvPr/>
          </p:nvSpPr>
          <p:spPr>
            <a:xfrm>
              <a:off x="6197600" y="3732213"/>
              <a:ext cx="1036638" cy="369888"/>
            </a:xfrm>
            <a:prstGeom prst="rect">
              <a:avLst/>
            </a:prstGeom>
            <a:solidFill>
              <a:srgbClr val="CFD5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6289675" y="3775076"/>
              <a:ext cx="23495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9"/>
          <p:cNvGrpSpPr/>
          <p:nvPr/>
        </p:nvGrpSpPr>
        <p:grpSpPr>
          <a:xfrm>
            <a:off x="1913208" y="2360613"/>
            <a:ext cx="1036638" cy="382588"/>
            <a:chOff x="7234238" y="3732213"/>
            <a:chExt cx="1036638" cy="382588"/>
          </a:xfrm>
        </p:grpSpPr>
        <p:sp>
          <p:nvSpPr>
            <p:cNvPr id="185" name="Google Shape;185;p9"/>
            <p:cNvSpPr/>
            <p:nvPr/>
          </p:nvSpPr>
          <p:spPr>
            <a:xfrm>
              <a:off x="7234238" y="3732213"/>
              <a:ext cx="1036638" cy="369888"/>
            </a:xfrm>
            <a:prstGeom prst="rect">
              <a:avLst/>
            </a:prstGeom>
            <a:solidFill>
              <a:srgbClr val="CFD5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7326313" y="3775076"/>
              <a:ext cx="350838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GB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GB"/>
              <a:t>The While Loop</a:t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3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Lets build another program which reads in characters from the keyboard. The program should stop when the letter ‘z’ is entered.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3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So, what inputs will our program need?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3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Inputs: inputLetter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3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want to end when the letter ‘z’ is entered.</a:t>
            </a:r>
            <a:endParaRPr sz="32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 Medium"/>
              <a:buNone/>
            </a:pPr>
            <a:r>
              <a:rPr lang="en-GB"/>
              <a:t>Algorithm</a:t>
            </a:r>
            <a:endParaRPr/>
          </a:p>
        </p:txBody>
      </p:sp>
      <p:sp>
        <p:nvSpPr>
          <p:cNvPr id="198" name="Google Shape;19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 sz="2800"/>
              <a:t>An algorithm is a set of steps to be followed to solve a problem.</a:t>
            </a:r>
            <a:br>
              <a:rPr lang="en-GB" sz="2800"/>
            </a:br>
            <a:r>
              <a:rPr lang="en-GB" sz="2800"/>
              <a:t> </a:t>
            </a:r>
            <a:br>
              <a:rPr lang="en-GB" sz="2800"/>
            </a:br>
            <a:r>
              <a:rPr lang="en-GB" sz="2800"/>
              <a:t>This is what the algorithm for our program would look like</a:t>
            </a:r>
            <a:endParaRPr/>
          </a:p>
        </p:txBody>
      </p:sp>
      <p:pic>
        <p:nvPicPr>
          <p:cNvPr id="199" name="Google Shape;199;p11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27694" y="643466"/>
            <a:ext cx="4881633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/>
        </p:nvSpPr>
        <p:spPr>
          <a:xfrm>
            <a:off x="413776" y="471527"/>
            <a:ext cx="11353800" cy="577687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 WHAT DOES THIS LOOK LIKE IN OUR CODE?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inputletter = input("please enter a letter: ")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while inputletter != ‘z’: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print(“the entered letter is :",inputletter)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inputletter = input("please enter another letter: ")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Print(“this is outside the loop”)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Please enter a letter: a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Please enter a letter: b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Please enter a letter: c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Please enter a letter: z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This is outside the loop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Libre Franklin Medium"/>
              <a:buNone/>
            </a:pPr>
            <a:r>
              <a:rPr lang="en-GB"/>
              <a:t>The For Loop</a:t>
            </a:r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GB"/>
              <a:t>The For Loop</a:t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Similar to the while the loop, the for loop will consist of the for keyword. The for loop works best for counting. 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With a for loop we use the range function to define a range to count between.</a:t>
            </a:r>
            <a:endParaRPr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2275167" y="3606750"/>
            <a:ext cx="7248359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wentieth Century"/>
              <a:buNone/>
            </a:pPr>
            <a:endParaRPr sz="36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GB" sz="3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range(1,6):	</a:t>
            </a: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GB" sz="3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print(i)</a:t>
            </a: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en-GB" sz="3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sz="3600" b="0" i="0" u="none" strike="noStrike" cap="non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913794" y="1828801"/>
            <a:ext cx="10440005" cy="38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F67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Lets build a program which prints and counts from a start number to an end number.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67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So, what inputs will our program need?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67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Inputs: startNumber, endNumber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F67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 we want to print all the numbers between the startNumber and the endNumber and add all the numbers up too.</a:t>
            </a: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endParaRPr/>
          </a:p>
        </p:txBody>
      </p:sp>
      <p:pic>
        <p:nvPicPr>
          <p:cNvPr id="229" name="Google Shape;229;p16" descr="Diagram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7792" y="556612"/>
            <a:ext cx="4221611" cy="5744776"/>
          </a:xfrm>
          <a:prstGeom prst="rect">
            <a:avLst/>
          </a:prstGeom>
          <a:solidFill>
            <a:srgbClr val="F6CBBC"/>
          </a:solidFill>
          <a:ln w="100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0" name="Google Shape;230;p16"/>
          <p:cNvSpPr txBox="1"/>
          <p:nvPr/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 algorithm is a set of steps to be followed to solve a problem.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This is what the algorithm for our program would look like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/>
        </p:nvSpPr>
        <p:spPr>
          <a:xfrm>
            <a:off x="616525" y="145915"/>
            <a:ext cx="6245352" cy="671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startNumber = int(input("Please enter a start value: "))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endNumber = int(input("Please enter an end value: "))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total = 0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 i in range(startNumber, endNumber+1):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	print("The value of i is:",i)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	total += i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print("Total is :",total)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--- 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Input: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Please enter a start value: 1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Please enter an end value: 10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Output: 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value of i is: 1 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value of i is: 2 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1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..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value of i is: 10 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60"/>
              </a:spcBef>
              <a:spcAft>
                <a:spcPts val="60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rPr lang="en-GB"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Total is : 55</a:t>
            </a:r>
            <a:endParaRPr sz="18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18"/>
          <p:cNvGrpSpPr/>
          <p:nvPr/>
        </p:nvGrpSpPr>
        <p:grpSpPr>
          <a:xfrm>
            <a:off x="914476" y="555692"/>
            <a:ext cx="5924069" cy="5904774"/>
            <a:chOff x="8774425" y="1771650"/>
            <a:chExt cx="3420101" cy="4016079"/>
          </a:xfrm>
        </p:grpSpPr>
        <p:sp>
          <p:nvSpPr>
            <p:cNvPr id="241" name="Google Shape;241;p18"/>
            <p:cNvSpPr txBox="1"/>
            <p:nvPr/>
          </p:nvSpPr>
          <p:spPr>
            <a:xfrm>
              <a:off x="8774425" y="4217770"/>
              <a:ext cx="3420101" cy="1569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value of i is: 1</a:t>
              </a:r>
              <a:endPara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value of i is : 2</a:t>
              </a:r>
              <a:endPara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value of i is : 3</a:t>
              </a:r>
              <a:endPara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value of i is : 4</a:t>
              </a:r>
              <a:endPara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The value of i is : 5</a:t>
              </a:r>
              <a:endPara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ourier New"/>
                <a:buNone/>
              </a:pPr>
              <a:r>
                <a:rPr lang="en-GB" sz="2400" b="0" i="0" u="none" strike="noStrike" cap="non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Total is : 15</a:t>
              </a:r>
              <a:endParaRPr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9355764" y="1778000"/>
              <a:ext cx="1036638" cy="371475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10408276" y="1796746"/>
              <a:ext cx="1038225" cy="371475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Libre Franklin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cxnSp>
          <p:nvCxnSpPr>
            <p:cNvPr id="244" name="Google Shape;244;p18"/>
            <p:cNvCxnSpPr/>
            <p:nvPr/>
          </p:nvCxnSpPr>
          <p:spPr>
            <a:xfrm>
              <a:off x="10392401" y="1771650"/>
              <a:ext cx="0" cy="2239963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18"/>
            <p:cNvCxnSpPr/>
            <p:nvPr/>
          </p:nvCxnSpPr>
          <p:spPr>
            <a:xfrm>
              <a:off x="9347826" y="2149475"/>
              <a:ext cx="2089150" cy="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6" name="Google Shape;246;p18"/>
            <p:cNvCxnSpPr/>
            <p:nvPr/>
          </p:nvCxnSpPr>
          <p:spPr>
            <a:xfrm>
              <a:off x="9347826" y="2519362"/>
              <a:ext cx="2089150" cy="0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7" name="Google Shape;247;p18"/>
            <p:cNvCxnSpPr/>
            <p:nvPr/>
          </p:nvCxnSpPr>
          <p:spPr>
            <a:xfrm>
              <a:off x="9347826" y="2892425"/>
              <a:ext cx="2089150" cy="0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18"/>
            <p:cNvCxnSpPr/>
            <p:nvPr/>
          </p:nvCxnSpPr>
          <p:spPr>
            <a:xfrm>
              <a:off x="9347826" y="3262312"/>
              <a:ext cx="2089150" cy="0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p18"/>
            <p:cNvCxnSpPr/>
            <p:nvPr/>
          </p:nvCxnSpPr>
          <p:spPr>
            <a:xfrm>
              <a:off x="9347826" y="3633787"/>
              <a:ext cx="2089150" cy="0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0" name="Google Shape;250;p18"/>
            <p:cNvCxnSpPr/>
            <p:nvPr/>
          </p:nvCxnSpPr>
          <p:spPr>
            <a:xfrm>
              <a:off x="9355764" y="1771650"/>
              <a:ext cx="0" cy="2239963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1" name="Google Shape;251;p18"/>
            <p:cNvCxnSpPr/>
            <p:nvPr/>
          </p:nvCxnSpPr>
          <p:spPr>
            <a:xfrm>
              <a:off x="11430626" y="1771650"/>
              <a:ext cx="0" cy="2239963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p18"/>
            <p:cNvCxnSpPr/>
            <p:nvPr/>
          </p:nvCxnSpPr>
          <p:spPr>
            <a:xfrm>
              <a:off x="9347826" y="1778000"/>
              <a:ext cx="2089150" cy="0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3" name="Google Shape;253;p18"/>
            <p:cNvCxnSpPr/>
            <p:nvPr/>
          </p:nvCxnSpPr>
          <p:spPr>
            <a:xfrm>
              <a:off x="9347826" y="4005262"/>
              <a:ext cx="2089150" cy="0"/>
            </a:xfrm>
            <a:prstGeom prst="straightConnector1">
              <a:avLst/>
            </a:prstGeom>
            <a:noFill/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4" name="Google Shape;254;p18"/>
            <p:cNvSpPr/>
            <p:nvPr/>
          </p:nvSpPr>
          <p:spPr>
            <a:xfrm>
              <a:off x="9446251" y="1820862"/>
              <a:ext cx="177800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10484476" y="1820862"/>
              <a:ext cx="573088" cy="339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total</a:t>
              </a: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6" name="Google Shape;256;p18"/>
            <p:cNvGrpSpPr/>
            <p:nvPr/>
          </p:nvGrpSpPr>
          <p:grpSpPr>
            <a:xfrm>
              <a:off x="9355764" y="2149475"/>
              <a:ext cx="2074862" cy="381000"/>
              <a:chOff x="6180138" y="2173288"/>
              <a:chExt cx="2074862" cy="381000"/>
            </a:xfrm>
          </p:grpSpPr>
          <p:sp>
            <p:nvSpPr>
              <p:cNvPr id="257" name="Google Shape;257;p18"/>
              <p:cNvSpPr/>
              <p:nvPr/>
            </p:nvSpPr>
            <p:spPr>
              <a:xfrm>
                <a:off x="6180138" y="2173288"/>
                <a:ext cx="1036638" cy="369888"/>
              </a:xfrm>
              <a:prstGeom prst="rect">
                <a:avLst/>
              </a:prstGeom>
              <a:solidFill>
                <a:srgbClr val="CFD5E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7216775" y="2173288"/>
                <a:ext cx="1038225" cy="369888"/>
              </a:xfrm>
              <a:prstGeom prst="rect">
                <a:avLst/>
              </a:prstGeom>
              <a:solidFill>
                <a:srgbClr val="CFD5E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6270625" y="2214563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7308850" y="2214563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8"/>
            <p:cNvGrpSpPr/>
            <p:nvPr/>
          </p:nvGrpSpPr>
          <p:grpSpPr>
            <a:xfrm>
              <a:off x="9355764" y="2519362"/>
              <a:ext cx="2074862" cy="384175"/>
              <a:chOff x="6180138" y="2543175"/>
              <a:chExt cx="2074862" cy="384175"/>
            </a:xfrm>
          </p:grpSpPr>
          <p:sp>
            <p:nvSpPr>
              <p:cNvPr id="262" name="Google Shape;262;p18"/>
              <p:cNvSpPr/>
              <p:nvPr/>
            </p:nvSpPr>
            <p:spPr>
              <a:xfrm>
                <a:off x="6180138" y="2543175"/>
                <a:ext cx="1036638" cy="373063"/>
              </a:xfrm>
              <a:prstGeom prst="rect">
                <a:avLst/>
              </a:prstGeom>
              <a:solidFill>
                <a:srgbClr val="E9EBF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7216775" y="2543175"/>
                <a:ext cx="1038225" cy="373063"/>
              </a:xfrm>
              <a:prstGeom prst="rect">
                <a:avLst/>
              </a:prstGeom>
              <a:solidFill>
                <a:srgbClr val="E9EBF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6270625" y="2587625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7308850" y="2587625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6" name="Google Shape;266;p18"/>
            <p:cNvGrpSpPr/>
            <p:nvPr/>
          </p:nvGrpSpPr>
          <p:grpSpPr>
            <a:xfrm>
              <a:off x="9355764" y="2892425"/>
              <a:ext cx="2074862" cy="381000"/>
              <a:chOff x="6180138" y="2916238"/>
              <a:chExt cx="2074862" cy="381000"/>
            </a:xfrm>
          </p:grpSpPr>
          <p:sp>
            <p:nvSpPr>
              <p:cNvPr id="267" name="Google Shape;267;p18"/>
              <p:cNvSpPr/>
              <p:nvPr/>
            </p:nvSpPr>
            <p:spPr>
              <a:xfrm>
                <a:off x="6180138" y="2916238"/>
                <a:ext cx="1036638" cy="369888"/>
              </a:xfrm>
              <a:prstGeom prst="rect">
                <a:avLst/>
              </a:prstGeom>
              <a:solidFill>
                <a:srgbClr val="CFD5E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7216775" y="2916238"/>
                <a:ext cx="1038225" cy="369888"/>
              </a:xfrm>
              <a:prstGeom prst="rect">
                <a:avLst/>
              </a:prstGeom>
              <a:solidFill>
                <a:srgbClr val="CFD5E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6270625" y="2957513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7308850" y="2957513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18"/>
            <p:cNvGrpSpPr/>
            <p:nvPr/>
          </p:nvGrpSpPr>
          <p:grpSpPr>
            <a:xfrm>
              <a:off x="9355764" y="3262312"/>
              <a:ext cx="2074862" cy="382588"/>
              <a:chOff x="6180138" y="3286125"/>
              <a:chExt cx="2074862" cy="382588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6180138" y="3286125"/>
                <a:ext cx="1036638" cy="371475"/>
              </a:xfrm>
              <a:prstGeom prst="rect">
                <a:avLst/>
              </a:prstGeom>
              <a:solidFill>
                <a:srgbClr val="E9EBF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7216775" y="3286125"/>
                <a:ext cx="1038225" cy="371475"/>
              </a:xfrm>
              <a:prstGeom prst="rect">
                <a:avLst/>
              </a:prstGeom>
              <a:solidFill>
                <a:srgbClr val="E9EBF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6270625" y="3328988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7308850" y="3328988"/>
                <a:ext cx="350838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6" name="Google Shape;276;p18"/>
            <p:cNvGrpSpPr/>
            <p:nvPr/>
          </p:nvGrpSpPr>
          <p:grpSpPr>
            <a:xfrm>
              <a:off x="9355764" y="3633787"/>
              <a:ext cx="2074862" cy="382588"/>
              <a:chOff x="6180138" y="3657600"/>
              <a:chExt cx="2074862" cy="382588"/>
            </a:xfrm>
          </p:grpSpPr>
          <p:sp>
            <p:nvSpPr>
              <p:cNvPr id="277" name="Google Shape;277;p18"/>
              <p:cNvSpPr/>
              <p:nvPr/>
            </p:nvSpPr>
            <p:spPr>
              <a:xfrm>
                <a:off x="6180138" y="3657600"/>
                <a:ext cx="1036638" cy="371475"/>
              </a:xfrm>
              <a:prstGeom prst="rect">
                <a:avLst/>
              </a:prstGeom>
              <a:solidFill>
                <a:srgbClr val="CFD5E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>
                <a:off x="7216775" y="3657600"/>
                <a:ext cx="1038225" cy="371475"/>
              </a:xfrm>
              <a:prstGeom prst="rect">
                <a:avLst/>
              </a:prstGeom>
              <a:solidFill>
                <a:srgbClr val="CFD5EA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Libre Franklin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6270625" y="3700463"/>
                <a:ext cx="23495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7308850" y="3700463"/>
                <a:ext cx="350838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lang="en-GB"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</a:t>
                </a: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"/>
          <p:cNvSpPr txBox="1"/>
          <p:nvPr/>
        </p:nvSpPr>
        <p:spPr>
          <a:xfrm>
            <a:off x="913795" y="1828801"/>
            <a:ext cx="5978072" cy="38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5436"/>
              </a:buClr>
              <a:buSzPts val="20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Lets build a program which prints each character in a name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5436"/>
              </a:buClr>
              <a:buSzPts val="20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So, what inputs will our program need?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5436"/>
              </a:buClr>
              <a:buSzPts val="20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Inputs: inputName</a:t>
            </a:r>
            <a:endParaRPr/>
          </a:p>
          <a:p>
            <a:pPr marL="457200" marR="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5436"/>
              </a:buClr>
              <a:buSzPts val="20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 we want to print all the characters in a string.</a:t>
            </a: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5436"/>
              </a:buClr>
              <a:buSzPts val="20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B5436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6" name="Google Shape;28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GB"/>
              <a:t>Another Loop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0" descr="Diagram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0942" y="532966"/>
            <a:ext cx="5404940" cy="5691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/>
          <p:nvPr/>
        </p:nvSpPr>
        <p:spPr>
          <a:xfrm>
            <a:off x="283723" y="362481"/>
            <a:ext cx="11353800" cy="5776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 what does this look like in our code?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inputname = input("please enter a name: ")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 letter i in inputname: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print("the letter is:",letter)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Input: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Please enter a name: john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Output: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The letter is: j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The letter is: o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The letter is: h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Noto Sans Symbols"/>
              <a:buNone/>
            </a:pPr>
            <a:r>
              <a:rPr lang="en-GB" sz="20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The letter is: n</a:t>
            </a:r>
            <a:endParaRPr sz="2000" b="0" i="0" u="none" strike="noStrike" cap="none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"/>
          <p:cNvSpPr txBox="1"/>
          <p:nvPr/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Scratch Equivalent</a:t>
            </a:r>
            <a:endParaRPr sz="4400" b="0" i="0" u="none" strike="noStrike" cap="non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02" name="Google Shape;302;p22"/>
          <p:cNvSpPr txBox="1"/>
          <p:nvPr/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 Loop –</a:t>
            </a:r>
            <a:endParaRPr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GB"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While -  </a:t>
            </a:r>
            <a:endParaRPr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03" name="Google Shape;30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3172" y="1580050"/>
            <a:ext cx="1219306" cy="9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3172" y="2851153"/>
            <a:ext cx="1143099" cy="929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 txBox="1"/>
          <p:nvPr/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GB" sz="4400" b="0" i="0" u="none" strike="noStrike" cap="none">
                <a:solidFill>
                  <a:schemeClr val="dk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Summary</a:t>
            </a:r>
            <a:endParaRPr sz="4400" b="0" i="0" u="none" strike="noStrike" cap="none">
              <a:solidFill>
                <a:schemeClr val="dk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Today you learned about:</a:t>
            </a: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GB" sz="2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While loop.</a:t>
            </a: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GB" sz="2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Better suited for unknown endings like when ‘z’ is entered.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GB" sz="2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Loop ends when the condition is met.</a:t>
            </a:r>
            <a:endParaRPr sz="24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GB" sz="2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For loop.</a:t>
            </a:r>
            <a:endParaRPr sz="28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GB" sz="2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Best for running between two particular numbers or a range or a set number of times.</a:t>
            </a:r>
            <a:endParaRPr sz="24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✔"/>
            </a:pPr>
            <a:r>
              <a:rPr lang="en-GB" sz="22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Best for printing letters from a string.</a:t>
            </a:r>
            <a:endParaRPr sz="2200" b="0" i="0" u="none" strike="noStrike" cap="non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ÀCC Presentation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1037</Words>
  <Application>Microsoft Office PowerPoint</Application>
  <PresentationFormat>Widescreen</PresentationFormat>
  <Paragraphs>163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Libre Franklin Medium</vt:lpstr>
      <vt:lpstr>Courier New</vt:lpstr>
      <vt:lpstr>Arial</vt:lpstr>
      <vt:lpstr>Calibri</vt:lpstr>
      <vt:lpstr>Libre Franklin</vt:lpstr>
      <vt:lpstr>Noto Sans Symbols</vt:lpstr>
      <vt:lpstr>Twentieth Century</vt:lpstr>
      <vt:lpstr>ÀCC Presentation</vt:lpstr>
      <vt:lpstr>Lesson 06</vt:lpstr>
      <vt:lpstr>What is Iteration</vt:lpstr>
      <vt:lpstr>The While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While Loop</vt:lpstr>
      <vt:lpstr>Algorithm</vt:lpstr>
      <vt:lpstr>PowerPoint Presentation</vt:lpstr>
      <vt:lpstr>The For Loop</vt:lpstr>
      <vt:lpstr>The For Loop</vt:lpstr>
      <vt:lpstr>PowerPoint Presentation</vt:lpstr>
      <vt:lpstr>PowerPoint Presentation</vt:lpstr>
      <vt:lpstr>PowerPoint Presentation</vt:lpstr>
      <vt:lpstr>PowerPoint Presentation</vt:lpstr>
      <vt:lpstr>Another Loop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Jim Finn</dc:creator>
  <cp:lastModifiedBy>Jim Finn (Adamstown CC)</cp:lastModifiedBy>
  <cp:revision>1</cp:revision>
  <dcterms:created xsi:type="dcterms:W3CDTF">2023-05-05T08:23:56Z</dcterms:created>
  <dcterms:modified xsi:type="dcterms:W3CDTF">2025-10-08T07:50:41Z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b170d26-a298-4fcb-93e8-f72c55c78d0a_Enabled">
    <vt:lpwstr>true</vt:lpwstr>
  </property>
  <property fmtid="{D5CDD505-2E9C-101B-9397-08002B2CF9AE}" pid="3" name="MSIP_Label_bb170d26-a298-4fcb-93e8-f72c55c78d0a_SetDate">
    <vt:lpwstr>2025-10-08T07:50:06Z</vt:lpwstr>
  </property>
  <property fmtid="{D5CDD505-2E9C-101B-9397-08002B2CF9AE}" pid="4" name="MSIP_Label_bb170d26-a298-4fcb-93e8-f72c55c78d0a_Method">
    <vt:lpwstr>Standard</vt:lpwstr>
  </property>
  <property fmtid="{D5CDD505-2E9C-101B-9397-08002B2CF9AE}" pid="5" name="MSIP_Label_bb170d26-a298-4fcb-93e8-f72c55c78d0a_Name">
    <vt:lpwstr>defa4170-0d19-0005-0004-bc88714345d2</vt:lpwstr>
  </property>
  <property fmtid="{D5CDD505-2E9C-101B-9397-08002B2CF9AE}" pid="6" name="MSIP_Label_bb170d26-a298-4fcb-93e8-f72c55c78d0a_SiteId">
    <vt:lpwstr>3ed6c8f5-4c16-44ad-9eed-60f851834a84</vt:lpwstr>
  </property>
  <property fmtid="{D5CDD505-2E9C-101B-9397-08002B2CF9AE}" pid="7" name="MSIP_Label_bb170d26-a298-4fcb-93e8-f72c55c78d0a_ActionId">
    <vt:lpwstr>0a246ad4-2f34-471d-b121-f556a2018053</vt:lpwstr>
  </property>
  <property fmtid="{D5CDD505-2E9C-101B-9397-08002B2CF9AE}" pid="8" name="MSIP_Label_bb170d26-a298-4fcb-93e8-f72c55c78d0a_ContentBits">
    <vt:lpwstr>0</vt:lpwstr>
  </property>
  <property fmtid="{D5CDD505-2E9C-101B-9397-08002B2CF9AE}" pid="9" name="MSIP_Label_bb170d26-a298-4fcb-93e8-f72c55c78d0a_Tag">
    <vt:lpwstr>10, 3, 0, 1</vt:lpwstr>
  </property>
</Properties>
</file>