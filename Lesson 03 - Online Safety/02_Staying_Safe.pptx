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53"/>
  </p:handoutMasterIdLst>
  <p:sldIdLst>
    <p:sldId id="341" r:id="rId2"/>
    <p:sldId id="256" r:id="rId3"/>
    <p:sldId id="258" r:id="rId4"/>
    <p:sldId id="259" r:id="rId5"/>
    <p:sldId id="274" r:id="rId6"/>
    <p:sldId id="261" r:id="rId7"/>
    <p:sldId id="262" r:id="rId8"/>
    <p:sldId id="282" r:id="rId9"/>
    <p:sldId id="283" r:id="rId10"/>
    <p:sldId id="286" r:id="rId11"/>
    <p:sldId id="287" r:id="rId12"/>
    <p:sldId id="290" r:id="rId13"/>
    <p:sldId id="291" r:id="rId14"/>
    <p:sldId id="289" r:id="rId15"/>
    <p:sldId id="284" r:id="rId16"/>
    <p:sldId id="275" r:id="rId17"/>
    <p:sldId id="276" r:id="rId18"/>
    <p:sldId id="277" r:id="rId19"/>
    <p:sldId id="278" r:id="rId20"/>
    <p:sldId id="319" r:id="rId21"/>
    <p:sldId id="279" r:id="rId22"/>
    <p:sldId id="280" r:id="rId23"/>
    <p:sldId id="281" r:id="rId24"/>
    <p:sldId id="285" r:id="rId25"/>
    <p:sldId id="306" r:id="rId26"/>
    <p:sldId id="292" r:id="rId27"/>
    <p:sldId id="305" r:id="rId28"/>
    <p:sldId id="295" r:id="rId29"/>
    <p:sldId id="297" r:id="rId30"/>
    <p:sldId id="298" r:id="rId31"/>
    <p:sldId id="299" r:id="rId32"/>
    <p:sldId id="300" r:id="rId33"/>
    <p:sldId id="296" r:id="rId34"/>
    <p:sldId id="301" r:id="rId35"/>
    <p:sldId id="302" r:id="rId36"/>
    <p:sldId id="303" r:id="rId37"/>
    <p:sldId id="294" r:id="rId38"/>
    <p:sldId id="308" r:id="rId39"/>
    <p:sldId id="304" r:id="rId40"/>
    <p:sldId id="318" r:id="rId41"/>
    <p:sldId id="309" r:id="rId42"/>
    <p:sldId id="310" r:id="rId43"/>
    <p:sldId id="311" r:id="rId44"/>
    <p:sldId id="312" r:id="rId45"/>
    <p:sldId id="313" r:id="rId46"/>
    <p:sldId id="314" r:id="rId47"/>
    <p:sldId id="315" r:id="rId48"/>
    <p:sldId id="316" r:id="rId49"/>
    <p:sldId id="317" r:id="rId50"/>
    <p:sldId id="267" r:id="rId51"/>
    <p:sldId id="272" r:id="rId52"/>
  </p:sldIdLst>
  <p:sldSz cx="12192000" cy="6858000"/>
  <p:notesSz cx="6858000" cy="9144000"/>
  <p:embeddedFontLst>
    <p:embeddedFont>
      <p:font typeface="OpenDyslexicAlta" panose="00000500000000000000" pitchFamily="50" charset="0"/>
      <p:regular r:id="rId54"/>
      <p:bold r:id="rId55"/>
      <p:italic r:id="rId56"/>
      <p:boldItalic r:id="rId5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570"/>
    <a:srgbClr val="FFFFCC"/>
    <a:srgbClr val="FFFFE1"/>
    <a:srgbClr val="FBE3D6"/>
    <a:srgbClr val="00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3" d="100"/>
          <a:sy n="93" d="100"/>
        </p:scale>
        <p:origin x="1188" y="306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1" d="100"/>
          <a:sy n="81" d="100"/>
        </p:scale>
        <p:origin x="3894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font" Target="fonts/font2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handoutMaster" Target="handoutMasters/handoutMaster1.xml"/><Relationship Id="rId58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font" Target="fonts/font4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35232B-3405-650A-0E6D-919F2AF1E0D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3A1DF0-6A0F-7410-1697-3F364849232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791796-119E-4260-B149-940ECFE008A4}" type="datetimeFigureOut">
              <a:rPr lang="en-GB" smtClean="0"/>
              <a:t>18/06/2025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35B57EA-C3C3-2477-F872-4F48437CE8D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0E89B7-4332-40EF-8A72-D4F2B18E9A2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D8B0B0-A64E-4C20-A968-F17ABCD71ED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87590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45729A-2A02-69F1-5F8E-3A7464A80F62}"/>
              </a:ext>
            </a:extLst>
          </p:cNvPr>
          <p:cNvSpPr/>
          <p:nvPr userDrawn="1"/>
        </p:nvSpPr>
        <p:spPr>
          <a:xfrm>
            <a:off x="1217704" y="782425"/>
            <a:ext cx="9766169" cy="3016577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A2484D-F227-7D83-9D1F-199680CA61A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93127" y="782425"/>
            <a:ext cx="8415323" cy="3016577"/>
          </a:xfrm>
        </p:spPr>
        <p:txBody>
          <a:bodyPr anchor="ctr"/>
          <a:lstStyle>
            <a:lvl1pPr algn="l">
              <a:defRPr sz="6000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8C6A4D3-0153-0D86-80ED-42D75EA9F8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93127" y="4717062"/>
            <a:ext cx="8415322" cy="638666"/>
          </a:xfrm>
        </p:spPr>
        <p:txBody>
          <a:bodyPr anchor="ctr"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B" dirty="0"/>
          </a:p>
        </p:txBody>
      </p:sp>
      <p:pic>
        <p:nvPicPr>
          <p:cNvPr id="4" name="Picture 3" descr="A computer with a crown&#10;&#10;AI-generated content may be incorrect.">
            <a:extLst>
              <a:ext uri="{FF2B5EF4-FFF2-40B4-BE49-F238E27FC236}">
                <a16:creationId xmlns:a16="http://schemas.microsoft.com/office/drawing/2014/main" id="{212E8D17-D5AB-A73D-C158-EBB3A598ED3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3638" y="5493213"/>
            <a:ext cx="1164724" cy="116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274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44926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1985431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44926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pic>
        <p:nvPicPr>
          <p:cNvPr id="3" name="Picture 2" descr="A white rectangular object with black dots&#10;&#10;Description automatically generated with medium confidence">
            <a:extLst>
              <a:ext uri="{FF2B5EF4-FFF2-40B4-BE49-F238E27FC236}">
                <a16:creationId xmlns:a16="http://schemas.microsoft.com/office/drawing/2014/main" id="{31F8124E-EB43-9B25-D02C-9751D130000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1240" y="518310"/>
            <a:ext cx="5229519" cy="549705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50681" y="2503502"/>
            <a:ext cx="3890638" cy="29473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  <a:lvl3pPr marL="914400" indent="0">
              <a:buNone/>
              <a:defRPr/>
            </a:lvl3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42827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ctical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C0A17E-84FF-A9F1-C94E-DFFA41EEE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pic>
        <p:nvPicPr>
          <p:cNvPr id="7" name="Picture 6" descr="A computer with a keyboard&#10;&#10;Description automatically generated">
            <a:extLst>
              <a:ext uri="{FF2B5EF4-FFF2-40B4-BE49-F238E27FC236}">
                <a16:creationId xmlns:a16="http://schemas.microsoft.com/office/drawing/2014/main" id="{D90EB9EB-35CA-B193-CB6D-E1224A36382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523390" y="34649"/>
            <a:ext cx="874081" cy="874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226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aper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pic>
        <p:nvPicPr>
          <p:cNvPr id="4" name="Picture 3" descr="A black pen with a cap&#10;&#10;Description automatically generated">
            <a:extLst>
              <a:ext uri="{FF2B5EF4-FFF2-40B4-BE49-F238E27FC236}">
                <a16:creationId xmlns:a16="http://schemas.microsoft.com/office/drawing/2014/main" id="{23553E00-1685-A73C-C4C2-17F580B6012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507" y="56188"/>
            <a:ext cx="831001" cy="831001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8FBBBB-AC3E-C1DC-7C7D-80D22331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33676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ussion Tas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A5713A-126C-F98F-BE50-718B5BBA6CB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6" name="Picture 15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080783A8-50E8-B90D-6B33-6C93A5F0EB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83179003-490C-809D-D793-312B68D74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/>
            </a:lvl1pPr>
            <a:lvl2pPr>
              <a:buClr>
                <a:srgbClr val="C00000"/>
              </a:buClr>
              <a:buSzPct val="115000"/>
              <a:defRPr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8E8FBBBB-AC3E-C1DC-7C7D-80D22331D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89905"/>
            <a:ext cx="1018733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  <p:pic>
        <p:nvPicPr>
          <p:cNvPr id="5" name="Picture 4" descr="A black and white outline of a couple of speech bubbles&#10;&#10;Description automatically generated">
            <a:extLst>
              <a:ext uri="{FF2B5EF4-FFF2-40B4-BE49-F238E27FC236}">
                <a16:creationId xmlns:a16="http://schemas.microsoft.com/office/drawing/2014/main" id="{EEB8BB81-B4B1-2F82-6670-DB34481D0E1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081" y="0"/>
            <a:ext cx="944871" cy="94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6624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FC063F6-0EE5-AAAC-3CC9-255C98F437FF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10735F-9F0E-A09C-0CF7-00E89B13D8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13992" y="1313890"/>
            <a:ext cx="5635673" cy="4952737"/>
          </a:xfrm>
        </p:spPr>
        <p:txBody>
          <a:bodyPr/>
          <a:lstStyle>
            <a:lvl1pPr marL="0" indent="0">
              <a:buNone/>
              <a:defRPr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B7DE29-8D35-8F81-F97D-29C023AE4E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247" y="1313890"/>
            <a:ext cx="5635673" cy="4952739"/>
          </a:xfrm>
        </p:spPr>
        <p:txBody>
          <a:bodyPr/>
          <a:lstStyle>
            <a:lvl1pPr marL="0" indent="0">
              <a:buNone/>
              <a:defRPr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pic>
        <p:nvPicPr>
          <p:cNvPr id="13" name="Picture 12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8087F63A-1EA4-664A-4548-C3086100B94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4" name="Title 1">
            <a:extLst>
              <a:ext uri="{FF2B5EF4-FFF2-40B4-BE49-F238E27FC236}">
                <a16:creationId xmlns:a16="http://schemas.microsoft.com/office/drawing/2014/main" id="{4A6B3F91-A53F-3877-C3BE-6E52402D80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2" y="198671"/>
            <a:ext cx="11444927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644045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8">
            <a:extLst>
              <a:ext uri="{FF2B5EF4-FFF2-40B4-BE49-F238E27FC236}">
                <a16:creationId xmlns:a16="http://schemas.microsoft.com/office/drawing/2014/main" id="{505C2B80-4160-4381-751B-A34DADCB3B00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54E5830-5177-BEC2-17FC-C20BB5A3B9D6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13992" y="2308190"/>
            <a:ext cx="5635673" cy="3958438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14" name="Content Placeholder 3">
            <a:extLst>
              <a:ext uri="{FF2B5EF4-FFF2-40B4-BE49-F238E27FC236}">
                <a16:creationId xmlns:a16="http://schemas.microsoft.com/office/drawing/2014/main" id="{20C6DAD7-F485-8649-8094-4915CBAD34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3247" y="2308189"/>
            <a:ext cx="5635673" cy="3958439"/>
          </a:xfrm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85800" indent="-228600"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>
              <a:buNone/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6F6873-5066-9CBE-31A3-8947B94AA3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992" y="1313892"/>
            <a:ext cx="5635673" cy="825626"/>
          </a:xfrm>
        </p:spPr>
        <p:txBody>
          <a:bodyPr anchor="ctr">
            <a:no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18A2E8-94EF-3974-C0EC-C97DD5650D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2125" y="1313892"/>
            <a:ext cx="5626795" cy="825626"/>
          </a:xfrm>
        </p:spPr>
        <p:txBody>
          <a:bodyPr anchor="ctr">
            <a:no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8" name="Picture 17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71F6B3FE-228E-A800-6AF6-E4388756599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41280ABC-EFFB-3E34-0F02-FE8B134DEA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2" y="198671"/>
            <a:ext cx="11444927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0865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41A4115-2704-1EF9-388A-425081E54709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A6CEE2C1-575B-AC39-905A-F03B14DEAF1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44DE5943-EE5E-C183-E7D2-83A09533C4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1455452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363396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ack line with a pointy face&#10;&#10;Description automatically generated with medium confidence">
            <a:extLst>
              <a:ext uri="{FF2B5EF4-FFF2-40B4-BE49-F238E27FC236}">
                <a16:creationId xmlns:a16="http://schemas.microsoft.com/office/drawing/2014/main" id="{43D123E1-2520-9FE4-B3F5-4770893FC89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890" y="6384782"/>
            <a:ext cx="711000" cy="336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3212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ithout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44742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lose-up of a document&#10;&#10;Description automatically generated">
            <a:extLst>
              <a:ext uri="{FF2B5EF4-FFF2-40B4-BE49-F238E27FC236}">
                <a16:creationId xmlns:a16="http://schemas.microsoft.com/office/drawing/2014/main" id="{041E3DC7-C04A-F8E9-4E3A-E2935615897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01"/>
          <a:stretch/>
        </p:blipFill>
        <p:spPr>
          <a:xfrm>
            <a:off x="0" y="1255058"/>
            <a:ext cx="12192000" cy="5602941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0B0DCFE-B0FF-4E6E-A7D3-D647C7B06B1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59541" y="5969934"/>
            <a:ext cx="9672918" cy="574675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C00000"/>
                </a:solidFill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5795545D-231C-FDCB-8BDA-55C729529025}"/>
              </a:ext>
            </a:extLst>
          </p:cNvPr>
          <p:cNvSpPr/>
          <p:nvPr userDrawn="1"/>
        </p:nvSpPr>
        <p:spPr>
          <a:xfrm>
            <a:off x="0" y="-11155"/>
            <a:ext cx="12192000" cy="1156375"/>
          </a:xfrm>
          <a:custGeom>
            <a:avLst/>
            <a:gdLst>
              <a:gd name="connsiteX0" fmla="*/ 0 w 12192000"/>
              <a:gd name="connsiteY0" fmla="*/ 0 h 1036620"/>
              <a:gd name="connsiteX1" fmla="*/ 12192000 w 12192000"/>
              <a:gd name="connsiteY1" fmla="*/ 0 h 1036620"/>
              <a:gd name="connsiteX2" fmla="*/ 12192000 w 12192000"/>
              <a:gd name="connsiteY2" fmla="*/ 1036620 h 1036620"/>
              <a:gd name="connsiteX3" fmla="*/ 0 w 12192000"/>
              <a:gd name="connsiteY3" fmla="*/ 1036620 h 1036620"/>
              <a:gd name="connsiteX4" fmla="*/ 0 w 12192000"/>
              <a:gd name="connsiteY4" fmla="*/ 0 h 1036620"/>
              <a:gd name="connsiteX0" fmla="*/ 0 w 12192000"/>
              <a:gd name="connsiteY0" fmla="*/ 0 h 1036627"/>
              <a:gd name="connsiteX1" fmla="*/ 12192000 w 12192000"/>
              <a:gd name="connsiteY1" fmla="*/ 0 h 1036627"/>
              <a:gd name="connsiteX2" fmla="*/ 12192000 w 12192000"/>
              <a:gd name="connsiteY2" fmla="*/ 1036620 h 1036627"/>
              <a:gd name="connsiteX3" fmla="*/ 9516862 w 12192000"/>
              <a:gd name="connsiteY3" fmla="*/ 827901 h 1036627"/>
              <a:gd name="connsiteX4" fmla="*/ 0 w 12192000"/>
              <a:gd name="connsiteY4" fmla="*/ 1036620 h 1036627"/>
              <a:gd name="connsiteX5" fmla="*/ 0 w 12192000"/>
              <a:gd name="connsiteY5" fmla="*/ 0 h 1036627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516862 w 12192000"/>
              <a:gd name="connsiteY3" fmla="*/ 827901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91885"/>
              <a:gd name="connsiteX1" fmla="*/ 12192000 w 12192000"/>
              <a:gd name="connsiteY1" fmla="*/ 0 h 1191885"/>
              <a:gd name="connsiteX2" fmla="*/ 12192000 w 12192000"/>
              <a:gd name="connsiteY2" fmla="*/ 1036620 h 1191885"/>
              <a:gd name="connsiteX3" fmla="*/ 9472474 w 12192000"/>
              <a:gd name="connsiteY3" fmla="*/ 916678 h 1191885"/>
              <a:gd name="connsiteX4" fmla="*/ 2645546 w 12192000"/>
              <a:gd name="connsiteY4" fmla="*/ 1191885 h 1191885"/>
              <a:gd name="connsiteX5" fmla="*/ 0 w 12192000"/>
              <a:gd name="connsiteY5" fmla="*/ 1036620 h 1191885"/>
              <a:gd name="connsiteX6" fmla="*/ 0 w 12192000"/>
              <a:gd name="connsiteY6" fmla="*/ 0 h 1191885"/>
              <a:gd name="connsiteX0" fmla="*/ 0 w 12192000"/>
              <a:gd name="connsiteY0" fmla="*/ 0 h 1156375"/>
              <a:gd name="connsiteX1" fmla="*/ 12192000 w 12192000"/>
              <a:gd name="connsiteY1" fmla="*/ 0 h 1156375"/>
              <a:gd name="connsiteX2" fmla="*/ 12192000 w 12192000"/>
              <a:gd name="connsiteY2" fmla="*/ 1036620 h 1156375"/>
              <a:gd name="connsiteX3" fmla="*/ 9472474 w 12192000"/>
              <a:gd name="connsiteY3" fmla="*/ 916678 h 1156375"/>
              <a:gd name="connsiteX4" fmla="*/ 2654424 w 12192000"/>
              <a:gd name="connsiteY4" fmla="*/ 1156375 h 1156375"/>
              <a:gd name="connsiteX5" fmla="*/ 0 w 12192000"/>
              <a:gd name="connsiteY5" fmla="*/ 1036620 h 1156375"/>
              <a:gd name="connsiteX6" fmla="*/ 0 w 12192000"/>
              <a:gd name="connsiteY6" fmla="*/ 0 h 1156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1156375">
                <a:moveTo>
                  <a:pt x="0" y="0"/>
                </a:moveTo>
                <a:lnTo>
                  <a:pt x="12192000" y="0"/>
                </a:lnTo>
                <a:lnTo>
                  <a:pt x="12192000" y="1036620"/>
                </a:lnTo>
                <a:cubicBezTo>
                  <a:pt x="11258858" y="1038068"/>
                  <a:pt x="10405616" y="915230"/>
                  <a:pt x="9472474" y="916678"/>
                </a:cubicBezTo>
                <a:cubicBezTo>
                  <a:pt x="7244179" y="966985"/>
                  <a:pt x="4882719" y="1106068"/>
                  <a:pt x="2654424" y="1156375"/>
                </a:cubicBezTo>
                <a:lnTo>
                  <a:pt x="0" y="103662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17830B5-81EF-08EE-0D51-086C891343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98671"/>
            <a:ext cx="10515600" cy="763571"/>
          </a:xfrm>
        </p:spPr>
        <p:txBody>
          <a:bodyPr/>
          <a:lstStyle>
            <a:lvl1pPr>
              <a:defRPr b="1"/>
            </a:lvl1pPr>
          </a:lstStyle>
          <a:p>
            <a:r>
              <a:rPr lang="en-GB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88450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916DFD2-1DEA-8D22-4791-DE55801F9A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3993" y="136525"/>
            <a:ext cx="10515600" cy="76357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GB"/>
              <a:t>Click to edit Master title style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DDF7BB-0A96-D666-6992-98AEF317A7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992" y="1313895"/>
            <a:ext cx="11444927" cy="495273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marL="685800" lvl="1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Clr>
                <a:srgbClr val="C00000"/>
              </a:buClr>
              <a:buSzPct val="115000"/>
              <a:buFont typeface="Arial" panose="020B0604020202020204" pitchFamily="34" charset="0"/>
              <a:buChar char="•"/>
            </a:pPr>
            <a:r>
              <a:rPr lang="en-GB" dirty="0"/>
              <a:t>Second level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94F074-8FD9-0C27-50BF-7632BF6FFAB0}"/>
              </a:ext>
            </a:extLst>
          </p:cNvPr>
          <p:cNvSpPr txBox="1"/>
          <p:nvPr userDrawn="1"/>
        </p:nvSpPr>
        <p:spPr>
          <a:xfrm rot="16200000">
            <a:off x="11757747" y="6208302"/>
            <a:ext cx="108395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2"/>
                </a:solidFill>
              </a:rPr>
              <a:t>© Nichola Wilkin Ltd</a:t>
            </a:r>
          </a:p>
        </p:txBody>
      </p:sp>
    </p:spTree>
    <p:extLst>
      <p:ext uri="{BB962C8B-B14F-4D97-AF65-F5344CB8AC3E}">
        <p14:creationId xmlns:p14="http://schemas.microsoft.com/office/powerpoint/2010/main" val="3666903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4" r:id="rId3"/>
    <p:sldLayoutId id="2147483662" r:id="rId4"/>
    <p:sldLayoutId id="2147483663" r:id="rId5"/>
    <p:sldLayoutId id="2147483665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>
          <a:solidFill>
            <a:srgbClr val="002570"/>
          </a:solidFill>
          <a:latin typeface="OpenDyslexicAlta" panose="00000500000000000000" pitchFamily="50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spcAft>
          <a:spcPts val="1800"/>
        </a:spcAft>
        <a:buFont typeface="Arial" panose="020B0604020202020204" pitchFamily="34" charset="0"/>
        <a:buNone/>
        <a:defRPr sz="36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lang="en-GB" sz="3200" kern="1200" dirty="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8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4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spcAft>
          <a:spcPts val="1800"/>
        </a:spcAft>
        <a:buFont typeface="Arial" panose="020B0604020202020204" pitchFamily="34" charset="0"/>
        <a:buChar char="•"/>
        <a:defRPr sz="2400" kern="1200">
          <a:solidFill>
            <a:srgbClr val="002570"/>
          </a:solidFill>
          <a:latin typeface="OpenDyslexicAlt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 userDrawn="1">
          <p15:clr>
            <a:srgbClr val="F26B43"/>
          </p15:clr>
        </p15:guide>
        <p15:guide id="2" pos="118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allaboutexplorers.com/explorers/" TargetMode="Externa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kids.nationalgeographic.com/history/article/inca-civilization" TargetMode="Externa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nicholawilkin.com/terms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3D02A-A8CC-C0F9-0C46-A78F2D96F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Important note for teachers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60A4FE-0454-E4EE-F697-61F40229BF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3" y="1313895"/>
            <a:ext cx="6396382" cy="4952736"/>
          </a:xfrm>
        </p:spPr>
        <p:txBody>
          <a:bodyPr>
            <a:normAutofit/>
          </a:bodyPr>
          <a:lstStyle/>
          <a:p>
            <a:r>
              <a:rPr lang="en-GB" dirty="0"/>
              <a:t>You must copy the </a:t>
            </a:r>
            <a:r>
              <a:rPr lang="en-GB" b="1" dirty="0">
                <a:solidFill>
                  <a:srgbClr val="C00000"/>
                </a:solidFill>
              </a:rPr>
              <a:t>Holiday.jpg </a:t>
            </a:r>
            <a:r>
              <a:rPr lang="en-GB" dirty="0"/>
              <a:t>image into a shared area your students can easily access and download. 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A0D2CC2-BDC6-C68D-7DD7-88F7AAFB4C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6596" y="580456"/>
            <a:ext cx="5735404" cy="5735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2651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C184CF-D39A-F54C-E3BD-2F32E46702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noProof="0" dirty="0"/>
              <a:t>Spotting fake news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C41960-3132-52E1-575A-55A2633DED4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b="1" noProof="0" dirty="0"/>
              <a:t>Unit: </a:t>
            </a:r>
            <a:r>
              <a:rPr lang="en-GB" noProof="0" dirty="0"/>
              <a:t>Staying safe and smart online</a:t>
            </a:r>
          </a:p>
        </p:txBody>
      </p:sp>
    </p:spTree>
    <p:extLst>
      <p:ext uri="{BB962C8B-B14F-4D97-AF65-F5344CB8AC3E}">
        <p14:creationId xmlns:p14="http://schemas.microsoft.com/office/powerpoint/2010/main" val="42038955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02ABF-1189-622D-C67C-DBF8F48DC0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0FE6D7-DD69-1D13-4F3D-238FFCA5B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GB" sz="3600" noProof="0" dirty="0"/>
              <a:t>I can evaluate the credibility of online information using a checklist.</a:t>
            </a:r>
          </a:p>
        </p:txBody>
      </p:sp>
    </p:spTree>
    <p:extLst>
      <p:ext uri="{BB962C8B-B14F-4D97-AF65-F5344CB8AC3E}">
        <p14:creationId xmlns:p14="http://schemas.microsoft.com/office/powerpoint/2010/main" val="6238977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A397C-D2E3-ADCC-840E-27A33C78D1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Keywords</a:t>
            </a:r>
          </a:p>
        </p:txBody>
      </p:sp>
      <p:sp>
        <p:nvSpPr>
          <p:cNvPr id="4" name="Content Placeholder 25">
            <a:extLst>
              <a:ext uri="{FF2B5EF4-FFF2-40B4-BE49-F238E27FC236}">
                <a16:creationId xmlns:a16="http://schemas.microsoft.com/office/drawing/2014/main" id="{57726DDD-8611-BC33-219F-E0BFEE4A07EF}"/>
              </a:ext>
            </a:extLst>
          </p:cNvPr>
          <p:cNvSpPr txBox="1">
            <a:spLocks/>
          </p:cNvSpPr>
          <p:nvPr/>
        </p:nvSpPr>
        <p:spPr>
          <a:xfrm>
            <a:off x="413992" y="1504950"/>
            <a:ext cx="11444927" cy="476168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36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32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b="1" noProof="0" dirty="0">
                <a:solidFill>
                  <a:srgbClr val="C00000"/>
                </a:solidFill>
              </a:rPr>
              <a:t>Fake news </a:t>
            </a:r>
            <a:r>
              <a:rPr lang="en-GB" noProof="0" dirty="0"/>
              <a:t>is false information that is shared online to mislead people or get attention.</a:t>
            </a:r>
          </a:p>
          <a:p>
            <a:pPr marL="0" indent="0">
              <a:buNone/>
            </a:pPr>
            <a:r>
              <a:rPr lang="en-GB" b="1" noProof="0" dirty="0">
                <a:solidFill>
                  <a:srgbClr val="C00000"/>
                </a:solidFill>
              </a:rPr>
              <a:t>Fact-checking</a:t>
            </a:r>
            <a:r>
              <a:rPr lang="en-GB" noProof="0" dirty="0"/>
              <a:t> is when you check if information is true by looking it up on reliable websites or tools.</a:t>
            </a:r>
            <a:endParaRPr lang="en-GB" sz="6600" noProof="0" dirty="0"/>
          </a:p>
          <a:p>
            <a:pPr marL="0" indent="0">
              <a:buNone/>
            </a:pPr>
            <a:r>
              <a:rPr lang="en-GB" b="1" noProof="0" dirty="0">
                <a:solidFill>
                  <a:srgbClr val="C00000"/>
                </a:solidFill>
              </a:rPr>
              <a:t>Reliability </a:t>
            </a:r>
            <a:r>
              <a:rPr lang="en-GB" noProof="0" dirty="0"/>
              <a:t>means how trustworthy or dependable something is, like a website or source of information. A reliable source gives accurate, truthful and well-supported facts.</a:t>
            </a:r>
          </a:p>
        </p:txBody>
      </p:sp>
    </p:spTree>
    <p:extLst>
      <p:ext uri="{BB962C8B-B14F-4D97-AF65-F5344CB8AC3E}">
        <p14:creationId xmlns:p14="http://schemas.microsoft.com/office/powerpoint/2010/main" val="3148982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86AD-244C-8AC1-86E7-3D084F440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What do you already know?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FC761F-680C-8008-5001-6739C23BF3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0" dirty="0"/>
              <a:t>Not everything on the internet is true.</a:t>
            </a:r>
          </a:p>
          <a:p>
            <a:pPr lvl="0"/>
            <a:r>
              <a:rPr lang="en-GB" noProof="0" dirty="0"/>
              <a:t>Some websites and people share information to trick or mislead others.</a:t>
            </a:r>
          </a:p>
          <a:p>
            <a:pPr lvl="0"/>
            <a:r>
              <a:rPr lang="en-GB" noProof="0" dirty="0"/>
              <a:t>You can use clues like spelling mistakes or strange links to spot unreliable sources.</a:t>
            </a:r>
          </a:p>
        </p:txBody>
      </p:sp>
    </p:spTree>
    <p:extLst>
      <p:ext uri="{BB962C8B-B14F-4D97-AF65-F5344CB8AC3E}">
        <p14:creationId xmlns:p14="http://schemas.microsoft.com/office/powerpoint/2010/main" val="3759962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B66E799-D9B4-A6C8-BAFB-22007923A781}"/>
              </a:ext>
            </a:extLst>
          </p:cNvPr>
          <p:cNvSpPr/>
          <p:nvPr/>
        </p:nvSpPr>
        <p:spPr>
          <a:xfrm>
            <a:off x="413992" y="1428750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CD4A36-A530-71B9-E5F7-5307B39D6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DC0B2-9F40-1C8A-C33B-787DDB6DC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Fake news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Identifying reliable vs. unreliable sources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noProof="0" dirty="0"/>
              <a:t>Reverse image search</a:t>
            </a:r>
            <a:endParaRPr lang="en-GB" sz="3600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434938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C15442-47A6-8269-B2FC-CDAB290F7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1238536"/>
          </a:xfrm>
        </p:spPr>
        <p:txBody>
          <a:bodyPr/>
          <a:lstStyle/>
          <a:p>
            <a:r>
              <a:rPr lang="en-GB" noProof="0" dirty="0"/>
              <a:t>In pairs discuss which of these two headlines is real and which one is fake?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F4EDDF-DA3A-23EB-AF41-ED5529DB0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86F546C-84EC-DF90-11FB-10A531586A56}"/>
              </a:ext>
            </a:extLst>
          </p:cNvPr>
          <p:cNvGrpSpPr/>
          <p:nvPr/>
        </p:nvGrpSpPr>
        <p:grpSpPr>
          <a:xfrm>
            <a:off x="863029" y="2753474"/>
            <a:ext cx="4861204" cy="3151003"/>
            <a:chOff x="863029" y="2753474"/>
            <a:chExt cx="4861204" cy="315100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4740BC5-4F53-A503-3510-17E6A67559B3}"/>
                </a:ext>
              </a:extLst>
            </p:cNvPr>
            <p:cNvSpPr/>
            <p:nvPr/>
          </p:nvSpPr>
          <p:spPr>
            <a:xfrm>
              <a:off x="863029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B6F9438-2EB0-2B0F-C200-5A1BB2F941B2}"/>
                </a:ext>
              </a:extLst>
            </p:cNvPr>
            <p:cNvSpPr txBox="1"/>
            <p:nvPr/>
          </p:nvSpPr>
          <p:spPr>
            <a:xfrm>
              <a:off x="952715" y="3811596"/>
              <a:ext cx="4681833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SHOCKING! SCIENTISTS DISCOVER A SECRET PILL THAT MAKES YOU LIVE FOREVER</a:t>
              </a:r>
            </a:p>
            <a:p>
              <a:pPr algn="ctr"/>
              <a:r>
                <a:rPr lang="en-GB" sz="2600" b="1" noProof="0" dirty="0"/>
                <a:t>DOCTORS HATE IT!</a:t>
              </a:r>
            </a:p>
          </p:txBody>
        </p:sp>
        <p:pic>
          <p:nvPicPr>
            <p:cNvPr id="9" name="Picture 8" descr="Generic newspaper banner">
              <a:extLst>
                <a:ext uri="{FF2B5EF4-FFF2-40B4-BE49-F238E27FC236}">
                  <a16:creationId xmlns:a16="http://schemas.microsoft.com/office/drawing/2014/main" id="{19C81302-D24E-1FA7-1C86-824A0A92C302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" t="11636" r="52126" b="75551"/>
            <a:stretch/>
          </p:blipFill>
          <p:spPr bwMode="auto">
            <a:xfrm>
              <a:off x="952715" y="2851914"/>
              <a:ext cx="4681833" cy="93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9959483-5DF6-C6BB-35C2-6736DB5BFFC7}"/>
              </a:ext>
            </a:extLst>
          </p:cNvPr>
          <p:cNvGrpSpPr/>
          <p:nvPr/>
        </p:nvGrpSpPr>
        <p:grpSpPr>
          <a:xfrm>
            <a:off x="6136455" y="2753474"/>
            <a:ext cx="4861204" cy="3143892"/>
            <a:chOff x="6136455" y="2753474"/>
            <a:chExt cx="4861204" cy="3143892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7755BFE-8976-0F3E-9491-FEA7566AFB9A}"/>
                </a:ext>
              </a:extLst>
            </p:cNvPr>
            <p:cNvSpPr/>
            <p:nvPr/>
          </p:nvSpPr>
          <p:spPr>
            <a:xfrm>
              <a:off x="6136455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8936CA2-E5F1-309D-8A41-B876B2462CE4}"/>
                </a:ext>
              </a:extLst>
            </p:cNvPr>
            <p:cNvSpPr txBox="1"/>
            <p:nvPr/>
          </p:nvSpPr>
          <p:spPr>
            <a:xfrm>
              <a:off x="6226141" y="3880441"/>
              <a:ext cx="4681833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DREAMS OF CUP GLORY GIVE BATTLING BRADFORD AN ESCAPE FROM TOUGH TIMES AT HOME</a:t>
              </a:r>
            </a:p>
          </p:txBody>
        </p:sp>
        <p:pic>
          <p:nvPicPr>
            <p:cNvPr id="15" name="Picture 14" descr="The Independent Newspaper banner">
              <a:extLst>
                <a:ext uri="{FF2B5EF4-FFF2-40B4-BE49-F238E27FC236}">
                  <a16:creationId xmlns:a16="http://schemas.microsoft.com/office/drawing/2014/main" id="{1C75C877-EF2C-166C-08EB-8B62827CA19E}"/>
                </a:ext>
                <a:ext uri="{C183D7F6-B498-43B3-948B-1728B52AA6E4}">
                  <adec:decorative xmlns:adec="http://schemas.microsoft.com/office/drawing/2017/decorative" val="0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6834" y="2872889"/>
              <a:ext cx="3873356" cy="91737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8921866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E5FE1-A1BC-4648-4ED9-109713659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3029" y="1940683"/>
            <a:ext cx="4861204" cy="763571"/>
          </a:xfrm>
        </p:spPr>
        <p:txBody>
          <a:bodyPr anchor="b">
            <a:normAutofit lnSpcReduction="10000"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4800" b="1" noProof="0" dirty="0">
                <a:solidFill>
                  <a:srgbClr val="C00000"/>
                </a:solidFill>
              </a:rPr>
              <a:t>Fake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3701AA-C57B-A6EF-2834-CEFC9A4E5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 </a:t>
            </a:r>
            <a:r>
              <a:rPr lang="en-GB" b="0" noProof="0" dirty="0">
                <a:solidFill>
                  <a:srgbClr val="C00000"/>
                </a:solidFill>
              </a:rPr>
              <a:t>ANSWERS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94A7EB2-169C-D597-A6BB-311A4E38DC55}"/>
              </a:ext>
            </a:extLst>
          </p:cNvPr>
          <p:cNvGrpSpPr/>
          <p:nvPr/>
        </p:nvGrpSpPr>
        <p:grpSpPr>
          <a:xfrm>
            <a:off x="6136455" y="2753474"/>
            <a:ext cx="4861204" cy="3143892"/>
            <a:chOff x="6136455" y="2753474"/>
            <a:chExt cx="4861204" cy="314389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DD76634-BAD7-EEE4-C663-238DDECEE04C}"/>
                </a:ext>
              </a:extLst>
            </p:cNvPr>
            <p:cNvSpPr/>
            <p:nvPr/>
          </p:nvSpPr>
          <p:spPr>
            <a:xfrm>
              <a:off x="6136455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40A06833-E660-C174-7411-E7C4798F1DCA}"/>
                </a:ext>
              </a:extLst>
            </p:cNvPr>
            <p:cNvSpPr txBox="1"/>
            <p:nvPr/>
          </p:nvSpPr>
          <p:spPr>
            <a:xfrm>
              <a:off x="6226141" y="3880441"/>
              <a:ext cx="4681833" cy="16927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DREAMS OF CUP GLORY GIVE BATTLING BRADFORD AN ESCAPE FROM TOUGH TIMES AT HOME</a:t>
              </a:r>
            </a:p>
          </p:txBody>
        </p:sp>
        <p:pic>
          <p:nvPicPr>
            <p:cNvPr id="12" name="Picture 11" descr="The Independent Newspaper banner">
              <a:extLst>
                <a:ext uri="{FF2B5EF4-FFF2-40B4-BE49-F238E27FC236}">
                  <a16:creationId xmlns:a16="http://schemas.microsoft.com/office/drawing/2014/main" id="{AD1266A3-A8B2-3185-8231-9168F78AB1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626834" y="2872889"/>
              <a:ext cx="3873356" cy="917374"/>
            </a:xfrm>
            <a:prstGeom prst="rect">
              <a:avLst/>
            </a:prstGeom>
          </p:spPr>
        </p:pic>
      </p:grp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4520E8B2-68D8-6F35-38BD-827E9BBB1788}"/>
              </a:ext>
            </a:extLst>
          </p:cNvPr>
          <p:cNvSpPr txBox="1">
            <a:spLocks/>
          </p:cNvSpPr>
          <p:nvPr/>
        </p:nvSpPr>
        <p:spPr>
          <a:xfrm>
            <a:off x="6136455" y="1933687"/>
            <a:ext cx="4861204" cy="763571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36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Clr>
                <a:srgbClr val="C00000"/>
              </a:buClr>
              <a:buSzPct val="115000"/>
              <a:buFont typeface="Arial" panose="020B0604020202020204" pitchFamily="34" charset="0"/>
              <a:buChar char="•"/>
              <a:defRPr lang="en-GB" sz="32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24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en-GB" sz="4800" b="1" noProof="0" dirty="0">
                <a:solidFill>
                  <a:srgbClr val="C00000"/>
                </a:solidFill>
              </a:rPr>
              <a:t>Real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5B8F9A5-480B-3639-5FCE-3ADA2CFE4D6B}"/>
              </a:ext>
            </a:extLst>
          </p:cNvPr>
          <p:cNvGrpSpPr/>
          <p:nvPr/>
        </p:nvGrpSpPr>
        <p:grpSpPr>
          <a:xfrm>
            <a:off x="863029" y="2753474"/>
            <a:ext cx="4861204" cy="3151003"/>
            <a:chOff x="863029" y="2753474"/>
            <a:chExt cx="4861204" cy="3151003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B717FB-0127-E6D9-3518-E62C262EE6CE}"/>
                </a:ext>
              </a:extLst>
            </p:cNvPr>
            <p:cNvSpPr/>
            <p:nvPr/>
          </p:nvSpPr>
          <p:spPr>
            <a:xfrm>
              <a:off x="863029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0852984-767E-A305-0E66-D0F2BF35BEC0}"/>
                </a:ext>
              </a:extLst>
            </p:cNvPr>
            <p:cNvSpPr txBox="1"/>
            <p:nvPr/>
          </p:nvSpPr>
          <p:spPr>
            <a:xfrm>
              <a:off x="952715" y="3811596"/>
              <a:ext cx="4681833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SHOCKING! SCIENTISTS DISCOVER A SECRET PILL THAT MAKES YOU LIVE FOREVER</a:t>
              </a:r>
            </a:p>
            <a:p>
              <a:pPr algn="ctr"/>
              <a:r>
                <a:rPr lang="en-GB" sz="2600" b="1" noProof="0" dirty="0"/>
                <a:t>DOCTORS HATE IT!</a:t>
              </a:r>
            </a:p>
          </p:txBody>
        </p:sp>
        <p:pic>
          <p:nvPicPr>
            <p:cNvPr id="18" name="Picture 17" descr="Generic newspaper banner">
              <a:extLst>
                <a:ext uri="{FF2B5EF4-FFF2-40B4-BE49-F238E27FC236}">
                  <a16:creationId xmlns:a16="http://schemas.microsoft.com/office/drawing/2014/main" id="{A6DDCCE4-97E1-BF7E-CE62-087E7A0B6B6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" t="11636" r="52126" b="75551"/>
            <a:stretch/>
          </p:blipFill>
          <p:spPr bwMode="auto">
            <a:xfrm>
              <a:off x="952715" y="2851914"/>
              <a:ext cx="4681833" cy="93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2155946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D1D10AF0-41D4-F261-5673-8395CE3E0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3" y="1313895"/>
            <a:ext cx="5863518" cy="4952736"/>
          </a:xfrm>
        </p:spPr>
        <p:txBody>
          <a:bodyPr>
            <a:noAutofit/>
          </a:bodyPr>
          <a:lstStyle/>
          <a:p>
            <a:r>
              <a:rPr lang="en-GB" sz="2800" noProof="0" dirty="0"/>
              <a:t>What clues are there that this is not the real headline?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The claim of living forever is far-fetched and unbelievable.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It uses exaggerated words like “Shocking!” and “Secret </a:t>
            </a:r>
            <a:br>
              <a:rPr lang="en-GB" sz="2800" b="1" noProof="0" dirty="0">
                <a:solidFill>
                  <a:srgbClr val="C00000"/>
                </a:solidFill>
              </a:rPr>
            </a:br>
            <a:r>
              <a:rPr lang="en-GB" sz="2800" b="1" noProof="0" dirty="0">
                <a:solidFill>
                  <a:srgbClr val="C00000"/>
                </a:solidFill>
              </a:rPr>
              <a:t>Pill” to grab attention.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It does not give a reliable source, only “Newspaper”.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D9F64F40-F6AA-0B5F-7D7D-6D279A8F7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DB7253E-B3BF-A3D8-3C96-94544F6F2C36}"/>
              </a:ext>
            </a:extLst>
          </p:cNvPr>
          <p:cNvGrpSpPr/>
          <p:nvPr/>
        </p:nvGrpSpPr>
        <p:grpSpPr>
          <a:xfrm>
            <a:off x="6544638" y="2106203"/>
            <a:ext cx="4861204" cy="3151003"/>
            <a:chOff x="863029" y="2753474"/>
            <a:chExt cx="4861204" cy="3151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BEBB3562-91BA-70FB-FAEA-D159F5CE5399}"/>
                </a:ext>
              </a:extLst>
            </p:cNvPr>
            <p:cNvSpPr/>
            <p:nvPr/>
          </p:nvSpPr>
          <p:spPr>
            <a:xfrm>
              <a:off x="863029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E226F81-79B0-8E0F-8D34-9CACCDA3EA21}"/>
                </a:ext>
              </a:extLst>
            </p:cNvPr>
            <p:cNvSpPr txBox="1"/>
            <p:nvPr/>
          </p:nvSpPr>
          <p:spPr>
            <a:xfrm>
              <a:off x="952715" y="3811596"/>
              <a:ext cx="4681833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SHOCKING! SCIENTISTS DISCOVER A SECRET PILL THAT MAKES YOU LIVE FOREVER</a:t>
              </a:r>
            </a:p>
            <a:p>
              <a:pPr algn="ctr"/>
              <a:r>
                <a:rPr lang="en-GB" sz="2600" b="1" noProof="0" dirty="0"/>
                <a:t>DOCTORS HATE IT!</a:t>
              </a:r>
            </a:p>
          </p:txBody>
        </p:sp>
        <p:pic>
          <p:nvPicPr>
            <p:cNvPr id="9" name="Picture 8" descr="Generic newspaper banner">
              <a:extLst>
                <a:ext uri="{FF2B5EF4-FFF2-40B4-BE49-F238E27FC236}">
                  <a16:creationId xmlns:a16="http://schemas.microsoft.com/office/drawing/2014/main" id="{89BED085-DF10-E9DF-E6AF-DE5336E10F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" t="11636" r="52126" b="75551"/>
            <a:stretch/>
          </p:blipFill>
          <p:spPr bwMode="auto">
            <a:xfrm>
              <a:off x="952715" y="2851914"/>
              <a:ext cx="4681833" cy="93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921755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98F8C3-1713-8A94-F88C-C505AE2E6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347BBEC-1622-9271-842C-DF0E5AAD58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noProof="0" dirty="0">
                <a:solidFill>
                  <a:srgbClr val="C00000"/>
                </a:solidFill>
              </a:rPr>
              <a:t>Fake news </a:t>
            </a:r>
            <a:r>
              <a:rPr lang="en-GB" noProof="0" dirty="0"/>
              <a:t>is false information shared online to mislead, entertain or cause harm.</a:t>
            </a:r>
          </a:p>
          <a:p>
            <a:r>
              <a:rPr lang="en-GB" noProof="0" dirty="0"/>
              <a:t>It might look like real news but is designed to trick people.</a:t>
            </a:r>
          </a:p>
          <a:p>
            <a:r>
              <a:rPr lang="en-GB" noProof="0" dirty="0"/>
              <a:t>So, let’s look more closely at the different reasons why fake news is created</a:t>
            </a:r>
          </a:p>
        </p:txBody>
      </p:sp>
    </p:spTree>
    <p:extLst>
      <p:ext uri="{BB962C8B-B14F-4D97-AF65-F5344CB8AC3E}">
        <p14:creationId xmlns:p14="http://schemas.microsoft.com/office/powerpoint/2010/main" val="327830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D1F4D22-5F1F-C785-0A55-1FD36E994B05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421307" y="2229568"/>
            <a:ext cx="3650218" cy="2373329"/>
          </a:xfrm>
        </p:spPr>
        <p:txBody>
          <a:bodyPr>
            <a:normAutofit/>
          </a:bodyPr>
          <a:lstStyle/>
          <a:p>
            <a:r>
              <a:rPr lang="en-GB" sz="2800" noProof="0" dirty="0"/>
              <a:t>spread false information to confuse people or push an agenda.</a:t>
            </a:r>
          </a:p>
          <a:p>
            <a:endParaRPr lang="en-GB" noProof="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1242BD7-CEC6-A296-ED4E-F1FD6ACFF1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278205" y="2242335"/>
            <a:ext cx="3650218" cy="2373330"/>
          </a:xfrm>
        </p:spPr>
        <p:txBody>
          <a:bodyPr/>
          <a:lstStyle/>
          <a:p>
            <a:r>
              <a:rPr lang="en-GB" noProof="0" dirty="0"/>
              <a:t>create shocking or funny stories to gain attention or go viral.</a:t>
            </a:r>
          </a:p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B152A9-F569-AFE4-BDDA-33DB6E06C9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3993" y="1530848"/>
            <a:ext cx="3650218" cy="608669"/>
          </a:xfrm>
        </p:spPr>
        <p:txBody>
          <a:bodyPr anchor="t"/>
          <a:lstStyle/>
          <a:p>
            <a:r>
              <a:rPr lang="en-GB" sz="3200" noProof="0" dirty="0"/>
              <a:t>To mislead...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6F40945-1BB3-7721-1B58-290F0D5C6C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278205" y="1543615"/>
            <a:ext cx="3644468" cy="608669"/>
          </a:xfrm>
        </p:spPr>
        <p:txBody>
          <a:bodyPr anchor="t"/>
          <a:lstStyle/>
          <a:p>
            <a:r>
              <a:rPr lang="en-GB" sz="3200" noProof="0" dirty="0"/>
              <a:t>To entertain...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A6CA5-8E07-865C-0581-3F725C568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FEC76523-FBCF-56CC-9CBA-5B2EFD6C9DF9}"/>
              </a:ext>
            </a:extLst>
          </p:cNvPr>
          <p:cNvSpPr txBox="1">
            <a:spLocks/>
          </p:cNvSpPr>
          <p:nvPr/>
        </p:nvSpPr>
        <p:spPr>
          <a:xfrm>
            <a:off x="9374163" y="2308189"/>
            <a:ext cx="5635673" cy="3958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5DFF6F66-4F97-90A9-4359-DA56D1C9575C}"/>
              </a:ext>
            </a:extLst>
          </p:cNvPr>
          <p:cNvSpPr txBox="1">
            <a:spLocks/>
          </p:cNvSpPr>
          <p:nvPr/>
        </p:nvSpPr>
        <p:spPr>
          <a:xfrm>
            <a:off x="9383041" y="1313892"/>
            <a:ext cx="5626795" cy="8256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3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lang="en-GB" sz="20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8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</p:txBody>
      </p:sp>
      <p:sp>
        <p:nvSpPr>
          <p:cNvPr id="10" name="Content Placeholder 4">
            <a:extLst>
              <a:ext uri="{FF2B5EF4-FFF2-40B4-BE49-F238E27FC236}">
                <a16:creationId xmlns:a16="http://schemas.microsoft.com/office/drawing/2014/main" id="{B83D7D55-6FCA-512D-28F2-9615C34052E9}"/>
              </a:ext>
            </a:extLst>
          </p:cNvPr>
          <p:cNvSpPr txBox="1">
            <a:spLocks/>
          </p:cNvSpPr>
          <p:nvPr/>
        </p:nvSpPr>
        <p:spPr>
          <a:xfrm>
            <a:off x="8205573" y="2308189"/>
            <a:ext cx="3650218" cy="39584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D68699C4-BA78-E9FC-CACE-E71F36F1E861}"/>
              </a:ext>
            </a:extLst>
          </p:cNvPr>
          <p:cNvSpPr txBox="1">
            <a:spLocks/>
          </p:cNvSpPr>
          <p:nvPr/>
        </p:nvSpPr>
        <p:spPr>
          <a:xfrm>
            <a:off x="8214451" y="1313892"/>
            <a:ext cx="3644468" cy="8256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3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lang="en-GB" sz="20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8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noProof="0" dirty="0"/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2D43B538-9460-C288-D66C-C655ABFC084E}"/>
              </a:ext>
            </a:extLst>
          </p:cNvPr>
          <p:cNvSpPr txBox="1">
            <a:spLocks/>
          </p:cNvSpPr>
          <p:nvPr/>
        </p:nvSpPr>
        <p:spPr>
          <a:xfrm>
            <a:off x="8135103" y="2229568"/>
            <a:ext cx="3650218" cy="23733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2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lang="en-GB" sz="3200" kern="1200" dirty="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20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noProof="0" dirty="0"/>
              <a:t>damage someone’s reputation, spread fear or create arguments.</a:t>
            </a:r>
          </a:p>
          <a:p>
            <a:endParaRPr lang="en-GB" noProof="0" dirty="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261E299-7577-90BE-CB04-01902C6FFB11}"/>
              </a:ext>
            </a:extLst>
          </p:cNvPr>
          <p:cNvSpPr txBox="1">
            <a:spLocks/>
          </p:cNvSpPr>
          <p:nvPr/>
        </p:nvSpPr>
        <p:spPr>
          <a:xfrm>
            <a:off x="8136667" y="1530848"/>
            <a:ext cx="3832726" cy="60866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3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lang="en-GB" sz="20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8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noProof="0" dirty="0"/>
              <a:t>To cause harm...</a:t>
            </a:r>
          </a:p>
        </p:txBody>
      </p:sp>
      <p:sp>
        <p:nvSpPr>
          <p:cNvPr id="14" name="Content Placeholder 7">
            <a:extLst>
              <a:ext uri="{FF2B5EF4-FFF2-40B4-BE49-F238E27FC236}">
                <a16:creationId xmlns:a16="http://schemas.microsoft.com/office/drawing/2014/main" id="{74581A70-CF55-B69D-0C3D-55514882768E}"/>
              </a:ext>
            </a:extLst>
          </p:cNvPr>
          <p:cNvSpPr txBox="1">
            <a:spLocks/>
          </p:cNvSpPr>
          <p:nvPr/>
        </p:nvSpPr>
        <p:spPr>
          <a:xfrm>
            <a:off x="413992" y="4705716"/>
            <a:ext cx="11444927" cy="156091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spcAft>
                <a:spcPts val="1800"/>
              </a:spcAft>
              <a:buFont typeface="Arial" panose="020B0604020202020204" pitchFamily="34" charset="0"/>
              <a:buNone/>
              <a:defRPr sz="3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lang="en-GB" sz="20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8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spcAft>
                <a:spcPts val="1800"/>
              </a:spcAft>
              <a:buFont typeface="Arial" panose="020B0604020202020204" pitchFamily="34" charset="0"/>
              <a:buNone/>
              <a:defRPr sz="1600" b="1" kern="1200">
                <a:solidFill>
                  <a:srgbClr val="002570"/>
                </a:solidFill>
                <a:latin typeface="OpenDyslexicAlta" panose="00000500000000000000" pitchFamily="50" charset="0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3200" b="0" noProof="0" dirty="0"/>
              <a:t>Always think critically about what you read online and consider why somebody has created that content.</a:t>
            </a:r>
          </a:p>
        </p:txBody>
      </p:sp>
    </p:spTree>
    <p:extLst>
      <p:ext uri="{BB962C8B-B14F-4D97-AF65-F5344CB8AC3E}">
        <p14:creationId xmlns:p14="http://schemas.microsoft.com/office/powerpoint/2010/main" val="1011031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/>
      <p:bldP spid="6" grpId="0" build="p"/>
      <p:bldP spid="12" grpId="0"/>
      <p:bldP spid="13" grpId="0"/>
      <p:bldP spid="1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73F214ED-3D06-9FD0-308F-CAF6654E0A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5650E26-55A3-2173-6AB1-856AA162C6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Fake news often spreads quickly because people share the stories.</a:t>
            </a:r>
          </a:p>
          <a:p>
            <a:r>
              <a:rPr lang="en-GB" noProof="0" dirty="0"/>
              <a:t>As more people hear the news and share it further, it reaches a much larger audience in a short amount of time. </a:t>
            </a:r>
          </a:p>
          <a:p>
            <a:r>
              <a:rPr lang="en-GB" noProof="0" dirty="0"/>
              <a:t>This is called “going viral”.</a:t>
            </a:r>
          </a:p>
          <a:p>
            <a:r>
              <a:rPr lang="en-GB" noProof="0" dirty="0"/>
              <a:t>Social media platforms make it even easier for fake news to spread because they promote content that gets a lot of likes, shares and comments, even if it isn’t true. </a:t>
            </a:r>
          </a:p>
          <a:p>
            <a:r>
              <a:rPr lang="en-GB" noProof="0" dirty="0"/>
              <a:t>The more people share without checking, the faster fake news spreads.</a:t>
            </a:r>
          </a:p>
        </p:txBody>
      </p:sp>
    </p:spTree>
    <p:extLst>
      <p:ext uri="{BB962C8B-B14F-4D97-AF65-F5344CB8AC3E}">
        <p14:creationId xmlns:p14="http://schemas.microsoft.com/office/powerpoint/2010/main" val="1906264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16359A-173F-32B2-4C97-3CEB9848C6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Talk in pairs and try to answer the following question:</a:t>
            </a:r>
          </a:p>
          <a:p>
            <a:r>
              <a:rPr lang="en-GB" noProof="0" dirty="0"/>
              <a:t>Why do you think people may share fake news stories they see online?</a:t>
            </a:r>
          </a:p>
          <a:p>
            <a:r>
              <a:rPr lang="en-GB" b="1" noProof="0" dirty="0">
                <a:solidFill>
                  <a:srgbClr val="C00000"/>
                </a:solidFill>
              </a:rPr>
              <a:t>Shocking headlines and dramatic stories make people want to click and share, often without checking if the information is true. </a:t>
            </a:r>
          </a:p>
          <a:p>
            <a:r>
              <a:rPr lang="en-GB" b="1" noProof="0" dirty="0">
                <a:solidFill>
                  <a:srgbClr val="C00000"/>
                </a:solidFill>
              </a:rPr>
              <a:t>Fake news spreads rapidly because it is designed to grab attention and provoke strong emotions. </a:t>
            </a:r>
          </a:p>
          <a:p>
            <a:endParaRPr lang="en-GB" b="1" noProof="0" dirty="0">
              <a:solidFill>
                <a:srgbClr val="C00000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7C7661-0653-BA12-8514-3FA72C43E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</p:spTree>
    <p:extLst>
      <p:ext uri="{BB962C8B-B14F-4D97-AF65-F5344CB8AC3E}">
        <p14:creationId xmlns:p14="http://schemas.microsoft.com/office/powerpoint/2010/main" val="1620168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036D-0F3A-3171-3156-20EDEF138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F8D75E-C9A8-1336-C3F9-2313C575BE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Fake news often plays on emotions like fear, anger or excitement, making people share it faster.</a:t>
            </a:r>
          </a:p>
          <a:p>
            <a:r>
              <a:rPr lang="en-GB" noProof="0" dirty="0"/>
              <a:t>Social media platforms promote content that gets lots of clicks and shares, even if it’s fake.</a:t>
            </a:r>
          </a:p>
        </p:txBody>
      </p:sp>
    </p:spTree>
    <p:extLst>
      <p:ext uri="{BB962C8B-B14F-4D97-AF65-F5344CB8AC3E}">
        <p14:creationId xmlns:p14="http://schemas.microsoft.com/office/powerpoint/2010/main" val="16724618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327583D-44E7-1013-8DF9-F84C2E3E9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BE883E5-4D38-24C2-4841-5D7D0E5E23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79560" y="1313895"/>
            <a:ext cx="5879359" cy="4952736"/>
          </a:xfrm>
        </p:spPr>
        <p:txBody>
          <a:bodyPr/>
          <a:lstStyle/>
          <a:p>
            <a:r>
              <a:rPr lang="en-GB" noProof="0" dirty="0"/>
              <a:t>Sometimes fake news stories may not be so easy to spot as this one and may sound realistic.</a:t>
            </a:r>
          </a:p>
          <a:p>
            <a:r>
              <a:rPr lang="en-GB" noProof="0" dirty="0"/>
              <a:t>But there are still clues you can use to help you identify fake headlines…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1F63F5A4-16F6-7354-38D7-FCC7EC08B405}"/>
              </a:ext>
            </a:extLst>
          </p:cNvPr>
          <p:cNvGrpSpPr/>
          <p:nvPr/>
        </p:nvGrpSpPr>
        <p:grpSpPr>
          <a:xfrm>
            <a:off x="698642" y="2095929"/>
            <a:ext cx="4861204" cy="3151003"/>
            <a:chOff x="863029" y="2753474"/>
            <a:chExt cx="4861204" cy="3151003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1E8E3CC0-77B0-3DF3-BCD3-C170E2F657DA}"/>
                </a:ext>
              </a:extLst>
            </p:cNvPr>
            <p:cNvSpPr/>
            <p:nvPr/>
          </p:nvSpPr>
          <p:spPr>
            <a:xfrm>
              <a:off x="863029" y="2753474"/>
              <a:ext cx="4861204" cy="3143892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F8F909E-B2BE-1899-162B-7B1ED4D093B5}"/>
                </a:ext>
              </a:extLst>
            </p:cNvPr>
            <p:cNvSpPr txBox="1"/>
            <p:nvPr/>
          </p:nvSpPr>
          <p:spPr>
            <a:xfrm>
              <a:off x="952715" y="3811596"/>
              <a:ext cx="4681833" cy="209288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2600" b="1" noProof="0" dirty="0"/>
                <a:t>SHOCKING! SCIENTISTS DISCOVER A SECRET PILL THAT MAKES YOU LIVE FOREVER</a:t>
              </a:r>
            </a:p>
            <a:p>
              <a:pPr algn="ctr"/>
              <a:r>
                <a:rPr lang="en-GB" sz="2600" b="1" noProof="0" dirty="0"/>
                <a:t>DOCTORS HATE IT!</a:t>
              </a:r>
            </a:p>
          </p:txBody>
        </p:sp>
        <p:pic>
          <p:nvPicPr>
            <p:cNvPr id="9" name="Picture 8" descr="Generic newspaper banner">
              <a:extLst>
                <a:ext uri="{FF2B5EF4-FFF2-40B4-BE49-F238E27FC236}">
                  <a16:creationId xmlns:a16="http://schemas.microsoft.com/office/drawing/2014/main" id="{E01599A0-CA17-0D33-5EBD-98F3117FD10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76" t="11636" r="52126" b="75551"/>
            <a:stretch/>
          </p:blipFill>
          <p:spPr bwMode="auto">
            <a:xfrm>
              <a:off x="952715" y="2851914"/>
              <a:ext cx="4681833" cy="93834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11884552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4FDAB-F901-15CC-FCB2-E82BD7CAB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52DC82-6662-7DDF-F1FA-82D704D432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b="1" noProof="0" dirty="0"/>
              <a:t>Check for clickbait words:</a:t>
            </a:r>
          </a:p>
          <a:p>
            <a:r>
              <a:rPr lang="en-GB" noProof="0" dirty="0"/>
              <a:t>Clickbait is when a headline or link is written in a way to grab your attention and make you click on it.</a:t>
            </a:r>
          </a:p>
          <a:p>
            <a:r>
              <a:rPr lang="en-GB" noProof="0" dirty="0"/>
              <a:t>Look out for exaggerated or shocking words like “You Won’t Believe”, “Shocking” or “Exclusive.” These are often used to grab attention.</a:t>
            </a:r>
          </a:p>
        </p:txBody>
      </p:sp>
    </p:spTree>
    <p:extLst>
      <p:ext uri="{BB962C8B-B14F-4D97-AF65-F5344CB8AC3E}">
        <p14:creationId xmlns:p14="http://schemas.microsoft.com/office/powerpoint/2010/main" val="22043563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BA306-E7D0-7F05-5197-88328D0E4E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EF2B94-C201-ED6B-DCCF-DA2647F10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9DAFF9-A5AA-D1B7-F0F8-FBA4D37FC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Look for spelling or grammar mistakes:</a:t>
            </a:r>
          </a:p>
          <a:p>
            <a:r>
              <a:rPr lang="en-GB" noProof="0" dirty="0"/>
              <a:t>Fake headlines may have errors in spelling, punctuation or grammar, which can be a clue that it may not have come from a trusted and respected source. </a:t>
            </a:r>
          </a:p>
        </p:txBody>
      </p:sp>
    </p:spTree>
    <p:extLst>
      <p:ext uri="{BB962C8B-B14F-4D97-AF65-F5344CB8AC3E}">
        <p14:creationId xmlns:p14="http://schemas.microsoft.com/office/powerpoint/2010/main" val="144625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0AF44-9AA5-6284-BB72-B37EB3FF7A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62C63-602F-B1F0-E590-0A863B69D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221B91-6CD2-4BBC-1881-DCF7E0AD6A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Verify the source:</a:t>
            </a:r>
          </a:p>
          <a:p>
            <a:r>
              <a:rPr lang="en-GB" noProof="0" dirty="0"/>
              <a:t>Check if the headline comes from a trusted website or news organisation. If it’s from an unknown or suspicious source, it might be fake.</a:t>
            </a:r>
          </a:p>
        </p:txBody>
      </p:sp>
    </p:spTree>
    <p:extLst>
      <p:ext uri="{BB962C8B-B14F-4D97-AF65-F5344CB8AC3E}">
        <p14:creationId xmlns:p14="http://schemas.microsoft.com/office/powerpoint/2010/main" val="1301372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63CE1C-BF78-557E-FCE8-FAAB3AC4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057BC-87E6-7A3C-B024-1152A9E35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9F198-B674-4FC0-5B49-F4B3E3DBAB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Does it sound too good (or bad) to be true?</a:t>
            </a:r>
          </a:p>
          <a:p>
            <a:r>
              <a:rPr lang="en-GB" noProof="0" dirty="0"/>
              <a:t>If the headline seems unbelievable, overly dramatic or far-fetched, it’s worth </a:t>
            </a:r>
            <a:r>
              <a:rPr lang="en-GB" b="1" noProof="0" dirty="0">
                <a:solidFill>
                  <a:srgbClr val="C00000"/>
                </a:solidFill>
              </a:rPr>
              <a:t>fact-checking</a:t>
            </a:r>
            <a:r>
              <a:rPr lang="en-GB" noProof="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36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42D18-856C-EDA3-CF6F-F918A9F21A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14F33-406B-41A7-6BF9-5E7FB9D8E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Fact-checking means checking whether information is true and accurate. It involves looking at reliable sources to confirm the facts.</a:t>
            </a:r>
          </a:p>
          <a:p>
            <a:r>
              <a:rPr lang="en-GB" noProof="0" dirty="0"/>
              <a:t>For example: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Checking if a news story is reported by trusted websites.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Verifying dates, quotes or images to see if they match the claims.</a:t>
            </a:r>
          </a:p>
          <a:p>
            <a:r>
              <a:rPr lang="en-GB" noProof="0" dirty="0"/>
              <a:t>Fact-checking helps you avoid believing or sharing fake news and ensures the information you use is trustworthy.</a:t>
            </a:r>
          </a:p>
        </p:txBody>
      </p:sp>
    </p:spTree>
    <p:extLst>
      <p:ext uri="{BB962C8B-B14F-4D97-AF65-F5344CB8AC3E}">
        <p14:creationId xmlns:p14="http://schemas.microsoft.com/office/powerpoint/2010/main" val="3904702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EE8A05-D816-98AA-2D20-A83695E5E1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EDB66-1D5C-CA6D-C1CD-DB1E001A76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0C7C8C-CFA6-8EDE-7A21-F97B634EC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Check the date:</a:t>
            </a:r>
          </a:p>
          <a:p>
            <a:r>
              <a:rPr lang="en-GB" noProof="0" dirty="0"/>
              <a:t>Some fake headlines use old or irrelevant news to mislead people and make them think it is new. Make sure the information is current.</a:t>
            </a:r>
          </a:p>
        </p:txBody>
      </p:sp>
    </p:spTree>
    <p:extLst>
      <p:ext uri="{BB962C8B-B14F-4D97-AF65-F5344CB8AC3E}">
        <p14:creationId xmlns:p14="http://schemas.microsoft.com/office/powerpoint/2010/main" val="2659480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ABC74-36FD-EACF-DB5F-24CC6AC72D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D8E6-075D-43F4-7D13-C61F6ADE45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981F2-0243-6BE8-B095-B25E67FF9D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Look for supporting evidence:</a:t>
            </a:r>
          </a:p>
          <a:p>
            <a:r>
              <a:rPr lang="en-GB" noProof="0" dirty="0"/>
              <a:t>Reliable headlines are usually backed by facts, quotes or data. If the headline doesn’t link to evidence, it could be fake.</a:t>
            </a:r>
          </a:p>
        </p:txBody>
      </p:sp>
    </p:spTree>
    <p:extLst>
      <p:ext uri="{BB962C8B-B14F-4D97-AF65-F5344CB8AC3E}">
        <p14:creationId xmlns:p14="http://schemas.microsoft.com/office/powerpoint/2010/main" val="384632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4D3CB-374B-C443-740A-47E1565E6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E80798-DB7B-2506-8735-15728FA02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Fake news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F0A4C2-E57E-AEA7-E2BA-6B79F6603E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1" noProof="0" dirty="0"/>
              <a:t>Beware of emotional manipulation:</a:t>
            </a:r>
          </a:p>
          <a:p>
            <a:r>
              <a:rPr lang="en-GB" noProof="0" dirty="0"/>
              <a:t>Headlines designed to make you angry, scared or overly excited are often fake or misleading.</a:t>
            </a:r>
          </a:p>
        </p:txBody>
      </p:sp>
    </p:spTree>
    <p:extLst>
      <p:ext uri="{BB962C8B-B14F-4D97-AF65-F5344CB8AC3E}">
        <p14:creationId xmlns:p14="http://schemas.microsoft.com/office/powerpoint/2010/main" val="4054840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1E1AD1-9490-CFE3-F585-D191CD4635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noProof="0" dirty="0"/>
              <a:t>Create your own fake news headline that contains one or more clues that it isn’t real. Consider using clickbait words to grab attention, spelling or grammar mistakes, out-of-date news, an unreliable source, emotional manipulation or make it sound too good or bad to believe.</a:t>
            </a:r>
          </a:p>
          <a:p>
            <a:r>
              <a:rPr lang="en-GB" noProof="0" dirty="0"/>
              <a:t>Pass that headline to a partner and ask them to identify the specific clues that give away it is  fake.</a:t>
            </a:r>
          </a:p>
          <a:p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1028E8-D7D2-AF5E-1462-DB9E5138E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1: Fake news</a:t>
            </a:r>
          </a:p>
        </p:txBody>
      </p:sp>
    </p:spTree>
    <p:extLst>
      <p:ext uri="{BB962C8B-B14F-4D97-AF65-F5344CB8AC3E}">
        <p14:creationId xmlns:p14="http://schemas.microsoft.com/office/powerpoint/2010/main" val="3556064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B05454-5A17-8E6B-E175-C8701DC213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5212C11-C330-0D01-6B61-40E0132CDE32}"/>
              </a:ext>
            </a:extLst>
          </p:cNvPr>
          <p:cNvSpPr/>
          <p:nvPr/>
        </p:nvSpPr>
        <p:spPr>
          <a:xfrm>
            <a:off x="413992" y="2312327"/>
            <a:ext cx="11364016" cy="1232257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B00A08-E5C5-FC6E-28A0-6C94AADDB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ACA9D-D12B-502A-9AFC-C3036E17F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Fake news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Identifying reliable vs. unreliable sources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noProof="0" dirty="0"/>
              <a:t>Reverse image search</a:t>
            </a:r>
            <a:endParaRPr lang="en-GB" sz="3600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3029191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C12E628-DD32-2148-B9D1-8A949D345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7999FD6-8EED-889E-64F7-A496C90703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As we have seen, in today’s world, not everything we see online is true. </a:t>
            </a:r>
          </a:p>
          <a:p>
            <a:r>
              <a:rPr lang="en-GB" noProof="0" dirty="0"/>
              <a:t>Some websites and articles are </a:t>
            </a:r>
            <a:r>
              <a:rPr lang="en-GB" b="1" noProof="0" dirty="0">
                <a:solidFill>
                  <a:srgbClr val="C00000"/>
                </a:solidFill>
              </a:rPr>
              <a:t>reliable</a:t>
            </a:r>
            <a:r>
              <a:rPr lang="en-GB" noProof="0" dirty="0"/>
              <a:t> and give us accurate information, while others are misleading or even fake. </a:t>
            </a:r>
          </a:p>
        </p:txBody>
      </p:sp>
    </p:spTree>
    <p:extLst>
      <p:ext uri="{BB962C8B-B14F-4D97-AF65-F5344CB8AC3E}">
        <p14:creationId xmlns:p14="http://schemas.microsoft.com/office/powerpoint/2010/main" val="6455567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CE5F97-366E-6000-8A35-54593398C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E00F5D-7A91-C9E7-710B-62AA50A0EB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It’s important to look for reliable websites because they provide accurate and trustworthy information. </a:t>
            </a:r>
          </a:p>
          <a:p>
            <a:r>
              <a:rPr lang="en-GB" noProof="0" dirty="0"/>
              <a:t>Using unreliable sources can lead to spreading false facts, making poor decisions or being misled by fake news.</a:t>
            </a:r>
          </a:p>
          <a:p>
            <a:r>
              <a:rPr lang="en-GB" noProof="0" dirty="0"/>
              <a:t>Knowing how to tell the difference between a reliable and an unreliable website is an important skill that helps us make good decisions and stay safe online.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26683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D0CA7-A51B-3C79-0106-646378928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2B0CA66-218F-0A54-17CD-A851CCC71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B10BB58E-C836-AF62-60EF-D5A2ED4CF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A website domain is the name of a website, like 'bbc.co.uk,' that helps you find it on the internet.</a:t>
            </a:r>
          </a:p>
          <a:p>
            <a:r>
              <a:rPr lang="en-GB" noProof="0" dirty="0"/>
              <a:t>Reliable domains often end in .gov, .</a:t>
            </a:r>
            <a:r>
              <a:rPr lang="en-GB" noProof="0" dirty="0" err="1"/>
              <a:t>edu</a:t>
            </a:r>
            <a:r>
              <a:rPr lang="en-GB" noProof="0" dirty="0"/>
              <a:t> or .org.</a:t>
            </a:r>
          </a:p>
          <a:p>
            <a:r>
              <a:rPr lang="en-GB" noProof="0" dirty="0"/>
              <a:t>Be cautious of unknown or unusual domains like .</a:t>
            </a:r>
            <a:r>
              <a:rPr lang="en-GB" noProof="0" dirty="0" err="1"/>
              <a:t>xyz</a:t>
            </a:r>
            <a:r>
              <a:rPr lang="en-GB" noProof="0" dirty="0"/>
              <a:t> or .info.</a:t>
            </a:r>
          </a:p>
        </p:txBody>
      </p:sp>
    </p:spTree>
    <p:extLst>
      <p:ext uri="{BB962C8B-B14F-4D97-AF65-F5344CB8AC3E}">
        <p14:creationId xmlns:p14="http://schemas.microsoft.com/office/powerpoint/2010/main" val="801287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4C920-3343-720E-D7B6-D1801E6A2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692FE5-D5AC-7A0E-A947-968265120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0158C1E-D4FE-48E0-FAC5-DB0921D94A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Look for the author’s name and their qualifications.</a:t>
            </a:r>
          </a:p>
          <a:p>
            <a:r>
              <a:rPr lang="en-GB" noProof="0" dirty="0"/>
              <a:t>A reliable source will have an author who is an expert in the topic.</a:t>
            </a:r>
          </a:p>
        </p:txBody>
      </p:sp>
    </p:spTree>
    <p:extLst>
      <p:ext uri="{BB962C8B-B14F-4D97-AF65-F5344CB8AC3E}">
        <p14:creationId xmlns:p14="http://schemas.microsoft.com/office/powerpoint/2010/main" val="280553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BCB5F-BA85-FFA2-3B1E-23AF5300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63CEE53-7C32-7E16-71FB-CC1F411BF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33A06A4-1713-404C-8B5E-680F785CD3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Reliable articles include facts, data or quotes from experts.</a:t>
            </a:r>
          </a:p>
          <a:p>
            <a:r>
              <a:rPr lang="en-GB" noProof="0" dirty="0"/>
              <a:t>Check if the article links to other trustworthy sources.</a:t>
            </a:r>
          </a:p>
        </p:txBody>
      </p:sp>
    </p:spTree>
    <p:extLst>
      <p:ext uri="{BB962C8B-B14F-4D97-AF65-F5344CB8AC3E}">
        <p14:creationId xmlns:p14="http://schemas.microsoft.com/office/powerpoint/2010/main" val="1012245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34F052-5C76-7EF6-C478-FC4209F66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B7E9879-8CA9-A1D5-824C-C1641828C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C97F1D6-1380-925F-471B-0B80108F8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There are lots of clues you can look for to help you spot websites that may be unreliable.</a:t>
            </a:r>
          </a:p>
          <a:p>
            <a:r>
              <a:rPr lang="en-GB" noProof="0" dirty="0"/>
              <a:t>Clickbait headlines that are exaggerated or shocking, like “You Won’t Believe This!”</a:t>
            </a:r>
          </a:p>
          <a:p>
            <a:r>
              <a:rPr lang="en-GB" noProof="0" dirty="0"/>
              <a:t>Reliable sources are carefully edited, while fake ones often have mistakes.</a:t>
            </a:r>
          </a:p>
        </p:txBody>
      </p:sp>
    </p:spTree>
    <p:extLst>
      <p:ext uri="{BB962C8B-B14F-4D97-AF65-F5344CB8AC3E}">
        <p14:creationId xmlns:p14="http://schemas.microsoft.com/office/powerpoint/2010/main" val="33584317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F92413-255A-8BCC-B01F-643FF47ED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F03C187-1CDB-CC81-526C-E0862AFC39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0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7183BD-FEBC-3F5D-ECAB-F5ACCD6AF1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Unreliable articles might use words to make readers angry, scared or excited.</a:t>
            </a:r>
          </a:p>
          <a:p>
            <a:r>
              <a:rPr lang="en-GB" noProof="0" dirty="0"/>
              <a:t>Look for neutral and factual language instead.</a:t>
            </a:r>
          </a:p>
          <a:p>
            <a:r>
              <a:rPr lang="en-GB" noProof="0" dirty="0"/>
              <a:t>If there’s no author or no sources listed, the article might not be trustworthy.</a:t>
            </a:r>
          </a:p>
        </p:txBody>
      </p:sp>
    </p:spTree>
    <p:extLst>
      <p:ext uri="{BB962C8B-B14F-4D97-AF65-F5344CB8AC3E}">
        <p14:creationId xmlns:p14="http://schemas.microsoft.com/office/powerpoint/2010/main" val="788827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D04993A-C083-E69D-6CA3-529976FB7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B0049A2-FDAC-DE96-8FFA-2924EE4EDD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45915"/>
            <a:ext cx="11444927" cy="4920716"/>
          </a:xfrm>
        </p:spPr>
        <p:txBody>
          <a:bodyPr>
            <a:normAutofit/>
          </a:bodyPr>
          <a:lstStyle/>
          <a:p>
            <a:r>
              <a:rPr lang="en-GB" noProof="0" dirty="0"/>
              <a:t>Have a look at this website:</a:t>
            </a:r>
          </a:p>
          <a:p>
            <a:pPr algn="ctr"/>
            <a:r>
              <a:rPr lang="en-GB" b="1" noProof="0" dirty="0"/>
              <a:t>All About Explorers</a:t>
            </a:r>
            <a:br>
              <a:rPr lang="en-GB" noProof="0" dirty="0"/>
            </a:br>
            <a:r>
              <a:rPr lang="en-GB" sz="3200" noProof="0" dirty="0">
                <a:hlinkClick r:id="rId2"/>
              </a:rPr>
              <a:t>https://www.allaboutexplorers.com/explorers/</a:t>
            </a:r>
            <a:endParaRPr lang="en-GB" sz="3200" noProof="0" dirty="0"/>
          </a:p>
          <a:p>
            <a:r>
              <a:rPr lang="en-GB" noProof="0" dirty="0"/>
              <a:t>Decide if it is a reliable or unreliable source and explain to a partner why you believe that.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15181906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92231-D1D3-1714-FD51-744064BC2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EDAD73-B461-9D20-6DA0-C331B942C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noProof="0" dirty="0"/>
              <a:t>Identifying reliable vs. unreliable sources </a:t>
            </a:r>
            <a:r>
              <a:rPr lang="en-GB" sz="2800" noProof="0" dirty="0">
                <a:solidFill>
                  <a:srgbClr val="C00000"/>
                </a:solidFill>
              </a:rPr>
              <a:t>ANSWERS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99F00D2-83B7-26BD-037B-96EDBFB28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45915"/>
            <a:ext cx="11444927" cy="4920716"/>
          </a:xfrm>
        </p:spPr>
        <p:txBody>
          <a:bodyPr>
            <a:normAutofit fontScale="92500" lnSpcReduction="20000"/>
          </a:bodyPr>
          <a:lstStyle/>
          <a:p>
            <a:r>
              <a:rPr lang="en-GB" sz="2800" b="1" noProof="0" dirty="0">
                <a:solidFill>
                  <a:srgbClr val="C00000"/>
                </a:solidFill>
              </a:rPr>
              <a:t>It is an unreliable website.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The website includes false facts about famous explorers, such as incorrect dates, events and achievements.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The site does not provide details about the authors or their qualifications, which raises questions about its trustworthiness.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The articles do not reference credible sources or provide links to evidence supporting the claims made.</a:t>
            </a:r>
          </a:p>
          <a:p>
            <a:r>
              <a:rPr lang="en-GB" sz="2800" b="1" noProof="0" dirty="0">
                <a:solidFill>
                  <a:srgbClr val="C00000"/>
                </a:solidFill>
              </a:rPr>
              <a:t>If you’d explore the “About” section, you’ll see that it openly states the site is designed to teach critical thinking and is not a genuine resource.</a:t>
            </a:r>
          </a:p>
          <a:p>
            <a:endParaRPr lang="en-GB" sz="2800" noProof="0" dirty="0"/>
          </a:p>
        </p:txBody>
      </p:sp>
    </p:spTree>
    <p:extLst>
      <p:ext uri="{BB962C8B-B14F-4D97-AF65-F5344CB8AC3E}">
        <p14:creationId xmlns:p14="http://schemas.microsoft.com/office/powerpoint/2010/main" val="3921497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A458A0-A9E6-0143-F940-3CE672CDEA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DE1CF52-FD9E-B87B-5B22-33A149E25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noProof="0" dirty="0"/>
              <a:t>Identifying reliable vs. unreliable sources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4C0612C-DA8D-1F28-E485-7848B77F0C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45915"/>
            <a:ext cx="11444927" cy="4920716"/>
          </a:xfrm>
        </p:spPr>
        <p:txBody>
          <a:bodyPr>
            <a:normAutofit/>
          </a:bodyPr>
          <a:lstStyle/>
          <a:p>
            <a:r>
              <a:rPr lang="en-GB" noProof="0" dirty="0"/>
              <a:t>Have a look at this website:</a:t>
            </a:r>
          </a:p>
          <a:p>
            <a:pPr algn="ctr"/>
            <a:r>
              <a:rPr lang="en-GB" b="1" noProof="0" dirty="0"/>
              <a:t>Inca civilization</a:t>
            </a:r>
            <a:br>
              <a:rPr lang="en-GB" noProof="0" dirty="0"/>
            </a:br>
            <a:r>
              <a:rPr lang="en-GB" sz="3200" noProof="0" dirty="0">
                <a:hlinkClick r:id="rId2"/>
              </a:rPr>
              <a:t>https://kids.nationalgeographic.com/history/article/inca-civilization</a:t>
            </a:r>
            <a:endParaRPr lang="en-GB" sz="3200" noProof="0" dirty="0"/>
          </a:p>
          <a:p>
            <a:r>
              <a:rPr lang="en-GB" noProof="0" dirty="0"/>
              <a:t>Decide if it is a reliable or unreliable source and explain to a partner why you believe that.</a:t>
            </a:r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4548553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5028E-94AF-61B2-6F51-39582A639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55FD7CC-9C11-0846-FFEE-D1A86657F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2800" noProof="0" dirty="0"/>
              <a:t>Identifying reliable vs. unreliable sources </a:t>
            </a:r>
            <a:r>
              <a:rPr lang="en-GB" sz="2800" noProof="0" dirty="0">
                <a:solidFill>
                  <a:srgbClr val="C00000"/>
                </a:solidFill>
              </a:rPr>
              <a:t>ANSWERS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C60DE5-D23F-6F33-A3FB-622CC4DA98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45915"/>
            <a:ext cx="11444927" cy="4920716"/>
          </a:xfrm>
        </p:spPr>
        <p:txBody>
          <a:bodyPr>
            <a:normAutofit fontScale="85000" lnSpcReduction="20000"/>
          </a:bodyPr>
          <a:lstStyle/>
          <a:p>
            <a:r>
              <a:rPr lang="en-GB" sz="2800" b="1" noProof="0" dirty="0">
                <a:solidFill>
                  <a:srgbClr val="C00000"/>
                </a:solidFill>
              </a:rPr>
              <a:t>It is a reliable website.</a:t>
            </a:r>
          </a:p>
          <a:p>
            <a:pPr marL="0" lvl="1" indent="0" algn="l">
              <a:buNone/>
            </a:pPr>
            <a:r>
              <a:rPr lang="en-GB" sz="2900" b="1" noProof="0" dirty="0">
                <a:solidFill>
                  <a:srgbClr val="C00000"/>
                </a:solidFill>
              </a:rPr>
              <a:t>The website looks professional and well-maintained, with no spelling or grammar mistakes.</a:t>
            </a:r>
          </a:p>
          <a:p>
            <a:pPr marL="0" lvl="1" indent="0" algn="l">
              <a:buNone/>
            </a:pPr>
            <a:r>
              <a:rPr lang="en-GB" sz="2900" b="1" noProof="0" dirty="0">
                <a:solidFill>
                  <a:srgbClr val="C00000"/>
                </a:solidFill>
              </a:rPr>
              <a:t>The National Geographic logo is prominently displayed, which is a sign of credibility.</a:t>
            </a:r>
          </a:p>
          <a:p>
            <a:pPr marL="0" lvl="1" indent="0" algn="l">
              <a:buNone/>
            </a:pPr>
            <a:r>
              <a:rPr lang="en-GB" sz="2900" b="1" noProof="0" dirty="0">
                <a:solidFill>
                  <a:srgbClr val="C00000"/>
                </a:solidFill>
              </a:rPr>
              <a:t>The headline is clear and factual: “Inca Civilization.” It doesn’t use exaggerated or shocking language.</a:t>
            </a:r>
          </a:p>
          <a:p>
            <a:pPr marL="0" lvl="1" indent="0" algn="l">
              <a:buNone/>
            </a:pPr>
            <a:r>
              <a:rPr lang="en-GB" sz="2900" b="1" noProof="0" dirty="0">
                <a:solidFill>
                  <a:srgbClr val="C00000"/>
                </a:solidFill>
              </a:rPr>
              <a:t>The article provides specific details about the Inca civilisation, such as their achievements and way of life, which can be cross-checked with other trusted sources.</a:t>
            </a:r>
          </a:p>
          <a:p>
            <a:pPr marL="0" lvl="1" indent="0" algn="l">
              <a:buNone/>
            </a:pPr>
            <a:r>
              <a:rPr lang="en-GB" sz="2900" b="1" noProof="0" dirty="0">
                <a:solidFill>
                  <a:srgbClr val="C00000"/>
                </a:solidFill>
              </a:rPr>
              <a:t>The website has minimal advertising, making it clear that the focus is on education rather than profit.</a:t>
            </a:r>
          </a:p>
        </p:txBody>
      </p:sp>
    </p:spTree>
    <p:extLst>
      <p:ext uri="{BB962C8B-B14F-4D97-AF65-F5344CB8AC3E}">
        <p14:creationId xmlns:p14="http://schemas.microsoft.com/office/powerpoint/2010/main" val="2190527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7733D-C93F-5809-92BF-7EF0D0B0B4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CBC0BA2-3B37-2588-887D-9D89607AA3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Which of these are clues of reliability? </a:t>
            </a:r>
          </a:p>
          <a:p>
            <a:r>
              <a:rPr lang="en-GB" noProof="0" dirty="0"/>
              <a:t>The author’s name is provided.</a:t>
            </a:r>
          </a:p>
          <a:p>
            <a:r>
              <a:rPr lang="en-GB" noProof="0" dirty="0"/>
              <a:t>The article uses a clickbait headline.</a:t>
            </a:r>
          </a:p>
          <a:p>
            <a:r>
              <a:rPr lang="en-GB" noProof="0" dirty="0"/>
              <a:t>Clear evidence, like data or quotes, is included.</a:t>
            </a:r>
          </a:p>
          <a:p>
            <a:r>
              <a:rPr lang="en-GB" noProof="0" dirty="0"/>
              <a:t>The website has lots of spelling mistakes.</a:t>
            </a:r>
          </a:p>
          <a:p>
            <a:r>
              <a:rPr lang="en-GB" noProof="0" dirty="0"/>
              <a:t>The website’s domain is unusual, like .</a:t>
            </a:r>
            <a:r>
              <a:rPr lang="en-GB" noProof="0" dirty="0" err="1"/>
              <a:t>xyz</a:t>
            </a:r>
            <a:r>
              <a:rPr lang="en-GB" noProof="0" dirty="0"/>
              <a:t>.</a:t>
            </a:r>
          </a:p>
          <a:p>
            <a:r>
              <a:rPr lang="en-GB" noProof="0" dirty="0"/>
              <a:t>The article links to trusted sources.</a:t>
            </a:r>
          </a:p>
          <a:p>
            <a:endParaRPr lang="en-GB" noProof="0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C1574F0-E28E-05C5-93B4-84BE406E1E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noProof="0" dirty="0"/>
              <a:t>Identifying reliable vs. unreliable sources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17ABE7C-0D51-32D2-6CB5-7597682DA379}"/>
              </a:ext>
            </a:extLst>
          </p:cNvPr>
          <p:cNvSpPr txBox="1"/>
          <p:nvPr/>
        </p:nvSpPr>
        <p:spPr>
          <a:xfrm>
            <a:off x="7715891" y="1756880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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589A70-1ACC-C834-6231-786CD94CA51E}"/>
              </a:ext>
            </a:extLst>
          </p:cNvPr>
          <p:cNvSpPr txBox="1"/>
          <p:nvPr/>
        </p:nvSpPr>
        <p:spPr>
          <a:xfrm>
            <a:off x="8638853" y="2422988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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12AACB-1C0F-B8FD-1F51-DCB78F08F204}"/>
              </a:ext>
            </a:extLst>
          </p:cNvPr>
          <p:cNvSpPr txBox="1"/>
          <p:nvPr/>
        </p:nvSpPr>
        <p:spPr>
          <a:xfrm>
            <a:off x="11175687" y="3161015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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7D55856-A367-F2CF-CB90-D0C46B14BAD9}"/>
              </a:ext>
            </a:extLst>
          </p:cNvPr>
          <p:cNvSpPr txBox="1"/>
          <p:nvPr/>
        </p:nvSpPr>
        <p:spPr>
          <a:xfrm>
            <a:off x="10005316" y="3883144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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A968CC-9A4B-B9B7-5FE4-4FA3F1C5E44F}"/>
              </a:ext>
            </a:extLst>
          </p:cNvPr>
          <p:cNvSpPr txBox="1"/>
          <p:nvPr/>
        </p:nvSpPr>
        <p:spPr>
          <a:xfrm>
            <a:off x="10061355" y="4576869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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FBE1020-205B-D299-FFE2-60BDDA0B7C75}"/>
              </a:ext>
            </a:extLst>
          </p:cNvPr>
          <p:cNvSpPr txBox="1"/>
          <p:nvPr/>
        </p:nvSpPr>
        <p:spPr>
          <a:xfrm>
            <a:off x="8556660" y="5301600"/>
            <a:ext cx="13664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400" b="1" noProof="0" dirty="0">
                <a:solidFill>
                  <a:srgbClr val="C00000"/>
                </a:solidFill>
                <a:sym typeface="Wingdings" panose="05000000000000000000" pitchFamily="2" charset="2"/>
              </a:rPr>
              <a:t></a:t>
            </a:r>
            <a:endParaRPr lang="en-GB" sz="5400" b="1" noProof="0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397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6" grpId="0"/>
      <p:bldP spid="7" grpId="0"/>
      <p:bldP spid="8" grpId="0"/>
      <p:bldP spid="9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F0938C-8669-810A-E6C2-980D7EC02A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00BF02DC-2CA1-1843-3DAB-4C82E3A879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Write 3 tips to help someone decide if a website is reliable. </a:t>
            </a:r>
          </a:p>
          <a:p>
            <a:r>
              <a:rPr lang="en-GB" noProof="0" dirty="0"/>
              <a:t>Each tip should be short (1-2 sentences) and easy to understand.</a:t>
            </a:r>
          </a:p>
          <a:p>
            <a:r>
              <a:rPr lang="en-GB" noProof="0" dirty="0"/>
              <a:t>Use examples to make your tips clearer, e.g., “A trusted website might ...”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8E9EC9E-3F91-285D-237B-E35D753C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3200" noProof="0" dirty="0"/>
              <a:t>2: Identifying reliable vs. unreliable sources</a:t>
            </a:r>
          </a:p>
        </p:txBody>
      </p:sp>
    </p:spTree>
    <p:extLst>
      <p:ext uri="{BB962C8B-B14F-4D97-AF65-F5344CB8AC3E}">
        <p14:creationId xmlns:p14="http://schemas.microsoft.com/office/powerpoint/2010/main" val="400245979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29DFA-9E7A-CDAB-EDC3-B55093ED1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3982A34-DA2D-8027-3BD9-C1469EFBC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742950" indent="-742950">
              <a:buFont typeface="+mj-lt"/>
              <a:buAutoNum type="arabicPeriod"/>
            </a:pPr>
            <a:r>
              <a:rPr lang="en-GB" b="1" noProof="0" dirty="0">
                <a:solidFill>
                  <a:srgbClr val="C00000"/>
                </a:solidFill>
              </a:rPr>
              <a:t>Check if the website has an author who is an expert, like a scientist or teacher.</a:t>
            </a:r>
          </a:p>
          <a:p>
            <a:pPr marL="742950" indent="-742950">
              <a:buFont typeface="+mj-lt"/>
              <a:buAutoNum type="arabicPeriod"/>
            </a:pPr>
            <a:r>
              <a:rPr lang="en-GB" b="1" noProof="0" dirty="0">
                <a:solidFill>
                  <a:srgbClr val="C00000"/>
                </a:solidFill>
              </a:rPr>
              <a:t>Avoid websites with clickbait headlines like “You Won’t Believe This!”</a:t>
            </a:r>
          </a:p>
          <a:p>
            <a:pPr marL="742950" indent="-742950">
              <a:buFont typeface="+mj-lt"/>
              <a:buAutoNum type="arabicPeriod"/>
            </a:pPr>
            <a:r>
              <a:rPr lang="en-GB" b="1" noProof="0" dirty="0">
                <a:solidFill>
                  <a:srgbClr val="C00000"/>
                </a:solidFill>
              </a:rPr>
              <a:t>Look for facts and evidence, like links to other trusted sources of data.</a:t>
            </a:r>
          </a:p>
          <a:p>
            <a:r>
              <a:rPr lang="en-GB" noProof="0" dirty="0"/>
              <a:t>You may have written other tips, such as looking at the website domain, checking the date or noticing spelling mistakes. 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D0F046-B842-294A-9C64-DF9C1C987D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589" y="209583"/>
            <a:ext cx="10187330" cy="763571"/>
          </a:xfrm>
        </p:spPr>
        <p:txBody>
          <a:bodyPr/>
          <a:lstStyle/>
          <a:p>
            <a:r>
              <a:rPr lang="en-GB" sz="2800" noProof="0" dirty="0"/>
              <a:t>2: Identifying reliable vs. unreliable sources </a:t>
            </a:r>
            <a:r>
              <a:rPr lang="en-GB" sz="2800" noProof="0" dirty="0">
                <a:solidFill>
                  <a:srgbClr val="C00000"/>
                </a:solidFill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006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F69D53-CFDC-D5A0-44BB-45C9065A9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F3A5C61-90CD-CFE0-9B54-6B3E260FCA2E}"/>
              </a:ext>
            </a:extLst>
          </p:cNvPr>
          <p:cNvSpPr/>
          <p:nvPr/>
        </p:nvSpPr>
        <p:spPr>
          <a:xfrm>
            <a:off x="413992" y="3658243"/>
            <a:ext cx="11364016" cy="763571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610E4-42B3-701E-C416-BA6941BFF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Steps to success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99115-DBA2-0EFA-9642-A91286846D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581149"/>
            <a:ext cx="10749308" cy="4685481"/>
          </a:xfrm>
        </p:spPr>
        <p:txBody>
          <a:bodyPr/>
          <a:lstStyle/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Fake news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sz="3600" noProof="0" dirty="0"/>
              <a:t>Identifying reliable vs. unreliable sources</a:t>
            </a:r>
          </a:p>
          <a:p>
            <a:pPr marL="809625" indent="-723900">
              <a:buClr>
                <a:srgbClr val="C00000"/>
              </a:buClr>
              <a:buSzPct val="107000"/>
              <a:buFont typeface="+mj-lt"/>
              <a:buAutoNum type="arabicPeriod"/>
            </a:pPr>
            <a:r>
              <a:rPr lang="en-GB" noProof="0" dirty="0"/>
              <a:t>Reverse image search</a:t>
            </a:r>
            <a:endParaRPr lang="en-GB" sz="3600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756239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6E28440-6F80-6690-4B30-0AD6D019AB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60F47B0-43D5-A591-938A-5E9FA84F93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GB" noProof="0" dirty="0"/>
              <a:t>Metadata is like a “hidden label” that tells you more about a file, like a photo, document or video. It’s extra information stored with the file that you don’t always see right away.</a:t>
            </a:r>
          </a:p>
          <a:p>
            <a:r>
              <a:rPr lang="en-GB" noProof="0" dirty="0"/>
              <a:t>When you take a photo on your phone, metadata might include: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When the photo was taken (date and time).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Where it was taken (location if GPS is on).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What camera or phone was used to take it.</a:t>
            </a:r>
          </a:p>
        </p:txBody>
      </p:sp>
    </p:spTree>
    <p:extLst>
      <p:ext uri="{BB962C8B-B14F-4D97-AF65-F5344CB8AC3E}">
        <p14:creationId xmlns:p14="http://schemas.microsoft.com/office/powerpoint/2010/main" val="1539040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803862-ED85-34CC-0E0C-0773630E92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267823B-ED21-2AF0-0B6C-BA9C295D93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54DD50E-48F7-C089-7789-25DFFDA98D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Reverse image search is a useful fact-checking tool that helps you verify where an image comes from and whether it matches the claims being made.</a:t>
            </a:r>
          </a:p>
          <a:p>
            <a:r>
              <a:rPr lang="en-GB" noProof="0" dirty="0"/>
              <a:t>Reverse image </a:t>
            </a:r>
            <a:r>
              <a:rPr lang="en-GB" noProof="0" dirty="0" err="1"/>
              <a:t>searche</a:t>
            </a:r>
            <a:r>
              <a:rPr lang="en-GB" noProof="0" dirty="0"/>
              <a:t> involves analysing an image to uncover its origin, context and authenticity. </a:t>
            </a:r>
          </a:p>
          <a:p>
            <a:r>
              <a:rPr lang="en-GB" noProof="0" dirty="0"/>
              <a:t>This includes looking at the metadata, using reverse image search tools and examining clues within the image itself.</a:t>
            </a:r>
          </a:p>
        </p:txBody>
      </p:sp>
    </p:spTree>
    <p:extLst>
      <p:ext uri="{BB962C8B-B14F-4D97-AF65-F5344CB8AC3E}">
        <p14:creationId xmlns:p14="http://schemas.microsoft.com/office/powerpoint/2010/main" val="726274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8083F0-F6D6-2A99-6153-EA24D129D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D597D34-811E-C199-D403-13BCC4DA8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noProof="0" dirty="0"/>
              <a:t>How can this help us spot fake news?</a:t>
            </a:r>
          </a:p>
          <a:p>
            <a:r>
              <a:rPr lang="en-GB" b="1" noProof="0" dirty="0">
                <a:solidFill>
                  <a:srgbClr val="C00000"/>
                </a:solidFill>
              </a:rPr>
              <a:t>Helps identify if an image has been altered or taken out of context.</a:t>
            </a:r>
          </a:p>
          <a:p>
            <a:r>
              <a:rPr lang="en-GB" b="1" noProof="0" dirty="0">
                <a:solidFill>
                  <a:srgbClr val="C00000"/>
                </a:solidFill>
              </a:rPr>
              <a:t>Ensures the image is from a reliable source and hasn't been manipulated.</a:t>
            </a:r>
          </a:p>
          <a:p>
            <a:r>
              <a:rPr lang="en-GB" b="1" noProof="0" dirty="0">
                <a:solidFill>
                  <a:srgbClr val="C00000"/>
                </a:solidFill>
              </a:rPr>
              <a:t>Provides insights into where and why the image was originally used.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B7FF1EA-CA2F-D1FF-0B7A-47EC31CDE5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</p:spTree>
    <p:extLst>
      <p:ext uri="{BB962C8B-B14F-4D97-AF65-F5344CB8AC3E}">
        <p14:creationId xmlns:p14="http://schemas.microsoft.com/office/powerpoint/2010/main" val="316984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E1A84-2579-132F-C68E-3C3A16F0B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CBD219-B5DD-0BC8-1F08-0C3F37206C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A photo of a shark on a flooded street might look real but a reverse image search can reveal it’s a digitally altered image combining a shark and a flood photo.</a:t>
            </a:r>
          </a:p>
          <a:p>
            <a:r>
              <a:rPr lang="en-GB" noProof="0" dirty="0"/>
              <a:t>You may see a photo in a news story showing a huge crowd at a protest. The caption says, "This protest happened yesterday and thousands of people joined!"</a:t>
            </a:r>
          </a:p>
          <a:p>
            <a:r>
              <a:rPr lang="en-GB" noProof="0" dirty="0"/>
              <a:t>When you use reverse image search, you find that the same photo was actually used in a news article from five years ago about a completely different event. This proves the image is being reused and the caption is misleading.</a:t>
            </a:r>
          </a:p>
        </p:txBody>
      </p:sp>
    </p:spTree>
    <p:extLst>
      <p:ext uri="{BB962C8B-B14F-4D97-AF65-F5344CB8AC3E}">
        <p14:creationId xmlns:p14="http://schemas.microsoft.com/office/powerpoint/2010/main" val="1754387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30C240EA-5CB1-641E-F667-A934586C0F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7791" y="3658637"/>
            <a:ext cx="9037328" cy="250585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E21CE6F-D723-365F-BC42-369ED2906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1D06D-06A4-362B-3D37-0B06EEFA2A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To do a reverse image search you need to have a copy of the image saved.</a:t>
            </a:r>
          </a:p>
          <a:p>
            <a:r>
              <a:rPr lang="en-GB" noProof="0" dirty="0"/>
              <a:t>Then go to Google. </a:t>
            </a:r>
          </a:p>
          <a:p>
            <a:endParaRPr lang="en-GB" noProof="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DB0ADC6-882F-A3BB-08EC-9CE4AB141CB4}"/>
              </a:ext>
            </a:extLst>
          </p:cNvPr>
          <p:cNvSpPr txBox="1"/>
          <p:nvPr/>
        </p:nvSpPr>
        <p:spPr>
          <a:xfrm>
            <a:off x="9191704" y="2891485"/>
            <a:ext cx="258630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2400" noProof="0" dirty="0">
                <a:solidFill>
                  <a:srgbClr val="002570"/>
                </a:solidFill>
                <a:latin typeface="OpenDyslexicAlta" panose="00000500000000000000" pitchFamily="50" charset="0"/>
              </a:rPr>
              <a:t>Click on this icon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E401B88-44CE-D234-50C0-07EF174DAC2B}"/>
              </a:ext>
            </a:extLst>
          </p:cNvPr>
          <p:cNvCxnSpPr>
            <a:cxnSpLocks/>
            <a:endCxn id="8" idx="2"/>
          </p:cNvCxnSpPr>
          <p:nvPr/>
        </p:nvCxnSpPr>
        <p:spPr>
          <a:xfrm flipV="1">
            <a:off x="10181690" y="3722482"/>
            <a:ext cx="303166" cy="1918030"/>
          </a:xfrm>
          <a:prstGeom prst="line">
            <a:avLst/>
          </a:prstGeom>
          <a:ln w="28575">
            <a:solidFill>
              <a:srgbClr val="00257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2839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8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2DAFC-03E6-2482-1253-AD7D5D405B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F3C9F8-232E-EF27-41B4-D711B5395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2" y="1313895"/>
            <a:ext cx="11444927" cy="638195"/>
          </a:xfrm>
        </p:spPr>
        <p:txBody>
          <a:bodyPr/>
          <a:lstStyle/>
          <a:p>
            <a:r>
              <a:rPr lang="en-GB" noProof="0" dirty="0"/>
              <a:t>Upload your file.</a:t>
            </a:r>
          </a:p>
        </p:txBody>
      </p:sp>
      <p:grpSp>
        <p:nvGrpSpPr>
          <p:cNvPr id="7" name="Group 6" descr="Google images screenshot showing how to upload a file">
            <a:extLst>
              <a:ext uri="{FF2B5EF4-FFF2-40B4-BE49-F238E27FC236}">
                <a16:creationId xmlns:a16="http://schemas.microsoft.com/office/drawing/2014/main" id="{6AF03596-83B7-1D53-A038-BF34EF8F7B48}"/>
              </a:ext>
            </a:extLst>
          </p:cNvPr>
          <p:cNvGrpSpPr/>
          <p:nvPr/>
        </p:nvGrpSpPr>
        <p:grpSpPr>
          <a:xfrm>
            <a:off x="2505367" y="2085654"/>
            <a:ext cx="6844115" cy="4219595"/>
            <a:chOff x="2505367" y="2085654"/>
            <a:chExt cx="6844115" cy="4219595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3E372187-F314-088F-801D-24AC39D63F64}"/>
                </a:ext>
              </a:extLst>
            </p:cNvPr>
            <p:cNvSpPr/>
            <p:nvPr/>
          </p:nvSpPr>
          <p:spPr>
            <a:xfrm>
              <a:off x="2505367" y="2157573"/>
              <a:ext cx="6751649" cy="4058292"/>
            </a:xfrm>
            <a:prstGeom prst="roundRect">
              <a:avLst>
                <a:gd name="adj" fmla="val 5528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948CA96-8145-F42C-01BF-6FB3BD079B2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2505367" y="2085654"/>
              <a:ext cx="6844115" cy="421959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368711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DC1B0F-45F9-C55B-D9EB-99387E555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CDA03-900F-A1D6-072D-48510B266E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GB" noProof="0" dirty="0"/>
              <a:t>When you do a reverse image search, the results might show similar images or websites that have used the same image before. </a:t>
            </a:r>
          </a:p>
          <a:p>
            <a:r>
              <a:rPr lang="en-GB" noProof="0" dirty="0"/>
              <a:t>You can click on these links to check where the image came from. Look for clues like: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Is the website reliable and well-known?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Does the image match the story it’s being used for?</a:t>
            </a:r>
          </a:p>
          <a:p>
            <a:pPr marL="893763" indent="-441325">
              <a:buFont typeface="Arial" panose="020B0604020202020204" pitchFamily="34" charset="0"/>
              <a:buChar char="•"/>
            </a:pPr>
            <a:r>
              <a:rPr lang="en-GB" noProof="0" dirty="0"/>
              <a:t>Are there any dates or details that seem wrong?</a:t>
            </a:r>
          </a:p>
          <a:p>
            <a:r>
              <a:rPr lang="en-GB" noProof="0" dirty="0"/>
              <a:t>If the website or information doesn’t seem trustworthy, the image might be part of fake news.</a:t>
            </a:r>
          </a:p>
        </p:txBody>
      </p:sp>
    </p:spTree>
    <p:extLst>
      <p:ext uri="{BB962C8B-B14F-4D97-AF65-F5344CB8AC3E}">
        <p14:creationId xmlns:p14="http://schemas.microsoft.com/office/powerpoint/2010/main" val="2375209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E26F511-E1F1-BD7D-6407-3AB8A4635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Reverse image search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C4320D4-5D9A-E1B1-D06B-6A52CAC3E5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noProof="0" dirty="0"/>
              <a:t>A news story has emerged about a sighting of a mysterious monster in a swimming pool. </a:t>
            </a:r>
          </a:p>
          <a:p>
            <a:r>
              <a:rPr lang="en-GB" noProof="0" dirty="0"/>
              <a:t>The headline says, “Shocking new picture! Is Nessy on holiday?”</a:t>
            </a:r>
          </a:p>
          <a:p>
            <a:r>
              <a:rPr lang="en-GB" noProof="0" dirty="0"/>
              <a:t>The image is saved as Holiday.jpg. Do a reverse image search and decide if the sources of similar images are reliable.</a:t>
            </a:r>
          </a:p>
        </p:txBody>
      </p:sp>
    </p:spTree>
    <p:extLst>
      <p:ext uri="{BB962C8B-B14F-4D97-AF65-F5344CB8AC3E}">
        <p14:creationId xmlns:p14="http://schemas.microsoft.com/office/powerpoint/2010/main" val="189685953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71890E-7441-1838-041C-207D2AE655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sz="4400" noProof="0" dirty="0"/>
              <a:t>Reverse image search </a:t>
            </a:r>
            <a:r>
              <a:rPr lang="en-GB" sz="4400" noProof="0" dirty="0">
                <a:solidFill>
                  <a:srgbClr val="C00000"/>
                </a:solidFill>
              </a:rPr>
              <a:t>ANSWER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1ABFAA-A7C1-798B-6EAD-536F5F1064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993" y="1313895"/>
            <a:ext cx="4435410" cy="4952736"/>
          </a:xfrm>
        </p:spPr>
        <p:txBody>
          <a:bodyPr>
            <a:normAutofit fontScale="92500" lnSpcReduction="10000"/>
          </a:bodyPr>
          <a:lstStyle/>
          <a:p>
            <a:r>
              <a:rPr lang="en-GB" b="1" noProof="0" dirty="0">
                <a:solidFill>
                  <a:srgbClr val="C00000"/>
                </a:solidFill>
              </a:rPr>
              <a:t>No, they are not reliable sources. </a:t>
            </a:r>
          </a:p>
          <a:p>
            <a:r>
              <a:rPr lang="en-GB" noProof="0" dirty="0"/>
              <a:t>The sites which contain similar images are Reddit, YouTube, TikTok and an image generation site. These are not reliable sources for news.</a:t>
            </a:r>
          </a:p>
        </p:txBody>
      </p:sp>
      <p:pic>
        <p:nvPicPr>
          <p:cNvPr id="6" name="Picture 5" descr="Output of image search showing other similar images">
            <a:extLst>
              <a:ext uri="{FF2B5EF4-FFF2-40B4-BE49-F238E27FC236}">
                <a16:creationId xmlns:a16="http://schemas.microsoft.com/office/drawing/2014/main" id="{F57F5708-265F-C58E-CAD3-EDE9DB2BC63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648" t="19158" r="18712"/>
          <a:stretch/>
        </p:blipFill>
        <p:spPr>
          <a:xfrm>
            <a:off x="4962419" y="856151"/>
            <a:ext cx="7229582" cy="6001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1870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220DD-1B34-3F6E-ECDA-C3BBC48CDD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Summary of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B2BC8E-D2E8-90F7-8C7A-DFC54C6F6B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GB" noProof="0" dirty="0"/>
              <a:t>Fake news is false information shared to mislead or get attention.</a:t>
            </a:r>
          </a:p>
          <a:p>
            <a:r>
              <a:rPr lang="en-GB" noProof="0" dirty="0"/>
              <a:t>Reliable sources have clear authors, evidence and trustworthy domains.</a:t>
            </a:r>
          </a:p>
          <a:p>
            <a:r>
              <a:rPr lang="en-GB" noProof="0" dirty="0"/>
              <a:t>You can use tools like a reverse image search to check the sources of images.</a:t>
            </a:r>
          </a:p>
          <a:p>
            <a:r>
              <a:rPr lang="en-GB" noProof="0" dirty="0"/>
              <a:t>In this lesson, you used </a:t>
            </a:r>
            <a:r>
              <a:rPr lang="en-GB" b="1" noProof="0" dirty="0"/>
              <a:t>analytical thinking </a:t>
            </a:r>
            <a:r>
              <a:rPr lang="en-GB" noProof="0" dirty="0"/>
              <a:t>when you evaluated sources and identified fake news clues. </a:t>
            </a:r>
          </a:p>
        </p:txBody>
      </p:sp>
    </p:spTree>
    <p:extLst>
      <p:ext uri="{BB962C8B-B14F-4D97-AF65-F5344CB8AC3E}">
        <p14:creationId xmlns:p14="http://schemas.microsoft.com/office/powerpoint/2010/main" val="2757112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9F27A30-74F1-B68F-DB4C-1E52B13E6B0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GB" sz="2800" noProof="0" dirty="0">
                <a:solidFill>
                  <a:srgbClr val="C0000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https://www.nicholawilkin.com/terms</a:t>
            </a:r>
            <a:r>
              <a:rPr lang="en-GB" sz="2800" noProof="0" dirty="0">
                <a:solidFill>
                  <a:srgbClr val="C00000"/>
                </a:solidFill>
              </a:rPr>
              <a:t> 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AD801862-38A1-2E92-3A46-84D475AF4F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© 2025 Nichola Wilkin Ltd</a:t>
            </a:r>
          </a:p>
        </p:txBody>
      </p:sp>
    </p:spTree>
    <p:extLst>
      <p:ext uri="{BB962C8B-B14F-4D97-AF65-F5344CB8AC3E}">
        <p14:creationId xmlns:p14="http://schemas.microsoft.com/office/powerpoint/2010/main" val="5496283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2" id="{9546B4CD-A1D5-4DFE-B56F-C863773A2EAD}" vid="{EAACDE77-F2E5-4310-8C19-1E4AFB9A93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NEW Example Lesson 2</Template>
  <TotalTime>1288</TotalTime>
  <Words>2528</Words>
  <Application>Microsoft Office PowerPoint</Application>
  <PresentationFormat>Widescreen</PresentationFormat>
  <Paragraphs>221</Paragraphs>
  <Slides>51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6" baseType="lpstr">
      <vt:lpstr>Aptos</vt:lpstr>
      <vt:lpstr>Wingdings</vt:lpstr>
      <vt:lpstr>Arial</vt:lpstr>
      <vt:lpstr>OpenDyslexicAlta</vt:lpstr>
      <vt:lpstr>Office Theme</vt:lpstr>
      <vt:lpstr>Important note for teachers</vt:lpstr>
      <vt:lpstr>Spotting fake news</vt:lpstr>
      <vt:lpstr>Objective</vt:lpstr>
      <vt:lpstr>Keywords</vt:lpstr>
      <vt:lpstr>What do you already know?</vt:lpstr>
      <vt:lpstr>Steps to success</vt:lpstr>
      <vt:lpstr>Fake news</vt:lpstr>
      <vt:lpstr>Fake News ANSWERS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Fake news</vt:lpstr>
      <vt:lpstr>1: Fake news</vt:lpstr>
      <vt:lpstr>Steps to success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</vt:lpstr>
      <vt:lpstr>Identifying reliable vs. unreliable sources ANSWERS</vt:lpstr>
      <vt:lpstr>Identifying reliable vs. unreliable sources</vt:lpstr>
      <vt:lpstr>Identifying reliable vs. unreliable sources ANSWERS</vt:lpstr>
      <vt:lpstr>Identifying reliable vs. unreliable sources</vt:lpstr>
      <vt:lpstr>2: Identifying reliable vs. unreliable sources</vt:lpstr>
      <vt:lpstr>2: Identifying reliable vs. unreliable sources ANSWERS</vt:lpstr>
      <vt:lpstr>Steps to success</vt:lpstr>
      <vt:lpstr>Reverse image search</vt:lpstr>
      <vt:lpstr>Reverse image search</vt:lpstr>
      <vt:lpstr>Reverse image search</vt:lpstr>
      <vt:lpstr>Reverse image search</vt:lpstr>
      <vt:lpstr>Reverse image search</vt:lpstr>
      <vt:lpstr>Reverse image search</vt:lpstr>
      <vt:lpstr>Reverse image search</vt:lpstr>
      <vt:lpstr>Reverse image search</vt:lpstr>
      <vt:lpstr>Reverse image search ANSWER</vt:lpstr>
      <vt:lpstr>Summary of lesson</vt:lpstr>
      <vt:lpstr>© 2025 Nichola Wilkin Ltd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Nicky Lacey</dc:creator>
  <dc:description>© 2025 Nichola Wilkin Ltd</dc:description>
  <cp:lastModifiedBy>Nicky Lacey</cp:lastModifiedBy>
  <cp:revision>14</cp:revision>
  <dcterms:created xsi:type="dcterms:W3CDTF">2025-04-26T16:36:40Z</dcterms:created>
  <dcterms:modified xsi:type="dcterms:W3CDTF">2025-06-18T07:35:40Z</dcterms:modified>
  <cp:category>© 2025 Nichola Wilkin Ltd</cp:category>
</cp:coreProperties>
</file>