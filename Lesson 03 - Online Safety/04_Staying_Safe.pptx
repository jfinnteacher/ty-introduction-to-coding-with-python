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handoutMasterIdLst>
    <p:handoutMasterId r:id="rId49"/>
  </p:handoutMasterIdLst>
  <p:sldIdLst>
    <p:sldId id="256" r:id="rId2"/>
    <p:sldId id="258" r:id="rId3"/>
    <p:sldId id="259" r:id="rId4"/>
    <p:sldId id="275" r:id="rId5"/>
    <p:sldId id="274" r:id="rId6"/>
    <p:sldId id="261" r:id="rId7"/>
    <p:sldId id="297" r:id="rId8"/>
    <p:sldId id="268" r:id="rId9"/>
    <p:sldId id="280" r:id="rId10"/>
    <p:sldId id="283" r:id="rId11"/>
    <p:sldId id="282" r:id="rId12"/>
    <p:sldId id="284" r:id="rId13"/>
    <p:sldId id="285" r:id="rId14"/>
    <p:sldId id="286" r:id="rId15"/>
    <p:sldId id="287" r:id="rId16"/>
    <p:sldId id="281" r:id="rId17"/>
    <p:sldId id="288" r:id="rId18"/>
    <p:sldId id="289" r:id="rId19"/>
    <p:sldId id="291" r:id="rId20"/>
    <p:sldId id="292" r:id="rId21"/>
    <p:sldId id="293" r:id="rId22"/>
    <p:sldId id="294" r:id="rId23"/>
    <p:sldId id="327" r:id="rId24"/>
    <p:sldId id="298" r:id="rId25"/>
    <p:sldId id="299" r:id="rId26"/>
    <p:sldId id="300" r:id="rId27"/>
    <p:sldId id="301" r:id="rId28"/>
    <p:sldId id="302" r:id="rId29"/>
    <p:sldId id="328" r:id="rId30"/>
    <p:sldId id="305" r:id="rId31"/>
    <p:sldId id="308" r:id="rId32"/>
    <p:sldId id="306" r:id="rId33"/>
    <p:sldId id="313" r:id="rId34"/>
    <p:sldId id="314" r:id="rId35"/>
    <p:sldId id="315" r:id="rId36"/>
    <p:sldId id="316" r:id="rId37"/>
    <p:sldId id="317" r:id="rId38"/>
    <p:sldId id="329" r:id="rId39"/>
    <p:sldId id="318" r:id="rId40"/>
    <p:sldId id="321" r:id="rId41"/>
    <p:sldId id="322" r:id="rId42"/>
    <p:sldId id="323" r:id="rId43"/>
    <p:sldId id="324" r:id="rId44"/>
    <p:sldId id="325" r:id="rId45"/>
    <p:sldId id="326" r:id="rId46"/>
    <p:sldId id="267" r:id="rId47"/>
    <p:sldId id="272" r:id="rId48"/>
  </p:sldIdLst>
  <p:sldSz cx="12192000" cy="6858000"/>
  <p:notesSz cx="6858000" cy="9144000"/>
  <p:embeddedFontLst>
    <p:embeddedFont>
      <p:font typeface="OpenDyslexicAlta" panose="020B0604020202020204" charset="0"/>
      <p:regular r:id="rId50"/>
      <p:bold r:id="rId51"/>
      <p:italic r:id="rId52"/>
      <p:boldItalic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570"/>
    <a:srgbClr val="FFFFCC"/>
    <a:srgbClr val="FFFFE1"/>
    <a:srgbClr val="FBE3D6"/>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guide orient="horz" pos="2160"/>
        <p:guide pos="3840"/>
      </p:guideLst>
    </p:cSldViewPr>
  </p:slideViewPr>
  <p:notesTextViewPr>
    <p:cViewPr>
      <p:scale>
        <a:sx n="3" d="2"/>
        <a:sy n="3" d="2"/>
      </p:scale>
      <p:origin x="0" y="0"/>
    </p:cViewPr>
  </p:notesText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F35232B-3405-650A-0E6D-919F2AF1E0D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63A1DF0-6A0F-7410-1697-3F36484923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8791796-119E-4260-B149-940ECFE008A4}" type="datetimeFigureOut">
              <a:rPr lang="en-GB" smtClean="0"/>
              <a:t>01/09/2026</a:t>
            </a:fld>
            <a:endParaRPr lang="en-GB"/>
          </a:p>
        </p:txBody>
      </p:sp>
      <p:sp>
        <p:nvSpPr>
          <p:cNvPr id="4" name="Footer Placeholder 3">
            <a:extLst>
              <a:ext uri="{FF2B5EF4-FFF2-40B4-BE49-F238E27FC236}">
                <a16:creationId xmlns:a16="http://schemas.microsoft.com/office/drawing/2014/main" id="{D35B57EA-C3C3-2477-F872-4F48437CE8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20E89B7-4332-40EF-8A72-D4F2B18E9A2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D8B0B0-A64E-4C20-A968-F17ABCD71ED1}" type="slidenum">
              <a:rPr lang="en-GB" smtClean="0"/>
              <a:t>‹#›</a:t>
            </a:fld>
            <a:endParaRPr lang="en-GB"/>
          </a:p>
        </p:txBody>
      </p:sp>
    </p:spTree>
    <p:extLst>
      <p:ext uri="{BB962C8B-B14F-4D97-AF65-F5344CB8AC3E}">
        <p14:creationId xmlns:p14="http://schemas.microsoft.com/office/powerpoint/2010/main" val="166875908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B45729A-2A02-69F1-5F8E-3A7464A80F62}"/>
              </a:ext>
            </a:extLst>
          </p:cNvPr>
          <p:cNvSpPr/>
          <p:nvPr userDrawn="1"/>
        </p:nvSpPr>
        <p:spPr>
          <a:xfrm>
            <a:off x="1217704" y="782425"/>
            <a:ext cx="9766169" cy="301657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A2484D-F227-7D83-9D1F-199680CA61A4}"/>
              </a:ext>
            </a:extLst>
          </p:cNvPr>
          <p:cNvSpPr>
            <a:spLocks noGrp="1"/>
          </p:cNvSpPr>
          <p:nvPr>
            <p:ph type="ctrTitle"/>
          </p:nvPr>
        </p:nvSpPr>
        <p:spPr>
          <a:xfrm>
            <a:off x="1893127" y="782425"/>
            <a:ext cx="8415323" cy="3016577"/>
          </a:xfrm>
        </p:spPr>
        <p:txBody>
          <a:bodyPr anchor="ctr"/>
          <a:lstStyle>
            <a:lvl1pPr algn="l">
              <a:defRPr sz="6000"/>
            </a:lvl1pPr>
          </a:lstStyle>
          <a:p>
            <a:r>
              <a:rPr lang="en-GB"/>
              <a:t>Click to edit Master title style</a:t>
            </a:r>
            <a:endParaRPr lang="en-GB" dirty="0"/>
          </a:p>
        </p:txBody>
      </p:sp>
      <p:sp>
        <p:nvSpPr>
          <p:cNvPr id="3" name="Subtitle 2">
            <a:extLst>
              <a:ext uri="{FF2B5EF4-FFF2-40B4-BE49-F238E27FC236}">
                <a16:creationId xmlns:a16="http://schemas.microsoft.com/office/drawing/2014/main" id="{C8C6A4D3-0153-0D86-80ED-42D75EA9F829}"/>
              </a:ext>
            </a:extLst>
          </p:cNvPr>
          <p:cNvSpPr>
            <a:spLocks noGrp="1"/>
          </p:cNvSpPr>
          <p:nvPr>
            <p:ph type="subTitle" idx="1"/>
          </p:nvPr>
        </p:nvSpPr>
        <p:spPr>
          <a:xfrm>
            <a:off x="1893127" y="4717062"/>
            <a:ext cx="8415322" cy="638666"/>
          </a:xfrm>
        </p:spPr>
        <p:txBody>
          <a:bodyPr anchor="ct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4" name="Picture 3" descr="A computer with a crown&#10;&#10;AI-generated content may be incorrect.">
            <a:extLst>
              <a:ext uri="{FF2B5EF4-FFF2-40B4-BE49-F238E27FC236}">
                <a16:creationId xmlns:a16="http://schemas.microsoft.com/office/drawing/2014/main" id="{99136C88-7F9A-20C0-87C3-E89872BBCBE4}"/>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13638" y="5493213"/>
            <a:ext cx="1164724" cy="1164724"/>
          </a:xfrm>
          <a:prstGeom prst="rect">
            <a:avLst/>
          </a:prstGeom>
        </p:spPr>
      </p:pic>
    </p:spTree>
    <p:extLst>
      <p:ext uri="{BB962C8B-B14F-4D97-AF65-F5344CB8AC3E}">
        <p14:creationId xmlns:p14="http://schemas.microsoft.com/office/powerpoint/2010/main" val="1209274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413993" y="198671"/>
            <a:ext cx="11444926"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98543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413993" y="198671"/>
            <a:ext cx="11444926"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pic>
        <p:nvPicPr>
          <p:cNvPr id="3" name="Picture 2" descr="A white rectangular object with black dots&#10;&#10;Description automatically generated with medium confidence">
            <a:extLst>
              <a:ext uri="{FF2B5EF4-FFF2-40B4-BE49-F238E27FC236}">
                <a16:creationId xmlns:a16="http://schemas.microsoft.com/office/drawing/2014/main" id="{31F8124E-EB43-9B25-D02C-9751D130000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81240" y="518310"/>
            <a:ext cx="5229519" cy="549705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50681" y="2503502"/>
            <a:ext cx="3890638" cy="2947387"/>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vl3pPr marL="914400" indent="0">
              <a:buNone/>
              <a:defRPr/>
            </a:lvl3pPr>
          </a:lstStyle>
          <a:p>
            <a:pPr lvl="0"/>
            <a:r>
              <a:rPr lang="en-GB"/>
              <a:t>Click to edit Master text styles</a:t>
            </a:r>
          </a:p>
        </p:txBody>
      </p:sp>
    </p:spTree>
    <p:extLst>
      <p:ext uri="{BB962C8B-B14F-4D97-AF65-F5344CB8AC3E}">
        <p14:creationId xmlns:p14="http://schemas.microsoft.com/office/powerpoint/2010/main" val="3742827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actical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pic>
        <p:nvPicPr>
          <p:cNvPr id="7" name="Picture 6" descr="A computer with a keyboard&#10;&#10;Description automatically generated">
            <a:extLst>
              <a:ext uri="{FF2B5EF4-FFF2-40B4-BE49-F238E27FC236}">
                <a16:creationId xmlns:a16="http://schemas.microsoft.com/office/drawing/2014/main" id="{D90EB9EB-35CA-B193-CB6D-E1224A36382C}"/>
              </a:ext>
            </a:extLst>
          </p:cNvPr>
          <p:cNvPicPr>
            <a:picLocks noChangeAspect="1"/>
          </p:cNvPicPr>
          <p:nvPr userDrawn="1"/>
        </p:nvPicPr>
        <p:blipFill>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flipH="1">
            <a:off x="523390" y="34649"/>
            <a:ext cx="874081" cy="874081"/>
          </a:xfrm>
          <a:prstGeom prst="rect">
            <a:avLst/>
          </a:prstGeom>
        </p:spPr>
      </p:pic>
    </p:spTree>
    <p:extLst>
      <p:ext uri="{BB962C8B-B14F-4D97-AF65-F5344CB8AC3E}">
        <p14:creationId xmlns:p14="http://schemas.microsoft.com/office/powerpoint/2010/main" val="707226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aper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pic>
        <p:nvPicPr>
          <p:cNvPr id="4" name="Picture 3" descr="A black pen with a cap&#10;&#10;Description automatically generated">
            <a:extLst>
              <a:ext uri="{FF2B5EF4-FFF2-40B4-BE49-F238E27FC236}">
                <a16:creationId xmlns:a16="http://schemas.microsoft.com/office/drawing/2014/main" id="{23553E00-1685-A73C-C4C2-17F580B6012E}"/>
              </a:ext>
            </a:extLst>
          </p:cNvPr>
          <p:cNvPicPr>
            <a:picLocks noChangeAspect="1"/>
          </p:cNvPicPr>
          <p:nvPr userDrawn="1"/>
        </p:nvPicPr>
        <p:blipFill>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507507" y="56188"/>
            <a:ext cx="831001" cy="831001"/>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
        <p:nvSpPr>
          <p:cNvPr id="3" name="Title 1">
            <a:extLst>
              <a:ext uri="{FF2B5EF4-FFF2-40B4-BE49-F238E27FC236}">
                <a16:creationId xmlns:a16="http://schemas.microsoft.com/office/drawing/2014/main" id="{8E8FBBBB-AC3E-C1DC-7C7D-80D22331DE68}"/>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1233676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cussion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
        <p:nvSpPr>
          <p:cNvPr id="3" name="Title 1">
            <a:extLst>
              <a:ext uri="{FF2B5EF4-FFF2-40B4-BE49-F238E27FC236}">
                <a16:creationId xmlns:a16="http://schemas.microsoft.com/office/drawing/2014/main" id="{8E8FBBBB-AC3E-C1DC-7C7D-80D22331DE68}"/>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pic>
        <p:nvPicPr>
          <p:cNvPr id="5" name="Picture 4" descr="A black and white outline of a couple of speech bubbles&#10;&#10;Description automatically generated">
            <a:extLst>
              <a:ext uri="{FF2B5EF4-FFF2-40B4-BE49-F238E27FC236}">
                <a16:creationId xmlns:a16="http://schemas.microsoft.com/office/drawing/2014/main" id="{EEB8BB81-B4B1-2F82-6670-DB34481D0E10}"/>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33081" y="0"/>
            <a:ext cx="944871" cy="944871"/>
          </a:xfrm>
          <a:prstGeom prst="rect">
            <a:avLst/>
          </a:prstGeom>
        </p:spPr>
      </p:pic>
    </p:spTree>
    <p:extLst>
      <p:ext uri="{BB962C8B-B14F-4D97-AF65-F5344CB8AC3E}">
        <p14:creationId xmlns:p14="http://schemas.microsoft.com/office/powerpoint/2010/main" val="91066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FC063F6-0EE5-AAAC-3CC9-255C98F437FF}"/>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8310735F-9F0E-A09C-0CF7-00E89B13D85A}"/>
              </a:ext>
            </a:extLst>
          </p:cNvPr>
          <p:cNvSpPr>
            <a:spLocks noGrp="1"/>
          </p:cNvSpPr>
          <p:nvPr>
            <p:ph sz="half" idx="1"/>
          </p:nvPr>
        </p:nvSpPr>
        <p:spPr>
          <a:xfrm>
            <a:off x="413992" y="1313890"/>
            <a:ext cx="5635673" cy="4952737"/>
          </a:xfrm>
        </p:spPr>
        <p:txBody>
          <a:bodyPr/>
          <a:lstStyle>
            <a:lvl1pPr marL="0" indent="0">
              <a:buNone/>
              <a:defRPr/>
            </a:lvl1pPr>
            <a:lvl2pPr marL="685800" indent="-228600">
              <a:defRPr lang="en-GB" sz="3200" kern="1200" dirty="0">
                <a:solidFill>
                  <a:srgbClr val="002570"/>
                </a:solidFill>
                <a:latin typeface="OpenDyslexicAlta" panose="00000500000000000000" pitchFamily="50" charset="0"/>
                <a:ea typeface="+mn-ea"/>
                <a:cs typeface="+mn-cs"/>
              </a:defRPr>
            </a:lvl2pPr>
          </a:lstStyle>
          <a:p>
            <a:pPr lvl="0"/>
            <a:r>
              <a:rPr lang="en-GB"/>
              <a:t>Click to edit Master text styles</a:t>
            </a:r>
          </a:p>
          <a:p>
            <a:pPr lvl="1"/>
            <a:r>
              <a:rPr lang="en-GB"/>
              <a:t>Second level</a:t>
            </a:r>
          </a:p>
          <a:p>
            <a:pPr lvl="2"/>
            <a:r>
              <a:rPr lang="en-GB"/>
              <a:t>Third level</a:t>
            </a:r>
          </a:p>
        </p:txBody>
      </p:sp>
      <p:sp>
        <p:nvSpPr>
          <p:cNvPr id="4" name="Content Placeholder 3">
            <a:extLst>
              <a:ext uri="{FF2B5EF4-FFF2-40B4-BE49-F238E27FC236}">
                <a16:creationId xmlns:a16="http://schemas.microsoft.com/office/drawing/2014/main" id="{E0B7DE29-8D35-8F81-F97D-29C023AE4EEE}"/>
              </a:ext>
            </a:extLst>
          </p:cNvPr>
          <p:cNvSpPr>
            <a:spLocks noGrp="1"/>
          </p:cNvSpPr>
          <p:nvPr>
            <p:ph sz="half" idx="2"/>
          </p:nvPr>
        </p:nvSpPr>
        <p:spPr>
          <a:xfrm>
            <a:off x="6223247" y="1313890"/>
            <a:ext cx="5635673" cy="4952739"/>
          </a:xfrm>
        </p:spPr>
        <p:txBody>
          <a:bodyPr/>
          <a:lstStyle>
            <a:lvl1pPr marL="0" indent="0">
              <a:buNone/>
              <a:defRPr/>
            </a:lvl1pPr>
            <a:lvl2pPr marL="685800" indent="-228600">
              <a:defRPr lang="en-GB" sz="3200" kern="1200" dirty="0">
                <a:solidFill>
                  <a:srgbClr val="002570"/>
                </a:solidFill>
                <a:latin typeface="OpenDyslexicAlta" panose="00000500000000000000" pitchFamily="50" charset="0"/>
                <a:ea typeface="+mn-ea"/>
                <a:cs typeface="+mn-cs"/>
              </a:defRPr>
            </a:lvl2pPr>
          </a:lstStyle>
          <a:p>
            <a:pPr lvl="0"/>
            <a:r>
              <a:rPr lang="en-GB"/>
              <a:t>Click to edit Master text styles</a:t>
            </a:r>
          </a:p>
          <a:p>
            <a:pPr lvl="1"/>
            <a:r>
              <a:rPr lang="en-GB"/>
              <a:t>Second level</a:t>
            </a:r>
          </a:p>
        </p:txBody>
      </p:sp>
      <p:pic>
        <p:nvPicPr>
          <p:cNvPr id="13" name="Picture 12" descr="A black line with a pointy face&#10;&#10;Description automatically generated with medium confidence">
            <a:extLst>
              <a:ext uri="{FF2B5EF4-FFF2-40B4-BE49-F238E27FC236}">
                <a16:creationId xmlns:a16="http://schemas.microsoft.com/office/drawing/2014/main" id="{8087F63A-1EA4-664A-4548-C3086100B94B}"/>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4" name="Title 1">
            <a:extLst>
              <a:ext uri="{FF2B5EF4-FFF2-40B4-BE49-F238E27FC236}">
                <a16:creationId xmlns:a16="http://schemas.microsoft.com/office/drawing/2014/main" id="{4A6B3F91-A53F-3877-C3BE-6E52402D8056}"/>
              </a:ext>
            </a:extLst>
          </p:cNvPr>
          <p:cNvSpPr>
            <a:spLocks noGrp="1"/>
          </p:cNvSpPr>
          <p:nvPr>
            <p:ph type="title"/>
          </p:nvPr>
        </p:nvSpPr>
        <p:spPr>
          <a:xfrm>
            <a:off x="413992" y="198671"/>
            <a:ext cx="11444927"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764404505"/>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505C2B80-4160-4381-751B-A34DADCB3B00}"/>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2">
            <a:extLst>
              <a:ext uri="{FF2B5EF4-FFF2-40B4-BE49-F238E27FC236}">
                <a16:creationId xmlns:a16="http://schemas.microsoft.com/office/drawing/2014/main" id="{C54E5830-5177-BEC2-17FC-C20BB5A3B9D6}"/>
              </a:ext>
            </a:extLst>
          </p:cNvPr>
          <p:cNvSpPr>
            <a:spLocks noGrp="1"/>
          </p:cNvSpPr>
          <p:nvPr>
            <p:ph sz="half" idx="10"/>
          </p:nvPr>
        </p:nvSpPr>
        <p:spPr>
          <a:xfrm>
            <a:off x="413992" y="2308190"/>
            <a:ext cx="5635673" cy="3958438"/>
          </a:xfrm>
        </p:spPr>
        <p:txBody>
          <a:bodyPr>
            <a:normAutofit/>
          </a:bodyPr>
          <a:lstStyle>
            <a:lvl1pPr marL="0" indent="0">
              <a:buNone/>
              <a:defRPr sz="3200"/>
            </a:lvl1pPr>
            <a:lvl2pPr marL="685800" indent="-228600">
              <a:defRPr lang="en-GB" sz="3200" kern="1200" dirty="0">
                <a:solidFill>
                  <a:srgbClr val="002570"/>
                </a:solidFill>
                <a:latin typeface="OpenDyslexicAlta" panose="00000500000000000000" pitchFamily="50" charset="0"/>
                <a:ea typeface="+mn-ea"/>
                <a:cs typeface="+mn-cs"/>
              </a:defRPr>
            </a:lvl2pPr>
            <a:lvl3pPr>
              <a:defRPr sz="2400"/>
            </a:lvl3pPr>
            <a:lvl4pPr>
              <a:defRPr sz="2000"/>
            </a:lvl4pPr>
            <a:lvl5pPr>
              <a:defRPr sz="2000"/>
            </a:lvl5pPr>
          </a:lstStyle>
          <a:p>
            <a:pPr lvl="0"/>
            <a:r>
              <a:rPr lang="en-GB"/>
              <a:t>Click to edit Master text styles</a:t>
            </a:r>
          </a:p>
          <a:p>
            <a:pPr lvl="1"/>
            <a:r>
              <a:rPr lang="en-GB"/>
              <a:t>Second level</a:t>
            </a:r>
          </a:p>
        </p:txBody>
      </p:sp>
      <p:sp>
        <p:nvSpPr>
          <p:cNvPr id="14" name="Content Placeholder 3">
            <a:extLst>
              <a:ext uri="{FF2B5EF4-FFF2-40B4-BE49-F238E27FC236}">
                <a16:creationId xmlns:a16="http://schemas.microsoft.com/office/drawing/2014/main" id="{20C6DAD7-F485-8649-8094-4915CBAD34DD}"/>
              </a:ext>
            </a:extLst>
          </p:cNvPr>
          <p:cNvSpPr>
            <a:spLocks noGrp="1"/>
          </p:cNvSpPr>
          <p:nvPr>
            <p:ph sz="half" idx="2"/>
          </p:nvPr>
        </p:nvSpPr>
        <p:spPr>
          <a:xfrm>
            <a:off x="6223247" y="2308189"/>
            <a:ext cx="5635673" cy="3958439"/>
          </a:xfrm>
        </p:spPr>
        <p:txBody>
          <a:bodyPr>
            <a:normAutofit/>
          </a:bodyPr>
          <a:lstStyle>
            <a:lvl1pPr marL="0" indent="0">
              <a:buNone/>
              <a:defRPr sz="2800"/>
            </a:lvl1pPr>
            <a:lvl2pPr marL="685800" indent="-228600">
              <a:defRPr lang="en-GB" sz="3200" kern="1200" dirty="0">
                <a:solidFill>
                  <a:srgbClr val="002570"/>
                </a:solidFill>
                <a:latin typeface="OpenDyslexicAlta" panose="00000500000000000000" pitchFamily="50" charset="0"/>
                <a:ea typeface="+mn-ea"/>
                <a:cs typeface="+mn-cs"/>
              </a:defRPr>
            </a:lvl2pPr>
            <a:lvl3pPr marL="914400" indent="0">
              <a:buNone/>
              <a:defRPr sz="2000"/>
            </a:lvl3pPr>
            <a:lvl4pPr>
              <a:defRPr sz="1800"/>
            </a:lvl4pPr>
            <a:lvl5pPr>
              <a:defRPr sz="1800"/>
            </a:lvl5pPr>
          </a:lstStyle>
          <a:p>
            <a:pPr lvl="0"/>
            <a:r>
              <a:rPr lang="en-GB"/>
              <a:t>Click to edit Master text styles</a:t>
            </a:r>
          </a:p>
          <a:p>
            <a:pPr lvl="1"/>
            <a:r>
              <a:rPr lang="en-GB"/>
              <a:t>Second level</a:t>
            </a:r>
          </a:p>
        </p:txBody>
      </p:sp>
      <p:sp>
        <p:nvSpPr>
          <p:cNvPr id="3" name="Text Placeholder 2">
            <a:extLst>
              <a:ext uri="{FF2B5EF4-FFF2-40B4-BE49-F238E27FC236}">
                <a16:creationId xmlns:a16="http://schemas.microsoft.com/office/drawing/2014/main" id="{5D6F6873-5066-9CBE-31A3-8947B94AA3C6}"/>
              </a:ext>
            </a:extLst>
          </p:cNvPr>
          <p:cNvSpPr>
            <a:spLocks noGrp="1"/>
          </p:cNvSpPr>
          <p:nvPr>
            <p:ph type="body" idx="1"/>
          </p:nvPr>
        </p:nvSpPr>
        <p:spPr>
          <a:xfrm>
            <a:off x="413992" y="1313892"/>
            <a:ext cx="5635673" cy="825626"/>
          </a:xfrm>
        </p:spPr>
        <p:txBody>
          <a:bodyPr anchor="ctr">
            <a:no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5" name="Text Placeholder 4">
            <a:extLst>
              <a:ext uri="{FF2B5EF4-FFF2-40B4-BE49-F238E27FC236}">
                <a16:creationId xmlns:a16="http://schemas.microsoft.com/office/drawing/2014/main" id="{3818A2E8-94EF-3974-C0EC-C97DD5650D8A}"/>
              </a:ext>
            </a:extLst>
          </p:cNvPr>
          <p:cNvSpPr>
            <a:spLocks noGrp="1"/>
          </p:cNvSpPr>
          <p:nvPr>
            <p:ph type="body" sz="quarter" idx="3"/>
          </p:nvPr>
        </p:nvSpPr>
        <p:spPr>
          <a:xfrm>
            <a:off x="6232125" y="1313892"/>
            <a:ext cx="5626795" cy="825626"/>
          </a:xfrm>
        </p:spPr>
        <p:txBody>
          <a:bodyPr anchor="ctr">
            <a:no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pic>
        <p:nvPicPr>
          <p:cNvPr id="18" name="Picture 17" descr="A black line with a pointy face&#10;&#10;Description automatically generated with medium confidence">
            <a:extLst>
              <a:ext uri="{FF2B5EF4-FFF2-40B4-BE49-F238E27FC236}">
                <a16:creationId xmlns:a16="http://schemas.microsoft.com/office/drawing/2014/main" id="{71F6B3FE-228E-A800-6AF6-E4388756599A}"/>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9" name="Title 1">
            <a:extLst>
              <a:ext uri="{FF2B5EF4-FFF2-40B4-BE49-F238E27FC236}">
                <a16:creationId xmlns:a16="http://schemas.microsoft.com/office/drawing/2014/main" id="{41280ABC-EFFB-3E34-0F02-FE8B134DEA1C}"/>
              </a:ext>
            </a:extLst>
          </p:cNvPr>
          <p:cNvSpPr>
            <a:spLocks noGrp="1"/>
          </p:cNvSpPr>
          <p:nvPr>
            <p:ph type="title"/>
          </p:nvPr>
        </p:nvSpPr>
        <p:spPr>
          <a:xfrm>
            <a:off x="413992" y="198671"/>
            <a:ext cx="11444927"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2708659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1A4115-2704-1EF9-388A-425081E5470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descr="A black line with a pointy face&#10;&#10;Description automatically generated with medium confidence">
            <a:extLst>
              <a:ext uri="{FF2B5EF4-FFF2-40B4-BE49-F238E27FC236}">
                <a16:creationId xmlns:a16="http://schemas.microsoft.com/office/drawing/2014/main" id="{A6CEE2C1-575B-AC39-905A-F03B14DEAF1E}"/>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2" name="Title 1">
            <a:extLst>
              <a:ext uri="{FF2B5EF4-FFF2-40B4-BE49-F238E27FC236}">
                <a16:creationId xmlns:a16="http://schemas.microsoft.com/office/drawing/2014/main" id="{44DE5943-EE5E-C183-E7D2-83A09533C4E0}"/>
              </a:ext>
            </a:extLst>
          </p:cNvPr>
          <p:cNvSpPr>
            <a:spLocks noGrp="1"/>
          </p:cNvSpPr>
          <p:nvPr>
            <p:ph type="title"/>
          </p:nvPr>
        </p:nvSpPr>
        <p:spPr>
          <a:xfrm>
            <a:off x="413993" y="198671"/>
            <a:ext cx="11455452"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3836339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pic>
        <p:nvPicPr>
          <p:cNvPr id="8" name="Picture 7" descr="A black line with a pointy face&#10;&#10;Description automatically generated with medium confidence">
            <a:extLst>
              <a:ext uri="{FF2B5EF4-FFF2-40B4-BE49-F238E27FC236}">
                <a16:creationId xmlns:a16="http://schemas.microsoft.com/office/drawing/2014/main" id="{43D123E1-2520-9FE4-B3F5-4770893FC891}"/>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Tree>
    <p:extLst>
      <p:ext uri="{BB962C8B-B14F-4D97-AF65-F5344CB8AC3E}">
        <p14:creationId xmlns:p14="http://schemas.microsoft.com/office/powerpoint/2010/main" val="716321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without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4474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pic>
        <p:nvPicPr>
          <p:cNvPr id="3" name="Picture 2" descr="A close-up of a document&#10;&#10;Description automatically generated">
            <a:extLst>
              <a:ext uri="{FF2B5EF4-FFF2-40B4-BE49-F238E27FC236}">
                <a16:creationId xmlns:a16="http://schemas.microsoft.com/office/drawing/2014/main" id="{041E3DC7-C04A-F8E9-4E3A-E2935615897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1255058"/>
            <a:ext cx="12192000" cy="5602941"/>
          </a:xfrm>
          <a:prstGeom prst="rect">
            <a:avLst/>
          </a:prstGeom>
        </p:spPr>
      </p:pic>
      <p:sp>
        <p:nvSpPr>
          <p:cNvPr id="5" name="Text Placeholder 4">
            <a:extLst>
              <a:ext uri="{FF2B5EF4-FFF2-40B4-BE49-F238E27FC236}">
                <a16:creationId xmlns:a16="http://schemas.microsoft.com/office/drawing/2014/main" id="{F0B0DCFE-B0FF-4E6E-A7D3-D647C7B06B1C}"/>
              </a:ext>
            </a:extLst>
          </p:cNvPr>
          <p:cNvSpPr>
            <a:spLocks noGrp="1"/>
          </p:cNvSpPr>
          <p:nvPr>
            <p:ph type="body" sz="quarter" idx="10"/>
          </p:nvPr>
        </p:nvSpPr>
        <p:spPr>
          <a:xfrm>
            <a:off x="1259541" y="5969934"/>
            <a:ext cx="9672918" cy="574675"/>
          </a:xfrm>
        </p:spPr>
        <p:txBody>
          <a:bodyPr>
            <a:normAutofit/>
          </a:bodyPr>
          <a:lstStyle>
            <a:lvl1pPr marL="0" indent="0" algn="ctr">
              <a:buNone/>
              <a:defRPr sz="2800">
                <a:solidFill>
                  <a:srgbClr val="C00000"/>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a:t>Click to edit Master text styles</a:t>
            </a:r>
          </a:p>
        </p:txBody>
      </p:sp>
      <p:sp>
        <p:nvSpPr>
          <p:cNvPr id="6" name="Rectangle 8">
            <a:extLst>
              <a:ext uri="{FF2B5EF4-FFF2-40B4-BE49-F238E27FC236}">
                <a16:creationId xmlns:a16="http://schemas.microsoft.com/office/drawing/2014/main" id="{5795545D-231C-FDCB-8BDA-55C729529025}"/>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1">
            <a:extLst>
              <a:ext uri="{FF2B5EF4-FFF2-40B4-BE49-F238E27FC236}">
                <a16:creationId xmlns:a16="http://schemas.microsoft.com/office/drawing/2014/main" id="{D17830B5-81EF-08EE-0D51-086C891343B1}"/>
              </a:ext>
            </a:extLst>
          </p:cNvPr>
          <p:cNvSpPr>
            <a:spLocks noGrp="1"/>
          </p:cNvSpPr>
          <p:nvPr>
            <p:ph type="title"/>
          </p:nvPr>
        </p:nvSpPr>
        <p:spPr>
          <a:xfrm>
            <a:off x="413993" y="198671"/>
            <a:ext cx="10515600"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788450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E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16DFD2-1DEA-8D22-4791-DE55801F9A2B}"/>
              </a:ext>
            </a:extLst>
          </p:cNvPr>
          <p:cNvSpPr>
            <a:spLocks noGrp="1"/>
          </p:cNvSpPr>
          <p:nvPr>
            <p:ph type="title"/>
          </p:nvPr>
        </p:nvSpPr>
        <p:spPr>
          <a:xfrm>
            <a:off x="413993" y="136525"/>
            <a:ext cx="10515600" cy="763571"/>
          </a:xfrm>
          <a:prstGeom prst="rect">
            <a:avLst/>
          </a:prstGeom>
        </p:spPr>
        <p:txBody>
          <a:bodyPr vert="horz" lIns="91440" tIns="45720" rIns="91440" bIns="45720" rtlCol="0" anchor="ctr">
            <a:no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9CDDF7BB-0A96-D666-6992-98AEF317A714}"/>
              </a:ext>
            </a:extLst>
          </p:cNvPr>
          <p:cNvSpPr>
            <a:spLocks noGrp="1"/>
          </p:cNvSpPr>
          <p:nvPr>
            <p:ph type="body" idx="1"/>
          </p:nvPr>
        </p:nvSpPr>
        <p:spPr>
          <a:xfrm>
            <a:off x="413992" y="1313895"/>
            <a:ext cx="11444927" cy="4952736"/>
          </a:xfrm>
          <a:prstGeom prst="rect">
            <a:avLst/>
          </a:prstGeom>
        </p:spPr>
        <p:txBody>
          <a:bodyPr vert="horz" lIns="91440" tIns="45720" rIns="91440" bIns="45720" rtlCol="0">
            <a:normAutofit/>
          </a:bodyPr>
          <a:lstStyle/>
          <a:p>
            <a:pPr lvl="0"/>
            <a:r>
              <a:rPr lang="en-GB" dirty="0"/>
              <a:t>Click to edit Master text styles</a:t>
            </a:r>
          </a:p>
          <a:p>
            <a:pPr marL="685800" lvl="1" indent="-228600" algn="l" defTabSz="914400" rtl="0" eaLnBrk="1" latinLnBrk="0" hangingPunct="1">
              <a:lnSpc>
                <a:spcPct val="90000"/>
              </a:lnSpc>
              <a:spcBef>
                <a:spcPts val="500"/>
              </a:spcBef>
              <a:spcAft>
                <a:spcPts val="1800"/>
              </a:spcAft>
              <a:buClr>
                <a:srgbClr val="C00000"/>
              </a:buClr>
              <a:buSzPct val="115000"/>
              <a:buFont typeface="Arial" panose="020B0604020202020204" pitchFamily="34" charset="0"/>
              <a:buChar char="•"/>
            </a:pPr>
            <a:r>
              <a:rPr lang="en-GB" dirty="0"/>
              <a:t>Second level</a:t>
            </a:r>
          </a:p>
        </p:txBody>
      </p:sp>
      <p:sp>
        <p:nvSpPr>
          <p:cNvPr id="4" name="TextBox 3">
            <a:extLst>
              <a:ext uri="{FF2B5EF4-FFF2-40B4-BE49-F238E27FC236}">
                <a16:creationId xmlns:a16="http://schemas.microsoft.com/office/drawing/2014/main" id="{AD94F074-8FD9-0C27-50BF-7632BF6FFAB0}"/>
              </a:ext>
            </a:extLst>
          </p:cNvPr>
          <p:cNvSpPr txBox="1"/>
          <p:nvPr userDrawn="1"/>
        </p:nvSpPr>
        <p:spPr>
          <a:xfrm rot="16200000">
            <a:off x="11757747" y="6208302"/>
            <a:ext cx="1083951" cy="215444"/>
          </a:xfrm>
          <a:prstGeom prst="rect">
            <a:avLst/>
          </a:prstGeom>
          <a:noFill/>
        </p:spPr>
        <p:txBody>
          <a:bodyPr wrap="none" rtlCol="0">
            <a:spAutoFit/>
          </a:bodyPr>
          <a:lstStyle/>
          <a:p>
            <a:r>
              <a:rPr lang="en-GB" sz="800" dirty="0">
                <a:solidFill>
                  <a:schemeClr val="bg2"/>
                </a:solidFill>
              </a:rPr>
              <a:t>© Nichola Wilkin Ltd</a:t>
            </a:r>
          </a:p>
        </p:txBody>
      </p:sp>
    </p:spTree>
    <p:extLst>
      <p:ext uri="{BB962C8B-B14F-4D97-AF65-F5344CB8AC3E}">
        <p14:creationId xmlns:p14="http://schemas.microsoft.com/office/powerpoint/2010/main" val="366690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62" r:id="rId4"/>
    <p:sldLayoutId id="2147483663" r:id="rId5"/>
    <p:sldLayoutId id="2147483665" r:id="rId6"/>
    <p:sldLayoutId id="2147483652" r:id="rId7"/>
    <p:sldLayoutId id="2147483653" r:id="rId8"/>
    <p:sldLayoutId id="2147483654" r:id="rId9"/>
    <p:sldLayoutId id="2147483655" r:id="rId10"/>
    <p:sldLayoutId id="2147483656" r:id="rId11"/>
    <p:sldLayoutId id="2147483657" r:id="rId12"/>
  </p:sldLayoutIdLst>
  <p:txStyles>
    <p:titleStyle>
      <a:lvl1pPr algn="l" defTabSz="914400" rtl="0" eaLnBrk="1" latinLnBrk="0" hangingPunct="1">
        <a:lnSpc>
          <a:spcPct val="90000"/>
        </a:lnSpc>
        <a:spcBef>
          <a:spcPct val="0"/>
        </a:spcBef>
        <a:buNone/>
        <a:defRPr sz="4800" b="1" kern="1200">
          <a:solidFill>
            <a:srgbClr val="002570"/>
          </a:solidFill>
          <a:latin typeface="OpenDyslexicAlta" panose="00000500000000000000" pitchFamily="50" charset="0"/>
          <a:ea typeface="+mj-ea"/>
          <a:cs typeface="+mj-cs"/>
        </a:defRPr>
      </a:lvl1pPr>
    </p:titleStyle>
    <p:bodyStyle>
      <a:lvl1pPr marL="0" indent="0" algn="l" defTabSz="914400" rtl="0" eaLnBrk="1" latinLnBrk="0" hangingPunct="1">
        <a:lnSpc>
          <a:spcPct val="90000"/>
        </a:lnSpc>
        <a:spcBef>
          <a:spcPts val="1000"/>
        </a:spcBef>
        <a:spcAft>
          <a:spcPts val="1800"/>
        </a:spcAft>
        <a:buFont typeface="Arial" panose="020B0604020202020204" pitchFamily="34" charset="0"/>
        <a:buNone/>
        <a:defRPr sz="3600" kern="1200">
          <a:solidFill>
            <a:srgbClr val="002570"/>
          </a:solidFill>
          <a:latin typeface="OpenDyslexicAlta" panose="00000500000000000000" pitchFamily="50" charset="0"/>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lang="en-GB" sz="3200" kern="1200" dirty="0">
          <a:solidFill>
            <a:srgbClr val="002570"/>
          </a:solidFill>
          <a:latin typeface="OpenDyslexicAlta" panose="00000500000000000000" pitchFamily="50" charset="0"/>
          <a:ea typeface="+mn-ea"/>
          <a:cs typeface="+mn-cs"/>
        </a:defRPr>
      </a:lvl2pPr>
      <a:lvl3pPr marL="1143000" indent="-228600" algn="l" defTabSz="914400" rtl="0" eaLnBrk="1" latinLnBrk="0" hangingPunct="1">
        <a:lnSpc>
          <a:spcPct val="90000"/>
        </a:lnSpc>
        <a:spcBef>
          <a:spcPts val="500"/>
        </a:spcBef>
        <a:spcAft>
          <a:spcPts val="1800"/>
        </a:spcAft>
        <a:buFont typeface="Arial" panose="020B0604020202020204" pitchFamily="34" charset="0"/>
        <a:buChar char="•"/>
        <a:defRPr sz="2800" kern="1200">
          <a:solidFill>
            <a:srgbClr val="002570"/>
          </a:solidFill>
          <a:latin typeface="OpenDyslexicAlta" panose="00000500000000000000" pitchFamily="50" charset="0"/>
          <a:ea typeface="+mn-ea"/>
          <a:cs typeface="+mn-cs"/>
        </a:defRPr>
      </a:lvl3pPr>
      <a:lvl4pPr marL="16002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4pPr>
      <a:lvl5pPr marL="20574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22" userDrawn="1">
          <p15:clr>
            <a:srgbClr val="F26B43"/>
          </p15:clr>
        </p15:guide>
        <p15:guide id="2" pos="11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nicholawilkin.com/terms"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184CF-D39A-F54C-E3BD-2F32E4670282}"/>
              </a:ext>
            </a:extLst>
          </p:cNvPr>
          <p:cNvSpPr>
            <a:spLocks noGrp="1"/>
          </p:cNvSpPr>
          <p:nvPr>
            <p:ph type="ctrTitle"/>
          </p:nvPr>
        </p:nvSpPr>
        <p:spPr/>
        <p:txBody>
          <a:bodyPr/>
          <a:lstStyle/>
          <a:p>
            <a:r>
              <a:rPr lang="en-GB" noProof="0" dirty="0"/>
              <a:t>Understanding online risks</a:t>
            </a:r>
          </a:p>
        </p:txBody>
      </p:sp>
      <p:sp>
        <p:nvSpPr>
          <p:cNvPr id="3" name="Subtitle 2">
            <a:extLst>
              <a:ext uri="{FF2B5EF4-FFF2-40B4-BE49-F238E27FC236}">
                <a16:creationId xmlns:a16="http://schemas.microsoft.com/office/drawing/2014/main" id="{F4C41960-3132-52E1-575A-55A2633DED4E}"/>
              </a:ext>
            </a:extLst>
          </p:cNvPr>
          <p:cNvSpPr>
            <a:spLocks noGrp="1"/>
          </p:cNvSpPr>
          <p:nvPr>
            <p:ph type="subTitle" idx="1"/>
          </p:nvPr>
        </p:nvSpPr>
        <p:spPr/>
        <p:txBody>
          <a:bodyPr/>
          <a:lstStyle/>
          <a:p>
            <a:r>
              <a:rPr lang="en-GB" b="1" noProof="0" dirty="0"/>
              <a:t>Unit: </a:t>
            </a:r>
            <a:r>
              <a:rPr lang="en-GB" noProof="0" dirty="0"/>
              <a:t>Staying safe and smart online</a:t>
            </a:r>
          </a:p>
        </p:txBody>
      </p:sp>
    </p:spTree>
    <p:extLst>
      <p:ext uri="{BB962C8B-B14F-4D97-AF65-F5344CB8AC3E}">
        <p14:creationId xmlns:p14="http://schemas.microsoft.com/office/powerpoint/2010/main" val="4203895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02ABF-1189-622D-C67C-DBF8F48DC098}"/>
              </a:ext>
            </a:extLst>
          </p:cNvPr>
          <p:cNvSpPr>
            <a:spLocks noGrp="1"/>
          </p:cNvSpPr>
          <p:nvPr>
            <p:ph type="title"/>
          </p:nvPr>
        </p:nvSpPr>
        <p:spPr/>
        <p:txBody>
          <a:bodyPr/>
          <a:lstStyle/>
          <a:p>
            <a:r>
              <a:rPr lang="en-GB" noProof="0" dirty="0"/>
              <a:t>Objective</a:t>
            </a:r>
          </a:p>
        </p:txBody>
      </p:sp>
      <p:sp>
        <p:nvSpPr>
          <p:cNvPr id="3" name="Content Placeholder 2">
            <a:extLst>
              <a:ext uri="{FF2B5EF4-FFF2-40B4-BE49-F238E27FC236}">
                <a16:creationId xmlns:a16="http://schemas.microsoft.com/office/drawing/2014/main" id="{F40FE6D7-DD69-1D13-4F3D-238FFCA5BFEC}"/>
              </a:ext>
            </a:extLst>
          </p:cNvPr>
          <p:cNvSpPr>
            <a:spLocks noGrp="1"/>
          </p:cNvSpPr>
          <p:nvPr>
            <p:ph idx="1"/>
          </p:nvPr>
        </p:nvSpPr>
        <p:spPr/>
        <p:txBody>
          <a:bodyPr>
            <a:normAutofit fontScale="77500" lnSpcReduction="20000"/>
          </a:bodyPr>
          <a:lstStyle/>
          <a:p>
            <a:pPr marL="0" indent="0">
              <a:lnSpc>
                <a:spcPct val="150000"/>
              </a:lnSpc>
              <a:buNone/>
            </a:pPr>
            <a:r>
              <a:rPr lang="en-GB" sz="3600" noProof="0" dirty="0"/>
              <a:t>I can describe common online risks and explain how to avoid or respond to them.</a:t>
            </a:r>
          </a:p>
        </p:txBody>
      </p:sp>
    </p:spTree>
    <p:extLst>
      <p:ext uri="{BB962C8B-B14F-4D97-AF65-F5344CB8AC3E}">
        <p14:creationId xmlns:p14="http://schemas.microsoft.com/office/powerpoint/2010/main" val="623897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A397C-D2E3-ADCC-840E-27A33C78D114}"/>
              </a:ext>
            </a:extLst>
          </p:cNvPr>
          <p:cNvSpPr>
            <a:spLocks noGrp="1"/>
          </p:cNvSpPr>
          <p:nvPr>
            <p:ph type="title"/>
          </p:nvPr>
        </p:nvSpPr>
        <p:spPr/>
        <p:txBody>
          <a:bodyPr/>
          <a:lstStyle/>
          <a:p>
            <a:r>
              <a:rPr lang="en-GB" noProof="0" dirty="0"/>
              <a:t>Keywords</a:t>
            </a:r>
          </a:p>
        </p:txBody>
      </p:sp>
      <p:sp>
        <p:nvSpPr>
          <p:cNvPr id="4" name="Content Placeholder 25">
            <a:extLst>
              <a:ext uri="{FF2B5EF4-FFF2-40B4-BE49-F238E27FC236}">
                <a16:creationId xmlns:a16="http://schemas.microsoft.com/office/drawing/2014/main" id="{57726DDD-8611-BC33-219F-E0BFEE4A07EF}"/>
              </a:ext>
            </a:extLst>
          </p:cNvPr>
          <p:cNvSpPr txBox="1">
            <a:spLocks/>
          </p:cNvSpPr>
          <p:nvPr/>
        </p:nvSpPr>
        <p:spPr>
          <a:xfrm>
            <a:off x="413992" y="1504950"/>
            <a:ext cx="11444927" cy="476168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3600" kern="1200">
                <a:solidFill>
                  <a:srgbClr val="002570"/>
                </a:solidFill>
                <a:latin typeface="OpenDyslexicAlta" panose="00000500000000000000" pitchFamily="50" charset="0"/>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sz="3200" kern="1200">
                <a:solidFill>
                  <a:srgbClr val="002570"/>
                </a:solidFill>
                <a:latin typeface="OpenDyslexicAlta" panose="00000500000000000000" pitchFamily="50" charset="0"/>
                <a:ea typeface="+mn-ea"/>
                <a:cs typeface="+mn-cs"/>
              </a:defRPr>
            </a:lvl2pPr>
            <a:lvl3pPr marL="1143000" indent="-228600" algn="l" defTabSz="914400" rtl="0" eaLnBrk="1" latinLnBrk="0" hangingPunct="1">
              <a:lnSpc>
                <a:spcPct val="90000"/>
              </a:lnSpc>
              <a:spcBef>
                <a:spcPts val="500"/>
              </a:spcBef>
              <a:spcAft>
                <a:spcPts val="1800"/>
              </a:spcAft>
              <a:buFont typeface="Arial" panose="020B0604020202020204" pitchFamily="34" charset="0"/>
              <a:buChar char="•"/>
              <a:defRPr sz="2800" kern="1200">
                <a:solidFill>
                  <a:srgbClr val="002570"/>
                </a:solidFill>
                <a:latin typeface="OpenDyslexicAlta" panose="00000500000000000000" pitchFamily="50" charset="0"/>
                <a:ea typeface="+mn-ea"/>
                <a:cs typeface="+mn-cs"/>
              </a:defRPr>
            </a:lvl3pPr>
            <a:lvl4pPr marL="16002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4pPr>
            <a:lvl5pPr marL="20574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4000" b="1" noProof="0" dirty="0">
                <a:solidFill>
                  <a:srgbClr val="C00000"/>
                </a:solidFill>
              </a:rPr>
              <a:t>Phishing</a:t>
            </a:r>
            <a:r>
              <a:rPr lang="en-GB" sz="4000" noProof="0" dirty="0"/>
              <a:t> happens when someone pretends to be a trusted company to trick you into sharing personal information, such as passwords or bank details.</a:t>
            </a:r>
          </a:p>
          <a:p>
            <a:pPr marL="0" indent="0">
              <a:buNone/>
            </a:pPr>
            <a:r>
              <a:rPr lang="en-GB" sz="4000" b="1" noProof="0" dirty="0">
                <a:solidFill>
                  <a:srgbClr val="C00000"/>
                </a:solidFill>
              </a:rPr>
              <a:t>Radicalisation</a:t>
            </a:r>
            <a:r>
              <a:rPr lang="en-GB" sz="4000" noProof="0" dirty="0"/>
              <a:t> is when people try to influence others online to adopt extreme or harmful beliefs.</a:t>
            </a:r>
          </a:p>
        </p:txBody>
      </p:sp>
    </p:spTree>
    <p:extLst>
      <p:ext uri="{BB962C8B-B14F-4D97-AF65-F5344CB8AC3E}">
        <p14:creationId xmlns:p14="http://schemas.microsoft.com/office/powerpoint/2010/main" val="314898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E0AE8-9EFE-4B2C-761A-4BD9CB0C7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28B0E-E7D7-0F40-0618-FECA5D33434F}"/>
              </a:ext>
            </a:extLst>
          </p:cNvPr>
          <p:cNvSpPr>
            <a:spLocks noGrp="1"/>
          </p:cNvSpPr>
          <p:nvPr>
            <p:ph type="title"/>
          </p:nvPr>
        </p:nvSpPr>
        <p:spPr/>
        <p:txBody>
          <a:bodyPr/>
          <a:lstStyle/>
          <a:p>
            <a:r>
              <a:rPr lang="en-GB" noProof="0" dirty="0"/>
              <a:t>Keywords</a:t>
            </a:r>
          </a:p>
        </p:txBody>
      </p:sp>
      <p:sp>
        <p:nvSpPr>
          <p:cNvPr id="4" name="Content Placeholder 25">
            <a:extLst>
              <a:ext uri="{FF2B5EF4-FFF2-40B4-BE49-F238E27FC236}">
                <a16:creationId xmlns:a16="http://schemas.microsoft.com/office/drawing/2014/main" id="{35301E1B-32E2-7538-8E8E-A2E51DCF39C8}"/>
              </a:ext>
            </a:extLst>
          </p:cNvPr>
          <p:cNvSpPr txBox="1">
            <a:spLocks/>
          </p:cNvSpPr>
          <p:nvPr/>
        </p:nvSpPr>
        <p:spPr>
          <a:xfrm>
            <a:off x="413992" y="1504950"/>
            <a:ext cx="11444927" cy="47616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3600" kern="1200">
                <a:solidFill>
                  <a:srgbClr val="002570"/>
                </a:solidFill>
                <a:latin typeface="OpenDyslexicAlta" panose="00000500000000000000" pitchFamily="50" charset="0"/>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sz="3200" kern="1200">
                <a:solidFill>
                  <a:srgbClr val="002570"/>
                </a:solidFill>
                <a:latin typeface="OpenDyslexicAlta" panose="00000500000000000000" pitchFamily="50" charset="0"/>
                <a:ea typeface="+mn-ea"/>
                <a:cs typeface="+mn-cs"/>
              </a:defRPr>
            </a:lvl2pPr>
            <a:lvl3pPr marL="1143000" indent="-228600" algn="l" defTabSz="914400" rtl="0" eaLnBrk="1" latinLnBrk="0" hangingPunct="1">
              <a:lnSpc>
                <a:spcPct val="90000"/>
              </a:lnSpc>
              <a:spcBef>
                <a:spcPts val="500"/>
              </a:spcBef>
              <a:spcAft>
                <a:spcPts val="1800"/>
              </a:spcAft>
              <a:buFont typeface="Arial" panose="020B0604020202020204" pitchFamily="34" charset="0"/>
              <a:buChar char="•"/>
              <a:defRPr sz="2800" kern="1200">
                <a:solidFill>
                  <a:srgbClr val="002570"/>
                </a:solidFill>
                <a:latin typeface="OpenDyslexicAlta" panose="00000500000000000000" pitchFamily="50" charset="0"/>
                <a:ea typeface="+mn-ea"/>
                <a:cs typeface="+mn-cs"/>
              </a:defRPr>
            </a:lvl3pPr>
            <a:lvl4pPr marL="16002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4pPr>
            <a:lvl5pPr marL="20574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4000" b="1" noProof="0" dirty="0">
                <a:solidFill>
                  <a:srgbClr val="C00000"/>
                </a:solidFill>
              </a:rPr>
              <a:t>Online bullying</a:t>
            </a:r>
            <a:r>
              <a:rPr lang="en-GB" sz="4000" noProof="0" dirty="0"/>
              <a:t> is when someone uses the internet to hurt or upset someone repeatedly, such as </a:t>
            </a:r>
            <a:r>
              <a:rPr lang="en-GB" noProof="0" dirty="0"/>
              <a:t>by leaving mean comments or sending messages</a:t>
            </a:r>
            <a:r>
              <a:rPr lang="en-GB" sz="4000" noProof="0" dirty="0"/>
              <a:t>.</a:t>
            </a:r>
          </a:p>
          <a:p>
            <a:pPr marL="0" indent="0">
              <a:buNone/>
            </a:pPr>
            <a:r>
              <a:rPr lang="en-GB" sz="4000" b="1" noProof="0" dirty="0">
                <a:solidFill>
                  <a:srgbClr val="C00000"/>
                </a:solidFill>
              </a:rPr>
              <a:t>Reporting</a:t>
            </a:r>
            <a:r>
              <a:rPr lang="en-GB" sz="4000" noProof="0" dirty="0"/>
              <a:t> is when you tell a trusted adult or platform about harmful or unsafe behaviour you </a:t>
            </a:r>
            <a:r>
              <a:rPr lang="en-GB" noProof="0" dirty="0"/>
              <a:t>encounter online</a:t>
            </a:r>
            <a:r>
              <a:rPr lang="en-GB" sz="4000" noProof="0" dirty="0"/>
              <a:t>.</a:t>
            </a:r>
          </a:p>
        </p:txBody>
      </p:sp>
    </p:spTree>
    <p:extLst>
      <p:ext uri="{BB962C8B-B14F-4D97-AF65-F5344CB8AC3E}">
        <p14:creationId xmlns:p14="http://schemas.microsoft.com/office/powerpoint/2010/main" val="4106349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586AD-244C-8AC1-86E7-3D084F4401D8}"/>
              </a:ext>
            </a:extLst>
          </p:cNvPr>
          <p:cNvSpPr>
            <a:spLocks noGrp="1"/>
          </p:cNvSpPr>
          <p:nvPr>
            <p:ph type="title"/>
          </p:nvPr>
        </p:nvSpPr>
        <p:spPr/>
        <p:txBody>
          <a:bodyPr/>
          <a:lstStyle/>
          <a:p>
            <a:r>
              <a:rPr lang="en-GB" noProof="0" dirty="0"/>
              <a:t>What do you already know?</a:t>
            </a:r>
          </a:p>
        </p:txBody>
      </p:sp>
      <p:sp>
        <p:nvSpPr>
          <p:cNvPr id="3" name="Content Placeholder 2">
            <a:extLst>
              <a:ext uri="{FF2B5EF4-FFF2-40B4-BE49-F238E27FC236}">
                <a16:creationId xmlns:a16="http://schemas.microsoft.com/office/drawing/2014/main" id="{F0FC761F-680C-8008-5001-6739C23BF339}"/>
              </a:ext>
            </a:extLst>
          </p:cNvPr>
          <p:cNvSpPr>
            <a:spLocks noGrp="1"/>
          </p:cNvSpPr>
          <p:nvPr>
            <p:ph idx="1"/>
          </p:nvPr>
        </p:nvSpPr>
        <p:spPr/>
        <p:txBody>
          <a:bodyPr>
            <a:normAutofit fontScale="92500" lnSpcReduction="10000"/>
          </a:bodyPr>
          <a:lstStyle/>
          <a:p>
            <a:r>
              <a:rPr lang="en-GB" noProof="0" dirty="0"/>
              <a:t>You already know how important it is to keep your passwords private and secure.</a:t>
            </a:r>
          </a:p>
          <a:p>
            <a:r>
              <a:rPr lang="en-GB" noProof="0" dirty="0"/>
              <a:t>You understand that not everything you see online is trustworthy and that some websites might spread false information.</a:t>
            </a:r>
          </a:p>
          <a:p>
            <a:r>
              <a:rPr lang="en-GB" noProof="0" dirty="0"/>
              <a:t>You have learned how to stay safe by avoiding sharing personal details with strangers online.</a:t>
            </a:r>
          </a:p>
          <a:p>
            <a:r>
              <a:rPr lang="en-GB" noProof="0" dirty="0"/>
              <a:t>You’ve also practised being kind and respectful when communicating in digital spaces.</a:t>
            </a:r>
          </a:p>
        </p:txBody>
      </p:sp>
    </p:spTree>
    <p:extLst>
      <p:ext uri="{BB962C8B-B14F-4D97-AF65-F5344CB8AC3E}">
        <p14:creationId xmlns:p14="http://schemas.microsoft.com/office/powerpoint/2010/main" val="375996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B66E799-D9B4-A6C8-BAFB-22007923A781}"/>
              </a:ext>
            </a:extLst>
          </p:cNvPr>
          <p:cNvSpPr/>
          <p:nvPr/>
        </p:nvSpPr>
        <p:spPr>
          <a:xfrm>
            <a:off x="413992" y="1428751"/>
            <a:ext cx="11364016" cy="76357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80CD4A36-A530-71B9-E5F7-5307B39D6DC4}"/>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5CEDC0B2-9F40-1C8A-C33B-787DDB6DCEC4}"/>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Scams and phishing </a:t>
            </a:r>
          </a:p>
          <a:p>
            <a:pPr marL="809625" indent="-723900">
              <a:buClr>
                <a:srgbClr val="C00000"/>
              </a:buClr>
              <a:buSzPct val="107000"/>
              <a:buFont typeface="+mj-lt"/>
              <a:buAutoNum type="arabicPeriod"/>
            </a:pPr>
            <a:r>
              <a:rPr lang="en-GB" noProof="0" dirty="0"/>
              <a:t>Radicalisation</a:t>
            </a:r>
            <a:endParaRPr lang="en-GB" sz="3600" noProof="0" dirty="0"/>
          </a:p>
          <a:p>
            <a:pPr marL="809625" indent="-723900">
              <a:buClr>
                <a:srgbClr val="C00000"/>
              </a:buClr>
              <a:buSzPct val="107000"/>
              <a:buFont typeface="+mj-lt"/>
              <a:buAutoNum type="arabicPeriod"/>
            </a:pPr>
            <a:r>
              <a:rPr lang="en-GB" sz="3600" noProof="0" dirty="0"/>
              <a:t>Online bullying</a:t>
            </a:r>
          </a:p>
          <a:p>
            <a:pPr marL="809625" indent="-723900">
              <a:buClr>
                <a:srgbClr val="C00000"/>
              </a:buClr>
              <a:buSzPct val="107000"/>
              <a:buFont typeface="+mj-lt"/>
              <a:buAutoNum type="arabicPeriod"/>
            </a:pPr>
            <a:r>
              <a:rPr lang="en-GB" sz="3600" noProof="0" dirty="0"/>
              <a:t>Keeping yourself safe</a:t>
            </a:r>
            <a:endParaRPr lang="en-GB" noProof="0" dirty="0"/>
          </a:p>
        </p:txBody>
      </p:sp>
    </p:spTree>
    <p:extLst>
      <p:ext uri="{BB962C8B-B14F-4D97-AF65-F5344CB8AC3E}">
        <p14:creationId xmlns:p14="http://schemas.microsoft.com/office/powerpoint/2010/main" val="343493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D075DE-97AC-BB9A-EE88-2134AE4E2F7A}"/>
              </a:ext>
            </a:extLst>
          </p:cNvPr>
          <p:cNvSpPr>
            <a:spLocks noGrp="1"/>
          </p:cNvSpPr>
          <p:nvPr>
            <p:ph idx="1"/>
          </p:nvPr>
        </p:nvSpPr>
        <p:spPr/>
        <p:txBody>
          <a:bodyPr>
            <a:normAutofit fontScale="85000" lnSpcReduction="20000"/>
          </a:bodyPr>
          <a:lstStyle/>
          <a:p>
            <a:pPr>
              <a:spcAft>
                <a:spcPts val="600"/>
              </a:spcAft>
            </a:pPr>
            <a:r>
              <a:rPr lang="en-GB" noProof="0" dirty="0"/>
              <a:t>What is a scam?</a:t>
            </a:r>
          </a:p>
          <a:p>
            <a:pPr>
              <a:spcAft>
                <a:spcPts val="600"/>
              </a:spcAft>
            </a:pPr>
            <a:r>
              <a:rPr lang="en-GB" b="1" noProof="0" dirty="0">
                <a:solidFill>
                  <a:srgbClr val="C00000"/>
                </a:solidFill>
              </a:rPr>
              <a:t>A scam is a trick designed to steal your money, personal information or data.</a:t>
            </a:r>
          </a:p>
          <a:p>
            <a:pPr>
              <a:spcAft>
                <a:spcPts val="600"/>
              </a:spcAft>
            </a:pPr>
            <a:r>
              <a:rPr lang="en-GB" noProof="0" dirty="0"/>
              <a:t>Why do you think people may fall for scams?</a:t>
            </a:r>
          </a:p>
          <a:p>
            <a:pPr>
              <a:spcAft>
                <a:spcPts val="600"/>
              </a:spcAft>
            </a:pPr>
            <a:r>
              <a:rPr lang="en-GB" b="1" noProof="0" dirty="0">
                <a:solidFill>
                  <a:srgbClr val="C00000"/>
                </a:solidFill>
              </a:rPr>
              <a:t>People may fall for scams because scammers often make their messages look very real and trustworthy. </a:t>
            </a:r>
          </a:p>
          <a:p>
            <a:pPr>
              <a:spcAft>
                <a:spcPts val="600"/>
              </a:spcAft>
            </a:pPr>
            <a:r>
              <a:rPr lang="en-GB" b="1" noProof="0" dirty="0">
                <a:solidFill>
                  <a:srgbClr val="C00000"/>
                </a:solidFill>
              </a:rPr>
              <a:t>They might pretend to be from a company you know, such as your bank or a delivery service. Scammers also use tricks such as creating a sense of urgency, by saying something bad will happen if you don’t act quickly. </a:t>
            </a:r>
          </a:p>
        </p:txBody>
      </p:sp>
      <p:sp>
        <p:nvSpPr>
          <p:cNvPr id="3" name="Title 2">
            <a:extLst>
              <a:ext uri="{FF2B5EF4-FFF2-40B4-BE49-F238E27FC236}">
                <a16:creationId xmlns:a16="http://schemas.microsoft.com/office/drawing/2014/main" id="{F02ADDFC-7AD0-BB80-4DB0-46BFA36F2C73}"/>
              </a:ext>
            </a:extLst>
          </p:cNvPr>
          <p:cNvSpPr>
            <a:spLocks noGrp="1"/>
          </p:cNvSpPr>
          <p:nvPr>
            <p:ph type="title"/>
          </p:nvPr>
        </p:nvSpPr>
        <p:spPr/>
        <p:txBody>
          <a:bodyPr/>
          <a:lstStyle/>
          <a:p>
            <a:r>
              <a:rPr lang="en-GB" noProof="0" dirty="0"/>
              <a:t>Scams and phishing</a:t>
            </a:r>
          </a:p>
        </p:txBody>
      </p:sp>
    </p:spTree>
    <p:extLst>
      <p:ext uri="{BB962C8B-B14F-4D97-AF65-F5344CB8AC3E}">
        <p14:creationId xmlns:p14="http://schemas.microsoft.com/office/powerpoint/2010/main" val="856065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15442-47A6-8269-B2FC-CDAB290F753D}"/>
              </a:ext>
            </a:extLst>
          </p:cNvPr>
          <p:cNvSpPr>
            <a:spLocks noGrp="1"/>
          </p:cNvSpPr>
          <p:nvPr>
            <p:ph idx="1"/>
          </p:nvPr>
        </p:nvSpPr>
        <p:spPr>
          <a:xfrm>
            <a:off x="4711131" y="1371822"/>
            <a:ext cx="7147788" cy="4952736"/>
          </a:xfrm>
        </p:spPr>
        <p:txBody>
          <a:bodyPr>
            <a:normAutofit lnSpcReduction="10000"/>
          </a:bodyPr>
          <a:lstStyle/>
          <a:p>
            <a:r>
              <a:rPr lang="en-GB" b="1" noProof="0" dirty="0">
                <a:solidFill>
                  <a:srgbClr val="C00000"/>
                </a:solidFill>
              </a:rPr>
              <a:t>Phishing</a:t>
            </a:r>
            <a:r>
              <a:rPr lang="en-GB" noProof="0" dirty="0"/>
              <a:t> is when someone pretends to be a trusted company or person to trick you into sharing personal information such as passwords, bank details or other sensitive data.</a:t>
            </a:r>
          </a:p>
          <a:p>
            <a:r>
              <a:rPr lang="en-GB" noProof="0" dirty="0"/>
              <a:t>It often happens through emails, messages or fake websites.</a:t>
            </a:r>
          </a:p>
        </p:txBody>
      </p:sp>
      <p:pic>
        <p:nvPicPr>
          <p:cNvPr id="5" name="Picture 4" descr="Representation of phishing showing an email being caught on a fishing line.">
            <a:extLst>
              <a:ext uri="{FF2B5EF4-FFF2-40B4-BE49-F238E27FC236}">
                <a16:creationId xmlns:a16="http://schemas.microsoft.com/office/drawing/2014/main" id="{5FE09880-BA8E-BACE-35DE-A0DCEA1C55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83" y="1212351"/>
            <a:ext cx="4530055" cy="5436066"/>
          </a:xfrm>
          <a:prstGeom prst="rect">
            <a:avLst/>
          </a:prstGeom>
        </p:spPr>
      </p:pic>
      <p:sp>
        <p:nvSpPr>
          <p:cNvPr id="9" name="Title 1">
            <a:extLst>
              <a:ext uri="{FF2B5EF4-FFF2-40B4-BE49-F238E27FC236}">
                <a16:creationId xmlns:a16="http://schemas.microsoft.com/office/drawing/2014/main" id="{5DFBC561-34A8-AD41-E138-3B5BE9F656FE}"/>
              </a:ext>
            </a:extLst>
          </p:cNvPr>
          <p:cNvSpPr>
            <a:spLocks noGrp="1"/>
          </p:cNvSpPr>
          <p:nvPr>
            <p:ph type="title"/>
          </p:nvPr>
        </p:nvSpPr>
        <p:spPr>
          <a:xfrm>
            <a:off x="414338" y="198438"/>
            <a:ext cx="11444287" cy="763587"/>
          </a:xfrm>
        </p:spPr>
        <p:txBody>
          <a:bodyPr/>
          <a:lstStyle/>
          <a:p>
            <a:r>
              <a:rPr lang="en-GB" noProof="0" dirty="0"/>
              <a:t>Scams and phishing</a:t>
            </a:r>
          </a:p>
        </p:txBody>
      </p:sp>
    </p:spTree>
    <p:extLst>
      <p:ext uri="{BB962C8B-B14F-4D97-AF65-F5344CB8AC3E}">
        <p14:creationId xmlns:p14="http://schemas.microsoft.com/office/powerpoint/2010/main" val="297377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A175B6-9F5A-71BA-6BD8-59A1E8CF798C}"/>
              </a:ext>
            </a:extLst>
          </p:cNvPr>
          <p:cNvSpPr>
            <a:spLocks noGrp="1"/>
          </p:cNvSpPr>
          <p:nvPr>
            <p:ph idx="1"/>
          </p:nvPr>
        </p:nvSpPr>
        <p:spPr/>
        <p:txBody>
          <a:bodyPr>
            <a:normAutofit fontScale="92500" lnSpcReduction="20000"/>
          </a:bodyPr>
          <a:lstStyle/>
          <a:p>
            <a:r>
              <a:rPr lang="en-GB" noProof="0" dirty="0"/>
              <a:t>A scammer sends you an email or message pretending to be from a trusted company (e.g. your bank, a shop or a delivery service).</a:t>
            </a:r>
          </a:p>
          <a:p>
            <a:r>
              <a:rPr lang="en-GB" noProof="0" dirty="0"/>
              <a:t>The email asks you to click a link or download an attachment.</a:t>
            </a:r>
          </a:p>
          <a:p>
            <a:r>
              <a:rPr lang="en-GB" noProof="0" dirty="0"/>
              <a:t>The link takes you to a fake website that looks real, where you’re asked to enter your personal details.</a:t>
            </a:r>
          </a:p>
          <a:p>
            <a:r>
              <a:rPr lang="en-GB" noProof="0" dirty="0"/>
              <a:t>Once you enter your details, the scammer can use them.</a:t>
            </a:r>
            <a:r>
              <a:rPr lang="en-GB" b="0" i="0" noProof="0" dirty="0">
                <a:solidFill>
                  <a:srgbClr val="000000"/>
                </a:solidFill>
                <a:effectLst/>
              </a:rPr>
              <a:t> </a:t>
            </a:r>
            <a:endParaRPr lang="en-GB" noProof="0" dirty="0"/>
          </a:p>
        </p:txBody>
      </p:sp>
      <p:sp>
        <p:nvSpPr>
          <p:cNvPr id="7" name="Title 1">
            <a:extLst>
              <a:ext uri="{FF2B5EF4-FFF2-40B4-BE49-F238E27FC236}">
                <a16:creationId xmlns:a16="http://schemas.microsoft.com/office/drawing/2014/main" id="{11FFEADB-B1F2-0F96-03A0-1F8ECF669619}"/>
              </a:ext>
            </a:extLst>
          </p:cNvPr>
          <p:cNvSpPr>
            <a:spLocks noGrp="1"/>
          </p:cNvSpPr>
          <p:nvPr>
            <p:ph type="title"/>
          </p:nvPr>
        </p:nvSpPr>
        <p:spPr>
          <a:xfrm>
            <a:off x="414338" y="198438"/>
            <a:ext cx="11444287" cy="763587"/>
          </a:xfrm>
        </p:spPr>
        <p:txBody>
          <a:bodyPr/>
          <a:lstStyle/>
          <a:p>
            <a:r>
              <a:rPr lang="en-GB" noProof="0" dirty="0"/>
              <a:t>Scams and phishing</a:t>
            </a:r>
          </a:p>
        </p:txBody>
      </p:sp>
    </p:spTree>
    <p:extLst>
      <p:ext uri="{BB962C8B-B14F-4D97-AF65-F5344CB8AC3E}">
        <p14:creationId xmlns:p14="http://schemas.microsoft.com/office/powerpoint/2010/main" val="3852055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3D4A0-A9B8-64D7-0DE0-9728B078E71B}"/>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7B35B749-FD89-3737-45A4-91798BCBD409}"/>
              </a:ext>
            </a:extLst>
          </p:cNvPr>
          <p:cNvGrpSpPr/>
          <p:nvPr/>
        </p:nvGrpSpPr>
        <p:grpSpPr>
          <a:xfrm>
            <a:off x="657547" y="1510301"/>
            <a:ext cx="10674849" cy="4715838"/>
            <a:chOff x="585627" y="1510301"/>
            <a:chExt cx="10674849" cy="4715838"/>
          </a:xfrm>
        </p:grpSpPr>
        <p:sp>
          <p:nvSpPr>
            <p:cNvPr id="15" name="Rectangle 14">
              <a:extLst>
                <a:ext uri="{FF2B5EF4-FFF2-40B4-BE49-F238E27FC236}">
                  <a16:creationId xmlns:a16="http://schemas.microsoft.com/office/drawing/2014/main" id="{05E898B2-4528-6B19-6963-5BA5E8CD2AF2}"/>
                </a:ext>
              </a:extLst>
            </p:cNvPr>
            <p:cNvSpPr/>
            <p:nvPr/>
          </p:nvSpPr>
          <p:spPr>
            <a:xfrm>
              <a:off x="585627" y="1510301"/>
              <a:ext cx="10674849" cy="471583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TextBox 15">
              <a:extLst>
                <a:ext uri="{FF2B5EF4-FFF2-40B4-BE49-F238E27FC236}">
                  <a16:creationId xmlns:a16="http://schemas.microsoft.com/office/drawing/2014/main" id="{C63290AA-C446-5F74-5317-DB8A33DF236C}"/>
                </a:ext>
              </a:extLst>
            </p:cNvPr>
            <p:cNvSpPr txBox="1"/>
            <p:nvPr/>
          </p:nvSpPr>
          <p:spPr>
            <a:xfrm>
              <a:off x="9676447" y="2280279"/>
              <a:ext cx="1380611" cy="307777"/>
            </a:xfrm>
            <a:prstGeom prst="rect">
              <a:avLst/>
            </a:prstGeom>
            <a:noFill/>
          </p:spPr>
          <p:txBody>
            <a:bodyPr wrap="square" rtlCol="0">
              <a:spAutoFit/>
            </a:bodyPr>
            <a:lstStyle/>
            <a:p>
              <a:pPr algn="ctr"/>
              <a:r>
                <a:rPr lang="en-GB" sz="1400" noProof="0" dirty="0"/>
                <a:t>Today 9:10 AM</a:t>
              </a:r>
            </a:p>
          </p:txBody>
        </p:sp>
        <p:pic>
          <p:nvPicPr>
            <p:cNvPr id="17" name="Picture 16">
              <a:extLst>
                <a:ext uri="{FF2B5EF4-FFF2-40B4-BE49-F238E27FC236}">
                  <a16:creationId xmlns:a16="http://schemas.microsoft.com/office/drawing/2014/main" id="{011E5C8C-7452-A429-D98F-0C351698896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890268" y="1561514"/>
              <a:ext cx="952970" cy="738664"/>
            </a:xfrm>
            <a:prstGeom prst="rect">
              <a:avLst/>
            </a:prstGeom>
          </p:spPr>
        </p:pic>
        <p:grpSp>
          <p:nvGrpSpPr>
            <p:cNvPr id="18" name="Group 17">
              <a:extLst>
                <a:ext uri="{FF2B5EF4-FFF2-40B4-BE49-F238E27FC236}">
                  <a16:creationId xmlns:a16="http://schemas.microsoft.com/office/drawing/2014/main" id="{B6C978A0-0500-2549-999D-585769AB1ABD}"/>
                </a:ext>
              </a:extLst>
            </p:cNvPr>
            <p:cNvGrpSpPr/>
            <p:nvPr/>
          </p:nvGrpSpPr>
          <p:grpSpPr>
            <a:xfrm>
              <a:off x="760287" y="1588006"/>
              <a:ext cx="10296770" cy="4638133"/>
              <a:chOff x="760287" y="1588006"/>
              <a:chExt cx="10296770" cy="4638133"/>
            </a:xfrm>
          </p:grpSpPr>
          <p:sp>
            <p:nvSpPr>
              <p:cNvPr id="19" name="TextBox 18">
                <a:extLst>
                  <a:ext uri="{FF2B5EF4-FFF2-40B4-BE49-F238E27FC236}">
                    <a16:creationId xmlns:a16="http://schemas.microsoft.com/office/drawing/2014/main" id="{BD0BD867-BCB6-A6B6-AB83-6F5C31B3D727}"/>
                  </a:ext>
                </a:extLst>
              </p:cNvPr>
              <p:cNvSpPr txBox="1"/>
              <p:nvPr/>
            </p:nvSpPr>
            <p:spPr>
              <a:xfrm>
                <a:off x="760288" y="2117966"/>
                <a:ext cx="4161033" cy="400110"/>
              </a:xfrm>
              <a:prstGeom prst="rect">
                <a:avLst/>
              </a:prstGeom>
              <a:noFill/>
            </p:spPr>
            <p:txBody>
              <a:bodyPr wrap="square" rtlCol="0">
                <a:spAutoFit/>
              </a:bodyPr>
              <a:lstStyle/>
              <a:p>
                <a:r>
                  <a:rPr lang="en-GB" sz="2000" b="1" noProof="0" dirty="0"/>
                  <a:t>To: </a:t>
                </a:r>
                <a:r>
                  <a:rPr lang="en-GB" sz="2000" noProof="0" dirty="0"/>
                  <a:t>jbloggs@gmail.com </a:t>
                </a:r>
              </a:p>
            </p:txBody>
          </p:sp>
          <p:sp>
            <p:nvSpPr>
              <p:cNvPr id="20" name="TextBox 19">
                <a:extLst>
                  <a:ext uri="{FF2B5EF4-FFF2-40B4-BE49-F238E27FC236}">
                    <a16:creationId xmlns:a16="http://schemas.microsoft.com/office/drawing/2014/main" id="{2B1006DC-667E-3525-AFBB-EABB099A9A83}"/>
                  </a:ext>
                </a:extLst>
              </p:cNvPr>
              <p:cNvSpPr txBox="1"/>
              <p:nvPr/>
            </p:nvSpPr>
            <p:spPr>
              <a:xfrm>
                <a:off x="760288" y="2487298"/>
                <a:ext cx="4161033" cy="400110"/>
              </a:xfrm>
              <a:prstGeom prst="rect">
                <a:avLst/>
              </a:prstGeom>
              <a:noFill/>
            </p:spPr>
            <p:txBody>
              <a:bodyPr wrap="square" rtlCol="0">
                <a:spAutoFit/>
              </a:bodyPr>
              <a:lstStyle/>
              <a:p>
                <a:r>
                  <a:rPr lang="en-GB" sz="2000" b="1" noProof="0" dirty="0"/>
                  <a:t>From: </a:t>
                </a:r>
                <a:r>
                  <a:rPr lang="en-GB" sz="2000" noProof="0" dirty="0"/>
                  <a:t>2843285401@mybank.com  </a:t>
                </a:r>
              </a:p>
            </p:txBody>
          </p:sp>
          <p:sp>
            <p:nvSpPr>
              <p:cNvPr id="21" name="TextBox 20">
                <a:extLst>
                  <a:ext uri="{FF2B5EF4-FFF2-40B4-BE49-F238E27FC236}">
                    <a16:creationId xmlns:a16="http://schemas.microsoft.com/office/drawing/2014/main" id="{441C4822-2A13-578C-7A0A-82C7CB8DFF25}"/>
                  </a:ext>
                </a:extLst>
              </p:cNvPr>
              <p:cNvSpPr txBox="1"/>
              <p:nvPr/>
            </p:nvSpPr>
            <p:spPr>
              <a:xfrm>
                <a:off x="760287" y="1588006"/>
                <a:ext cx="8342615" cy="523220"/>
              </a:xfrm>
              <a:prstGeom prst="rect">
                <a:avLst/>
              </a:prstGeom>
              <a:noFill/>
            </p:spPr>
            <p:txBody>
              <a:bodyPr wrap="square" rtlCol="0">
                <a:spAutoFit/>
              </a:bodyPr>
              <a:lstStyle/>
              <a:p>
                <a:r>
                  <a:rPr lang="en-GB" sz="2800" b="1" i="0" noProof="0" dirty="0">
                    <a:solidFill>
                      <a:srgbClr val="000000"/>
                    </a:solidFill>
                    <a:effectLst/>
                    <a:latin typeface="Arial" panose="020B0604020202020204" pitchFamily="34" charset="0"/>
                    <a:cs typeface="Arial" panose="020B0604020202020204" pitchFamily="34" charset="0"/>
                  </a:rPr>
                  <a:t>Important: Your Account Has Been Locked!</a:t>
                </a:r>
                <a:r>
                  <a:rPr lang="en-GB" sz="2800" b="1" noProof="0" dirty="0">
                    <a:latin typeface="Arial" panose="020B0604020202020204" pitchFamily="34" charset="0"/>
                    <a:cs typeface="Arial" panose="020B0604020202020204" pitchFamily="34" charset="0"/>
                  </a:rPr>
                  <a:t> </a:t>
                </a:r>
              </a:p>
            </p:txBody>
          </p:sp>
          <p:sp>
            <p:nvSpPr>
              <p:cNvPr id="22" name="TextBox 21">
                <a:extLst>
                  <a:ext uri="{FF2B5EF4-FFF2-40B4-BE49-F238E27FC236}">
                    <a16:creationId xmlns:a16="http://schemas.microsoft.com/office/drawing/2014/main" id="{9C507AEF-A7DA-2DF7-230D-FDB2D5F9E6ED}"/>
                  </a:ext>
                </a:extLst>
              </p:cNvPr>
              <p:cNvSpPr txBox="1"/>
              <p:nvPr/>
            </p:nvSpPr>
            <p:spPr>
              <a:xfrm>
                <a:off x="760287" y="3086818"/>
                <a:ext cx="10296770" cy="3139321"/>
              </a:xfrm>
              <a:prstGeom prst="rect">
                <a:avLst/>
              </a:prstGeom>
              <a:noFill/>
            </p:spPr>
            <p:txBody>
              <a:bodyPr wrap="square" rtlCol="0">
                <a:spAutoFit/>
              </a:bodyPr>
              <a:lstStyle/>
              <a:p>
                <a:pPr algn="l"/>
                <a:r>
                  <a:rPr lang="en-GB" b="0" i="0" noProof="0" dirty="0">
                    <a:solidFill>
                      <a:srgbClr val="000000"/>
                    </a:solidFill>
                    <a:effectLst/>
                    <a:latin typeface="Arial" panose="020B0604020202020204" pitchFamily="34" charset="0"/>
                    <a:cs typeface="Arial" panose="020B0604020202020204" pitchFamily="34" charset="0"/>
                  </a:rPr>
                  <a:t>Dear Customer,</a:t>
                </a: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r>
                  <a:rPr lang="en-GB" b="0" i="0" noProof="0" dirty="0">
                    <a:solidFill>
                      <a:srgbClr val="000000"/>
                    </a:solidFill>
                    <a:effectLst/>
                    <a:latin typeface="Arial" panose="020B0604020202020204" pitchFamily="34" charset="0"/>
                    <a:cs typeface="Arial" panose="020B0604020202020204" pitchFamily="34" charset="0"/>
                  </a:rPr>
                  <a:t>We’ve noticed suspicious activity in your account. To protect your account, we’ve temporarily locked it. Please click the link below to verify your details and unlock your account.</a:t>
                </a: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endParaRPr lang="en-GB" noProof="0" dirty="0">
                  <a:solidFill>
                    <a:srgbClr val="000000"/>
                  </a:solidFill>
                  <a:latin typeface="Arial" panose="020B0604020202020204" pitchFamily="34" charset="0"/>
                  <a:cs typeface="Arial" panose="020B0604020202020204" pitchFamily="34" charset="0"/>
                </a:endParaRPr>
              </a:p>
              <a:p>
                <a:pPr algn="l"/>
                <a:r>
                  <a:rPr lang="en-GB" b="0" i="0" noProof="0" dirty="0">
                    <a:solidFill>
                      <a:srgbClr val="000000"/>
                    </a:solidFill>
                    <a:effectLst/>
                    <a:latin typeface="Arial" panose="020B0604020202020204" pitchFamily="34" charset="0"/>
                    <a:cs typeface="Arial" panose="020B0604020202020204" pitchFamily="34" charset="0"/>
                  </a:rPr>
                  <a:t>Thank you,</a:t>
                </a:r>
              </a:p>
              <a:p>
                <a:pPr algn="l"/>
                <a:r>
                  <a:rPr lang="en-GB" b="0" i="0" noProof="0" dirty="0">
                    <a:solidFill>
                      <a:srgbClr val="000000"/>
                    </a:solidFill>
                    <a:effectLst/>
                    <a:latin typeface="Arial" panose="020B0604020202020204" pitchFamily="34" charset="0"/>
                    <a:cs typeface="Arial" panose="020B0604020202020204" pitchFamily="34" charset="0"/>
                  </a:rPr>
                  <a:t>Your Bank</a:t>
                </a:r>
              </a:p>
              <a:p>
                <a:pPr>
                  <a:buNone/>
                </a:pPr>
                <a:br>
                  <a:rPr lang="en-GB" noProof="0" dirty="0">
                    <a:latin typeface="Arial" panose="020B0604020202020204" pitchFamily="34" charset="0"/>
                    <a:cs typeface="Arial" panose="020B0604020202020204" pitchFamily="34" charset="0"/>
                  </a:rPr>
                </a:br>
                <a:endParaRPr lang="en-GB" noProof="0" dirty="0">
                  <a:latin typeface="Arial" panose="020B0604020202020204" pitchFamily="34" charset="0"/>
                  <a:cs typeface="Arial" panose="020B0604020202020204" pitchFamily="34" charset="0"/>
                </a:endParaRPr>
              </a:p>
            </p:txBody>
          </p:sp>
          <p:sp>
            <p:nvSpPr>
              <p:cNvPr id="23" name="Rectangle: Rounded Corners 22">
                <a:extLst>
                  <a:ext uri="{FF2B5EF4-FFF2-40B4-BE49-F238E27FC236}">
                    <a16:creationId xmlns:a16="http://schemas.microsoft.com/office/drawing/2014/main" id="{92EA444D-A934-EC98-C038-9EE0E41208F0}"/>
                  </a:ext>
                </a:extLst>
              </p:cNvPr>
              <p:cNvSpPr/>
              <p:nvPr/>
            </p:nvSpPr>
            <p:spPr>
              <a:xfrm>
                <a:off x="859605" y="4427780"/>
                <a:ext cx="3784314" cy="457396"/>
              </a:xfrm>
              <a:prstGeom prst="roundRect">
                <a:avLst/>
              </a:prstGeom>
              <a:solidFill>
                <a:schemeClr val="accent4">
                  <a:lumMod val="40000"/>
                  <a:lumOff val="60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i="0" noProof="0" dirty="0">
                    <a:solidFill>
                      <a:srgbClr val="000000"/>
                    </a:solidFill>
                    <a:effectLst/>
                    <a:latin typeface="Arial" panose="020B0604020202020204" pitchFamily="34" charset="0"/>
                    <a:cs typeface="Arial" panose="020B0604020202020204" pitchFamily="34" charset="0"/>
                  </a:rPr>
                  <a:t>Click here to verify your account</a:t>
                </a:r>
                <a:endParaRPr lang="en-GB" sz="1600" b="1" noProof="0" dirty="0">
                  <a:latin typeface="Arial" panose="020B0604020202020204" pitchFamily="34" charset="0"/>
                  <a:cs typeface="Arial" panose="020B0604020202020204" pitchFamily="34" charset="0"/>
                </a:endParaRPr>
              </a:p>
            </p:txBody>
          </p:sp>
        </p:grpSp>
      </p:grpSp>
      <p:sp>
        <p:nvSpPr>
          <p:cNvPr id="26" name="Title 1">
            <a:extLst>
              <a:ext uri="{FF2B5EF4-FFF2-40B4-BE49-F238E27FC236}">
                <a16:creationId xmlns:a16="http://schemas.microsoft.com/office/drawing/2014/main" id="{92E704E6-4D3E-178D-5EAD-E9B52A150AEC}"/>
              </a:ext>
            </a:extLst>
          </p:cNvPr>
          <p:cNvSpPr>
            <a:spLocks noGrp="1"/>
          </p:cNvSpPr>
          <p:nvPr>
            <p:ph type="title"/>
          </p:nvPr>
        </p:nvSpPr>
        <p:spPr>
          <a:xfrm>
            <a:off x="414338" y="198438"/>
            <a:ext cx="11444287" cy="763587"/>
          </a:xfrm>
        </p:spPr>
        <p:txBody>
          <a:bodyPr/>
          <a:lstStyle/>
          <a:p>
            <a:r>
              <a:rPr lang="en-GB" noProof="0" dirty="0"/>
              <a:t>Scams and phishing</a:t>
            </a:r>
          </a:p>
        </p:txBody>
      </p:sp>
    </p:spTree>
    <p:extLst>
      <p:ext uri="{BB962C8B-B14F-4D97-AF65-F5344CB8AC3E}">
        <p14:creationId xmlns:p14="http://schemas.microsoft.com/office/powerpoint/2010/main" val="496860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8F4FD-6240-65A1-C1AB-BE7A73C89313}"/>
            </a:ext>
          </a:extLst>
        </p:cNvPr>
        <p:cNvGrpSpPr/>
        <p:nvPr/>
      </p:nvGrpSpPr>
      <p:grpSpPr>
        <a:xfrm>
          <a:off x="0" y="0"/>
          <a:ext cx="0" cy="0"/>
          <a:chOff x="0" y="0"/>
          <a:chExt cx="0" cy="0"/>
        </a:xfrm>
      </p:grpSpPr>
      <p:pic>
        <p:nvPicPr>
          <p:cNvPr id="7" name="Picture 6" descr="Cyber criminal">
            <a:extLst>
              <a:ext uri="{FF2B5EF4-FFF2-40B4-BE49-F238E27FC236}">
                <a16:creationId xmlns:a16="http://schemas.microsoft.com/office/drawing/2014/main" id="{1073EEA4-882A-A1DD-E3E8-5A17E87C814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13820" y="1428553"/>
            <a:ext cx="1524320" cy="1797978"/>
          </a:xfrm>
          <a:prstGeom prst="rect">
            <a:avLst/>
          </a:prstGeom>
        </p:spPr>
      </p:pic>
      <p:pic>
        <p:nvPicPr>
          <p:cNvPr id="8" name="Picture 7" descr="Email">
            <a:extLst>
              <a:ext uri="{FF2B5EF4-FFF2-40B4-BE49-F238E27FC236}">
                <a16:creationId xmlns:a16="http://schemas.microsoft.com/office/drawing/2014/main" id="{68431CA1-960D-4D26-7549-CE93123B547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705874" y="1797072"/>
            <a:ext cx="1524320" cy="1181528"/>
          </a:xfrm>
          <a:prstGeom prst="rect">
            <a:avLst/>
          </a:prstGeom>
        </p:spPr>
      </p:pic>
      <p:pic>
        <p:nvPicPr>
          <p:cNvPr id="10" name="Picture 9" descr="Victim looking confused">
            <a:extLst>
              <a:ext uri="{FF2B5EF4-FFF2-40B4-BE49-F238E27FC236}">
                <a16:creationId xmlns:a16="http://schemas.microsoft.com/office/drawing/2014/main" id="{391887FC-C2E2-1015-B941-5164608898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299" y="4462877"/>
            <a:ext cx="1952091" cy="2342510"/>
          </a:xfrm>
          <a:prstGeom prst="rect">
            <a:avLst/>
          </a:prstGeom>
        </p:spPr>
      </p:pic>
      <p:pic>
        <p:nvPicPr>
          <p:cNvPr id="12" name="Picture 11" descr="Victim">
            <a:extLst>
              <a:ext uri="{FF2B5EF4-FFF2-40B4-BE49-F238E27FC236}">
                <a16:creationId xmlns:a16="http://schemas.microsoft.com/office/drawing/2014/main" id="{3A35727F-B426-A300-C51F-BCED5E2DF5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8738" y="1062583"/>
            <a:ext cx="1980882" cy="2377058"/>
          </a:xfrm>
          <a:prstGeom prst="rect">
            <a:avLst/>
          </a:prstGeom>
        </p:spPr>
      </p:pic>
      <p:sp>
        <p:nvSpPr>
          <p:cNvPr id="13" name="TextBox 12">
            <a:extLst>
              <a:ext uri="{FF2B5EF4-FFF2-40B4-BE49-F238E27FC236}">
                <a16:creationId xmlns:a16="http://schemas.microsoft.com/office/drawing/2014/main" id="{21ABDFF7-F957-9A4D-573B-02B73817703E}"/>
              </a:ext>
            </a:extLst>
          </p:cNvPr>
          <p:cNvSpPr txBox="1"/>
          <p:nvPr/>
        </p:nvSpPr>
        <p:spPr>
          <a:xfrm>
            <a:off x="260304" y="3285589"/>
            <a:ext cx="3443583" cy="1323439"/>
          </a:xfrm>
          <a:prstGeom prst="rect">
            <a:avLst/>
          </a:prstGeom>
          <a:noFill/>
        </p:spPr>
        <p:txBody>
          <a:bodyPr wrap="square" rtlCol="0">
            <a:spAutoFit/>
          </a:bodyPr>
          <a:lstStyle/>
          <a:p>
            <a:pPr algn="ctr"/>
            <a:r>
              <a:rPr lang="en-GB" sz="2000" noProof="0" dirty="0">
                <a:solidFill>
                  <a:srgbClr val="002570"/>
                </a:solidFill>
                <a:latin typeface="OpenDyslexicAlta" panose="00000500000000000000" pitchFamily="50" charset="0"/>
              </a:rPr>
              <a:t>A scammer sends an email to the victim pretending to be from their bank.</a:t>
            </a:r>
          </a:p>
        </p:txBody>
      </p:sp>
      <p:pic>
        <p:nvPicPr>
          <p:cNvPr id="14" name="Picture 13" descr="WEbsite">
            <a:extLst>
              <a:ext uri="{FF2B5EF4-FFF2-40B4-BE49-F238E27FC236}">
                <a16:creationId xmlns:a16="http://schemas.microsoft.com/office/drawing/2014/main" id="{42E0B66A-B037-0607-B67B-71C4DB7841F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235491" y="1253243"/>
            <a:ext cx="1524320" cy="1399891"/>
          </a:xfrm>
          <a:prstGeom prst="rect">
            <a:avLst/>
          </a:prstGeom>
        </p:spPr>
      </p:pic>
      <p:sp>
        <p:nvSpPr>
          <p:cNvPr id="15" name="TextBox 14">
            <a:extLst>
              <a:ext uri="{FF2B5EF4-FFF2-40B4-BE49-F238E27FC236}">
                <a16:creationId xmlns:a16="http://schemas.microsoft.com/office/drawing/2014/main" id="{CE05CB4D-EC08-E8DB-BB36-DFF9E1874C5F}"/>
              </a:ext>
            </a:extLst>
          </p:cNvPr>
          <p:cNvSpPr txBox="1"/>
          <p:nvPr/>
        </p:nvSpPr>
        <p:spPr>
          <a:xfrm>
            <a:off x="6848164" y="1326836"/>
            <a:ext cx="3092785" cy="1631216"/>
          </a:xfrm>
          <a:prstGeom prst="rect">
            <a:avLst/>
          </a:prstGeom>
          <a:noFill/>
        </p:spPr>
        <p:txBody>
          <a:bodyPr wrap="square" rtlCol="0">
            <a:spAutoFit/>
          </a:bodyPr>
          <a:lstStyle/>
          <a:p>
            <a:pPr algn="ctr"/>
            <a:r>
              <a:rPr lang="en-GB" sz="2000" noProof="0" dirty="0">
                <a:solidFill>
                  <a:srgbClr val="002570"/>
                </a:solidFill>
                <a:latin typeface="OpenDyslexicAlta" panose="00000500000000000000" pitchFamily="50" charset="0"/>
              </a:rPr>
              <a:t>The email asks them to click on a link to a fake website pretending to be their bank.</a:t>
            </a:r>
          </a:p>
        </p:txBody>
      </p:sp>
      <p:pic>
        <p:nvPicPr>
          <p:cNvPr id="16" name="Picture 15" descr="Credit card">
            <a:extLst>
              <a:ext uri="{FF2B5EF4-FFF2-40B4-BE49-F238E27FC236}">
                <a16:creationId xmlns:a16="http://schemas.microsoft.com/office/drawing/2014/main" id="{1E1DFDC3-34DC-AA87-43BC-4AC9A2131D0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7344413" y="4450722"/>
            <a:ext cx="1524320" cy="1096803"/>
          </a:xfrm>
          <a:prstGeom prst="rect">
            <a:avLst/>
          </a:prstGeom>
        </p:spPr>
      </p:pic>
      <p:sp>
        <p:nvSpPr>
          <p:cNvPr id="17" name="TextBox 16">
            <a:extLst>
              <a:ext uri="{FF2B5EF4-FFF2-40B4-BE49-F238E27FC236}">
                <a16:creationId xmlns:a16="http://schemas.microsoft.com/office/drawing/2014/main" id="{CCED46A8-5FD8-8BFB-D2C6-1DE59422AE7E}"/>
              </a:ext>
            </a:extLst>
          </p:cNvPr>
          <p:cNvSpPr txBox="1"/>
          <p:nvPr/>
        </p:nvSpPr>
        <p:spPr>
          <a:xfrm>
            <a:off x="8157110" y="3234111"/>
            <a:ext cx="4034890" cy="1323439"/>
          </a:xfrm>
          <a:prstGeom prst="rect">
            <a:avLst/>
          </a:prstGeom>
          <a:noFill/>
        </p:spPr>
        <p:txBody>
          <a:bodyPr wrap="square" rtlCol="0">
            <a:spAutoFit/>
          </a:bodyPr>
          <a:lstStyle/>
          <a:p>
            <a:pPr algn="ctr"/>
            <a:r>
              <a:rPr lang="en-GB" sz="2000" noProof="0" dirty="0">
                <a:solidFill>
                  <a:srgbClr val="002570"/>
                </a:solidFill>
                <a:latin typeface="OpenDyslexicAlta" panose="00000500000000000000" pitchFamily="50" charset="0"/>
              </a:rPr>
              <a:t>The victim  clicks on the link. The fake website asks them to enter their bank details to log in.</a:t>
            </a:r>
          </a:p>
        </p:txBody>
      </p:sp>
      <p:sp>
        <p:nvSpPr>
          <p:cNvPr id="18" name="TextBox 17">
            <a:extLst>
              <a:ext uri="{FF2B5EF4-FFF2-40B4-BE49-F238E27FC236}">
                <a16:creationId xmlns:a16="http://schemas.microsoft.com/office/drawing/2014/main" id="{21F01F76-8F90-EB24-4ABB-BB91B788C921}"/>
              </a:ext>
            </a:extLst>
          </p:cNvPr>
          <p:cNvSpPr txBox="1"/>
          <p:nvPr/>
        </p:nvSpPr>
        <p:spPr>
          <a:xfrm>
            <a:off x="2957478" y="4987082"/>
            <a:ext cx="3934515" cy="1323439"/>
          </a:xfrm>
          <a:prstGeom prst="rect">
            <a:avLst/>
          </a:prstGeom>
          <a:noFill/>
        </p:spPr>
        <p:txBody>
          <a:bodyPr wrap="square" rtlCol="0">
            <a:spAutoFit/>
          </a:bodyPr>
          <a:lstStyle/>
          <a:p>
            <a:pPr algn="ctr"/>
            <a:r>
              <a:rPr lang="en-GB" sz="2000" noProof="0" dirty="0">
                <a:solidFill>
                  <a:srgbClr val="002570"/>
                </a:solidFill>
                <a:latin typeface="OpenDyslexicAlta" panose="00000500000000000000" pitchFamily="50" charset="0"/>
              </a:rPr>
              <a:t>The details are sent to the scammer who uses them to steal money from the bank account.</a:t>
            </a:r>
          </a:p>
        </p:txBody>
      </p:sp>
      <p:sp>
        <p:nvSpPr>
          <p:cNvPr id="19" name="TextBox 18">
            <a:extLst>
              <a:ext uri="{FF2B5EF4-FFF2-40B4-BE49-F238E27FC236}">
                <a16:creationId xmlns:a16="http://schemas.microsoft.com/office/drawing/2014/main" id="{831860A4-3B4B-D4E2-0B6A-78468CFDB39E}"/>
              </a:ext>
            </a:extLst>
          </p:cNvPr>
          <p:cNvSpPr txBox="1"/>
          <p:nvPr/>
        </p:nvSpPr>
        <p:spPr>
          <a:xfrm>
            <a:off x="4015649" y="3437808"/>
            <a:ext cx="3443583" cy="1015663"/>
          </a:xfrm>
          <a:prstGeom prst="rect">
            <a:avLst/>
          </a:prstGeom>
          <a:noFill/>
        </p:spPr>
        <p:txBody>
          <a:bodyPr wrap="square" rtlCol="0">
            <a:spAutoFit/>
          </a:bodyPr>
          <a:lstStyle/>
          <a:p>
            <a:pPr algn="ctr"/>
            <a:r>
              <a:rPr lang="en-GB" sz="2000" noProof="0" dirty="0">
                <a:solidFill>
                  <a:srgbClr val="002570"/>
                </a:solidFill>
                <a:latin typeface="OpenDyslexicAlta" panose="00000500000000000000" pitchFamily="50" charset="0"/>
              </a:rPr>
              <a:t>The victim believes it is from their bank and opens the email.</a:t>
            </a:r>
          </a:p>
        </p:txBody>
      </p:sp>
      <p:sp>
        <p:nvSpPr>
          <p:cNvPr id="20" name="TextBox 19">
            <a:extLst>
              <a:ext uri="{FF2B5EF4-FFF2-40B4-BE49-F238E27FC236}">
                <a16:creationId xmlns:a16="http://schemas.microsoft.com/office/drawing/2014/main" id="{0885B8FA-C2E5-FF48-5268-2FBA6FAFF853}"/>
              </a:ext>
            </a:extLst>
          </p:cNvPr>
          <p:cNvSpPr txBox="1"/>
          <p:nvPr/>
        </p:nvSpPr>
        <p:spPr>
          <a:xfrm>
            <a:off x="8726835" y="4962741"/>
            <a:ext cx="2914181" cy="707886"/>
          </a:xfrm>
          <a:prstGeom prst="rect">
            <a:avLst/>
          </a:prstGeom>
          <a:noFill/>
        </p:spPr>
        <p:txBody>
          <a:bodyPr wrap="square" rtlCol="0">
            <a:spAutoFit/>
          </a:bodyPr>
          <a:lstStyle/>
          <a:p>
            <a:pPr algn="ctr"/>
            <a:r>
              <a:rPr lang="en-GB" sz="2000" noProof="0" dirty="0">
                <a:solidFill>
                  <a:srgbClr val="002570"/>
                </a:solidFill>
                <a:latin typeface="OpenDyslexicAlta" panose="00000500000000000000" pitchFamily="50" charset="0"/>
              </a:rPr>
              <a:t>The user inputs their bank details.</a:t>
            </a:r>
          </a:p>
        </p:txBody>
      </p:sp>
      <p:cxnSp>
        <p:nvCxnSpPr>
          <p:cNvPr id="28" name="Straight Arrow Connector 27">
            <a:extLst>
              <a:ext uri="{FF2B5EF4-FFF2-40B4-BE49-F238E27FC236}">
                <a16:creationId xmlns:a16="http://schemas.microsoft.com/office/drawing/2014/main" id="{CFC2A400-1D80-B631-B257-280F6C654290}"/>
              </a:ext>
              <a:ext uri="{C183D7F6-B498-43B3-948B-1728B52AA6E4}">
                <adec:decorative xmlns:adec="http://schemas.microsoft.com/office/drawing/2017/decorative" val="1"/>
              </a:ext>
            </a:extLst>
          </p:cNvPr>
          <p:cNvCxnSpPr/>
          <p:nvPr/>
        </p:nvCxnSpPr>
        <p:spPr>
          <a:xfrm>
            <a:off x="1756881" y="2387836"/>
            <a:ext cx="838509" cy="0"/>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DDF2B30D-7516-3946-A122-612712DAA7DD}"/>
              </a:ext>
              <a:ext uri="{C183D7F6-B498-43B3-948B-1728B52AA6E4}">
                <adec:decorative xmlns:adec="http://schemas.microsoft.com/office/drawing/2017/decorative" val="1"/>
              </a:ext>
            </a:extLst>
          </p:cNvPr>
          <p:cNvCxnSpPr/>
          <p:nvPr/>
        </p:nvCxnSpPr>
        <p:spPr>
          <a:xfrm>
            <a:off x="4230194" y="2370712"/>
            <a:ext cx="838509" cy="0"/>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Curved 30">
            <a:extLst>
              <a:ext uri="{FF2B5EF4-FFF2-40B4-BE49-F238E27FC236}">
                <a16:creationId xmlns:a16="http://schemas.microsoft.com/office/drawing/2014/main" id="{D0FCCE5B-DA34-D071-4E79-335B82AFC617}"/>
              </a:ext>
              <a:ext uri="{C183D7F6-B498-43B3-948B-1728B52AA6E4}">
                <adec:decorative xmlns:adec="http://schemas.microsoft.com/office/drawing/2017/decorative" val="1"/>
              </a:ext>
            </a:extLst>
          </p:cNvPr>
          <p:cNvCxnSpPr>
            <a:cxnSpLocks/>
          </p:cNvCxnSpPr>
          <p:nvPr/>
        </p:nvCxnSpPr>
        <p:spPr>
          <a:xfrm flipV="1">
            <a:off x="6096000" y="1731237"/>
            <a:ext cx="752164" cy="699945"/>
          </a:xfrm>
          <a:prstGeom prst="curvedConnector3">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22DA0CD-7524-61AB-78FB-3D9C37A39DB8}"/>
              </a:ext>
              <a:ext uri="{C183D7F6-B498-43B3-948B-1728B52AA6E4}">
                <adec:decorative xmlns:adec="http://schemas.microsoft.com/office/drawing/2017/decorative" val="1"/>
              </a:ext>
            </a:extLst>
          </p:cNvPr>
          <p:cNvCxnSpPr>
            <a:cxnSpLocks/>
            <a:stCxn id="17" idx="2"/>
            <a:endCxn id="20" idx="0"/>
          </p:cNvCxnSpPr>
          <p:nvPr/>
        </p:nvCxnSpPr>
        <p:spPr>
          <a:xfrm>
            <a:off x="10174555" y="4557550"/>
            <a:ext cx="9371" cy="405191"/>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Curved 42">
            <a:extLst>
              <a:ext uri="{FF2B5EF4-FFF2-40B4-BE49-F238E27FC236}">
                <a16:creationId xmlns:a16="http://schemas.microsoft.com/office/drawing/2014/main" id="{2B0551A5-98D8-4B5D-DBA4-A948CE747545}"/>
              </a:ext>
              <a:ext uri="{C183D7F6-B498-43B3-948B-1728B52AA6E4}">
                <adec:decorative xmlns:adec="http://schemas.microsoft.com/office/drawing/2017/decorative" val="1"/>
              </a:ext>
            </a:extLst>
          </p:cNvPr>
          <p:cNvCxnSpPr>
            <a:cxnSpLocks/>
            <a:stCxn id="20" idx="2"/>
            <a:endCxn id="18" idx="3"/>
          </p:cNvCxnSpPr>
          <p:nvPr/>
        </p:nvCxnSpPr>
        <p:spPr>
          <a:xfrm rot="5400000" flipH="1">
            <a:off x="8527047" y="4013749"/>
            <a:ext cx="21825" cy="3291933"/>
          </a:xfrm>
          <a:prstGeom prst="curvedConnector4">
            <a:avLst>
              <a:gd name="adj1" fmla="val -1047423"/>
              <a:gd name="adj2" fmla="val 7213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54" name="Free-form: Shape 53">
            <a:extLst>
              <a:ext uri="{FF2B5EF4-FFF2-40B4-BE49-F238E27FC236}">
                <a16:creationId xmlns:a16="http://schemas.microsoft.com/office/drawing/2014/main" id="{EFD6C9AD-6C5A-DA81-5420-2ED7964B9A82}"/>
              </a:ext>
              <a:ext uri="{C183D7F6-B498-43B3-948B-1728B52AA6E4}">
                <adec:decorative xmlns:adec="http://schemas.microsoft.com/office/drawing/2017/decorative" val="1"/>
              </a:ext>
            </a:extLst>
          </p:cNvPr>
          <p:cNvSpPr/>
          <p:nvPr/>
        </p:nvSpPr>
        <p:spPr>
          <a:xfrm>
            <a:off x="1890445" y="2944353"/>
            <a:ext cx="2547991" cy="2018065"/>
          </a:xfrm>
          <a:custGeom>
            <a:avLst/>
            <a:gdLst>
              <a:gd name="connsiteX0" fmla="*/ 2547991 w 2547991"/>
              <a:gd name="connsiteY0" fmla="*/ 1941816 h 1941816"/>
              <a:gd name="connsiteX1" fmla="*/ 2075380 w 2547991"/>
              <a:gd name="connsiteY1" fmla="*/ 1058238 h 1941816"/>
              <a:gd name="connsiteX2" fmla="*/ 1859622 w 2547991"/>
              <a:gd name="connsiteY2" fmla="*/ 215758 h 1941816"/>
              <a:gd name="connsiteX3" fmla="*/ 0 w 2547991"/>
              <a:gd name="connsiteY3" fmla="*/ 0 h 1941816"/>
              <a:gd name="connsiteX4" fmla="*/ 0 w 2547991"/>
              <a:gd name="connsiteY4" fmla="*/ 0 h 1941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991" h="1941816">
                <a:moveTo>
                  <a:pt x="2547991" y="1941816"/>
                </a:moveTo>
                <a:cubicBezTo>
                  <a:pt x="2369049" y="1643865"/>
                  <a:pt x="2190108" y="1345914"/>
                  <a:pt x="2075380" y="1058238"/>
                </a:cubicBezTo>
                <a:cubicBezTo>
                  <a:pt x="1960652" y="770562"/>
                  <a:pt x="2205519" y="392131"/>
                  <a:pt x="1859622" y="215758"/>
                </a:cubicBezTo>
                <a:cubicBezTo>
                  <a:pt x="1513725" y="39385"/>
                  <a:pt x="0" y="0"/>
                  <a:pt x="0" y="0"/>
                </a:cubicBezTo>
                <a:lnTo>
                  <a:pt x="0" y="0"/>
                </a:lnTo>
              </a:path>
            </a:pathLst>
          </a:custGeom>
          <a:noFill/>
          <a:ln w="76200">
            <a:solidFill>
              <a:srgbClr val="C0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56" name="Straight Arrow Connector 55">
            <a:extLst>
              <a:ext uri="{FF2B5EF4-FFF2-40B4-BE49-F238E27FC236}">
                <a16:creationId xmlns:a16="http://schemas.microsoft.com/office/drawing/2014/main" id="{FE34F0AF-A905-3C5F-E67C-709CAFF3DF91}"/>
              </a:ext>
              <a:ext uri="{C183D7F6-B498-43B3-948B-1728B52AA6E4}">
                <adec:decorative xmlns:adec="http://schemas.microsoft.com/office/drawing/2017/decorative" val="1"/>
              </a:ext>
            </a:extLst>
          </p:cNvPr>
          <p:cNvCxnSpPr>
            <a:cxnSpLocks/>
          </p:cNvCxnSpPr>
          <p:nvPr/>
        </p:nvCxnSpPr>
        <p:spPr>
          <a:xfrm flipH="1" flipV="1">
            <a:off x="2351303" y="5786316"/>
            <a:ext cx="606175" cy="24879"/>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59" name="Free-form: Shape 58">
            <a:extLst>
              <a:ext uri="{FF2B5EF4-FFF2-40B4-BE49-F238E27FC236}">
                <a16:creationId xmlns:a16="http://schemas.microsoft.com/office/drawing/2014/main" id="{86812F87-2E52-28CD-3ACA-D940C4639E48}"/>
              </a:ext>
              <a:ext uri="{C183D7F6-B498-43B3-948B-1728B52AA6E4}">
                <adec:decorative xmlns:adec="http://schemas.microsoft.com/office/drawing/2017/decorative" val="1"/>
              </a:ext>
            </a:extLst>
          </p:cNvPr>
          <p:cNvSpPr/>
          <p:nvPr/>
        </p:nvSpPr>
        <p:spPr>
          <a:xfrm>
            <a:off x="8428755" y="2948527"/>
            <a:ext cx="1980882" cy="278004"/>
          </a:xfrm>
          <a:custGeom>
            <a:avLst/>
            <a:gdLst>
              <a:gd name="connsiteX0" fmla="*/ 2547991 w 2547991"/>
              <a:gd name="connsiteY0" fmla="*/ 1941816 h 1941816"/>
              <a:gd name="connsiteX1" fmla="*/ 2075380 w 2547991"/>
              <a:gd name="connsiteY1" fmla="*/ 1058238 h 1941816"/>
              <a:gd name="connsiteX2" fmla="*/ 1859622 w 2547991"/>
              <a:gd name="connsiteY2" fmla="*/ 215758 h 1941816"/>
              <a:gd name="connsiteX3" fmla="*/ 0 w 2547991"/>
              <a:gd name="connsiteY3" fmla="*/ 0 h 1941816"/>
              <a:gd name="connsiteX4" fmla="*/ 0 w 2547991"/>
              <a:gd name="connsiteY4" fmla="*/ 0 h 1941816"/>
              <a:gd name="connsiteX0" fmla="*/ 2188395 w 2188395"/>
              <a:gd name="connsiteY0" fmla="*/ 1289343 h 1289343"/>
              <a:gd name="connsiteX1" fmla="*/ 2075380 w 2188395"/>
              <a:gd name="connsiteY1" fmla="*/ 1058238 h 1289343"/>
              <a:gd name="connsiteX2" fmla="*/ 1859622 w 2188395"/>
              <a:gd name="connsiteY2" fmla="*/ 215758 h 1289343"/>
              <a:gd name="connsiteX3" fmla="*/ 0 w 2188395"/>
              <a:gd name="connsiteY3" fmla="*/ 0 h 1289343"/>
              <a:gd name="connsiteX4" fmla="*/ 0 w 2188395"/>
              <a:gd name="connsiteY4" fmla="*/ 0 h 1289343"/>
              <a:gd name="connsiteX0" fmla="*/ 2188395 w 2188395"/>
              <a:gd name="connsiteY0" fmla="*/ 1289343 h 1289343"/>
              <a:gd name="connsiteX1" fmla="*/ 1859622 w 2188395"/>
              <a:gd name="connsiteY1" fmla="*/ 215758 h 1289343"/>
              <a:gd name="connsiteX2" fmla="*/ 0 w 2188395"/>
              <a:gd name="connsiteY2" fmla="*/ 0 h 1289343"/>
              <a:gd name="connsiteX3" fmla="*/ 0 w 2188395"/>
              <a:gd name="connsiteY3" fmla="*/ 0 h 1289343"/>
              <a:gd name="connsiteX0" fmla="*/ 1859622 w 1859622"/>
              <a:gd name="connsiteY0" fmla="*/ 215758 h 215758"/>
              <a:gd name="connsiteX1" fmla="*/ 0 w 1859622"/>
              <a:gd name="connsiteY1" fmla="*/ 0 h 215758"/>
              <a:gd name="connsiteX2" fmla="*/ 0 w 1859622"/>
              <a:gd name="connsiteY2" fmla="*/ 0 h 215758"/>
              <a:gd name="connsiteX0" fmla="*/ 1571946 w 1571946"/>
              <a:gd name="connsiteY0" fmla="*/ 52284 h 202307"/>
              <a:gd name="connsiteX1" fmla="*/ 0 w 1571946"/>
              <a:gd name="connsiteY1" fmla="*/ 202307 h 202307"/>
              <a:gd name="connsiteX2" fmla="*/ 0 w 1571946"/>
              <a:gd name="connsiteY2" fmla="*/ 202307 h 202307"/>
              <a:gd name="connsiteX0" fmla="*/ 1571946 w 2301411"/>
              <a:gd name="connsiteY0" fmla="*/ 52284 h 637290"/>
              <a:gd name="connsiteX1" fmla="*/ 0 w 2301411"/>
              <a:gd name="connsiteY1" fmla="*/ 202307 h 637290"/>
              <a:gd name="connsiteX2" fmla="*/ 2301411 w 2301411"/>
              <a:gd name="connsiteY2" fmla="*/ 637290 h 637290"/>
              <a:gd name="connsiteX0" fmla="*/ 66482 w 837044"/>
              <a:gd name="connsiteY0" fmla="*/ 44446 h 629452"/>
              <a:gd name="connsiteX1" fmla="*/ 837044 w 837044"/>
              <a:gd name="connsiteY1" fmla="*/ 273556 h 629452"/>
              <a:gd name="connsiteX2" fmla="*/ 795947 w 837044"/>
              <a:gd name="connsiteY2" fmla="*/ 629452 h 629452"/>
              <a:gd name="connsiteX0" fmla="*/ 42137 w 1593535"/>
              <a:gd name="connsiteY0" fmla="*/ 80560 h 428303"/>
              <a:gd name="connsiteX1" fmla="*/ 1593535 w 1593535"/>
              <a:gd name="connsiteY1" fmla="*/ 72407 h 428303"/>
              <a:gd name="connsiteX2" fmla="*/ 1552438 w 1593535"/>
              <a:gd name="connsiteY2" fmla="*/ 428303 h 428303"/>
              <a:gd name="connsiteX0" fmla="*/ 140 w 1551538"/>
              <a:gd name="connsiteY0" fmla="*/ 8153 h 355896"/>
              <a:gd name="connsiteX1" fmla="*/ 1551538 w 1551538"/>
              <a:gd name="connsiteY1" fmla="*/ 0 h 355896"/>
              <a:gd name="connsiteX2" fmla="*/ 1510441 w 1551538"/>
              <a:gd name="connsiteY2" fmla="*/ 355896 h 355896"/>
              <a:gd name="connsiteX0" fmla="*/ 140 w 1664553"/>
              <a:gd name="connsiteY0" fmla="*/ 8153 h 464642"/>
              <a:gd name="connsiteX1" fmla="*/ 1551538 w 1664553"/>
              <a:gd name="connsiteY1" fmla="*/ 0 h 464642"/>
              <a:gd name="connsiteX2" fmla="*/ 1664553 w 1664553"/>
              <a:gd name="connsiteY2" fmla="*/ 464642 h 464642"/>
              <a:gd name="connsiteX0" fmla="*/ 140 w 1677944"/>
              <a:gd name="connsiteY0" fmla="*/ 19397 h 475886"/>
              <a:gd name="connsiteX1" fmla="*/ 1551538 w 1677944"/>
              <a:gd name="connsiteY1" fmla="*/ 11244 h 475886"/>
              <a:gd name="connsiteX2" fmla="*/ 1664553 w 1677944"/>
              <a:gd name="connsiteY2" fmla="*/ 475886 h 475886"/>
              <a:gd name="connsiteX0" fmla="*/ 186 w 1664599"/>
              <a:gd name="connsiteY0" fmla="*/ 0 h 456489"/>
              <a:gd name="connsiteX1" fmla="*/ 1150892 w 1664599"/>
              <a:gd name="connsiteY1" fmla="*/ 90707 h 456489"/>
              <a:gd name="connsiteX2" fmla="*/ 1664599 w 1664599"/>
              <a:gd name="connsiteY2" fmla="*/ 456489 h 456489"/>
            </a:gdLst>
            <a:ahLst/>
            <a:cxnLst>
              <a:cxn ang="0">
                <a:pos x="connsiteX0" y="connsiteY0"/>
              </a:cxn>
              <a:cxn ang="0">
                <a:pos x="connsiteX1" y="connsiteY1"/>
              </a:cxn>
              <a:cxn ang="0">
                <a:pos x="connsiteX2" y="connsiteY2"/>
              </a:cxn>
            </a:cxnLst>
            <a:rect l="l" t="t" r="r" b="b"/>
            <a:pathLst>
              <a:path w="1664599" h="456489">
                <a:moveTo>
                  <a:pt x="186" y="0"/>
                </a:moveTo>
                <a:cubicBezTo>
                  <a:pt x="-16937" y="288267"/>
                  <a:pt x="1150892" y="90707"/>
                  <a:pt x="1150892" y="90707"/>
                </a:cubicBezTo>
                <a:cubicBezTo>
                  <a:pt x="1373499" y="8325"/>
                  <a:pt x="1626927" y="301608"/>
                  <a:pt x="1664599" y="456489"/>
                </a:cubicBezTo>
              </a:path>
            </a:pathLst>
          </a:custGeom>
          <a:noFill/>
          <a:ln w="76200">
            <a:solidFill>
              <a:srgbClr val="C0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7" name="Title 1">
            <a:extLst>
              <a:ext uri="{FF2B5EF4-FFF2-40B4-BE49-F238E27FC236}">
                <a16:creationId xmlns:a16="http://schemas.microsoft.com/office/drawing/2014/main" id="{B04E1C63-DF94-5193-DFBC-EB9D4F5E12E7}"/>
              </a:ext>
            </a:extLst>
          </p:cNvPr>
          <p:cNvSpPr>
            <a:spLocks noGrp="1"/>
          </p:cNvSpPr>
          <p:nvPr>
            <p:ph type="title"/>
          </p:nvPr>
        </p:nvSpPr>
        <p:spPr>
          <a:xfrm>
            <a:off x="414338" y="198438"/>
            <a:ext cx="11444287" cy="763587"/>
          </a:xfrm>
        </p:spPr>
        <p:txBody>
          <a:bodyPr/>
          <a:lstStyle/>
          <a:p>
            <a:r>
              <a:rPr lang="en-GB" noProof="0" dirty="0"/>
              <a:t>Scams and phishing</a:t>
            </a:r>
          </a:p>
        </p:txBody>
      </p:sp>
    </p:spTree>
    <p:extLst>
      <p:ext uri="{BB962C8B-B14F-4D97-AF65-F5344CB8AC3E}">
        <p14:creationId xmlns:p14="http://schemas.microsoft.com/office/powerpoint/2010/main" val="158547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19" grpId="0"/>
      <p:bldP spid="20" grpId="0"/>
      <p:bldP spid="54" grpId="0" animBg="1"/>
      <p:bldP spid="5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3608-5DD1-D150-4795-515DEBBF5EB1}"/>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C27AA487-63E8-65C4-18A7-6AD509F85D72}"/>
              </a:ext>
            </a:extLst>
          </p:cNvPr>
          <p:cNvGrpSpPr/>
          <p:nvPr/>
        </p:nvGrpSpPr>
        <p:grpSpPr>
          <a:xfrm>
            <a:off x="657547" y="1510301"/>
            <a:ext cx="10674849" cy="4715838"/>
            <a:chOff x="585627" y="1510301"/>
            <a:chExt cx="10674849" cy="4715838"/>
          </a:xfrm>
        </p:grpSpPr>
        <p:sp>
          <p:nvSpPr>
            <p:cNvPr id="22" name="Rectangle 21">
              <a:extLst>
                <a:ext uri="{FF2B5EF4-FFF2-40B4-BE49-F238E27FC236}">
                  <a16:creationId xmlns:a16="http://schemas.microsoft.com/office/drawing/2014/main" id="{5E14D35B-BE1C-9AAF-96E8-7F38973B0E5F}"/>
                </a:ext>
              </a:extLst>
            </p:cNvPr>
            <p:cNvSpPr/>
            <p:nvPr/>
          </p:nvSpPr>
          <p:spPr>
            <a:xfrm>
              <a:off x="585627" y="1510301"/>
              <a:ext cx="10674849" cy="471583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TextBox 22">
              <a:extLst>
                <a:ext uri="{FF2B5EF4-FFF2-40B4-BE49-F238E27FC236}">
                  <a16:creationId xmlns:a16="http://schemas.microsoft.com/office/drawing/2014/main" id="{0C9F8D5C-C8DD-2E81-88BF-24A7699A0F5C}"/>
                </a:ext>
              </a:extLst>
            </p:cNvPr>
            <p:cNvSpPr txBox="1"/>
            <p:nvPr/>
          </p:nvSpPr>
          <p:spPr>
            <a:xfrm>
              <a:off x="9676447" y="2280279"/>
              <a:ext cx="1380611" cy="307777"/>
            </a:xfrm>
            <a:prstGeom prst="rect">
              <a:avLst/>
            </a:prstGeom>
            <a:noFill/>
          </p:spPr>
          <p:txBody>
            <a:bodyPr wrap="square" rtlCol="0">
              <a:spAutoFit/>
            </a:bodyPr>
            <a:lstStyle/>
            <a:p>
              <a:pPr algn="ctr"/>
              <a:r>
                <a:rPr lang="en-GB" sz="1400" noProof="0" dirty="0"/>
                <a:t>Today 9:10 AM</a:t>
              </a:r>
            </a:p>
          </p:txBody>
        </p:sp>
        <p:pic>
          <p:nvPicPr>
            <p:cNvPr id="24" name="Picture 23">
              <a:extLst>
                <a:ext uri="{FF2B5EF4-FFF2-40B4-BE49-F238E27FC236}">
                  <a16:creationId xmlns:a16="http://schemas.microsoft.com/office/drawing/2014/main" id="{5612ED1E-91AC-D218-CBAE-518C2031150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890268" y="1561514"/>
              <a:ext cx="952970" cy="738664"/>
            </a:xfrm>
            <a:prstGeom prst="rect">
              <a:avLst/>
            </a:prstGeom>
          </p:spPr>
        </p:pic>
        <p:grpSp>
          <p:nvGrpSpPr>
            <p:cNvPr id="25" name="Group 24">
              <a:extLst>
                <a:ext uri="{FF2B5EF4-FFF2-40B4-BE49-F238E27FC236}">
                  <a16:creationId xmlns:a16="http://schemas.microsoft.com/office/drawing/2014/main" id="{69CA12B8-DD34-2787-5555-AFB542B51262}"/>
                </a:ext>
              </a:extLst>
            </p:cNvPr>
            <p:cNvGrpSpPr/>
            <p:nvPr/>
          </p:nvGrpSpPr>
          <p:grpSpPr>
            <a:xfrm>
              <a:off x="760287" y="1588006"/>
              <a:ext cx="10296770" cy="4638133"/>
              <a:chOff x="760287" y="1588006"/>
              <a:chExt cx="10296770" cy="4638133"/>
            </a:xfrm>
          </p:grpSpPr>
          <p:sp>
            <p:nvSpPr>
              <p:cNvPr id="26" name="TextBox 25">
                <a:extLst>
                  <a:ext uri="{FF2B5EF4-FFF2-40B4-BE49-F238E27FC236}">
                    <a16:creationId xmlns:a16="http://schemas.microsoft.com/office/drawing/2014/main" id="{C114713E-2EB2-B0ED-68E6-5DE569A1F55F}"/>
                  </a:ext>
                </a:extLst>
              </p:cNvPr>
              <p:cNvSpPr txBox="1"/>
              <p:nvPr/>
            </p:nvSpPr>
            <p:spPr>
              <a:xfrm>
                <a:off x="760288" y="2117966"/>
                <a:ext cx="4161033" cy="400110"/>
              </a:xfrm>
              <a:prstGeom prst="rect">
                <a:avLst/>
              </a:prstGeom>
              <a:noFill/>
            </p:spPr>
            <p:txBody>
              <a:bodyPr wrap="square" rtlCol="0">
                <a:spAutoFit/>
              </a:bodyPr>
              <a:lstStyle/>
              <a:p>
                <a:r>
                  <a:rPr lang="en-GB" sz="2000" b="1" noProof="0" dirty="0"/>
                  <a:t>To: </a:t>
                </a:r>
                <a:r>
                  <a:rPr lang="en-GB" sz="2000" noProof="0" dirty="0"/>
                  <a:t>jbloggs@gmail.com </a:t>
                </a:r>
              </a:p>
            </p:txBody>
          </p:sp>
          <p:sp>
            <p:nvSpPr>
              <p:cNvPr id="27" name="TextBox 26">
                <a:extLst>
                  <a:ext uri="{FF2B5EF4-FFF2-40B4-BE49-F238E27FC236}">
                    <a16:creationId xmlns:a16="http://schemas.microsoft.com/office/drawing/2014/main" id="{F3EE734F-55F1-B05E-5987-D1E10431E09C}"/>
                  </a:ext>
                </a:extLst>
              </p:cNvPr>
              <p:cNvSpPr txBox="1"/>
              <p:nvPr/>
            </p:nvSpPr>
            <p:spPr>
              <a:xfrm>
                <a:off x="760288" y="2487298"/>
                <a:ext cx="4161033" cy="400110"/>
              </a:xfrm>
              <a:prstGeom prst="rect">
                <a:avLst/>
              </a:prstGeom>
              <a:noFill/>
            </p:spPr>
            <p:txBody>
              <a:bodyPr wrap="square" rtlCol="0">
                <a:spAutoFit/>
              </a:bodyPr>
              <a:lstStyle/>
              <a:p>
                <a:r>
                  <a:rPr lang="en-GB" sz="2000" b="1" noProof="0" dirty="0"/>
                  <a:t>From: </a:t>
                </a:r>
                <a:r>
                  <a:rPr lang="en-GB" sz="2000" noProof="0" dirty="0"/>
                  <a:t>2843285401@mybank.com  </a:t>
                </a:r>
              </a:p>
            </p:txBody>
          </p:sp>
          <p:sp>
            <p:nvSpPr>
              <p:cNvPr id="28" name="TextBox 27">
                <a:extLst>
                  <a:ext uri="{FF2B5EF4-FFF2-40B4-BE49-F238E27FC236}">
                    <a16:creationId xmlns:a16="http://schemas.microsoft.com/office/drawing/2014/main" id="{759C3884-8EEA-011D-0322-3787184AF429}"/>
                  </a:ext>
                </a:extLst>
              </p:cNvPr>
              <p:cNvSpPr txBox="1"/>
              <p:nvPr/>
            </p:nvSpPr>
            <p:spPr>
              <a:xfrm>
                <a:off x="760287" y="1588006"/>
                <a:ext cx="8342615" cy="523220"/>
              </a:xfrm>
              <a:prstGeom prst="rect">
                <a:avLst/>
              </a:prstGeom>
              <a:noFill/>
            </p:spPr>
            <p:txBody>
              <a:bodyPr wrap="square" rtlCol="0">
                <a:spAutoFit/>
              </a:bodyPr>
              <a:lstStyle/>
              <a:p>
                <a:r>
                  <a:rPr lang="en-GB" sz="2800" b="1" i="0" noProof="0" dirty="0">
                    <a:solidFill>
                      <a:srgbClr val="000000"/>
                    </a:solidFill>
                    <a:effectLst/>
                    <a:latin typeface="Arial" panose="020B0604020202020204" pitchFamily="34" charset="0"/>
                    <a:cs typeface="Arial" panose="020B0604020202020204" pitchFamily="34" charset="0"/>
                  </a:rPr>
                  <a:t>Important: Your Account Has Been Locked!</a:t>
                </a:r>
                <a:r>
                  <a:rPr lang="en-GB" sz="2800" b="1" noProof="0" dirty="0">
                    <a:latin typeface="Arial" panose="020B0604020202020204" pitchFamily="34" charset="0"/>
                    <a:cs typeface="Arial" panose="020B0604020202020204" pitchFamily="34" charset="0"/>
                  </a:rPr>
                  <a:t> </a:t>
                </a:r>
              </a:p>
            </p:txBody>
          </p:sp>
          <p:sp>
            <p:nvSpPr>
              <p:cNvPr id="29" name="TextBox 28">
                <a:extLst>
                  <a:ext uri="{FF2B5EF4-FFF2-40B4-BE49-F238E27FC236}">
                    <a16:creationId xmlns:a16="http://schemas.microsoft.com/office/drawing/2014/main" id="{94C6ACC5-88A9-CEA3-361D-67952BD24614}"/>
                  </a:ext>
                </a:extLst>
              </p:cNvPr>
              <p:cNvSpPr txBox="1"/>
              <p:nvPr/>
            </p:nvSpPr>
            <p:spPr>
              <a:xfrm>
                <a:off x="760287" y="3086818"/>
                <a:ext cx="10296770" cy="3139321"/>
              </a:xfrm>
              <a:prstGeom prst="rect">
                <a:avLst/>
              </a:prstGeom>
              <a:noFill/>
            </p:spPr>
            <p:txBody>
              <a:bodyPr wrap="square" rtlCol="0">
                <a:spAutoFit/>
              </a:bodyPr>
              <a:lstStyle/>
              <a:p>
                <a:pPr algn="l"/>
                <a:r>
                  <a:rPr lang="en-GB" b="0" i="0" noProof="0" dirty="0">
                    <a:solidFill>
                      <a:srgbClr val="000000"/>
                    </a:solidFill>
                    <a:effectLst/>
                    <a:latin typeface="Arial" panose="020B0604020202020204" pitchFamily="34" charset="0"/>
                    <a:cs typeface="Arial" panose="020B0604020202020204" pitchFamily="34" charset="0"/>
                  </a:rPr>
                  <a:t>Dear Customer,</a:t>
                </a: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r>
                  <a:rPr lang="en-GB" b="0" i="0" noProof="0" dirty="0">
                    <a:solidFill>
                      <a:srgbClr val="000000"/>
                    </a:solidFill>
                    <a:effectLst/>
                    <a:latin typeface="Arial" panose="020B0604020202020204" pitchFamily="34" charset="0"/>
                    <a:cs typeface="Arial" panose="020B0604020202020204" pitchFamily="34" charset="0"/>
                  </a:rPr>
                  <a:t>We’ve noticed suspicious activity in your account. To protect your account, we’ve temporarily locked it. Please click the link below to verify your details and unlock your account.</a:t>
                </a: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endParaRPr lang="en-GB" noProof="0" dirty="0">
                  <a:solidFill>
                    <a:srgbClr val="000000"/>
                  </a:solidFill>
                  <a:latin typeface="Arial" panose="020B0604020202020204" pitchFamily="34" charset="0"/>
                  <a:cs typeface="Arial" panose="020B0604020202020204" pitchFamily="34" charset="0"/>
                </a:endParaRPr>
              </a:p>
              <a:p>
                <a:pPr algn="l"/>
                <a:r>
                  <a:rPr lang="en-GB" b="0" i="0" noProof="0" dirty="0">
                    <a:solidFill>
                      <a:srgbClr val="000000"/>
                    </a:solidFill>
                    <a:effectLst/>
                    <a:latin typeface="Arial" panose="020B0604020202020204" pitchFamily="34" charset="0"/>
                    <a:cs typeface="Arial" panose="020B0604020202020204" pitchFamily="34" charset="0"/>
                  </a:rPr>
                  <a:t>Thank you,</a:t>
                </a:r>
              </a:p>
              <a:p>
                <a:pPr algn="l"/>
                <a:r>
                  <a:rPr lang="en-GB" b="0" i="0" noProof="0" dirty="0">
                    <a:solidFill>
                      <a:srgbClr val="000000"/>
                    </a:solidFill>
                    <a:effectLst/>
                    <a:latin typeface="Arial" panose="020B0604020202020204" pitchFamily="34" charset="0"/>
                    <a:cs typeface="Arial" panose="020B0604020202020204" pitchFamily="34" charset="0"/>
                  </a:rPr>
                  <a:t>Your Bank</a:t>
                </a:r>
              </a:p>
              <a:p>
                <a:pPr>
                  <a:buNone/>
                </a:pPr>
                <a:br>
                  <a:rPr lang="en-GB" noProof="0" dirty="0">
                    <a:latin typeface="Arial" panose="020B0604020202020204" pitchFamily="34" charset="0"/>
                    <a:cs typeface="Arial" panose="020B0604020202020204" pitchFamily="34" charset="0"/>
                  </a:rPr>
                </a:br>
                <a:endParaRPr lang="en-GB" noProof="0" dirty="0">
                  <a:latin typeface="Arial" panose="020B0604020202020204" pitchFamily="34" charset="0"/>
                  <a:cs typeface="Arial" panose="020B0604020202020204" pitchFamily="34" charset="0"/>
                </a:endParaRPr>
              </a:p>
            </p:txBody>
          </p:sp>
          <p:sp>
            <p:nvSpPr>
              <p:cNvPr id="30" name="Rectangle: Rounded Corners 29">
                <a:extLst>
                  <a:ext uri="{FF2B5EF4-FFF2-40B4-BE49-F238E27FC236}">
                    <a16:creationId xmlns:a16="http://schemas.microsoft.com/office/drawing/2014/main" id="{9C69540D-FEFB-70D9-2C85-A22062E95FD5}"/>
                  </a:ext>
                </a:extLst>
              </p:cNvPr>
              <p:cNvSpPr/>
              <p:nvPr/>
            </p:nvSpPr>
            <p:spPr>
              <a:xfrm>
                <a:off x="859605" y="4427780"/>
                <a:ext cx="3784314" cy="457396"/>
              </a:xfrm>
              <a:prstGeom prst="roundRect">
                <a:avLst/>
              </a:prstGeom>
              <a:solidFill>
                <a:schemeClr val="accent4">
                  <a:lumMod val="40000"/>
                  <a:lumOff val="60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i="0" noProof="0" dirty="0">
                    <a:solidFill>
                      <a:srgbClr val="000000"/>
                    </a:solidFill>
                    <a:effectLst/>
                    <a:latin typeface="Arial" panose="020B0604020202020204" pitchFamily="34" charset="0"/>
                    <a:cs typeface="Arial" panose="020B0604020202020204" pitchFamily="34" charset="0"/>
                  </a:rPr>
                  <a:t>Click here to verify your account</a:t>
                </a:r>
                <a:endParaRPr lang="en-GB" sz="1600" b="1" noProof="0" dirty="0">
                  <a:latin typeface="Arial" panose="020B0604020202020204" pitchFamily="34" charset="0"/>
                  <a:cs typeface="Arial" panose="020B0604020202020204" pitchFamily="34" charset="0"/>
                </a:endParaRPr>
              </a:p>
            </p:txBody>
          </p:sp>
        </p:grpSp>
      </p:grpSp>
      <p:sp>
        <p:nvSpPr>
          <p:cNvPr id="2" name="TextBox 1">
            <a:extLst>
              <a:ext uri="{FF2B5EF4-FFF2-40B4-BE49-F238E27FC236}">
                <a16:creationId xmlns:a16="http://schemas.microsoft.com/office/drawing/2014/main" id="{B838EE56-3164-C447-5556-7CA1D4746870}"/>
              </a:ext>
            </a:extLst>
          </p:cNvPr>
          <p:cNvSpPr txBox="1"/>
          <p:nvPr/>
        </p:nvSpPr>
        <p:spPr>
          <a:xfrm>
            <a:off x="5314486" y="4732234"/>
            <a:ext cx="5412416" cy="830997"/>
          </a:xfrm>
          <a:prstGeom prst="rect">
            <a:avLst/>
          </a:prstGeom>
          <a:noFill/>
        </p:spPr>
        <p:txBody>
          <a:bodyPr wrap="square" rtlCol="0">
            <a:spAutoFit/>
          </a:bodyPr>
          <a:lstStyle/>
          <a:p>
            <a:r>
              <a:rPr lang="en-GB" sz="2400" noProof="0" dirty="0">
                <a:solidFill>
                  <a:srgbClr val="002570"/>
                </a:solidFill>
                <a:latin typeface="OpenDyslexicAlta" panose="00000500000000000000" pitchFamily="50" charset="0"/>
              </a:rPr>
              <a:t>The email doesn’t use their name (it says "Dear Customer").</a:t>
            </a:r>
          </a:p>
        </p:txBody>
      </p:sp>
      <p:sp>
        <p:nvSpPr>
          <p:cNvPr id="3" name="Oval 2">
            <a:extLst>
              <a:ext uri="{FF2B5EF4-FFF2-40B4-BE49-F238E27FC236}">
                <a16:creationId xmlns:a16="http://schemas.microsoft.com/office/drawing/2014/main" id="{3F2B0385-AD65-AFE0-CE73-4D9C2E5AC55C}"/>
              </a:ext>
            </a:extLst>
          </p:cNvPr>
          <p:cNvSpPr/>
          <p:nvPr/>
        </p:nvSpPr>
        <p:spPr>
          <a:xfrm>
            <a:off x="727754" y="2981097"/>
            <a:ext cx="2095928" cy="537147"/>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14" name="Straight Arrow Connector 13">
            <a:extLst>
              <a:ext uri="{FF2B5EF4-FFF2-40B4-BE49-F238E27FC236}">
                <a16:creationId xmlns:a16="http://schemas.microsoft.com/office/drawing/2014/main" id="{F5E4D8A5-A118-D172-15F7-E40410E5EBAC}"/>
              </a:ext>
            </a:extLst>
          </p:cNvPr>
          <p:cNvCxnSpPr>
            <a:cxnSpLocks/>
          </p:cNvCxnSpPr>
          <p:nvPr/>
        </p:nvCxnSpPr>
        <p:spPr>
          <a:xfrm flipH="1" flipV="1">
            <a:off x="2823682" y="3394680"/>
            <a:ext cx="2490804" cy="1483748"/>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34" name="Title 1">
            <a:extLst>
              <a:ext uri="{FF2B5EF4-FFF2-40B4-BE49-F238E27FC236}">
                <a16:creationId xmlns:a16="http://schemas.microsoft.com/office/drawing/2014/main" id="{3DB03C29-FC05-7899-315A-802D58543925}"/>
              </a:ext>
            </a:extLst>
          </p:cNvPr>
          <p:cNvSpPr>
            <a:spLocks noGrp="1"/>
          </p:cNvSpPr>
          <p:nvPr>
            <p:ph type="title"/>
          </p:nvPr>
        </p:nvSpPr>
        <p:spPr>
          <a:xfrm>
            <a:off x="414338" y="198438"/>
            <a:ext cx="11444287" cy="763587"/>
          </a:xfrm>
        </p:spPr>
        <p:txBody>
          <a:bodyPr/>
          <a:lstStyle/>
          <a:p>
            <a:r>
              <a:rPr lang="en-GB" noProof="0" dirty="0"/>
              <a:t>Scams and phishing</a:t>
            </a:r>
          </a:p>
        </p:txBody>
      </p:sp>
    </p:spTree>
    <p:extLst>
      <p:ext uri="{BB962C8B-B14F-4D97-AF65-F5344CB8AC3E}">
        <p14:creationId xmlns:p14="http://schemas.microsoft.com/office/powerpoint/2010/main" val="2964120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EC170-4CA1-95AD-5849-8A943FD3EA5E}"/>
            </a:ext>
          </a:extLst>
        </p:cNvPr>
        <p:cNvGrpSpPr/>
        <p:nvPr/>
      </p:nvGrpSpPr>
      <p:grpSpPr>
        <a:xfrm>
          <a:off x="0" y="0"/>
          <a:ext cx="0" cy="0"/>
          <a:chOff x="0" y="0"/>
          <a:chExt cx="0" cy="0"/>
        </a:xfrm>
      </p:grpSpPr>
      <p:grpSp>
        <p:nvGrpSpPr>
          <p:cNvPr id="22" name="Group 21">
            <a:extLst>
              <a:ext uri="{FF2B5EF4-FFF2-40B4-BE49-F238E27FC236}">
                <a16:creationId xmlns:a16="http://schemas.microsoft.com/office/drawing/2014/main" id="{7F885971-9FCD-2F4A-EAE3-782777C7716B}"/>
              </a:ext>
            </a:extLst>
          </p:cNvPr>
          <p:cNvGrpSpPr/>
          <p:nvPr/>
        </p:nvGrpSpPr>
        <p:grpSpPr>
          <a:xfrm>
            <a:off x="657547" y="1510301"/>
            <a:ext cx="10674849" cy="4715838"/>
            <a:chOff x="585627" y="1510301"/>
            <a:chExt cx="10674849" cy="4715838"/>
          </a:xfrm>
        </p:grpSpPr>
        <p:sp>
          <p:nvSpPr>
            <p:cNvPr id="23" name="Rectangle 22">
              <a:extLst>
                <a:ext uri="{FF2B5EF4-FFF2-40B4-BE49-F238E27FC236}">
                  <a16:creationId xmlns:a16="http://schemas.microsoft.com/office/drawing/2014/main" id="{8CB7A02D-8A75-F1AF-9FB4-2E041EC3B350}"/>
                </a:ext>
              </a:extLst>
            </p:cNvPr>
            <p:cNvSpPr/>
            <p:nvPr/>
          </p:nvSpPr>
          <p:spPr>
            <a:xfrm>
              <a:off x="585627" y="1510301"/>
              <a:ext cx="10674849" cy="471583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TextBox 23">
              <a:extLst>
                <a:ext uri="{FF2B5EF4-FFF2-40B4-BE49-F238E27FC236}">
                  <a16:creationId xmlns:a16="http://schemas.microsoft.com/office/drawing/2014/main" id="{B2352142-857B-EF9D-B91D-AF9FB7F75F9F}"/>
                </a:ext>
              </a:extLst>
            </p:cNvPr>
            <p:cNvSpPr txBox="1"/>
            <p:nvPr/>
          </p:nvSpPr>
          <p:spPr>
            <a:xfrm>
              <a:off x="9676447" y="2280279"/>
              <a:ext cx="1380611" cy="307777"/>
            </a:xfrm>
            <a:prstGeom prst="rect">
              <a:avLst/>
            </a:prstGeom>
            <a:noFill/>
          </p:spPr>
          <p:txBody>
            <a:bodyPr wrap="square" rtlCol="0">
              <a:spAutoFit/>
            </a:bodyPr>
            <a:lstStyle/>
            <a:p>
              <a:pPr algn="ctr"/>
              <a:r>
                <a:rPr lang="en-GB" sz="1400" noProof="0" dirty="0"/>
                <a:t>Today 9:10 AM</a:t>
              </a:r>
            </a:p>
          </p:txBody>
        </p:sp>
        <p:pic>
          <p:nvPicPr>
            <p:cNvPr id="25" name="Picture 24">
              <a:extLst>
                <a:ext uri="{FF2B5EF4-FFF2-40B4-BE49-F238E27FC236}">
                  <a16:creationId xmlns:a16="http://schemas.microsoft.com/office/drawing/2014/main" id="{D5011A85-9C68-081E-5BFD-87E26698438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890268" y="1561514"/>
              <a:ext cx="952970" cy="738664"/>
            </a:xfrm>
            <a:prstGeom prst="rect">
              <a:avLst/>
            </a:prstGeom>
          </p:spPr>
        </p:pic>
        <p:grpSp>
          <p:nvGrpSpPr>
            <p:cNvPr id="26" name="Group 25">
              <a:extLst>
                <a:ext uri="{FF2B5EF4-FFF2-40B4-BE49-F238E27FC236}">
                  <a16:creationId xmlns:a16="http://schemas.microsoft.com/office/drawing/2014/main" id="{395843E6-5E77-408C-6A05-AA268F23BBEA}"/>
                </a:ext>
              </a:extLst>
            </p:cNvPr>
            <p:cNvGrpSpPr/>
            <p:nvPr/>
          </p:nvGrpSpPr>
          <p:grpSpPr>
            <a:xfrm>
              <a:off x="760287" y="1588006"/>
              <a:ext cx="10296770" cy="4638133"/>
              <a:chOff x="760287" y="1588006"/>
              <a:chExt cx="10296770" cy="4638133"/>
            </a:xfrm>
          </p:grpSpPr>
          <p:sp>
            <p:nvSpPr>
              <p:cNvPr id="27" name="TextBox 26">
                <a:extLst>
                  <a:ext uri="{FF2B5EF4-FFF2-40B4-BE49-F238E27FC236}">
                    <a16:creationId xmlns:a16="http://schemas.microsoft.com/office/drawing/2014/main" id="{C0B592BB-4E8D-8FDF-A7A7-DF507425ACD2}"/>
                  </a:ext>
                </a:extLst>
              </p:cNvPr>
              <p:cNvSpPr txBox="1"/>
              <p:nvPr/>
            </p:nvSpPr>
            <p:spPr>
              <a:xfrm>
                <a:off x="760288" y="2117966"/>
                <a:ext cx="4161033" cy="400110"/>
              </a:xfrm>
              <a:prstGeom prst="rect">
                <a:avLst/>
              </a:prstGeom>
              <a:noFill/>
            </p:spPr>
            <p:txBody>
              <a:bodyPr wrap="square" rtlCol="0">
                <a:spAutoFit/>
              </a:bodyPr>
              <a:lstStyle/>
              <a:p>
                <a:r>
                  <a:rPr lang="en-GB" sz="2000" b="1" noProof="0" dirty="0"/>
                  <a:t>To: </a:t>
                </a:r>
                <a:r>
                  <a:rPr lang="en-GB" sz="2000" noProof="0" dirty="0"/>
                  <a:t>jbloggs@gmail.com </a:t>
                </a:r>
              </a:p>
            </p:txBody>
          </p:sp>
          <p:sp>
            <p:nvSpPr>
              <p:cNvPr id="28" name="TextBox 27">
                <a:extLst>
                  <a:ext uri="{FF2B5EF4-FFF2-40B4-BE49-F238E27FC236}">
                    <a16:creationId xmlns:a16="http://schemas.microsoft.com/office/drawing/2014/main" id="{2621A3D7-1047-EE0D-DBDF-D222AD494EF8}"/>
                  </a:ext>
                </a:extLst>
              </p:cNvPr>
              <p:cNvSpPr txBox="1"/>
              <p:nvPr/>
            </p:nvSpPr>
            <p:spPr>
              <a:xfrm>
                <a:off x="760288" y="2487298"/>
                <a:ext cx="4161033" cy="400110"/>
              </a:xfrm>
              <a:prstGeom prst="rect">
                <a:avLst/>
              </a:prstGeom>
              <a:noFill/>
            </p:spPr>
            <p:txBody>
              <a:bodyPr wrap="square" rtlCol="0">
                <a:spAutoFit/>
              </a:bodyPr>
              <a:lstStyle/>
              <a:p>
                <a:r>
                  <a:rPr lang="en-GB" sz="2000" b="1" noProof="0" dirty="0"/>
                  <a:t>From: </a:t>
                </a:r>
                <a:r>
                  <a:rPr lang="en-GB" sz="2000" noProof="0" dirty="0"/>
                  <a:t>2843285401@mybank.com  </a:t>
                </a:r>
              </a:p>
            </p:txBody>
          </p:sp>
          <p:sp>
            <p:nvSpPr>
              <p:cNvPr id="29" name="TextBox 28">
                <a:extLst>
                  <a:ext uri="{FF2B5EF4-FFF2-40B4-BE49-F238E27FC236}">
                    <a16:creationId xmlns:a16="http://schemas.microsoft.com/office/drawing/2014/main" id="{16DCB2A3-5BDD-E8F6-6C3E-240D65468F6E}"/>
                  </a:ext>
                </a:extLst>
              </p:cNvPr>
              <p:cNvSpPr txBox="1"/>
              <p:nvPr/>
            </p:nvSpPr>
            <p:spPr>
              <a:xfrm>
                <a:off x="760287" y="1588006"/>
                <a:ext cx="8342615" cy="523220"/>
              </a:xfrm>
              <a:prstGeom prst="rect">
                <a:avLst/>
              </a:prstGeom>
              <a:noFill/>
            </p:spPr>
            <p:txBody>
              <a:bodyPr wrap="square" rtlCol="0">
                <a:spAutoFit/>
              </a:bodyPr>
              <a:lstStyle/>
              <a:p>
                <a:r>
                  <a:rPr lang="en-GB" sz="2800" b="1" i="0" noProof="0" dirty="0">
                    <a:solidFill>
                      <a:srgbClr val="000000"/>
                    </a:solidFill>
                    <a:effectLst/>
                    <a:latin typeface="Arial" panose="020B0604020202020204" pitchFamily="34" charset="0"/>
                    <a:cs typeface="Arial" panose="020B0604020202020204" pitchFamily="34" charset="0"/>
                  </a:rPr>
                  <a:t>Important: Your Account Has Been Locked!</a:t>
                </a:r>
                <a:r>
                  <a:rPr lang="en-GB" sz="2800" b="1" noProof="0" dirty="0">
                    <a:latin typeface="Arial" panose="020B0604020202020204" pitchFamily="34" charset="0"/>
                    <a:cs typeface="Arial" panose="020B0604020202020204" pitchFamily="34" charset="0"/>
                  </a:rPr>
                  <a:t> </a:t>
                </a:r>
              </a:p>
            </p:txBody>
          </p:sp>
          <p:sp>
            <p:nvSpPr>
              <p:cNvPr id="30" name="TextBox 29">
                <a:extLst>
                  <a:ext uri="{FF2B5EF4-FFF2-40B4-BE49-F238E27FC236}">
                    <a16:creationId xmlns:a16="http://schemas.microsoft.com/office/drawing/2014/main" id="{E7D78AB5-A8C7-A855-3C32-F0BA98E8CD92}"/>
                  </a:ext>
                </a:extLst>
              </p:cNvPr>
              <p:cNvSpPr txBox="1"/>
              <p:nvPr/>
            </p:nvSpPr>
            <p:spPr>
              <a:xfrm>
                <a:off x="760287" y="3086818"/>
                <a:ext cx="10296770" cy="3139321"/>
              </a:xfrm>
              <a:prstGeom prst="rect">
                <a:avLst/>
              </a:prstGeom>
              <a:noFill/>
            </p:spPr>
            <p:txBody>
              <a:bodyPr wrap="square" rtlCol="0">
                <a:spAutoFit/>
              </a:bodyPr>
              <a:lstStyle/>
              <a:p>
                <a:pPr algn="l"/>
                <a:r>
                  <a:rPr lang="en-GB" b="0" i="0" noProof="0" dirty="0">
                    <a:solidFill>
                      <a:srgbClr val="000000"/>
                    </a:solidFill>
                    <a:effectLst/>
                    <a:latin typeface="Arial" panose="020B0604020202020204" pitchFamily="34" charset="0"/>
                    <a:cs typeface="Arial" panose="020B0604020202020204" pitchFamily="34" charset="0"/>
                  </a:rPr>
                  <a:t>Dear Customer,</a:t>
                </a: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r>
                  <a:rPr lang="en-GB" b="0" i="0" noProof="0" dirty="0">
                    <a:solidFill>
                      <a:srgbClr val="000000"/>
                    </a:solidFill>
                    <a:effectLst/>
                    <a:latin typeface="Arial" panose="020B0604020202020204" pitchFamily="34" charset="0"/>
                    <a:cs typeface="Arial" panose="020B0604020202020204" pitchFamily="34" charset="0"/>
                  </a:rPr>
                  <a:t>We’ve noticed suspicious activity in your account. To protect your account, we’ve temporarily locked it. Please click the link below to verify your details and unlock your account.</a:t>
                </a: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endParaRPr lang="en-GB" noProof="0" dirty="0">
                  <a:solidFill>
                    <a:srgbClr val="000000"/>
                  </a:solidFill>
                  <a:latin typeface="Arial" panose="020B0604020202020204" pitchFamily="34" charset="0"/>
                  <a:cs typeface="Arial" panose="020B0604020202020204" pitchFamily="34" charset="0"/>
                </a:endParaRPr>
              </a:p>
              <a:p>
                <a:pPr algn="l"/>
                <a:r>
                  <a:rPr lang="en-GB" b="0" i="0" noProof="0" dirty="0">
                    <a:solidFill>
                      <a:srgbClr val="000000"/>
                    </a:solidFill>
                    <a:effectLst/>
                    <a:latin typeface="Arial" panose="020B0604020202020204" pitchFamily="34" charset="0"/>
                    <a:cs typeface="Arial" panose="020B0604020202020204" pitchFamily="34" charset="0"/>
                  </a:rPr>
                  <a:t>Thank you,</a:t>
                </a:r>
              </a:p>
              <a:p>
                <a:pPr algn="l"/>
                <a:r>
                  <a:rPr lang="en-GB" b="0" i="0" noProof="0" dirty="0">
                    <a:solidFill>
                      <a:srgbClr val="000000"/>
                    </a:solidFill>
                    <a:effectLst/>
                    <a:latin typeface="Arial" panose="020B0604020202020204" pitchFamily="34" charset="0"/>
                    <a:cs typeface="Arial" panose="020B0604020202020204" pitchFamily="34" charset="0"/>
                  </a:rPr>
                  <a:t>Your Bank</a:t>
                </a:r>
              </a:p>
              <a:p>
                <a:pPr>
                  <a:buNone/>
                </a:pPr>
                <a:br>
                  <a:rPr lang="en-GB" noProof="0" dirty="0">
                    <a:latin typeface="Arial" panose="020B0604020202020204" pitchFamily="34" charset="0"/>
                    <a:cs typeface="Arial" panose="020B0604020202020204" pitchFamily="34" charset="0"/>
                  </a:rPr>
                </a:br>
                <a:endParaRPr lang="en-GB" noProof="0" dirty="0">
                  <a:latin typeface="Arial" panose="020B0604020202020204" pitchFamily="34" charset="0"/>
                  <a:cs typeface="Arial" panose="020B0604020202020204" pitchFamily="34" charset="0"/>
                </a:endParaRPr>
              </a:p>
            </p:txBody>
          </p:sp>
          <p:sp>
            <p:nvSpPr>
              <p:cNvPr id="31" name="Rectangle: Rounded Corners 30">
                <a:extLst>
                  <a:ext uri="{FF2B5EF4-FFF2-40B4-BE49-F238E27FC236}">
                    <a16:creationId xmlns:a16="http://schemas.microsoft.com/office/drawing/2014/main" id="{31529051-C161-AD8A-E5CC-51AFAAB345F4}"/>
                  </a:ext>
                </a:extLst>
              </p:cNvPr>
              <p:cNvSpPr/>
              <p:nvPr/>
            </p:nvSpPr>
            <p:spPr>
              <a:xfrm>
                <a:off x="859605" y="4427780"/>
                <a:ext cx="3784314" cy="457396"/>
              </a:xfrm>
              <a:prstGeom prst="roundRect">
                <a:avLst/>
              </a:prstGeom>
              <a:solidFill>
                <a:schemeClr val="accent4">
                  <a:lumMod val="40000"/>
                  <a:lumOff val="60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i="0" noProof="0" dirty="0">
                    <a:solidFill>
                      <a:srgbClr val="000000"/>
                    </a:solidFill>
                    <a:effectLst/>
                    <a:latin typeface="Arial" panose="020B0604020202020204" pitchFamily="34" charset="0"/>
                    <a:cs typeface="Arial" panose="020B0604020202020204" pitchFamily="34" charset="0"/>
                  </a:rPr>
                  <a:t>Click here to verify your account</a:t>
                </a:r>
                <a:endParaRPr lang="en-GB" sz="1600" b="1" noProof="0" dirty="0">
                  <a:latin typeface="Arial" panose="020B0604020202020204" pitchFamily="34" charset="0"/>
                  <a:cs typeface="Arial" panose="020B0604020202020204" pitchFamily="34" charset="0"/>
                </a:endParaRPr>
              </a:p>
            </p:txBody>
          </p:sp>
        </p:grpSp>
      </p:grpSp>
      <p:sp>
        <p:nvSpPr>
          <p:cNvPr id="2" name="TextBox 1">
            <a:extLst>
              <a:ext uri="{FF2B5EF4-FFF2-40B4-BE49-F238E27FC236}">
                <a16:creationId xmlns:a16="http://schemas.microsoft.com/office/drawing/2014/main" id="{F3A2D722-15A1-0CF0-D975-743F4A9834C6}"/>
              </a:ext>
            </a:extLst>
          </p:cNvPr>
          <p:cNvSpPr txBox="1"/>
          <p:nvPr/>
        </p:nvSpPr>
        <p:spPr>
          <a:xfrm>
            <a:off x="5384690" y="2638042"/>
            <a:ext cx="5412416" cy="830997"/>
          </a:xfrm>
          <a:prstGeom prst="rect">
            <a:avLst/>
          </a:prstGeom>
          <a:noFill/>
        </p:spPr>
        <p:txBody>
          <a:bodyPr wrap="square" rtlCol="0">
            <a:spAutoFit/>
          </a:bodyPr>
          <a:lstStyle/>
          <a:p>
            <a:r>
              <a:rPr lang="en-GB" sz="2400" noProof="0" dirty="0">
                <a:solidFill>
                  <a:srgbClr val="002570"/>
                </a:solidFill>
                <a:latin typeface="OpenDyslexicAlta" panose="00000500000000000000" pitchFamily="50" charset="0"/>
              </a:rPr>
              <a:t>It creates panic by saying your account is locked.</a:t>
            </a:r>
          </a:p>
        </p:txBody>
      </p:sp>
      <p:sp>
        <p:nvSpPr>
          <p:cNvPr id="3" name="Oval 2">
            <a:extLst>
              <a:ext uri="{FF2B5EF4-FFF2-40B4-BE49-F238E27FC236}">
                <a16:creationId xmlns:a16="http://schemas.microsoft.com/office/drawing/2014/main" id="{C9325EBE-0876-A7AD-FC57-F117CDC1FBB3}"/>
              </a:ext>
            </a:extLst>
          </p:cNvPr>
          <p:cNvSpPr/>
          <p:nvPr/>
        </p:nvSpPr>
        <p:spPr>
          <a:xfrm>
            <a:off x="603039" y="1431945"/>
            <a:ext cx="8243010" cy="835341"/>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14" name="Straight Arrow Connector 13">
            <a:extLst>
              <a:ext uri="{FF2B5EF4-FFF2-40B4-BE49-F238E27FC236}">
                <a16:creationId xmlns:a16="http://schemas.microsoft.com/office/drawing/2014/main" id="{2430ED4A-DBA9-2148-783D-AC760E151375}"/>
              </a:ext>
            </a:extLst>
          </p:cNvPr>
          <p:cNvCxnSpPr>
            <a:cxnSpLocks/>
          </p:cNvCxnSpPr>
          <p:nvPr/>
        </p:nvCxnSpPr>
        <p:spPr>
          <a:xfrm flipH="1" flipV="1">
            <a:off x="7109717" y="2267286"/>
            <a:ext cx="189166" cy="337702"/>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35" name="Title 1">
            <a:extLst>
              <a:ext uri="{FF2B5EF4-FFF2-40B4-BE49-F238E27FC236}">
                <a16:creationId xmlns:a16="http://schemas.microsoft.com/office/drawing/2014/main" id="{1495B0E9-A2E5-EE77-796C-995AC5E5564B}"/>
              </a:ext>
            </a:extLst>
          </p:cNvPr>
          <p:cNvSpPr>
            <a:spLocks noGrp="1"/>
          </p:cNvSpPr>
          <p:nvPr>
            <p:ph type="title"/>
          </p:nvPr>
        </p:nvSpPr>
        <p:spPr>
          <a:xfrm>
            <a:off x="414338" y="198438"/>
            <a:ext cx="11444287" cy="763587"/>
          </a:xfrm>
        </p:spPr>
        <p:txBody>
          <a:bodyPr/>
          <a:lstStyle/>
          <a:p>
            <a:r>
              <a:rPr lang="en-GB" noProof="0" dirty="0"/>
              <a:t>Scams and phishing</a:t>
            </a:r>
          </a:p>
        </p:txBody>
      </p:sp>
    </p:spTree>
    <p:extLst>
      <p:ext uri="{BB962C8B-B14F-4D97-AF65-F5344CB8AC3E}">
        <p14:creationId xmlns:p14="http://schemas.microsoft.com/office/powerpoint/2010/main" val="1606359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E7E52-BCF1-C7E1-E88E-45D5D86067C2}"/>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DA3B80C0-B215-F44C-4C03-60A69A8A1591}"/>
              </a:ext>
            </a:extLst>
          </p:cNvPr>
          <p:cNvGrpSpPr/>
          <p:nvPr/>
        </p:nvGrpSpPr>
        <p:grpSpPr>
          <a:xfrm>
            <a:off x="657547" y="1510301"/>
            <a:ext cx="10674849" cy="4715838"/>
            <a:chOff x="585627" y="1510301"/>
            <a:chExt cx="10674849" cy="4715838"/>
          </a:xfrm>
        </p:grpSpPr>
        <p:sp>
          <p:nvSpPr>
            <p:cNvPr id="25" name="Rectangle 24">
              <a:extLst>
                <a:ext uri="{FF2B5EF4-FFF2-40B4-BE49-F238E27FC236}">
                  <a16:creationId xmlns:a16="http://schemas.microsoft.com/office/drawing/2014/main" id="{8CEDC3C9-1DE4-A97E-ACA6-2BEFE7EAC90B}"/>
                </a:ext>
              </a:extLst>
            </p:cNvPr>
            <p:cNvSpPr/>
            <p:nvPr/>
          </p:nvSpPr>
          <p:spPr>
            <a:xfrm>
              <a:off x="585627" y="1510301"/>
              <a:ext cx="10674849" cy="471583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TextBox 25">
              <a:extLst>
                <a:ext uri="{FF2B5EF4-FFF2-40B4-BE49-F238E27FC236}">
                  <a16:creationId xmlns:a16="http://schemas.microsoft.com/office/drawing/2014/main" id="{FBA2E07E-9D1D-2D38-5A4B-0AE518AACCF2}"/>
                </a:ext>
              </a:extLst>
            </p:cNvPr>
            <p:cNvSpPr txBox="1"/>
            <p:nvPr/>
          </p:nvSpPr>
          <p:spPr>
            <a:xfrm>
              <a:off x="9676447" y="2280279"/>
              <a:ext cx="1380611" cy="307777"/>
            </a:xfrm>
            <a:prstGeom prst="rect">
              <a:avLst/>
            </a:prstGeom>
            <a:noFill/>
          </p:spPr>
          <p:txBody>
            <a:bodyPr wrap="square" rtlCol="0">
              <a:spAutoFit/>
            </a:bodyPr>
            <a:lstStyle/>
            <a:p>
              <a:pPr algn="ctr"/>
              <a:r>
                <a:rPr lang="en-GB" sz="1400" noProof="0" dirty="0"/>
                <a:t>Today 9:10 AM</a:t>
              </a:r>
            </a:p>
          </p:txBody>
        </p:sp>
        <p:pic>
          <p:nvPicPr>
            <p:cNvPr id="27" name="Picture 26">
              <a:extLst>
                <a:ext uri="{FF2B5EF4-FFF2-40B4-BE49-F238E27FC236}">
                  <a16:creationId xmlns:a16="http://schemas.microsoft.com/office/drawing/2014/main" id="{8FA69F7A-AE7F-9F47-C3A8-898A73A7BFD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890268" y="1561514"/>
              <a:ext cx="952970" cy="738664"/>
            </a:xfrm>
            <a:prstGeom prst="rect">
              <a:avLst/>
            </a:prstGeom>
          </p:spPr>
        </p:pic>
        <p:grpSp>
          <p:nvGrpSpPr>
            <p:cNvPr id="28" name="Group 27">
              <a:extLst>
                <a:ext uri="{FF2B5EF4-FFF2-40B4-BE49-F238E27FC236}">
                  <a16:creationId xmlns:a16="http://schemas.microsoft.com/office/drawing/2014/main" id="{B9715E08-62EB-7C1F-476F-80CBCE18AB65}"/>
                </a:ext>
              </a:extLst>
            </p:cNvPr>
            <p:cNvGrpSpPr/>
            <p:nvPr/>
          </p:nvGrpSpPr>
          <p:grpSpPr>
            <a:xfrm>
              <a:off x="760287" y="1588006"/>
              <a:ext cx="10296770" cy="4638133"/>
              <a:chOff x="760287" y="1588006"/>
              <a:chExt cx="10296770" cy="4638133"/>
            </a:xfrm>
          </p:grpSpPr>
          <p:sp>
            <p:nvSpPr>
              <p:cNvPr id="29" name="TextBox 28">
                <a:extLst>
                  <a:ext uri="{FF2B5EF4-FFF2-40B4-BE49-F238E27FC236}">
                    <a16:creationId xmlns:a16="http://schemas.microsoft.com/office/drawing/2014/main" id="{B09EDFC8-A2F9-AA0E-74B5-0B4E3A0BA944}"/>
                  </a:ext>
                </a:extLst>
              </p:cNvPr>
              <p:cNvSpPr txBox="1"/>
              <p:nvPr/>
            </p:nvSpPr>
            <p:spPr>
              <a:xfrm>
                <a:off x="760288" y="2117966"/>
                <a:ext cx="4161033" cy="400110"/>
              </a:xfrm>
              <a:prstGeom prst="rect">
                <a:avLst/>
              </a:prstGeom>
              <a:noFill/>
            </p:spPr>
            <p:txBody>
              <a:bodyPr wrap="square" rtlCol="0">
                <a:spAutoFit/>
              </a:bodyPr>
              <a:lstStyle/>
              <a:p>
                <a:r>
                  <a:rPr lang="en-GB" sz="2000" b="1" noProof="0" dirty="0"/>
                  <a:t>To: </a:t>
                </a:r>
                <a:r>
                  <a:rPr lang="en-GB" sz="2000" noProof="0" dirty="0"/>
                  <a:t>jbloggs@gmail.com </a:t>
                </a:r>
              </a:p>
            </p:txBody>
          </p:sp>
          <p:sp>
            <p:nvSpPr>
              <p:cNvPr id="30" name="TextBox 29">
                <a:extLst>
                  <a:ext uri="{FF2B5EF4-FFF2-40B4-BE49-F238E27FC236}">
                    <a16:creationId xmlns:a16="http://schemas.microsoft.com/office/drawing/2014/main" id="{3B35D7C7-99F1-586C-D4B4-6C95305085CC}"/>
                  </a:ext>
                </a:extLst>
              </p:cNvPr>
              <p:cNvSpPr txBox="1"/>
              <p:nvPr/>
            </p:nvSpPr>
            <p:spPr>
              <a:xfrm>
                <a:off x="760288" y="2487298"/>
                <a:ext cx="4161033" cy="400110"/>
              </a:xfrm>
              <a:prstGeom prst="rect">
                <a:avLst/>
              </a:prstGeom>
              <a:noFill/>
            </p:spPr>
            <p:txBody>
              <a:bodyPr wrap="square" rtlCol="0">
                <a:spAutoFit/>
              </a:bodyPr>
              <a:lstStyle/>
              <a:p>
                <a:r>
                  <a:rPr lang="en-GB" sz="2000" b="1" noProof="0" dirty="0"/>
                  <a:t>From: </a:t>
                </a:r>
                <a:r>
                  <a:rPr lang="en-GB" sz="2000" noProof="0" dirty="0"/>
                  <a:t>2843285401@mybank.com  </a:t>
                </a:r>
              </a:p>
            </p:txBody>
          </p:sp>
          <p:sp>
            <p:nvSpPr>
              <p:cNvPr id="31" name="TextBox 30">
                <a:extLst>
                  <a:ext uri="{FF2B5EF4-FFF2-40B4-BE49-F238E27FC236}">
                    <a16:creationId xmlns:a16="http://schemas.microsoft.com/office/drawing/2014/main" id="{857B46B3-C54F-FDF6-A487-ACCB51D05946}"/>
                  </a:ext>
                </a:extLst>
              </p:cNvPr>
              <p:cNvSpPr txBox="1"/>
              <p:nvPr/>
            </p:nvSpPr>
            <p:spPr>
              <a:xfrm>
                <a:off x="760287" y="1588006"/>
                <a:ext cx="8342615" cy="523220"/>
              </a:xfrm>
              <a:prstGeom prst="rect">
                <a:avLst/>
              </a:prstGeom>
              <a:noFill/>
            </p:spPr>
            <p:txBody>
              <a:bodyPr wrap="square" rtlCol="0">
                <a:spAutoFit/>
              </a:bodyPr>
              <a:lstStyle/>
              <a:p>
                <a:r>
                  <a:rPr lang="en-GB" sz="2800" b="1" i="0" noProof="0" dirty="0">
                    <a:solidFill>
                      <a:srgbClr val="000000"/>
                    </a:solidFill>
                    <a:effectLst/>
                    <a:latin typeface="Arial" panose="020B0604020202020204" pitchFamily="34" charset="0"/>
                    <a:cs typeface="Arial" panose="020B0604020202020204" pitchFamily="34" charset="0"/>
                  </a:rPr>
                  <a:t>Important: Your Account Has Been Locked!</a:t>
                </a:r>
                <a:r>
                  <a:rPr lang="en-GB" sz="2800" b="1" noProof="0" dirty="0">
                    <a:latin typeface="Arial" panose="020B0604020202020204" pitchFamily="34" charset="0"/>
                    <a:cs typeface="Arial" panose="020B0604020202020204" pitchFamily="34" charset="0"/>
                  </a:rPr>
                  <a:t> </a:t>
                </a:r>
              </a:p>
            </p:txBody>
          </p:sp>
          <p:sp>
            <p:nvSpPr>
              <p:cNvPr id="32" name="TextBox 31">
                <a:extLst>
                  <a:ext uri="{FF2B5EF4-FFF2-40B4-BE49-F238E27FC236}">
                    <a16:creationId xmlns:a16="http://schemas.microsoft.com/office/drawing/2014/main" id="{9CBA027D-F083-843B-8456-7755B1E57454}"/>
                  </a:ext>
                </a:extLst>
              </p:cNvPr>
              <p:cNvSpPr txBox="1"/>
              <p:nvPr/>
            </p:nvSpPr>
            <p:spPr>
              <a:xfrm>
                <a:off x="760287" y="3086818"/>
                <a:ext cx="10296770" cy="3139321"/>
              </a:xfrm>
              <a:prstGeom prst="rect">
                <a:avLst/>
              </a:prstGeom>
              <a:noFill/>
            </p:spPr>
            <p:txBody>
              <a:bodyPr wrap="square" rtlCol="0">
                <a:spAutoFit/>
              </a:bodyPr>
              <a:lstStyle/>
              <a:p>
                <a:pPr algn="l"/>
                <a:r>
                  <a:rPr lang="en-GB" b="0" i="0" noProof="0" dirty="0">
                    <a:solidFill>
                      <a:srgbClr val="000000"/>
                    </a:solidFill>
                    <a:effectLst/>
                    <a:latin typeface="Arial" panose="020B0604020202020204" pitchFamily="34" charset="0"/>
                    <a:cs typeface="Arial" panose="020B0604020202020204" pitchFamily="34" charset="0"/>
                  </a:rPr>
                  <a:t>Dear Customer,</a:t>
                </a: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r>
                  <a:rPr lang="en-GB" b="0" i="0" noProof="0" dirty="0">
                    <a:solidFill>
                      <a:srgbClr val="000000"/>
                    </a:solidFill>
                    <a:effectLst/>
                    <a:latin typeface="Arial" panose="020B0604020202020204" pitchFamily="34" charset="0"/>
                    <a:cs typeface="Arial" panose="020B0604020202020204" pitchFamily="34" charset="0"/>
                  </a:rPr>
                  <a:t>We’ve noticed suspicious activity in your account. To protect your account, we’ve temporarily locked it. Please click the link below to verify your details and unlock your account.</a:t>
                </a: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endParaRPr lang="en-GB" noProof="0" dirty="0">
                  <a:solidFill>
                    <a:srgbClr val="000000"/>
                  </a:solidFill>
                  <a:latin typeface="Arial" panose="020B0604020202020204" pitchFamily="34" charset="0"/>
                  <a:cs typeface="Arial" panose="020B0604020202020204" pitchFamily="34" charset="0"/>
                </a:endParaRPr>
              </a:p>
              <a:p>
                <a:pPr algn="l"/>
                <a:r>
                  <a:rPr lang="en-GB" b="0" i="0" noProof="0" dirty="0">
                    <a:solidFill>
                      <a:srgbClr val="000000"/>
                    </a:solidFill>
                    <a:effectLst/>
                    <a:latin typeface="Arial" panose="020B0604020202020204" pitchFamily="34" charset="0"/>
                    <a:cs typeface="Arial" panose="020B0604020202020204" pitchFamily="34" charset="0"/>
                  </a:rPr>
                  <a:t>Thank you,</a:t>
                </a:r>
              </a:p>
              <a:p>
                <a:pPr algn="l"/>
                <a:r>
                  <a:rPr lang="en-GB" b="0" i="0" noProof="0" dirty="0">
                    <a:solidFill>
                      <a:srgbClr val="000000"/>
                    </a:solidFill>
                    <a:effectLst/>
                    <a:latin typeface="Arial" panose="020B0604020202020204" pitchFamily="34" charset="0"/>
                    <a:cs typeface="Arial" panose="020B0604020202020204" pitchFamily="34" charset="0"/>
                  </a:rPr>
                  <a:t>Your Bank</a:t>
                </a:r>
              </a:p>
              <a:p>
                <a:pPr>
                  <a:buNone/>
                </a:pPr>
                <a:br>
                  <a:rPr lang="en-GB" noProof="0" dirty="0">
                    <a:latin typeface="Arial" panose="020B0604020202020204" pitchFamily="34" charset="0"/>
                    <a:cs typeface="Arial" panose="020B0604020202020204" pitchFamily="34" charset="0"/>
                  </a:rPr>
                </a:br>
                <a:endParaRPr lang="en-GB" noProof="0" dirty="0">
                  <a:latin typeface="Arial" panose="020B0604020202020204" pitchFamily="34" charset="0"/>
                  <a:cs typeface="Arial" panose="020B0604020202020204" pitchFamily="34" charset="0"/>
                </a:endParaRPr>
              </a:p>
            </p:txBody>
          </p:sp>
          <p:sp>
            <p:nvSpPr>
              <p:cNvPr id="33" name="Rectangle: Rounded Corners 32">
                <a:extLst>
                  <a:ext uri="{FF2B5EF4-FFF2-40B4-BE49-F238E27FC236}">
                    <a16:creationId xmlns:a16="http://schemas.microsoft.com/office/drawing/2014/main" id="{77CC11DF-E921-F877-B9BB-8B40A19395D0}"/>
                  </a:ext>
                </a:extLst>
              </p:cNvPr>
              <p:cNvSpPr/>
              <p:nvPr/>
            </p:nvSpPr>
            <p:spPr>
              <a:xfrm>
                <a:off x="859605" y="4427780"/>
                <a:ext cx="3784314" cy="457396"/>
              </a:xfrm>
              <a:prstGeom prst="roundRect">
                <a:avLst/>
              </a:prstGeom>
              <a:solidFill>
                <a:schemeClr val="accent4">
                  <a:lumMod val="40000"/>
                  <a:lumOff val="60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i="0" noProof="0" dirty="0">
                    <a:solidFill>
                      <a:srgbClr val="000000"/>
                    </a:solidFill>
                    <a:effectLst/>
                    <a:latin typeface="Arial" panose="020B0604020202020204" pitchFamily="34" charset="0"/>
                    <a:cs typeface="Arial" panose="020B0604020202020204" pitchFamily="34" charset="0"/>
                  </a:rPr>
                  <a:t>Click here to verify your account</a:t>
                </a:r>
                <a:endParaRPr lang="en-GB" sz="1600" b="1" noProof="0" dirty="0">
                  <a:latin typeface="Arial" panose="020B0604020202020204" pitchFamily="34" charset="0"/>
                  <a:cs typeface="Arial" panose="020B0604020202020204" pitchFamily="34" charset="0"/>
                </a:endParaRPr>
              </a:p>
            </p:txBody>
          </p:sp>
        </p:grpSp>
      </p:grpSp>
      <p:sp>
        <p:nvSpPr>
          <p:cNvPr id="2" name="TextBox 1">
            <a:extLst>
              <a:ext uri="{FF2B5EF4-FFF2-40B4-BE49-F238E27FC236}">
                <a16:creationId xmlns:a16="http://schemas.microsoft.com/office/drawing/2014/main" id="{6E4DDEC5-D15B-F6BC-DB8F-E1EDAD88C561}"/>
              </a:ext>
            </a:extLst>
          </p:cNvPr>
          <p:cNvSpPr txBox="1"/>
          <p:nvPr/>
        </p:nvSpPr>
        <p:spPr>
          <a:xfrm>
            <a:off x="5430822" y="4932200"/>
            <a:ext cx="5412416" cy="1200329"/>
          </a:xfrm>
          <a:prstGeom prst="rect">
            <a:avLst/>
          </a:prstGeom>
          <a:noFill/>
        </p:spPr>
        <p:txBody>
          <a:bodyPr wrap="square" rtlCol="0">
            <a:spAutoFit/>
          </a:bodyPr>
          <a:lstStyle/>
          <a:p>
            <a:r>
              <a:rPr lang="en-GB" sz="2400" noProof="0" dirty="0">
                <a:solidFill>
                  <a:srgbClr val="002570"/>
                </a:solidFill>
                <a:latin typeface="OpenDyslexicAlta" panose="00000500000000000000" pitchFamily="50" charset="0"/>
              </a:rPr>
              <a:t>The link is suspicious – banks don’t ask for details such as this.</a:t>
            </a:r>
          </a:p>
        </p:txBody>
      </p:sp>
      <p:sp>
        <p:nvSpPr>
          <p:cNvPr id="3" name="Oval 2">
            <a:extLst>
              <a:ext uri="{FF2B5EF4-FFF2-40B4-BE49-F238E27FC236}">
                <a16:creationId xmlns:a16="http://schemas.microsoft.com/office/drawing/2014/main" id="{26F2C281-9246-D75C-582E-63F29642694D}"/>
              </a:ext>
            </a:extLst>
          </p:cNvPr>
          <p:cNvSpPr/>
          <p:nvPr/>
        </p:nvSpPr>
        <p:spPr>
          <a:xfrm>
            <a:off x="743165" y="4231212"/>
            <a:ext cx="4161034" cy="835341"/>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14" name="Straight Arrow Connector 13">
            <a:extLst>
              <a:ext uri="{FF2B5EF4-FFF2-40B4-BE49-F238E27FC236}">
                <a16:creationId xmlns:a16="http://schemas.microsoft.com/office/drawing/2014/main" id="{38783ECD-00D0-D724-46A8-B4052AB0F2F3}"/>
              </a:ext>
            </a:extLst>
          </p:cNvPr>
          <p:cNvCxnSpPr>
            <a:cxnSpLocks/>
          </p:cNvCxnSpPr>
          <p:nvPr/>
        </p:nvCxnSpPr>
        <p:spPr>
          <a:xfrm flipH="1" flipV="1">
            <a:off x="4904199" y="4885176"/>
            <a:ext cx="526623" cy="242746"/>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37" name="Title 1">
            <a:extLst>
              <a:ext uri="{FF2B5EF4-FFF2-40B4-BE49-F238E27FC236}">
                <a16:creationId xmlns:a16="http://schemas.microsoft.com/office/drawing/2014/main" id="{9963E60D-8B65-AF26-D8E4-CEE878596BD5}"/>
              </a:ext>
            </a:extLst>
          </p:cNvPr>
          <p:cNvSpPr>
            <a:spLocks noGrp="1"/>
          </p:cNvSpPr>
          <p:nvPr>
            <p:ph type="title"/>
          </p:nvPr>
        </p:nvSpPr>
        <p:spPr>
          <a:xfrm>
            <a:off x="414338" y="198438"/>
            <a:ext cx="11444287" cy="763587"/>
          </a:xfrm>
        </p:spPr>
        <p:txBody>
          <a:bodyPr/>
          <a:lstStyle/>
          <a:p>
            <a:r>
              <a:rPr lang="en-GB" noProof="0" dirty="0"/>
              <a:t>Scams and phishing</a:t>
            </a:r>
          </a:p>
        </p:txBody>
      </p:sp>
    </p:spTree>
    <p:extLst>
      <p:ext uri="{BB962C8B-B14F-4D97-AF65-F5344CB8AC3E}">
        <p14:creationId xmlns:p14="http://schemas.microsoft.com/office/powerpoint/2010/main" val="1968481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FF036-8F9C-A89F-3D30-A580F0BDFA18}"/>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47E494AC-9423-A308-FA26-9509A3D52846}"/>
              </a:ext>
            </a:extLst>
          </p:cNvPr>
          <p:cNvGrpSpPr/>
          <p:nvPr/>
        </p:nvGrpSpPr>
        <p:grpSpPr>
          <a:xfrm>
            <a:off x="657547" y="1510301"/>
            <a:ext cx="10674849" cy="4715838"/>
            <a:chOff x="585627" y="1510301"/>
            <a:chExt cx="10674849" cy="4715838"/>
          </a:xfrm>
        </p:grpSpPr>
        <p:sp>
          <p:nvSpPr>
            <p:cNvPr id="18" name="Rectangle 17">
              <a:extLst>
                <a:ext uri="{FF2B5EF4-FFF2-40B4-BE49-F238E27FC236}">
                  <a16:creationId xmlns:a16="http://schemas.microsoft.com/office/drawing/2014/main" id="{FD2C7493-7D13-9A1C-4D3A-08A9F42C9113}"/>
                </a:ext>
              </a:extLst>
            </p:cNvPr>
            <p:cNvSpPr/>
            <p:nvPr/>
          </p:nvSpPr>
          <p:spPr>
            <a:xfrm>
              <a:off x="585627" y="1510301"/>
              <a:ext cx="10674849" cy="471583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TextBox 18">
              <a:extLst>
                <a:ext uri="{FF2B5EF4-FFF2-40B4-BE49-F238E27FC236}">
                  <a16:creationId xmlns:a16="http://schemas.microsoft.com/office/drawing/2014/main" id="{C2B3A3B5-B946-0F1D-1019-BBBBFD2EA4AF}"/>
                </a:ext>
              </a:extLst>
            </p:cNvPr>
            <p:cNvSpPr txBox="1"/>
            <p:nvPr/>
          </p:nvSpPr>
          <p:spPr>
            <a:xfrm>
              <a:off x="9676447" y="2280279"/>
              <a:ext cx="1380611" cy="307777"/>
            </a:xfrm>
            <a:prstGeom prst="rect">
              <a:avLst/>
            </a:prstGeom>
            <a:noFill/>
          </p:spPr>
          <p:txBody>
            <a:bodyPr wrap="square" rtlCol="0">
              <a:spAutoFit/>
            </a:bodyPr>
            <a:lstStyle/>
            <a:p>
              <a:pPr algn="ctr"/>
              <a:r>
                <a:rPr lang="en-GB" sz="1400" noProof="0" dirty="0"/>
                <a:t>Today 9:10 AM</a:t>
              </a:r>
            </a:p>
          </p:txBody>
        </p:sp>
        <p:pic>
          <p:nvPicPr>
            <p:cNvPr id="20" name="Picture 19">
              <a:extLst>
                <a:ext uri="{FF2B5EF4-FFF2-40B4-BE49-F238E27FC236}">
                  <a16:creationId xmlns:a16="http://schemas.microsoft.com/office/drawing/2014/main" id="{C2E18050-BBE2-201C-1AE8-AE1589535B0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890268" y="1561514"/>
              <a:ext cx="952970" cy="738664"/>
            </a:xfrm>
            <a:prstGeom prst="rect">
              <a:avLst/>
            </a:prstGeom>
          </p:spPr>
        </p:pic>
        <p:grpSp>
          <p:nvGrpSpPr>
            <p:cNvPr id="21" name="Group 20">
              <a:extLst>
                <a:ext uri="{FF2B5EF4-FFF2-40B4-BE49-F238E27FC236}">
                  <a16:creationId xmlns:a16="http://schemas.microsoft.com/office/drawing/2014/main" id="{95AEBDFB-F697-0E6E-A009-D1727F29B41D}"/>
                </a:ext>
              </a:extLst>
            </p:cNvPr>
            <p:cNvGrpSpPr/>
            <p:nvPr/>
          </p:nvGrpSpPr>
          <p:grpSpPr>
            <a:xfrm>
              <a:off x="760287" y="1588006"/>
              <a:ext cx="10296770" cy="4638133"/>
              <a:chOff x="760287" y="1588006"/>
              <a:chExt cx="10296770" cy="4638133"/>
            </a:xfrm>
          </p:grpSpPr>
          <p:sp>
            <p:nvSpPr>
              <p:cNvPr id="22" name="TextBox 21">
                <a:extLst>
                  <a:ext uri="{FF2B5EF4-FFF2-40B4-BE49-F238E27FC236}">
                    <a16:creationId xmlns:a16="http://schemas.microsoft.com/office/drawing/2014/main" id="{A49684F9-039E-901B-E100-01019D7B1C85}"/>
                  </a:ext>
                </a:extLst>
              </p:cNvPr>
              <p:cNvSpPr txBox="1"/>
              <p:nvPr/>
            </p:nvSpPr>
            <p:spPr>
              <a:xfrm>
                <a:off x="760288" y="2117966"/>
                <a:ext cx="4161033" cy="400110"/>
              </a:xfrm>
              <a:prstGeom prst="rect">
                <a:avLst/>
              </a:prstGeom>
              <a:noFill/>
            </p:spPr>
            <p:txBody>
              <a:bodyPr wrap="square" rtlCol="0">
                <a:spAutoFit/>
              </a:bodyPr>
              <a:lstStyle/>
              <a:p>
                <a:r>
                  <a:rPr lang="en-GB" sz="2000" b="1" noProof="0" dirty="0"/>
                  <a:t>To: </a:t>
                </a:r>
                <a:r>
                  <a:rPr lang="en-GB" sz="2000" noProof="0" dirty="0"/>
                  <a:t>jbloggs@gmail.com </a:t>
                </a:r>
              </a:p>
            </p:txBody>
          </p:sp>
          <p:sp>
            <p:nvSpPr>
              <p:cNvPr id="23" name="TextBox 22">
                <a:extLst>
                  <a:ext uri="{FF2B5EF4-FFF2-40B4-BE49-F238E27FC236}">
                    <a16:creationId xmlns:a16="http://schemas.microsoft.com/office/drawing/2014/main" id="{F1522764-14A0-A0F7-DD6B-F7A3799DBE3F}"/>
                  </a:ext>
                </a:extLst>
              </p:cNvPr>
              <p:cNvSpPr txBox="1"/>
              <p:nvPr/>
            </p:nvSpPr>
            <p:spPr>
              <a:xfrm>
                <a:off x="760288" y="2487298"/>
                <a:ext cx="4161033" cy="400110"/>
              </a:xfrm>
              <a:prstGeom prst="rect">
                <a:avLst/>
              </a:prstGeom>
              <a:noFill/>
            </p:spPr>
            <p:txBody>
              <a:bodyPr wrap="square" rtlCol="0">
                <a:spAutoFit/>
              </a:bodyPr>
              <a:lstStyle/>
              <a:p>
                <a:r>
                  <a:rPr lang="en-GB" sz="2000" b="1" noProof="0" dirty="0"/>
                  <a:t>From: </a:t>
                </a:r>
                <a:r>
                  <a:rPr lang="en-GB" sz="2000" noProof="0" dirty="0"/>
                  <a:t>2843285401@mybank.com  </a:t>
                </a:r>
              </a:p>
            </p:txBody>
          </p:sp>
          <p:sp>
            <p:nvSpPr>
              <p:cNvPr id="24" name="TextBox 23">
                <a:extLst>
                  <a:ext uri="{FF2B5EF4-FFF2-40B4-BE49-F238E27FC236}">
                    <a16:creationId xmlns:a16="http://schemas.microsoft.com/office/drawing/2014/main" id="{ABF3997B-9490-C3EE-DA8E-06BEAC08BD76}"/>
                  </a:ext>
                </a:extLst>
              </p:cNvPr>
              <p:cNvSpPr txBox="1"/>
              <p:nvPr/>
            </p:nvSpPr>
            <p:spPr>
              <a:xfrm>
                <a:off x="760287" y="1588006"/>
                <a:ext cx="8342615" cy="523220"/>
              </a:xfrm>
              <a:prstGeom prst="rect">
                <a:avLst/>
              </a:prstGeom>
              <a:noFill/>
            </p:spPr>
            <p:txBody>
              <a:bodyPr wrap="square" rtlCol="0">
                <a:spAutoFit/>
              </a:bodyPr>
              <a:lstStyle/>
              <a:p>
                <a:r>
                  <a:rPr lang="en-GB" sz="2800" b="1" i="0" noProof="0" dirty="0">
                    <a:solidFill>
                      <a:srgbClr val="000000"/>
                    </a:solidFill>
                    <a:effectLst/>
                    <a:latin typeface="Arial" panose="020B0604020202020204" pitchFamily="34" charset="0"/>
                    <a:cs typeface="Arial" panose="020B0604020202020204" pitchFamily="34" charset="0"/>
                  </a:rPr>
                  <a:t>Important: Your Account Has Been Locked!</a:t>
                </a:r>
                <a:r>
                  <a:rPr lang="en-GB" sz="2800" b="1" noProof="0" dirty="0">
                    <a:latin typeface="Arial" panose="020B0604020202020204" pitchFamily="34" charset="0"/>
                    <a:cs typeface="Arial" panose="020B0604020202020204" pitchFamily="34" charset="0"/>
                  </a:rPr>
                  <a:t> </a:t>
                </a:r>
              </a:p>
            </p:txBody>
          </p:sp>
          <p:sp>
            <p:nvSpPr>
              <p:cNvPr id="25" name="TextBox 24">
                <a:extLst>
                  <a:ext uri="{FF2B5EF4-FFF2-40B4-BE49-F238E27FC236}">
                    <a16:creationId xmlns:a16="http://schemas.microsoft.com/office/drawing/2014/main" id="{4F3C22BA-A6CE-72F0-63CE-1178EAFD5645}"/>
                  </a:ext>
                </a:extLst>
              </p:cNvPr>
              <p:cNvSpPr txBox="1"/>
              <p:nvPr/>
            </p:nvSpPr>
            <p:spPr>
              <a:xfrm>
                <a:off x="760287" y="3086818"/>
                <a:ext cx="10296770" cy="3139321"/>
              </a:xfrm>
              <a:prstGeom prst="rect">
                <a:avLst/>
              </a:prstGeom>
              <a:noFill/>
            </p:spPr>
            <p:txBody>
              <a:bodyPr wrap="square" rtlCol="0">
                <a:spAutoFit/>
              </a:bodyPr>
              <a:lstStyle/>
              <a:p>
                <a:pPr algn="l"/>
                <a:r>
                  <a:rPr lang="en-GB" b="0" i="0" noProof="0" dirty="0">
                    <a:solidFill>
                      <a:srgbClr val="000000"/>
                    </a:solidFill>
                    <a:effectLst/>
                    <a:latin typeface="Arial" panose="020B0604020202020204" pitchFamily="34" charset="0"/>
                    <a:cs typeface="Arial" panose="020B0604020202020204" pitchFamily="34" charset="0"/>
                  </a:rPr>
                  <a:t>Dear Customer,</a:t>
                </a: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r>
                  <a:rPr lang="en-GB" b="0" i="0" noProof="0" dirty="0">
                    <a:solidFill>
                      <a:srgbClr val="000000"/>
                    </a:solidFill>
                    <a:effectLst/>
                    <a:latin typeface="Arial" panose="020B0604020202020204" pitchFamily="34" charset="0"/>
                    <a:cs typeface="Arial" panose="020B0604020202020204" pitchFamily="34" charset="0"/>
                  </a:rPr>
                  <a:t>We’ve noticed suspicious activity in your account. To protect your account, we’ve temporarily locked it. Please click the link below to verify your details and unlock your account.</a:t>
                </a: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endParaRPr lang="en-GB" b="0" i="0" noProof="0" dirty="0">
                  <a:solidFill>
                    <a:srgbClr val="000000"/>
                  </a:solidFill>
                  <a:effectLst/>
                  <a:latin typeface="Arial" panose="020B0604020202020204" pitchFamily="34" charset="0"/>
                  <a:cs typeface="Arial" panose="020B0604020202020204" pitchFamily="34" charset="0"/>
                </a:endParaRPr>
              </a:p>
              <a:p>
                <a:pPr algn="l"/>
                <a:endParaRPr lang="en-GB" noProof="0" dirty="0">
                  <a:solidFill>
                    <a:srgbClr val="000000"/>
                  </a:solidFill>
                  <a:latin typeface="Arial" panose="020B0604020202020204" pitchFamily="34" charset="0"/>
                  <a:cs typeface="Arial" panose="020B0604020202020204" pitchFamily="34" charset="0"/>
                </a:endParaRPr>
              </a:p>
              <a:p>
                <a:pPr algn="l"/>
                <a:r>
                  <a:rPr lang="en-GB" b="0" i="0" noProof="0" dirty="0">
                    <a:solidFill>
                      <a:srgbClr val="000000"/>
                    </a:solidFill>
                    <a:effectLst/>
                    <a:latin typeface="Arial" panose="020B0604020202020204" pitchFamily="34" charset="0"/>
                    <a:cs typeface="Arial" panose="020B0604020202020204" pitchFamily="34" charset="0"/>
                  </a:rPr>
                  <a:t>Thank you,</a:t>
                </a:r>
              </a:p>
              <a:p>
                <a:pPr algn="l"/>
                <a:r>
                  <a:rPr lang="en-GB" b="0" i="0" noProof="0" dirty="0">
                    <a:solidFill>
                      <a:srgbClr val="000000"/>
                    </a:solidFill>
                    <a:effectLst/>
                    <a:latin typeface="Arial" panose="020B0604020202020204" pitchFamily="34" charset="0"/>
                    <a:cs typeface="Arial" panose="020B0604020202020204" pitchFamily="34" charset="0"/>
                  </a:rPr>
                  <a:t>Your Bank</a:t>
                </a:r>
              </a:p>
              <a:p>
                <a:pPr>
                  <a:buNone/>
                </a:pPr>
                <a:br>
                  <a:rPr lang="en-GB" noProof="0" dirty="0">
                    <a:latin typeface="Arial" panose="020B0604020202020204" pitchFamily="34" charset="0"/>
                    <a:cs typeface="Arial" panose="020B0604020202020204" pitchFamily="34" charset="0"/>
                  </a:rPr>
                </a:br>
                <a:endParaRPr lang="en-GB" noProof="0" dirty="0">
                  <a:latin typeface="Arial" panose="020B0604020202020204" pitchFamily="34" charset="0"/>
                  <a:cs typeface="Arial" panose="020B0604020202020204" pitchFamily="34" charset="0"/>
                </a:endParaRPr>
              </a:p>
            </p:txBody>
          </p:sp>
          <p:sp>
            <p:nvSpPr>
              <p:cNvPr id="26" name="Rectangle: Rounded Corners 25">
                <a:extLst>
                  <a:ext uri="{FF2B5EF4-FFF2-40B4-BE49-F238E27FC236}">
                    <a16:creationId xmlns:a16="http://schemas.microsoft.com/office/drawing/2014/main" id="{920D935A-3B2E-C59B-F2D8-1883AADE73AE}"/>
                  </a:ext>
                </a:extLst>
              </p:cNvPr>
              <p:cNvSpPr/>
              <p:nvPr/>
            </p:nvSpPr>
            <p:spPr>
              <a:xfrm>
                <a:off x="859605" y="4427780"/>
                <a:ext cx="3784314" cy="457396"/>
              </a:xfrm>
              <a:prstGeom prst="roundRect">
                <a:avLst/>
              </a:prstGeom>
              <a:solidFill>
                <a:schemeClr val="accent4">
                  <a:lumMod val="40000"/>
                  <a:lumOff val="60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i="0" noProof="0" dirty="0">
                    <a:solidFill>
                      <a:srgbClr val="000000"/>
                    </a:solidFill>
                    <a:effectLst/>
                    <a:latin typeface="Arial" panose="020B0604020202020204" pitchFamily="34" charset="0"/>
                    <a:cs typeface="Arial" panose="020B0604020202020204" pitchFamily="34" charset="0"/>
                  </a:rPr>
                  <a:t>Click here to verify your account</a:t>
                </a:r>
                <a:endParaRPr lang="en-GB" sz="1600" b="1" noProof="0" dirty="0">
                  <a:latin typeface="Arial" panose="020B0604020202020204" pitchFamily="34" charset="0"/>
                  <a:cs typeface="Arial" panose="020B0604020202020204" pitchFamily="34" charset="0"/>
                </a:endParaRPr>
              </a:p>
            </p:txBody>
          </p:sp>
        </p:grpSp>
      </p:grpSp>
      <p:sp>
        <p:nvSpPr>
          <p:cNvPr id="2" name="TextBox 1">
            <a:extLst>
              <a:ext uri="{FF2B5EF4-FFF2-40B4-BE49-F238E27FC236}">
                <a16:creationId xmlns:a16="http://schemas.microsoft.com/office/drawing/2014/main" id="{B619CAC9-B3A0-6484-3299-358D0F6996A3}"/>
              </a:ext>
            </a:extLst>
          </p:cNvPr>
          <p:cNvSpPr txBox="1"/>
          <p:nvPr/>
        </p:nvSpPr>
        <p:spPr>
          <a:xfrm>
            <a:off x="5509695" y="4575557"/>
            <a:ext cx="5412416" cy="1323439"/>
          </a:xfrm>
          <a:prstGeom prst="rect">
            <a:avLst/>
          </a:prstGeom>
          <a:noFill/>
        </p:spPr>
        <p:txBody>
          <a:bodyPr wrap="square" rtlCol="0">
            <a:spAutoFit/>
          </a:bodyPr>
          <a:lstStyle/>
          <a:p>
            <a:r>
              <a:rPr lang="en-GB" sz="3200" b="1" noProof="0" dirty="0">
                <a:solidFill>
                  <a:srgbClr val="C00000"/>
                </a:solidFill>
                <a:latin typeface="OpenDyslexicAlta" panose="00000500000000000000" pitchFamily="50" charset="0"/>
              </a:rPr>
              <a:t>Don’t click the link. </a:t>
            </a:r>
          </a:p>
          <a:p>
            <a:r>
              <a:rPr lang="en-GB" sz="2400" noProof="0" dirty="0">
                <a:solidFill>
                  <a:srgbClr val="002570"/>
                </a:solidFill>
                <a:latin typeface="OpenDyslexicAlta" panose="00000500000000000000" pitchFamily="50" charset="0"/>
              </a:rPr>
              <a:t>Go to your bank’s official website or call them directly.</a:t>
            </a:r>
          </a:p>
        </p:txBody>
      </p:sp>
      <p:sp>
        <p:nvSpPr>
          <p:cNvPr id="29" name="Title 1">
            <a:extLst>
              <a:ext uri="{FF2B5EF4-FFF2-40B4-BE49-F238E27FC236}">
                <a16:creationId xmlns:a16="http://schemas.microsoft.com/office/drawing/2014/main" id="{8743303B-3364-4F46-E9AC-EF80BB742B02}"/>
              </a:ext>
            </a:extLst>
          </p:cNvPr>
          <p:cNvSpPr>
            <a:spLocks noGrp="1"/>
          </p:cNvSpPr>
          <p:nvPr>
            <p:ph type="title"/>
          </p:nvPr>
        </p:nvSpPr>
        <p:spPr>
          <a:xfrm>
            <a:off x="414338" y="198438"/>
            <a:ext cx="11444287" cy="763587"/>
          </a:xfrm>
        </p:spPr>
        <p:txBody>
          <a:bodyPr/>
          <a:lstStyle/>
          <a:p>
            <a:r>
              <a:rPr lang="en-GB" noProof="0" dirty="0"/>
              <a:t>Scams and phishing</a:t>
            </a:r>
          </a:p>
        </p:txBody>
      </p:sp>
    </p:spTree>
    <p:extLst>
      <p:ext uri="{BB962C8B-B14F-4D97-AF65-F5344CB8AC3E}">
        <p14:creationId xmlns:p14="http://schemas.microsoft.com/office/powerpoint/2010/main" val="1497510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Mobile phone shoing the message &quot;Hi, we tried to deliver your parcel today, but no one was home. Please click the link below to reschedule your delivery. Thank you, Delivery Team&quot; and a button saying &quot;Reschedule delivery&quot;.">
            <a:extLst>
              <a:ext uri="{FF2B5EF4-FFF2-40B4-BE49-F238E27FC236}">
                <a16:creationId xmlns:a16="http://schemas.microsoft.com/office/drawing/2014/main" id="{7DAFEF90-F0B3-4A35-3567-573E743A06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993" y="209583"/>
            <a:ext cx="3565648" cy="6467582"/>
          </a:xfrm>
          <a:prstGeom prst="rect">
            <a:avLst/>
          </a:prstGeom>
        </p:spPr>
      </p:pic>
      <p:sp>
        <p:nvSpPr>
          <p:cNvPr id="31" name="TextBox 30">
            <a:extLst>
              <a:ext uri="{FF2B5EF4-FFF2-40B4-BE49-F238E27FC236}">
                <a16:creationId xmlns:a16="http://schemas.microsoft.com/office/drawing/2014/main" id="{AF2A005F-E132-482A-7028-C9AFD617413F}"/>
              </a:ext>
            </a:extLst>
          </p:cNvPr>
          <p:cNvSpPr txBox="1"/>
          <p:nvPr/>
        </p:nvSpPr>
        <p:spPr>
          <a:xfrm>
            <a:off x="4537071" y="1556825"/>
            <a:ext cx="6668610" cy="4278094"/>
          </a:xfrm>
          <a:prstGeom prst="rect">
            <a:avLst/>
          </a:prstGeom>
          <a:noFill/>
        </p:spPr>
        <p:txBody>
          <a:bodyPr wrap="square" rtlCol="0">
            <a:spAutoFit/>
          </a:bodyPr>
          <a:lstStyle/>
          <a:p>
            <a:pPr>
              <a:spcAft>
                <a:spcPts val="1200"/>
              </a:spcAft>
            </a:pPr>
            <a:r>
              <a:rPr lang="en-GB" sz="2800" noProof="0" dirty="0">
                <a:solidFill>
                  <a:srgbClr val="002570"/>
                </a:solidFill>
                <a:latin typeface="OpenDyslexicAlta" panose="00000500000000000000" pitchFamily="50" charset="0"/>
              </a:rPr>
              <a:t>There is no mention of which delivery company this is from.</a:t>
            </a:r>
          </a:p>
          <a:p>
            <a:pPr>
              <a:spcAft>
                <a:spcPts val="1200"/>
              </a:spcAft>
            </a:pPr>
            <a:r>
              <a:rPr lang="en-GB" sz="2800" noProof="0" dirty="0">
                <a:solidFill>
                  <a:srgbClr val="002570"/>
                </a:solidFill>
                <a:latin typeface="OpenDyslexicAlta" panose="00000500000000000000" pitchFamily="50" charset="0"/>
              </a:rPr>
              <a:t>The link could take you to a fake website asking for personal or payment details.</a:t>
            </a:r>
          </a:p>
          <a:p>
            <a:pPr>
              <a:spcAft>
                <a:spcPts val="1200"/>
              </a:spcAft>
            </a:pPr>
            <a:r>
              <a:rPr lang="en-GB" sz="2800" b="1" noProof="0" dirty="0">
                <a:solidFill>
                  <a:srgbClr val="C00000"/>
                </a:solidFill>
                <a:latin typeface="OpenDyslexicAlta" panose="00000500000000000000" pitchFamily="50" charset="0"/>
              </a:rPr>
              <a:t>Ignore the message. </a:t>
            </a:r>
            <a:r>
              <a:rPr lang="en-GB" sz="2800" noProof="0" dirty="0">
                <a:solidFill>
                  <a:srgbClr val="002570"/>
                </a:solidFill>
                <a:latin typeface="OpenDyslexicAlta" panose="00000500000000000000" pitchFamily="50" charset="0"/>
              </a:rPr>
              <a:t>If you are expecting a parcel, check directly with the delivery company’s official website.</a:t>
            </a:r>
            <a:endParaRPr lang="en-GB" sz="2000" noProof="0" dirty="0">
              <a:solidFill>
                <a:srgbClr val="002570"/>
              </a:solidFill>
              <a:latin typeface="OpenDyslexicAlta" panose="00000500000000000000" pitchFamily="50" charset="0"/>
            </a:endParaRPr>
          </a:p>
        </p:txBody>
      </p:sp>
      <p:sp>
        <p:nvSpPr>
          <p:cNvPr id="35" name="Title 1">
            <a:extLst>
              <a:ext uri="{FF2B5EF4-FFF2-40B4-BE49-F238E27FC236}">
                <a16:creationId xmlns:a16="http://schemas.microsoft.com/office/drawing/2014/main" id="{25734E59-AA92-D2D8-CF75-32FA58CF4861}"/>
              </a:ext>
            </a:extLst>
          </p:cNvPr>
          <p:cNvSpPr>
            <a:spLocks noGrp="1"/>
          </p:cNvSpPr>
          <p:nvPr>
            <p:ph type="title"/>
          </p:nvPr>
        </p:nvSpPr>
        <p:spPr>
          <a:xfrm>
            <a:off x="4537071" y="198438"/>
            <a:ext cx="7321554" cy="763587"/>
          </a:xfrm>
        </p:spPr>
        <p:txBody>
          <a:bodyPr/>
          <a:lstStyle/>
          <a:p>
            <a:r>
              <a:rPr lang="en-GB" noProof="0" dirty="0"/>
              <a:t>Scams and phishing</a:t>
            </a:r>
          </a:p>
        </p:txBody>
      </p:sp>
      <p:sp>
        <p:nvSpPr>
          <p:cNvPr id="2" name="Oval 1">
            <a:extLst>
              <a:ext uri="{FF2B5EF4-FFF2-40B4-BE49-F238E27FC236}">
                <a16:creationId xmlns:a16="http://schemas.microsoft.com/office/drawing/2014/main" id="{D69B32A7-9789-53D1-787B-BE8E571B7813}"/>
              </a:ext>
            </a:extLst>
          </p:cNvPr>
          <p:cNvSpPr/>
          <p:nvPr/>
        </p:nvSpPr>
        <p:spPr>
          <a:xfrm>
            <a:off x="986319" y="2815118"/>
            <a:ext cx="2291137" cy="541962"/>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3" name="Straight Arrow Connector 2">
            <a:extLst>
              <a:ext uri="{FF2B5EF4-FFF2-40B4-BE49-F238E27FC236}">
                <a16:creationId xmlns:a16="http://schemas.microsoft.com/office/drawing/2014/main" id="{48506AE2-EE7C-7BAE-4F79-4757AB893061}"/>
              </a:ext>
            </a:extLst>
          </p:cNvPr>
          <p:cNvCxnSpPr>
            <a:cxnSpLocks/>
          </p:cNvCxnSpPr>
          <p:nvPr/>
        </p:nvCxnSpPr>
        <p:spPr>
          <a:xfrm flipH="1">
            <a:off x="3277456" y="2220398"/>
            <a:ext cx="1259615" cy="748833"/>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466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uiExpand="1" build="p"/>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7D72D-0477-BB2E-B52A-384502311F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0188A1-A838-E0FA-9DB7-EDF428B9E2D9}"/>
              </a:ext>
            </a:extLst>
          </p:cNvPr>
          <p:cNvSpPr>
            <a:spLocks noGrp="1"/>
          </p:cNvSpPr>
          <p:nvPr>
            <p:ph idx="1"/>
          </p:nvPr>
        </p:nvSpPr>
        <p:spPr/>
        <p:txBody>
          <a:bodyPr>
            <a:normAutofit/>
          </a:bodyPr>
          <a:lstStyle/>
          <a:p>
            <a:r>
              <a:rPr lang="en-GB" noProof="0" dirty="0"/>
              <a:t>How can you spot a phishing scam?</a:t>
            </a:r>
          </a:p>
          <a:p>
            <a:r>
              <a:rPr lang="en-GB" b="1" noProof="0" dirty="0">
                <a:solidFill>
                  <a:srgbClr val="C00000"/>
                </a:solidFill>
              </a:rPr>
              <a:t>Generic greeting: </a:t>
            </a:r>
            <a:r>
              <a:rPr lang="en-GB" noProof="0" dirty="0"/>
              <a:t>Emails that say “Dear Customer” instead of using your name.</a:t>
            </a:r>
          </a:p>
          <a:p>
            <a:r>
              <a:rPr lang="en-GB" b="1" noProof="0" dirty="0">
                <a:solidFill>
                  <a:srgbClr val="C00000"/>
                </a:solidFill>
              </a:rPr>
              <a:t>Urgency:</a:t>
            </a:r>
            <a:r>
              <a:rPr lang="en-GB" noProof="0" dirty="0"/>
              <a:t> Messages that try to make you panic, such as “Your account will be closed!”</a:t>
            </a:r>
          </a:p>
          <a:p>
            <a:r>
              <a:rPr lang="en-GB" b="1" noProof="0" dirty="0">
                <a:solidFill>
                  <a:srgbClr val="C00000"/>
                </a:solidFill>
              </a:rPr>
              <a:t>Suspicious links: </a:t>
            </a:r>
            <a:r>
              <a:rPr lang="en-GB" noProof="0" dirty="0"/>
              <a:t>Links that do not match the company’s official website.</a:t>
            </a:r>
          </a:p>
        </p:txBody>
      </p:sp>
      <p:sp>
        <p:nvSpPr>
          <p:cNvPr id="6" name="Title 1">
            <a:extLst>
              <a:ext uri="{FF2B5EF4-FFF2-40B4-BE49-F238E27FC236}">
                <a16:creationId xmlns:a16="http://schemas.microsoft.com/office/drawing/2014/main" id="{FD831D02-9634-558E-954C-87F6F7F180E7}"/>
              </a:ext>
            </a:extLst>
          </p:cNvPr>
          <p:cNvSpPr>
            <a:spLocks noGrp="1"/>
          </p:cNvSpPr>
          <p:nvPr>
            <p:ph type="title"/>
          </p:nvPr>
        </p:nvSpPr>
        <p:spPr>
          <a:xfrm>
            <a:off x="414338" y="198438"/>
            <a:ext cx="11444287" cy="763587"/>
          </a:xfrm>
        </p:spPr>
        <p:txBody>
          <a:bodyPr/>
          <a:lstStyle/>
          <a:p>
            <a:r>
              <a:rPr lang="en-GB" noProof="0" dirty="0"/>
              <a:t>Scams and phishing</a:t>
            </a:r>
          </a:p>
        </p:txBody>
      </p:sp>
    </p:spTree>
    <p:extLst>
      <p:ext uri="{BB962C8B-B14F-4D97-AF65-F5344CB8AC3E}">
        <p14:creationId xmlns:p14="http://schemas.microsoft.com/office/powerpoint/2010/main" val="3079791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3670C-5AA8-EB1C-3A9E-3CDC01C8752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475A4C-014B-A260-0653-CB2B59522519}"/>
              </a:ext>
            </a:extLst>
          </p:cNvPr>
          <p:cNvSpPr>
            <a:spLocks noGrp="1"/>
          </p:cNvSpPr>
          <p:nvPr>
            <p:ph idx="1"/>
          </p:nvPr>
        </p:nvSpPr>
        <p:spPr/>
        <p:txBody>
          <a:bodyPr>
            <a:normAutofit fontScale="85000" lnSpcReduction="10000"/>
          </a:bodyPr>
          <a:lstStyle/>
          <a:p>
            <a:r>
              <a:rPr lang="en-GB" noProof="0" dirty="0"/>
              <a:t>There are ways to protect yourself:</a:t>
            </a:r>
          </a:p>
          <a:p>
            <a:r>
              <a:rPr lang="en-GB" b="1" noProof="0" dirty="0"/>
              <a:t>Think before you click: </a:t>
            </a:r>
            <a:r>
              <a:rPr lang="en-GB" noProof="0" dirty="0"/>
              <a:t>Do not click links or download attachments from unknown senders.</a:t>
            </a:r>
          </a:p>
          <a:p>
            <a:r>
              <a:rPr lang="en-GB" b="1" noProof="0" dirty="0"/>
              <a:t>Verify the sender: </a:t>
            </a:r>
            <a:r>
              <a:rPr lang="en-GB" noProof="0" dirty="0"/>
              <a:t>Check the email address – does it look real?</a:t>
            </a:r>
          </a:p>
          <a:p>
            <a:r>
              <a:rPr lang="en-GB" b="1" noProof="0" dirty="0"/>
              <a:t>Visit websites directly: </a:t>
            </a:r>
            <a:r>
              <a:rPr lang="en-GB" noProof="0" dirty="0"/>
              <a:t>Type the company’s website into your browser instead of clicking links.</a:t>
            </a:r>
          </a:p>
          <a:p>
            <a:r>
              <a:rPr lang="en-GB" b="1" noProof="0" dirty="0"/>
              <a:t>Report phishing: </a:t>
            </a:r>
            <a:r>
              <a:rPr lang="en-GB" noProof="0" dirty="0"/>
              <a:t>Tell a trusted adult or report the email to the platform.</a:t>
            </a:r>
          </a:p>
        </p:txBody>
      </p:sp>
      <p:sp>
        <p:nvSpPr>
          <p:cNvPr id="6" name="Title 1">
            <a:extLst>
              <a:ext uri="{FF2B5EF4-FFF2-40B4-BE49-F238E27FC236}">
                <a16:creationId xmlns:a16="http://schemas.microsoft.com/office/drawing/2014/main" id="{64D8293E-89A4-8DB6-C3DE-6B4D76B3EE59}"/>
              </a:ext>
            </a:extLst>
          </p:cNvPr>
          <p:cNvSpPr>
            <a:spLocks noGrp="1"/>
          </p:cNvSpPr>
          <p:nvPr>
            <p:ph type="title"/>
          </p:nvPr>
        </p:nvSpPr>
        <p:spPr>
          <a:xfrm>
            <a:off x="414338" y="198438"/>
            <a:ext cx="11444287" cy="763587"/>
          </a:xfrm>
        </p:spPr>
        <p:txBody>
          <a:bodyPr/>
          <a:lstStyle/>
          <a:p>
            <a:r>
              <a:rPr lang="en-GB" noProof="0" dirty="0"/>
              <a:t>Scams and phishing</a:t>
            </a:r>
          </a:p>
        </p:txBody>
      </p:sp>
    </p:spTree>
    <p:extLst>
      <p:ext uri="{BB962C8B-B14F-4D97-AF65-F5344CB8AC3E}">
        <p14:creationId xmlns:p14="http://schemas.microsoft.com/office/powerpoint/2010/main" val="3197050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D4C1F-E38F-446B-06ED-6662612BB905}"/>
            </a:ext>
          </a:extLst>
        </p:cNvPr>
        <p:cNvGrpSpPr/>
        <p:nvPr/>
      </p:nvGrpSpPr>
      <p:grpSpPr>
        <a:xfrm>
          <a:off x="0" y="0"/>
          <a:ext cx="0" cy="0"/>
          <a:chOff x="0" y="0"/>
          <a:chExt cx="0" cy="0"/>
        </a:xfrm>
      </p:grpSpPr>
      <p:grpSp>
        <p:nvGrpSpPr>
          <p:cNvPr id="36" name="Group 35">
            <a:extLst>
              <a:ext uri="{FF2B5EF4-FFF2-40B4-BE49-F238E27FC236}">
                <a16:creationId xmlns:a16="http://schemas.microsoft.com/office/drawing/2014/main" id="{6CC6AE85-5F8D-673E-2E1A-B25697E140DF}"/>
              </a:ext>
            </a:extLst>
          </p:cNvPr>
          <p:cNvGrpSpPr/>
          <p:nvPr/>
        </p:nvGrpSpPr>
        <p:grpSpPr>
          <a:xfrm>
            <a:off x="468071" y="1907105"/>
            <a:ext cx="5497490" cy="4860990"/>
            <a:chOff x="472536" y="1457617"/>
            <a:chExt cx="5497490" cy="4860990"/>
          </a:xfrm>
        </p:grpSpPr>
        <p:sp>
          <p:nvSpPr>
            <p:cNvPr id="18" name="Rectangle 17">
              <a:extLst>
                <a:ext uri="{FF2B5EF4-FFF2-40B4-BE49-F238E27FC236}">
                  <a16:creationId xmlns:a16="http://schemas.microsoft.com/office/drawing/2014/main" id="{27ACA2C8-6B34-15B8-A2CC-18FEE433EB68}"/>
                </a:ext>
              </a:extLst>
            </p:cNvPr>
            <p:cNvSpPr/>
            <p:nvPr/>
          </p:nvSpPr>
          <p:spPr>
            <a:xfrm>
              <a:off x="472536" y="1457617"/>
              <a:ext cx="5490206" cy="4860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1" name="TextBox 20">
              <a:extLst>
                <a:ext uri="{FF2B5EF4-FFF2-40B4-BE49-F238E27FC236}">
                  <a16:creationId xmlns:a16="http://schemas.microsoft.com/office/drawing/2014/main" id="{0ADE1478-3309-E143-4B49-59820ED354C4}"/>
                </a:ext>
              </a:extLst>
            </p:cNvPr>
            <p:cNvSpPr txBox="1"/>
            <p:nvPr/>
          </p:nvSpPr>
          <p:spPr>
            <a:xfrm>
              <a:off x="631816" y="1901988"/>
              <a:ext cx="4403351" cy="338554"/>
            </a:xfrm>
            <a:prstGeom prst="rect">
              <a:avLst/>
            </a:prstGeom>
            <a:noFill/>
          </p:spPr>
          <p:txBody>
            <a:bodyPr wrap="square" rtlCol="0">
              <a:spAutoFit/>
            </a:bodyPr>
            <a:lstStyle/>
            <a:p>
              <a:r>
                <a:rPr lang="en-GB" sz="1600" b="1" noProof="0" dirty="0"/>
                <a:t>To: </a:t>
              </a:r>
              <a:r>
                <a:rPr lang="en-GB" sz="1600" noProof="0" dirty="0"/>
                <a:t>jbloggs@gmail.com </a:t>
              </a:r>
            </a:p>
          </p:txBody>
        </p:sp>
        <p:sp>
          <p:nvSpPr>
            <p:cNvPr id="22" name="TextBox 21">
              <a:extLst>
                <a:ext uri="{FF2B5EF4-FFF2-40B4-BE49-F238E27FC236}">
                  <a16:creationId xmlns:a16="http://schemas.microsoft.com/office/drawing/2014/main" id="{D4A6AE46-B8DE-A538-1EAC-FC47A1431EFE}"/>
                </a:ext>
              </a:extLst>
            </p:cNvPr>
            <p:cNvSpPr txBox="1"/>
            <p:nvPr/>
          </p:nvSpPr>
          <p:spPr>
            <a:xfrm>
              <a:off x="631816" y="2160284"/>
              <a:ext cx="4491430" cy="338554"/>
            </a:xfrm>
            <a:prstGeom prst="rect">
              <a:avLst/>
            </a:prstGeom>
            <a:noFill/>
          </p:spPr>
          <p:txBody>
            <a:bodyPr wrap="square" rtlCol="0">
              <a:spAutoFit/>
            </a:bodyPr>
            <a:lstStyle/>
            <a:p>
              <a:r>
                <a:rPr lang="en-GB" sz="1600" b="1" noProof="0" dirty="0"/>
                <a:t>From: </a:t>
              </a:r>
              <a:r>
                <a:rPr lang="en-GB" sz="1600" noProof="0" dirty="0"/>
                <a:t>support@streamflix.com</a:t>
              </a:r>
            </a:p>
          </p:txBody>
        </p:sp>
        <p:sp>
          <p:nvSpPr>
            <p:cNvPr id="23" name="TextBox 22">
              <a:extLst>
                <a:ext uri="{FF2B5EF4-FFF2-40B4-BE49-F238E27FC236}">
                  <a16:creationId xmlns:a16="http://schemas.microsoft.com/office/drawing/2014/main" id="{C6270CFC-DB52-6CD7-A786-57E814F74690}"/>
                </a:ext>
              </a:extLst>
            </p:cNvPr>
            <p:cNvSpPr txBox="1"/>
            <p:nvPr/>
          </p:nvSpPr>
          <p:spPr>
            <a:xfrm>
              <a:off x="581330" y="1542653"/>
              <a:ext cx="4453837" cy="400110"/>
            </a:xfrm>
            <a:prstGeom prst="rect">
              <a:avLst/>
            </a:prstGeom>
            <a:noFill/>
          </p:spPr>
          <p:txBody>
            <a:bodyPr wrap="square" rtlCol="0">
              <a:spAutoFit/>
            </a:bodyPr>
            <a:lstStyle/>
            <a:p>
              <a:r>
                <a:rPr lang="en-GB" sz="2000" b="1" i="0" noProof="0" dirty="0">
                  <a:solidFill>
                    <a:srgbClr val="000000"/>
                  </a:solidFill>
                  <a:effectLst/>
                  <a:latin typeface="Arial" panose="020B0604020202020204" pitchFamily="34" charset="0"/>
                  <a:cs typeface="Arial" panose="020B0604020202020204" pitchFamily="34" charset="0"/>
                </a:rPr>
                <a:t>Your Monthly Subscription Receipt</a:t>
              </a:r>
            </a:p>
          </p:txBody>
        </p:sp>
        <p:sp>
          <p:nvSpPr>
            <p:cNvPr id="24" name="TextBox 23">
              <a:extLst>
                <a:ext uri="{FF2B5EF4-FFF2-40B4-BE49-F238E27FC236}">
                  <a16:creationId xmlns:a16="http://schemas.microsoft.com/office/drawing/2014/main" id="{2EC7698D-3B29-3E17-FF21-C4DAE2E7BDA3}"/>
                </a:ext>
              </a:extLst>
            </p:cNvPr>
            <p:cNvSpPr txBox="1"/>
            <p:nvPr/>
          </p:nvSpPr>
          <p:spPr>
            <a:xfrm>
              <a:off x="631816" y="2501146"/>
              <a:ext cx="5222076" cy="3754874"/>
            </a:xfrm>
            <a:prstGeom prst="rect">
              <a:avLst/>
            </a:prstGeom>
            <a:noFill/>
          </p:spPr>
          <p:txBody>
            <a:bodyPr wrap="square" rtlCol="0">
              <a:spAutoFit/>
            </a:bodyPr>
            <a:lstStyle/>
            <a:p>
              <a:pPr algn="l"/>
              <a:r>
                <a:rPr lang="en-GB" sz="1400" b="0" i="0" noProof="0" dirty="0">
                  <a:solidFill>
                    <a:srgbClr val="000000"/>
                  </a:solidFill>
                  <a:effectLst/>
                  <a:latin typeface="Arial" panose="020B0604020202020204" pitchFamily="34" charset="0"/>
                  <a:cs typeface="Arial" panose="020B0604020202020204" pitchFamily="34" charset="0"/>
                </a:rPr>
                <a:t>Hi Joe,</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Thank you for your payment. Your </a:t>
              </a:r>
              <a:r>
                <a:rPr lang="en-GB" sz="1400" b="0" i="0" noProof="0" dirty="0" err="1">
                  <a:solidFill>
                    <a:srgbClr val="000000"/>
                  </a:solidFill>
                  <a:effectLst/>
                  <a:latin typeface="Arial" panose="020B0604020202020204" pitchFamily="34" charset="0"/>
                  <a:cs typeface="Arial" panose="020B0604020202020204" pitchFamily="34" charset="0"/>
                </a:rPr>
                <a:t>StreamFlix</a:t>
              </a:r>
              <a:r>
                <a:rPr lang="en-GB" sz="1400" b="0" i="0" noProof="0" dirty="0">
                  <a:solidFill>
                    <a:srgbClr val="000000"/>
                  </a:solidFill>
                  <a:effectLst/>
                  <a:latin typeface="Arial" panose="020B0604020202020204" pitchFamily="34" charset="0"/>
                  <a:cs typeface="Arial" panose="020B0604020202020204" pitchFamily="34" charset="0"/>
                </a:rPr>
                <a:t> subscription has been renewed successfully.</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Details of your payment:</a:t>
              </a:r>
            </a:p>
            <a:p>
              <a:pPr algn="l"/>
              <a:r>
                <a:rPr lang="en-GB" sz="1400" b="0" i="0" noProof="0" dirty="0">
                  <a:solidFill>
                    <a:srgbClr val="000000"/>
                  </a:solidFill>
                  <a:effectLst/>
                  <a:latin typeface="Arial" panose="020B0604020202020204" pitchFamily="34" charset="0"/>
                  <a:cs typeface="Arial" panose="020B0604020202020204" pitchFamily="34" charset="0"/>
                </a:rPr>
                <a:t>Amount: £9.99</a:t>
              </a:r>
            </a:p>
            <a:p>
              <a:pPr algn="l"/>
              <a:r>
                <a:rPr lang="en-GB" sz="1400" b="0" i="0" noProof="0" dirty="0">
                  <a:solidFill>
                    <a:srgbClr val="000000"/>
                  </a:solidFill>
                  <a:effectLst/>
                  <a:latin typeface="Arial" panose="020B0604020202020204" pitchFamily="34" charset="0"/>
                  <a:cs typeface="Arial" panose="020B0604020202020204" pitchFamily="34" charset="0"/>
                </a:rPr>
                <a:t>Date: 5th May 2025</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If you have any questions, feel free to contact us through our official website: www.streamflix.com.</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Thank you for being a valued customer!</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Best regards,</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The </a:t>
              </a:r>
              <a:r>
                <a:rPr lang="en-GB" sz="1400" b="0" i="0" noProof="0" dirty="0" err="1">
                  <a:solidFill>
                    <a:srgbClr val="000000"/>
                  </a:solidFill>
                  <a:effectLst/>
                  <a:latin typeface="Arial" panose="020B0604020202020204" pitchFamily="34" charset="0"/>
                  <a:cs typeface="Arial" panose="020B0604020202020204" pitchFamily="34" charset="0"/>
                </a:rPr>
                <a:t>StreamFlix</a:t>
              </a:r>
              <a:r>
                <a:rPr lang="en-GB" sz="1400" b="0" i="0" noProof="0" dirty="0">
                  <a:solidFill>
                    <a:srgbClr val="000000"/>
                  </a:solidFill>
                  <a:effectLst/>
                  <a:latin typeface="Arial" panose="020B0604020202020204" pitchFamily="34" charset="0"/>
                  <a:cs typeface="Arial" panose="020B0604020202020204" pitchFamily="34" charset="0"/>
                </a:rPr>
                <a:t> Team</a:t>
              </a:r>
              <a:endParaRPr lang="en-GB" sz="1400" noProof="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C607700-9D51-6D1E-1C71-0D6FEB06DA7A}"/>
                </a:ext>
              </a:extLst>
            </p:cNvPr>
            <p:cNvSpPr txBox="1"/>
            <p:nvPr/>
          </p:nvSpPr>
          <p:spPr>
            <a:xfrm>
              <a:off x="5123246" y="2062739"/>
              <a:ext cx="846780" cy="276999"/>
            </a:xfrm>
            <a:prstGeom prst="rect">
              <a:avLst/>
            </a:prstGeom>
            <a:noFill/>
          </p:spPr>
          <p:txBody>
            <a:bodyPr wrap="square" rtlCol="0">
              <a:spAutoFit/>
            </a:bodyPr>
            <a:lstStyle/>
            <a:p>
              <a:pPr algn="ctr"/>
              <a:r>
                <a:rPr lang="en-GB" sz="1200" noProof="0" dirty="0"/>
                <a:t>08:37 AM</a:t>
              </a:r>
            </a:p>
          </p:txBody>
        </p:sp>
        <p:pic>
          <p:nvPicPr>
            <p:cNvPr id="9" name="Picture 8">
              <a:extLst>
                <a:ext uri="{FF2B5EF4-FFF2-40B4-BE49-F238E27FC236}">
                  <a16:creationId xmlns:a16="http://schemas.microsoft.com/office/drawing/2014/main" id="{ECE8652A-D636-2948-AF80-9E6F6EEDD5B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201731" y="1542653"/>
              <a:ext cx="652161" cy="554313"/>
            </a:xfrm>
            <a:prstGeom prst="rect">
              <a:avLst/>
            </a:prstGeom>
          </p:spPr>
        </p:pic>
      </p:grpSp>
      <p:grpSp>
        <p:nvGrpSpPr>
          <p:cNvPr id="37" name="Group 36">
            <a:extLst>
              <a:ext uri="{FF2B5EF4-FFF2-40B4-BE49-F238E27FC236}">
                <a16:creationId xmlns:a16="http://schemas.microsoft.com/office/drawing/2014/main" id="{44731B4F-3928-93D9-CD37-9D34DA7FFF8A}"/>
              </a:ext>
            </a:extLst>
          </p:cNvPr>
          <p:cNvGrpSpPr/>
          <p:nvPr/>
        </p:nvGrpSpPr>
        <p:grpSpPr>
          <a:xfrm>
            <a:off x="6243962" y="1907105"/>
            <a:ext cx="5497490" cy="4860990"/>
            <a:chOff x="6233687" y="1457617"/>
            <a:chExt cx="5497490" cy="4860990"/>
          </a:xfrm>
        </p:grpSpPr>
        <p:sp>
          <p:nvSpPr>
            <p:cNvPr id="28" name="Rectangle 27">
              <a:extLst>
                <a:ext uri="{FF2B5EF4-FFF2-40B4-BE49-F238E27FC236}">
                  <a16:creationId xmlns:a16="http://schemas.microsoft.com/office/drawing/2014/main" id="{A207516F-8EB9-DF5D-A9A8-D96F648210A6}"/>
                </a:ext>
              </a:extLst>
            </p:cNvPr>
            <p:cNvSpPr/>
            <p:nvPr/>
          </p:nvSpPr>
          <p:spPr>
            <a:xfrm>
              <a:off x="6233687" y="1457617"/>
              <a:ext cx="5490206" cy="4860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29" name="TextBox 28">
              <a:extLst>
                <a:ext uri="{FF2B5EF4-FFF2-40B4-BE49-F238E27FC236}">
                  <a16:creationId xmlns:a16="http://schemas.microsoft.com/office/drawing/2014/main" id="{4F838368-7F68-949C-C569-39C7B3A3B20A}"/>
                </a:ext>
              </a:extLst>
            </p:cNvPr>
            <p:cNvSpPr txBox="1"/>
            <p:nvPr/>
          </p:nvSpPr>
          <p:spPr>
            <a:xfrm>
              <a:off x="6392967" y="1901988"/>
              <a:ext cx="4403351" cy="338554"/>
            </a:xfrm>
            <a:prstGeom prst="rect">
              <a:avLst/>
            </a:prstGeom>
            <a:noFill/>
          </p:spPr>
          <p:txBody>
            <a:bodyPr wrap="square" rtlCol="0">
              <a:spAutoFit/>
            </a:bodyPr>
            <a:lstStyle/>
            <a:p>
              <a:r>
                <a:rPr lang="en-GB" sz="1600" b="1" noProof="0" dirty="0"/>
                <a:t>To: </a:t>
              </a:r>
              <a:r>
                <a:rPr lang="en-GB" sz="1600" noProof="0" dirty="0"/>
                <a:t>jbloggs@gmail.com </a:t>
              </a:r>
            </a:p>
          </p:txBody>
        </p:sp>
        <p:sp>
          <p:nvSpPr>
            <p:cNvPr id="30" name="TextBox 29">
              <a:extLst>
                <a:ext uri="{FF2B5EF4-FFF2-40B4-BE49-F238E27FC236}">
                  <a16:creationId xmlns:a16="http://schemas.microsoft.com/office/drawing/2014/main" id="{94AE6B42-59C9-9A84-E793-35C188F92F8C}"/>
                </a:ext>
              </a:extLst>
            </p:cNvPr>
            <p:cNvSpPr txBox="1"/>
            <p:nvPr/>
          </p:nvSpPr>
          <p:spPr>
            <a:xfrm>
              <a:off x="6392967" y="2160284"/>
              <a:ext cx="4491430" cy="338554"/>
            </a:xfrm>
            <a:prstGeom prst="rect">
              <a:avLst/>
            </a:prstGeom>
            <a:noFill/>
          </p:spPr>
          <p:txBody>
            <a:bodyPr wrap="square" rtlCol="0">
              <a:spAutoFit/>
            </a:bodyPr>
            <a:lstStyle/>
            <a:p>
              <a:r>
                <a:rPr lang="en-GB" sz="1600" b="1" noProof="0" dirty="0"/>
                <a:t>From: </a:t>
              </a:r>
              <a:r>
                <a:rPr lang="en-GB" sz="1600" noProof="0" dirty="0"/>
                <a:t>support@str3am-flix-security.com</a:t>
              </a:r>
            </a:p>
          </p:txBody>
        </p:sp>
        <p:sp>
          <p:nvSpPr>
            <p:cNvPr id="31" name="TextBox 30">
              <a:extLst>
                <a:ext uri="{FF2B5EF4-FFF2-40B4-BE49-F238E27FC236}">
                  <a16:creationId xmlns:a16="http://schemas.microsoft.com/office/drawing/2014/main" id="{BB298D04-4CC7-03B3-94CE-D30BEC90A3A5}"/>
                </a:ext>
              </a:extLst>
            </p:cNvPr>
            <p:cNvSpPr txBox="1"/>
            <p:nvPr/>
          </p:nvSpPr>
          <p:spPr>
            <a:xfrm>
              <a:off x="6342481" y="1542653"/>
              <a:ext cx="4453837" cy="400110"/>
            </a:xfrm>
            <a:prstGeom prst="rect">
              <a:avLst/>
            </a:prstGeom>
            <a:noFill/>
          </p:spPr>
          <p:txBody>
            <a:bodyPr wrap="square" rtlCol="0">
              <a:spAutoFit/>
            </a:bodyPr>
            <a:lstStyle/>
            <a:p>
              <a:r>
                <a:rPr lang="en-GB" sz="2000" b="1" i="0" noProof="0" dirty="0">
                  <a:solidFill>
                    <a:srgbClr val="000000"/>
                  </a:solidFill>
                  <a:effectLst/>
                  <a:latin typeface="Arial" panose="020B0604020202020204" pitchFamily="34" charset="0"/>
                  <a:cs typeface="Arial" panose="020B0604020202020204" pitchFamily="34" charset="0"/>
                </a:rPr>
                <a:t>Your Account Will Be Closed!</a:t>
              </a:r>
            </a:p>
          </p:txBody>
        </p:sp>
        <p:sp>
          <p:nvSpPr>
            <p:cNvPr id="32" name="TextBox 31">
              <a:extLst>
                <a:ext uri="{FF2B5EF4-FFF2-40B4-BE49-F238E27FC236}">
                  <a16:creationId xmlns:a16="http://schemas.microsoft.com/office/drawing/2014/main" id="{848C3C39-7024-0445-F1EB-0AE8AB20D8FD}"/>
                </a:ext>
              </a:extLst>
            </p:cNvPr>
            <p:cNvSpPr txBox="1"/>
            <p:nvPr/>
          </p:nvSpPr>
          <p:spPr>
            <a:xfrm>
              <a:off x="6392967" y="2498838"/>
              <a:ext cx="5222076" cy="3754874"/>
            </a:xfrm>
            <a:prstGeom prst="rect">
              <a:avLst/>
            </a:prstGeom>
            <a:noFill/>
          </p:spPr>
          <p:txBody>
            <a:bodyPr wrap="square" rtlCol="0">
              <a:spAutoFit/>
            </a:bodyPr>
            <a:lstStyle/>
            <a:p>
              <a:pPr algn="l"/>
              <a:r>
                <a:rPr lang="en-GB" sz="1400" b="0" i="0" noProof="0" dirty="0">
                  <a:solidFill>
                    <a:srgbClr val="000000"/>
                  </a:solidFill>
                  <a:effectLst/>
                  <a:latin typeface="Arial" panose="020B0604020202020204" pitchFamily="34" charset="0"/>
                  <a:cs typeface="Arial" panose="020B0604020202020204" pitchFamily="34" charset="0"/>
                </a:rPr>
                <a:t>Dear Customer,</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We have detected suspicious activity in your </a:t>
              </a:r>
              <a:r>
                <a:rPr lang="en-GB" sz="1400" b="0" i="0" noProof="0" dirty="0" err="1">
                  <a:solidFill>
                    <a:srgbClr val="000000"/>
                  </a:solidFill>
                  <a:effectLst/>
                  <a:latin typeface="Arial" panose="020B0604020202020204" pitchFamily="34" charset="0"/>
                  <a:cs typeface="Arial" panose="020B0604020202020204" pitchFamily="34" charset="0"/>
                </a:rPr>
                <a:t>StreamFlix</a:t>
              </a:r>
              <a:r>
                <a:rPr lang="en-GB" sz="1400" b="0" i="0" noProof="0" dirty="0">
                  <a:solidFill>
                    <a:srgbClr val="000000"/>
                  </a:solidFill>
                  <a:effectLst/>
                  <a:latin typeface="Arial" panose="020B0604020202020204" pitchFamily="34" charset="0"/>
                  <a:cs typeface="Arial" panose="020B0604020202020204" pitchFamily="34" charset="0"/>
                </a:rPr>
                <a:t> account. For your safety, we have temporarily locked your account.</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To unlock your account, please click the link below and verify your details:</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endParaRPr lang="en-GB" sz="1400" noProof="0" dirty="0">
                <a:solidFill>
                  <a:srgbClr val="000000"/>
                </a:solidFill>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If you do not act within 24 hours, your account will be permanently closed.</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Thank you,</a:t>
              </a:r>
            </a:p>
            <a:p>
              <a:pPr algn="l"/>
              <a:r>
                <a:rPr lang="en-GB" sz="1400" b="0" i="0" noProof="0" dirty="0" err="1">
                  <a:solidFill>
                    <a:srgbClr val="000000"/>
                  </a:solidFill>
                  <a:effectLst/>
                  <a:latin typeface="Arial" panose="020B0604020202020204" pitchFamily="34" charset="0"/>
                  <a:cs typeface="Arial" panose="020B0604020202020204" pitchFamily="34" charset="0"/>
                </a:rPr>
                <a:t>StreamFlix</a:t>
              </a:r>
              <a:r>
                <a:rPr lang="en-GB" sz="1400" b="0" i="0" noProof="0" dirty="0">
                  <a:solidFill>
                    <a:srgbClr val="000000"/>
                  </a:solidFill>
                  <a:effectLst/>
                  <a:latin typeface="Arial" panose="020B0604020202020204" pitchFamily="34" charset="0"/>
                  <a:cs typeface="Arial" panose="020B0604020202020204" pitchFamily="34" charset="0"/>
                </a:rPr>
                <a:t> Security Team</a:t>
              </a:r>
              <a:br>
                <a:rPr lang="en-GB" sz="1400" noProof="0" dirty="0">
                  <a:latin typeface="Arial" panose="020B0604020202020204" pitchFamily="34" charset="0"/>
                  <a:cs typeface="Arial" panose="020B0604020202020204" pitchFamily="34" charset="0"/>
                </a:rPr>
              </a:br>
              <a:endParaRPr lang="en-GB" sz="1400" noProof="0" dirty="0">
                <a:latin typeface="Arial" panose="020B0604020202020204" pitchFamily="34" charset="0"/>
                <a:cs typeface="Arial" panose="020B0604020202020204" pitchFamily="34" charset="0"/>
              </a:endParaRPr>
            </a:p>
          </p:txBody>
        </p:sp>
        <p:sp>
          <p:nvSpPr>
            <p:cNvPr id="33" name="Rectangle: Rounded Corners 32">
              <a:extLst>
                <a:ext uri="{FF2B5EF4-FFF2-40B4-BE49-F238E27FC236}">
                  <a16:creationId xmlns:a16="http://schemas.microsoft.com/office/drawing/2014/main" id="{2397DFD6-5FD3-9991-4B92-591919491468}"/>
                </a:ext>
              </a:extLst>
            </p:cNvPr>
            <p:cNvSpPr/>
            <p:nvPr/>
          </p:nvSpPr>
          <p:spPr>
            <a:xfrm>
              <a:off x="7133489" y="4339784"/>
              <a:ext cx="3652555" cy="457396"/>
            </a:xfrm>
            <a:prstGeom prst="roundRect">
              <a:avLst>
                <a:gd name="adj" fmla="val 50000"/>
              </a:avLst>
            </a:prstGeom>
            <a:solidFill>
              <a:schemeClr val="accent4">
                <a:lumMod val="40000"/>
                <a:lumOff val="60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i="0" noProof="0" dirty="0">
                  <a:solidFill>
                    <a:srgbClr val="000000"/>
                  </a:solidFill>
                  <a:effectLst/>
                  <a:latin typeface="Arial" panose="020B0604020202020204" pitchFamily="34" charset="0"/>
                  <a:cs typeface="Arial" panose="020B0604020202020204" pitchFamily="34" charset="0"/>
                </a:rPr>
                <a:t>Click here to verify your account</a:t>
              </a:r>
              <a:endParaRPr lang="en-GB" sz="1600" b="1" noProof="0" dirty="0">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32C0C8F6-6122-6B1A-A65D-86CBE80115BC}"/>
                </a:ext>
              </a:extLst>
            </p:cNvPr>
            <p:cNvSpPr txBox="1"/>
            <p:nvPr/>
          </p:nvSpPr>
          <p:spPr>
            <a:xfrm>
              <a:off x="10884397" y="2062739"/>
              <a:ext cx="846780" cy="276999"/>
            </a:xfrm>
            <a:prstGeom prst="rect">
              <a:avLst/>
            </a:prstGeom>
            <a:noFill/>
          </p:spPr>
          <p:txBody>
            <a:bodyPr wrap="square" rtlCol="0">
              <a:spAutoFit/>
            </a:bodyPr>
            <a:lstStyle/>
            <a:p>
              <a:pPr algn="ctr"/>
              <a:r>
                <a:rPr lang="en-GB" sz="1200" noProof="0" dirty="0"/>
                <a:t>02:13 PM</a:t>
              </a:r>
            </a:p>
          </p:txBody>
        </p:sp>
        <p:pic>
          <p:nvPicPr>
            <p:cNvPr id="35" name="Picture 34">
              <a:extLst>
                <a:ext uri="{FF2B5EF4-FFF2-40B4-BE49-F238E27FC236}">
                  <a16:creationId xmlns:a16="http://schemas.microsoft.com/office/drawing/2014/main" id="{0B04EF73-D9EC-D84F-FFDB-B06F7D2A975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62882" y="1542653"/>
              <a:ext cx="652161" cy="554313"/>
            </a:xfrm>
            <a:prstGeom prst="rect">
              <a:avLst/>
            </a:prstGeom>
          </p:spPr>
        </p:pic>
      </p:grpSp>
      <p:sp>
        <p:nvSpPr>
          <p:cNvPr id="39" name="TextBox 38">
            <a:extLst>
              <a:ext uri="{FF2B5EF4-FFF2-40B4-BE49-F238E27FC236}">
                <a16:creationId xmlns:a16="http://schemas.microsoft.com/office/drawing/2014/main" id="{5F868511-BE22-DA8F-63F3-48F9A284ABCD}"/>
              </a:ext>
            </a:extLst>
          </p:cNvPr>
          <p:cNvSpPr txBox="1"/>
          <p:nvPr/>
        </p:nvSpPr>
        <p:spPr>
          <a:xfrm>
            <a:off x="468071" y="1136584"/>
            <a:ext cx="11292237" cy="830997"/>
          </a:xfrm>
          <a:prstGeom prst="rect">
            <a:avLst/>
          </a:prstGeom>
          <a:noFill/>
        </p:spPr>
        <p:txBody>
          <a:bodyPr wrap="square" rtlCol="0">
            <a:spAutoFit/>
          </a:bodyPr>
          <a:lstStyle/>
          <a:p>
            <a:r>
              <a:rPr lang="en-GB" sz="2400" b="1"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Read the emails carefully</a:t>
            </a:r>
            <a:r>
              <a:rPr lang="en-GB" sz="2400" kern="100" noProof="0" dirty="0">
                <a:solidFill>
                  <a:srgbClr val="002570"/>
                </a:solidFill>
                <a:effectLst/>
                <a:latin typeface="OpenDyslexicAlta" panose="00000500000000000000" pitchFamily="50" charset="0"/>
                <a:ea typeface="Aptos" panose="020B0004020202020204" pitchFamily="34" charset="0"/>
                <a:cs typeface="Times New Roman" panose="02020603050405020304" pitchFamily="18" charset="0"/>
              </a:rPr>
              <a:t>: Pay attention to the subject, sender and content of each email.</a:t>
            </a:r>
          </a:p>
        </p:txBody>
      </p:sp>
      <p:sp>
        <p:nvSpPr>
          <p:cNvPr id="43" name="Title 1">
            <a:extLst>
              <a:ext uri="{FF2B5EF4-FFF2-40B4-BE49-F238E27FC236}">
                <a16:creationId xmlns:a16="http://schemas.microsoft.com/office/drawing/2014/main" id="{B6CFBDCA-3BBB-A152-9B1E-276235E05A65}"/>
              </a:ext>
            </a:extLst>
          </p:cNvPr>
          <p:cNvSpPr>
            <a:spLocks noGrp="1"/>
          </p:cNvSpPr>
          <p:nvPr>
            <p:ph type="title"/>
          </p:nvPr>
        </p:nvSpPr>
        <p:spPr>
          <a:xfrm>
            <a:off x="1671638" y="90488"/>
            <a:ext cx="10186987" cy="763587"/>
          </a:xfrm>
        </p:spPr>
        <p:txBody>
          <a:bodyPr/>
          <a:lstStyle/>
          <a:p>
            <a:r>
              <a:rPr lang="en-GB" noProof="0" dirty="0"/>
              <a:t>1: Scams and phishing</a:t>
            </a:r>
          </a:p>
        </p:txBody>
      </p:sp>
    </p:spTree>
    <p:extLst>
      <p:ext uri="{BB962C8B-B14F-4D97-AF65-F5344CB8AC3E}">
        <p14:creationId xmlns:p14="http://schemas.microsoft.com/office/powerpoint/2010/main" val="3766741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F943F7-E23E-0E16-70DB-8B86C12F2539}"/>
              </a:ext>
            </a:extLst>
          </p:cNvPr>
          <p:cNvSpPr>
            <a:spLocks noGrp="1"/>
          </p:cNvSpPr>
          <p:nvPr>
            <p:ph idx="1"/>
          </p:nvPr>
        </p:nvSpPr>
        <p:spPr/>
        <p:txBody>
          <a:bodyPr>
            <a:noAutofit/>
          </a:bodyPr>
          <a:lstStyle/>
          <a:p>
            <a:pPr>
              <a:lnSpc>
                <a:spcPct val="80000"/>
              </a:lnSpc>
              <a:spcAft>
                <a:spcPts val="600"/>
              </a:spcAft>
              <a:buNone/>
            </a:pPr>
            <a:r>
              <a:rPr lang="en-GB" sz="2000" b="1" kern="100" noProof="0" dirty="0">
                <a:effectLst/>
                <a:latin typeface="OpenDyslexicAlta" panose="00000500000000000000" pitchFamily="50" charset="0"/>
                <a:ea typeface="Aptos" panose="020B0004020202020204" pitchFamily="34" charset="0"/>
                <a:cs typeface="Times New Roman" panose="02020603050405020304" pitchFamily="18" charset="0"/>
              </a:rPr>
              <a:t>Read the emails carefully</a:t>
            </a:r>
            <a:r>
              <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rPr>
              <a:t>: Pay attention to the subject, sender and content of each email.</a:t>
            </a:r>
          </a:p>
          <a:p>
            <a:pPr>
              <a:lnSpc>
                <a:spcPct val="80000"/>
              </a:lnSpc>
              <a:spcAft>
                <a:spcPts val="600"/>
              </a:spcAft>
              <a:buNone/>
            </a:pPr>
            <a:r>
              <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rPr>
              <a:t>Decide if each email is real or fake:</a:t>
            </a:r>
          </a:p>
          <a:p>
            <a:pPr marL="893763" lvl="0" indent="-441325">
              <a:lnSpc>
                <a:spcPct val="80000"/>
              </a:lnSpc>
              <a:spcAft>
                <a:spcPts val="600"/>
              </a:spcAft>
              <a:buFont typeface="Symbol" panose="05050102010706020507" pitchFamily="18" charset="2"/>
              <a:buChar char=""/>
            </a:pPr>
            <a:r>
              <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rPr>
              <a:t>Do you think both emails are real?</a:t>
            </a:r>
          </a:p>
          <a:p>
            <a:pPr marL="893763" lvl="0" indent="-441325">
              <a:lnSpc>
                <a:spcPct val="80000"/>
              </a:lnSpc>
              <a:spcAft>
                <a:spcPts val="600"/>
              </a:spcAft>
              <a:buFont typeface="Symbol" panose="05050102010706020507" pitchFamily="18" charset="2"/>
              <a:buChar char=""/>
            </a:pPr>
            <a:r>
              <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rPr>
              <a:t>Are both emails fake?</a:t>
            </a:r>
          </a:p>
          <a:p>
            <a:pPr marL="893763" lvl="0" indent="-441325">
              <a:lnSpc>
                <a:spcPct val="80000"/>
              </a:lnSpc>
              <a:spcAft>
                <a:spcPts val="600"/>
              </a:spcAft>
              <a:buFont typeface="Symbol" panose="05050102010706020507" pitchFamily="18" charset="2"/>
              <a:buChar char=""/>
            </a:pPr>
            <a:r>
              <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rPr>
              <a:t>Or is one real and the other fake?</a:t>
            </a:r>
          </a:p>
          <a:p>
            <a:pPr>
              <a:lnSpc>
                <a:spcPct val="80000"/>
              </a:lnSpc>
              <a:spcAft>
                <a:spcPts val="600"/>
              </a:spcAft>
              <a:buNone/>
            </a:pPr>
            <a:r>
              <a:rPr lang="en-GB" sz="2000" b="1" kern="100" noProof="0" dirty="0">
                <a:effectLst/>
                <a:latin typeface="OpenDyslexicAlta" panose="00000500000000000000" pitchFamily="50" charset="0"/>
                <a:ea typeface="Aptos" panose="020B0004020202020204" pitchFamily="34" charset="0"/>
                <a:cs typeface="Times New Roman" panose="02020603050405020304" pitchFamily="18" charset="0"/>
              </a:rPr>
              <a:t>Write down your answer:</a:t>
            </a:r>
            <a:r>
              <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rPr>
              <a:t> For each email, write whether you think it’s real or fake.</a:t>
            </a:r>
          </a:p>
          <a:p>
            <a:pPr>
              <a:lnSpc>
                <a:spcPct val="80000"/>
              </a:lnSpc>
              <a:spcAft>
                <a:spcPts val="600"/>
              </a:spcAft>
              <a:buNone/>
            </a:pPr>
            <a:r>
              <a:rPr lang="en-GB" sz="2000" b="1" kern="100" noProof="0" dirty="0">
                <a:effectLst/>
                <a:latin typeface="OpenDyslexicAlta" panose="00000500000000000000" pitchFamily="50" charset="0"/>
                <a:ea typeface="Aptos" panose="020B0004020202020204" pitchFamily="34" charset="0"/>
                <a:cs typeface="Times New Roman" panose="02020603050405020304" pitchFamily="18" charset="0"/>
              </a:rPr>
              <a:t>Explain your reasons:</a:t>
            </a:r>
            <a:endPar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endParaRPr>
          </a:p>
          <a:p>
            <a:pPr marL="893763" lvl="0" indent="-441325">
              <a:lnSpc>
                <a:spcPct val="80000"/>
              </a:lnSpc>
              <a:spcAft>
                <a:spcPts val="600"/>
              </a:spcAft>
              <a:buFont typeface="Symbol" panose="05050102010706020507" pitchFamily="18" charset="2"/>
              <a:buChar char=""/>
            </a:pPr>
            <a:r>
              <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rPr>
              <a:t>What made you think the email is real or fake?</a:t>
            </a:r>
          </a:p>
          <a:p>
            <a:pPr marL="893763" lvl="0" indent="-441325">
              <a:lnSpc>
                <a:spcPct val="80000"/>
              </a:lnSpc>
              <a:spcAft>
                <a:spcPts val="600"/>
              </a:spcAft>
              <a:buFont typeface="Symbol" panose="05050102010706020507" pitchFamily="18" charset="2"/>
              <a:buChar char=""/>
            </a:pPr>
            <a:r>
              <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rPr>
              <a:t>Look for clues such as the sender’s email address, who it is addressed to, the tone of the message and the link.</a:t>
            </a:r>
          </a:p>
          <a:p>
            <a:pPr marL="893763" lvl="0" indent="-441325">
              <a:lnSpc>
                <a:spcPct val="80000"/>
              </a:lnSpc>
              <a:spcAft>
                <a:spcPts val="600"/>
              </a:spcAft>
              <a:buFont typeface="Symbol" panose="05050102010706020507" pitchFamily="18" charset="2"/>
              <a:buChar char=""/>
            </a:pPr>
            <a:r>
              <a:rPr lang="en-GB" sz="2000" kern="100" noProof="0" dirty="0">
                <a:effectLst/>
                <a:latin typeface="OpenDyslexicAlta" panose="00000500000000000000" pitchFamily="50" charset="0"/>
                <a:ea typeface="Aptos" panose="020B0004020202020204" pitchFamily="34" charset="0"/>
                <a:cs typeface="Times New Roman" panose="02020603050405020304" pitchFamily="18" charset="0"/>
              </a:rPr>
              <a:t>Use evidence from the email to support your answer.</a:t>
            </a:r>
          </a:p>
        </p:txBody>
      </p:sp>
      <p:sp>
        <p:nvSpPr>
          <p:cNvPr id="7" name="Title 1">
            <a:extLst>
              <a:ext uri="{FF2B5EF4-FFF2-40B4-BE49-F238E27FC236}">
                <a16:creationId xmlns:a16="http://schemas.microsoft.com/office/drawing/2014/main" id="{B8AC435E-F296-E7F9-3C38-6F21F667AE1D}"/>
              </a:ext>
            </a:extLst>
          </p:cNvPr>
          <p:cNvSpPr>
            <a:spLocks noGrp="1"/>
          </p:cNvSpPr>
          <p:nvPr>
            <p:ph type="title"/>
          </p:nvPr>
        </p:nvSpPr>
        <p:spPr>
          <a:xfrm>
            <a:off x="1671638" y="90488"/>
            <a:ext cx="10186987" cy="763587"/>
          </a:xfrm>
        </p:spPr>
        <p:txBody>
          <a:bodyPr/>
          <a:lstStyle/>
          <a:p>
            <a:r>
              <a:rPr lang="en-GB" noProof="0" dirty="0"/>
              <a:t>1: Scams and phishing</a:t>
            </a:r>
          </a:p>
        </p:txBody>
      </p:sp>
    </p:spTree>
    <p:extLst>
      <p:ext uri="{BB962C8B-B14F-4D97-AF65-F5344CB8AC3E}">
        <p14:creationId xmlns:p14="http://schemas.microsoft.com/office/powerpoint/2010/main" val="1414299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18026-BB58-CC6B-C4A3-34A14BA4EA8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51003B-41BB-8E1C-D084-545AB6EA89FA}"/>
              </a:ext>
            </a:extLst>
          </p:cNvPr>
          <p:cNvSpPr>
            <a:spLocks noGrp="1"/>
          </p:cNvSpPr>
          <p:nvPr>
            <p:ph idx="1"/>
          </p:nvPr>
        </p:nvSpPr>
        <p:spPr>
          <a:xfrm>
            <a:off x="413993" y="1520575"/>
            <a:ext cx="5682008" cy="4746056"/>
          </a:xfrm>
        </p:spPr>
        <p:txBody>
          <a:bodyPr>
            <a:noAutofit/>
          </a:bodyPr>
          <a:lstStyle/>
          <a:p>
            <a:pPr>
              <a:lnSpc>
                <a:spcPct val="80000"/>
              </a:lnSpc>
              <a:spcAft>
                <a:spcPts val="600"/>
              </a:spcAft>
              <a:buNone/>
            </a:pPr>
            <a:r>
              <a:rPr lang="en-GB" sz="2800" b="1"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Email 1 is real because it uses Joe’s name, not just "Dear Customer". The sender’s email address looks professional and matches the company name. The tone is calm and the link matches the official website.</a:t>
            </a:r>
          </a:p>
        </p:txBody>
      </p:sp>
      <p:grpSp>
        <p:nvGrpSpPr>
          <p:cNvPr id="3" name="Group 2">
            <a:extLst>
              <a:ext uri="{FF2B5EF4-FFF2-40B4-BE49-F238E27FC236}">
                <a16:creationId xmlns:a16="http://schemas.microsoft.com/office/drawing/2014/main" id="{C734D79D-614A-CA44-777D-04F8FCBB31A0}"/>
              </a:ext>
            </a:extLst>
          </p:cNvPr>
          <p:cNvGrpSpPr/>
          <p:nvPr/>
        </p:nvGrpSpPr>
        <p:grpSpPr>
          <a:xfrm>
            <a:off x="6280517" y="1359768"/>
            <a:ext cx="5497490" cy="4860990"/>
            <a:chOff x="472536" y="1457617"/>
            <a:chExt cx="5497490" cy="4860990"/>
          </a:xfrm>
        </p:grpSpPr>
        <p:sp>
          <p:nvSpPr>
            <p:cNvPr id="5" name="Rectangle 4">
              <a:extLst>
                <a:ext uri="{FF2B5EF4-FFF2-40B4-BE49-F238E27FC236}">
                  <a16:creationId xmlns:a16="http://schemas.microsoft.com/office/drawing/2014/main" id="{94621697-7FDD-A3F1-49CE-174EBB029AAF}"/>
                </a:ext>
              </a:extLst>
            </p:cNvPr>
            <p:cNvSpPr/>
            <p:nvPr/>
          </p:nvSpPr>
          <p:spPr>
            <a:xfrm>
              <a:off x="472536" y="1457617"/>
              <a:ext cx="5490206" cy="4860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6" name="TextBox 5">
              <a:extLst>
                <a:ext uri="{FF2B5EF4-FFF2-40B4-BE49-F238E27FC236}">
                  <a16:creationId xmlns:a16="http://schemas.microsoft.com/office/drawing/2014/main" id="{D87E8A8C-227B-FBA9-B838-62A658815AB9}"/>
                </a:ext>
              </a:extLst>
            </p:cNvPr>
            <p:cNvSpPr txBox="1"/>
            <p:nvPr/>
          </p:nvSpPr>
          <p:spPr>
            <a:xfrm>
              <a:off x="631816" y="1901988"/>
              <a:ext cx="4403351" cy="338554"/>
            </a:xfrm>
            <a:prstGeom prst="rect">
              <a:avLst/>
            </a:prstGeom>
            <a:noFill/>
          </p:spPr>
          <p:txBody>
            <a:bodyPr wrap="square" rtlCol="0">
              <a:spAutoFit/>
            </a:bodyPr>
            <a:lstStyle/>
            <a:p>
              <a:r>
                <a:rPr lang="en-GB" sz="1600" b="1" noProof="0" dirty="0"/>
                <a:t>To: </a:t>
              </a:r>
              <a:r>
                <a:rPr lang="en-GB" sz="1600" noProof="0" dirty="0"/>
                <a:t>jbloggs@gmail.com </a:t>
              </a:r>
            </a:p>
          </p:txBody>
        </p:sp>
        <p:sp>
          <p:nvSpPr>
            <p:cNvPr id="7" name="TextBox 6">
              <a:extLst>
                <a:ext uri="{FF2B5EF4-FFF2-40B4-BE49-F238E27FC236}">
                  <a16:creationId xmlns:a16="http://schemas.microsoft.com/office/drawing/2014/main" id="{12B33ED3-63CC-47BD-DEEC-078BE91BC9DD}"/>
                </a:ext>
              </a:extLst>
            </p:cNvPr>
            <p:cNvSpPr txBox="1"/>
            <p:nvPr/>
          </p:nvSpPr>
          <p:spPr>
            <a:xfrm>
              <a:off x="631816" y="2160284"/>
              <a:ext cx="4491430" cy="338554"/>
            </a:xfrm>
            <a:prstGeom prst="rect">
              <a:avLst/>
            </a:prstGeom>
            <a:noFill/>
          </p:spPr>
          <p:txBody>
            <a:bodyPr wrap="square" rtlCol="0">
              <a:spAutoFit/>
            </a:bodyPr>
            <a:lstStyle/>
            <a:p>
              <a:r>
                <a:rPr lang="en-GB" sz="1600" b="1" noProof="0" dirty="0"/>
                <a:t>From: </a:t>
              </a:r>
              <a:r>
                <a:rPr lang="en-GB" sz="1600" noProof="0" dirty="0"/>
                <a:t>support@streamflix.com</a:t>
              </a:r>
            </a:p>
          </p:txBody>
        </p:sp>
        <p:sp>
          <p:nvSpPr>
            <p:cNvPr id="8" name="TextBox 7">
              <a:extLst>
                <a:ext uri="{FF2B5EF4-FFF2-40B4-BE49-F238E27FC236}">
                  <a16:creationId xmlns:a16="http://schemas.microsoft.com/office/drawing/2014/main" id="{90F56B6F-6DBE-D0FE-55AF-599CBF37F15E}"/>
                </a:ext>
              </a:extLst>
            </p:cNvPr>
            <p:cNvSpPr txBox="1"/>
            <p:nvPr/>
          </p:nvSpPr>
          <p:spPr>
            <a:xfrm>
              <a:off x="581330" y="1542653"/>
              <a:ext cx="4453837" cy="400110"/>
            </a:xfrm>
            <a:prstGeom prst="rect">
              <a:avLst/>
            </a:prstGeom>
            <a:noFill/>
          </p:spPr>
          <p:txBody>
            <a:bodyPr wrap="square" rtlCol="0">
              <a:spAutoFit/>
            </a:bodyPr>
            <a:lstStyle/>
            <a:p>
              <a:r>
                <a:rPr lang="en-GB" sz="2000" b="1" i="0" noProof="0" dirty="0">
                  <a:solidFill>
                    <a:srgbClr val="000000"/>
                  </a:solidFill>
                  <a:effectLst/>
                  <a:latin typeface="Arial" panose="020B0604020202020204" pitchFamily="34" charset="0"/>
                  <a:cs typeface="Arial" panose="020B0604020202020204" pitchFamily="34" charset="0"/>
                </a:rPr>
                <a:t>Your Monthly Subscription Receipt</a:t>
              </a:r>
            </a:p>
          </p:txBody>
        </p:sp>
        <p:sp>
          <p:nvSpPr>
            <p:cNvPr id="9" name="TextBox 8">
              <a:extLst>
                <a:ext uri="{FF2B5EF4-FFF2-40B4-BE49-F238E27FC236}">
                  <a16:creationId xmlns:a16="http://schemas.microsoft.com/office/drawing/2014/main" id="{1D242A55-6867-C5B3-5A46-A184008CEBF3}"/>
                </a:ext>
              </a:extLst>
            </p:cNvPr>
            <p:cNvSpPr txBox="1"/>
            <p:nvPr/>
          </p:nvSpPr>
          <p:spPr>
            <a:xfrm>
              <a:off x="631816" y="2501146"/>
              <a:ext cx="5222076" cy="3754874"/>
            </a:xfrm>
            <a:prstGeom prst="rect">
              <a:avLst/>
            </a:prstGeom>
            <a:noFill/>
          </p:spPr>
          <p:txBody>
            <a:bodyPr wrap="square" rtlCol="0">
              <a:spAutoFit/>
            </a:bodyPr>
            <a:lstStyle/>
            <a:p>
              <a:pPr algn="l"/>
              <a:r>
                <a:rPr lang="en-GB" sz="1400" b="0" i="0" noProof="0" dirty="0">
                  <a:solidFill>
                    <a:srgbClr val="000000"/>
                  </a:solidFill>
                  <a:effectLst/>
                  <a:latin typeface="Arial" panose="020B0604020202020204" pitchFamily="34" charset="0"/>
                  <a:cs typeface="Arial" panose="020B0604020202020204" pitchFamily="34" charset="0"/>
                </a:rPr>
                <a:t>Hi Joe,</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Thank you for your payment. Your </a:t>
              </a:r>
              <a:r>
                <a:rPr lang="en-GB" sz="1400" b="0" i="0" noProof="0" dirty="0" err="1">
                  <a:solidFill>
                    <a:srgbClr val="000000"/>
                  </a:solidFill>
                  <a:effectLst/>
                  <a:latin typeface="Arial" panose="020B0604020202020204" pitchFamily="34" charset="0"/>
                  <a:cs typeface="Arial" panose="020B0604020202020204" pitchFamily="34" charset="0"/>
                </a:rPr>
                <a:t>StreamFlix</a:t>
              </a:r>
              <a:r>
                <a:rPr lang="en-GB" sz="1400" b="0" i="0" noProof="0" dirty="0">
                  <a:solidFill>
                    <a:srgbClr val="000000"/>
                  </a:solidFill>
                  <a:effectLst/>
                  <a:latin typeface="Arial" panose="020B0604020202020204" pitchFamily="34" charset="0"/>
                  <a:cs typeface="Arial" panose="020B0604020202020204" pitchFamily="34" charset="0"/>
                </a:rPr>
                <a:t> subscription has been renewed successfully.</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Details of your payment:</a:t>
              </a:r>
            </a:p>
            <a:p>
              <a:pPr algn="l"/>
              <a:r>
                <a:rPr lang="en-GB" sz="1400" b="0" i="0" noProof="0" dirty="0">
                  <a:solidFill>
                    <a:srgbClr val="000000"/>
                  </a:solidFill>
                  <a:effectLst/>
                  <a:latin typeface="Arial" panose="020B0604020202020204" pitchFamily="34" charset="0"/>
                  <a:cs typeface="Arial" panose="020B0604020202020204" pitchFamily="34" charset="0"/>
                </a:rPr>
                <a:t>Amount: £9.99</a:t>
              </a:r>
            </a:p>
            <a:p>
              <a:pPr algn="l"/>
              <a:r>
                <a:rPr lang="en-GB" sz="1400" b="0" i="0" noProof="0" dirty="0">
                  <a:solidFill>
                    <a:srgbClr val="000000"/>
                  </a:solidFill>
                  <a:effectLst/>
                  <a:latin typeface="Arial" panose="020B0604020202020204" pitchFamily="34" charset="0"/>
                  <a:cs typeface="Arial" panose="020B0604020202020204" pitchFamily="34" charset="0"/>
                </a:rPr>
                <a:t>Date: 5th May 2025</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If you have any questions, feel free to contact us through our official website: www.streamflix.com.</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Thank you for being a valued customer!</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Best regards,</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The </a:t>
              </a:r>
              <a:r>
                <a:rPr lang="en-GB" sz="1400" b="0" i="0" noProof="0" dirty="0" err="1">
                  <a:solidFill>
                    <a:srgbClr val="000000"/>
                  </a:solidFill>
                  <a:effectLst/>
                  <a:latin typeface="Arial" panose="020B0604020202020204" pitchFamily="34" charset="0"/>
                  <a:cs typeface="Arial" panose="020B0604020202020204" pitchFamily="34" charset="0"/>
                </a:rPr>
                <a:t>StreamFlix</a:t>
              </a:r>
              <a:r>
                <a:rPr lang="en-GB" sz="1400" b="0" i="0" noProof="0" dirty="0">
                  <a:solidFill>
                    <a:srgbClr val="000000"/>
                  </a:solidFill>
                  <a:effectLst/>
                  <a:latin typeface="Arial" panose="020B0604020202020204" pitchFamily="34" charset="0"/>
                  <a:cs typeface="Arial" panose="020B0604020202020204" pitchFamily="34" charset="0"/>
                </a:rPr>
                <a:t> Team</a:t>
              </a:r>
              <a:endParaRPr lang="en-GB" sz="1400" noProof="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41EDE2CD-FB32-0A89-6426-533060119421}"/>
                </a:ext>
              </a:extLst>
            </p:cNvPr>
            <p:cNvSpPr txBox="1"/>
            <p:nvPr/>
          </p:nvSpPr>
          <p:spPr>
            <a:xfrm>
              <a:off x="5123246" y="2062739"/>
              <a:ext cx="846780" cy="276999"/>
            </a:xfrm>
            <a:prstGeom prst="rect">
              <a:avLst/>
            </a:prstGeom>
            <a:noFill/>
          </p:spPr>
          <p:txBody>
            <a:bodyPr wrap="square" rtlCol="0">
              <a:spAutoFit/>
            </a:bodyPr>
            <a:lstStyle/>
            <a:p>
              <a:pPr algn="ctr"/>
              <a:r>
                <a:rPr lang="en-GB" sz="1200" noProof="0" dirty="0"/>
                <a:t>08:37 AM</a:t>
              </a:r>
            </a:p>
          </p:txBody>
        </p:sp>
        <p:pic>
          <p:nvPicPr>
            <p:cNvPr id="11" name="Picture 10">
              <a:extLst>
                <a:ext uri="{FF2B5EF4-FFF2-40B4-BE49-F238E27FC236}">
                  <a16:creationId xmlns:a16="http://schemas.microsoft.com/office/drawing/2014/main" id="{329D35F5-724F-5081-DD49-CB444A2BCCA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201731" y="1542653"/>
              <a:ext cx="652161" cy="554313"/>
            </a:xfrm>
            <a:prstGeom prst="rect">
              <a:avLst/>
            </a:prstGeom>
          </p:spPr>
        </p:pic>
      </p:grpSp>
      <p:sp>
        <p:nvSpPr>
          <p:cNvPr id="14" name="Title 1">
            <a:extLst>
              <a:ext uri="{FF2B5EF4-FFF2-40B4-BE49-F238E27FC236}">
                <a16:creationId xmlns:a16="http://schemas.microsoft.com/office/drawing/2014/main" id="{AA9ACD2D-B96A-9651-BD5F-796671DA58AE}"/>
              </a:ext>
            </a:extLst>
          </p:cNvPr>
          <p:cNvSpPr>
            <a:spLocks noGrp="1"/>
          </p:cNvSpPr>
          <p:nvPr>
            <p:ph type="title"/>
          </p:nvPr>
        </p:nvSpPr>
        <p:spPr>
          <a:xfrm>
            <a:off x="1671638" y="90488"/>
            <a:ext cx="10186987" cy="763587"/>
          </a:xfrm>
        </p:spPr>
        <p:txBody>
          <a:bodyPr/>
          <a:lstStyle/>
          <a:p>
            <a:r>
              <a:rPr lang="en-GB" sz="4400" noProof="0" dirty="0"/>
              <a:t>1: Scams and phishing </a:t>
            </a:r>
            <a:r>
              <a:rPr lang="en-GB" sz="4400" noProof="0" dirty="0">
                <a:solidFill>
                  <a:srgbClr val="C00000"/>
                </a:solidFill>
              </a:rPr>
              <a:t>ANSWERS</a:t>
            </a:r>
          </a:p>
        </p:txBody>
      </p:sp>
    </p:spTree>
    <p:extLst>
      <p:ext uri="{BB962C8B-B14F-4D97-AF65-F5344CB8AC3E}">
        <p14:creationId xmlns:p14="http://schemas.microsoft.com/office/powerpoint/2010/main" val="28942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8E3DF-9550-E333-67F9-635B09D79B9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B09B7C-9E7C-FC43-89D6-8461890F5673}"/>
              </a:ext>
            </a:extLst>
          </p:cNvPr>
          <p:cNvSpPr>
            <a:spLocks noGrp="1"/>
          </p:cNvSpPr>
          <p:nvPr>
            <p:ph idx="1"/>
          </p:nvPr>
        </p:nvSpPr>
        <p:spPr>
          <a:xfrm>
            <a:off x="413993" y="1541123"/>
            <a:ext cx="5682008" cy="4725507"/>
          </a:xfrm>
        </p:spPr>
        <p:txBody>
          <a:bodyPr>
            <a:noAutofit/>
          </a:bodyPr>
          <a:lstStyle/>
          <a:p>
            <a:pPr>
              <a:lnSpc>
                <a:spcPct val="80000"/>
              </a:lnSpc>
              <a:spcAft>
                <a:spcPts val="600"/>
              </a:spcAft>
              <a:buNone/>
            </a:pPr>
            <a:r>
              <a:rPr lang="en-GB" sz="2800" b="1" kern="100" noProof="0" dirty="0">
                <a:solidFill>
                  <a:srgbClr val="C00000"/>
                </a:solidFill>
                <a:effectLst/>
                <a:latin typeface="OpenDyslexicAlta" panose="00000500000000000000" pitchFamily="50" charset="0"/>
                <a:ea typeface="Aptos" panose="020B0004020202020204" pitchFamily="34" charset="0"/>
                <a:cs typeface="Times New Roman" panose="02020603050405020304" pitchFamily="18" charset="0"/>
              </a:rPr>
              <a:t>Email 2 is fake because it uses "Dear Customer" instead of Joe’s name. The sender’s email address looks strange, with "str3am-flix-security.com". It tries to make Joe panic by saying the account will be closed and the link does not look safe.</a:t>
            </a:r>
          </a:p>
        </p:txBody>
      </p:sp>
      <p:grpSp>
        <p:nvGrpSpPr>
          <p:cNvPr id="12" name="Group 11">
            <a:extLst>
              <a:ext uri="{FF2B5EF4-FFF2-40B4-BE49-F238E27FC236}">
                <a16:creationId xmlns:a16="http://schemas.microsoft.com/office/drawing/2014/main" id="{1EE3ABEE-431B-3CEF-9507-6DE4FA30C311}"/>
              </a:ext>
            </a:extLst>
          </p:cNvPr>
          <p:cNvGrpSpPr/>
          <p:nvPr/>
        </p:nvGrpSpPr>
        <p:grpSpPr>
          <a:xfrm>
            <a:off x="6280517" y="1405640"/>
            <a:ext cx="5497490" cy="4860990"/>
            <a:chOff x="6233687" y="1457617"/>
            <a:chExt cx="5497490" cy="4860990"/>
          </a:xfrm>
        </p:grpSpPr>
        <p:sp>
          <p:nvSpPr>
            <p:cNvPr id="13" name="Rectangle 12">
              <a:extLst>
                <a:ext uri="{FF2B5EF4-FFF2-40B4-BE49-F238E27FC236}">
                  <a16:creationId xmlns:a16="http://schemas.microsoft.com/office/drawing/2014/main" id="{06AB1622-FEF9-BF6E-17CF-C75CD7E7BCBA}"/>
                </a:ext>
              </a:extLst>
            </p:cNvPr>
            <p:cNvSpPr/>
            <p:nvPr/>
          </p:nvSpPr>
          <p:spPr>
            <a:xfrm>
              <a:off x="6233687" y="1457617"/>
              <a:ext cx="5490206" cy="4860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noProof="0" dirty="0"/>
            </a:p>
          </p:txBody>
        </p:sp>
        <p:sp>
          <p:nvSpPr>
            <p:cNvPr id="14" name="TextBox 13">
              <a:extLst>
                <a:ext uri="{FF2B5EF4-FFF2-40B4-BE49-F238E27FC236}">
                  <a16:creationId xmlns:a16="http://schemas.microsoft.com/office/drawing/2014/main" id="{C6F74547-020A-394E-739D-A9255B1B3AB6}"/>
                </a:ext>
              </a:extLst>
            </p:cNvPr>
            <p:cNvSpPr txBox="1"/>
            <p:nvPr/>
          </p:nvSpPr>
          <p:spPr>
            <a:xfrm>
              <a:off x="6392967" y="1901988"/>
              <a:ext cx="4403351" cy="338554"/>
            </a:xfrm>
            <a:prstGeom prst="rect">
              <a:avLst/>
            </a:prstGeom>
            <a:noFill/>
          </p:spPr>
          <p:txBody>
            <a:bodyPr wrap="square" rtlCol="0">
              <a:spAutoFit/>
            </a:bodyPr>
            <a:lstStyle/>
            <a:p>
              <a:r>
                <a:rPr lang="en-GB" sz="1600" b="1" noProof="0" dirty="0"/>
                <a:t>To: </a:t>
              </a:r>
              <a:r>
                <a:rPr lang="en-GB" sz="1600" noProof="0" dirty="0"/>
                <a:t>jbloggs@gmail.com </a:t>
              </a:r>
            </a:p>
          </p:txBody>
        </p:sp>
        <p:sp>
          <p:nvSpPr>
            <p:cNvPr id="15" name="TextBox 14">
              <a:extLst>
                <a:ext uri="{FF2B5EF4-FFF2-40B4-BE49-F238E27FC236}">
                  <a16:creationId xmlns:a16="http://schemas.microsoft.com/office/drawing/2014/main" id="{3FF6E76D-6930-7AEB-A3FD-74E58E059259}"/>
                </a:ext>
              </a:extLst>
            </p:cNvPr>
            <p:cNvSpPr txBox="1"/>
            <p:nvPr/>
          </p:nvSpPr>
          <p:spPr>
            <a:xfrm>
              <a:off x="6392967" y="2160284"/>
              <a:ext cx="4491430" cy="338554"/>
            </a:xfrm>
            <a:prstGeom prst="rect">
              <a:avLst/>
            </a:prstGeom>
            <a:noFill/>
          </p:spPr>
          <p:txBody>
            <a:bodyPr wrap="square" rtlCol="0">
              <a:spAutoFit/>
            </a:bodyPr>
            <a:lstStyle/>
            <a:p>
              <a:r>
                <a:rPr lang="en-GB" sz="1600" b="1" noProof="0" dirty="0"/>
                <a:t>From: </a:t>
              </a:r>
              <a:r>
                <a:rPr lang="en-GB" sz="1600" noProof="0" dirty="0"/>
                <a:t>support@str3am-flix-security.com</a:t>
              </a:r>
            </a:p>
          </p:txBody>
        </p:sp>
        <p:sp>
          <p:nvSpPr>
            <p:cNvPr id="16" name="TextBox 15">
              <a:extLst>
                <a:ext uri="{FF2B5EF4-FFF2-40B4-BE49-F238E27FC236}">
                  <a16:creationId xmlns:a16="http://schemas.microsoft.com/office/drawing/2014/main" id="{923C5D0C-057E-7612-674B-5E3EA2FDB1F2}"/>
                </a:ext>
              </a:extLst>
            </p:cNvPr>
            <p:cNvSpPr txBox="1"/>
            <p:nvPr/>
          </p:nvSpPr>
          <p:spPr>
            <a:xfrm>
              <a:off x="6342481" y="1542653"/>
              <a:ext cx="4453837" cy="400110"/>
            </a:xfrm>
            <a:prstGeom prst="rect">
              <a:avLst/>
            </a:prstGeom>
            <a:noFill/>
          </p:spPr>
          <p:txBody>
            <a:bodyPr wrap="square" rtlCol="0">
              <a:spAutoFit/>
            </a:bodyPr>
            <a:lstStyle/>
            <a:p>
              <a:r>
                <a:rPr lang="en-GB" sz="2000" b="1" i="0" noProof="0" dirty="0">
                  <a:solidFill>
                    <a:srgbClr val="000000"/>
                  </a:solidFill>
                  <a:effectLst/>
                  <a:latin typeface="Arial" panose="020B0604020202020204" pitchFamily="34" charset="0"/>
                  <a:cs typeface="Arial" panose="020B0604020202020204" pitchFamily="34" charset="0"/>
                </a:rPr>
                <a:t>Your Account Will Be Closed!</a:t>
              </a:r>
            </a:p>
          </p:txBody>
        </p:sp>
        <p:sp>
          <p:nvSpPr>
            <p:cNvPr id="17" name="TextBox 16">
              <a:extLst>
                <a:ext uri="{FF2B5EF4-FFF2-40B4-BE49-F238E27FC236}">
                  <a16:creationId xmlns:a16="http://schemas.microsoft.com/office/drawing/2014/main" id="{04A55A90-6C3D-3FCA-EBCF-6F5C377B90CA}"/>
                </a:ext>
              </a:extLst>
            </p:cNvPr>
            <p:cNvSpPr txBox="1"/>
            <p:nvPr/>
          </p:nvSpPr>
          <p:spPr>
            <a:xfrm>
              <a:off x="6392967" y="2498838"/>
              <a:ext cx="5222076" cy="3754874"/>
            </a:xfrm>
            <a:prstGeom prst="rect">
              <a:avLst/>
            </a:prstGeom>
            <a:noFill/>
          </p:spPr>
          <p:txBody>
            <a:bodyPr wrap="square" rtlCol="0">
              <a:spAutoFit/>
            </a:bodyPr>
            <a:lstStyle/>
            <a:p>
              <a:pPr algn="l"/>
              <a:r>
                <a:rPr lang="en-GB" sz="1400" b="0" i="0" noProof="0" dirty="0">
                  <a:solidFill>
                    <a:srgbClr val="000000"/>
                  </a:solidFill>
                  <a:effectLst/>
                  <a:latin typeface="Arial" panose="020B0604020202020204" pitchFamily="34" charset="0"/>
                  <a:cs typeface="Arial" panose="020B0604020202020204" pitchFamily="34" charset="0"/>
                </a:rPr>
                <a:t>Dear Customer,</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We have detected suspicious activity in your </a:t>
              </a:r>
              <a:r>
                <a:rPr lang="en-GB" sz="1400" b="0" i="0" noProof="0" dirty="0" err="1">
                  <a:solidFill>
                    <a:srgbClr val="000000"/>
                  </a:solidFill>
                  <a:effectLst/>
                  <a:latin typeface="Arial" panose="020B0604020202020204" pitchFamily="34" charset="0"/>
                  <a:cs typeface="Arial" panose="020B0604020202020204" pitchFamily="34" charset="0"/>
                </a:rPr>
                <a:t>StreamFlix</a:t>
              </a:r>
              <a:r>
                <a:rPr lang="en-GB" sz="1400" b="0" i="0" noProof="0" dirty="0">
                  <a:solidFill>
                    <a:srgbClr val="000000"/>
                  </a:solidFill>
                  <a:effectLst/>
                  <a:latin typeface="Arial" panose="020B0604020202020204" pitchFamily="34" charset="0"/>
                  <a:cs typeface="Arial" panose="020B0604020202020204" pitchFamily="34" charset="0"/>
                </a:rPr>
                <a:t> account. For your safety, we have temporarily locked your account.</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To unlock your account, please click the link below and verify your details:</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endParaRPr lang="en-GB" sz="1400" noProof="0" dirty="0">
                <a:solidFill>
                  <a:srgbClr val="000000"/>
                </a:solidFill>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If you do not act within 24 hours, your account will be permanently closed.</a:t>
              </a:r>
            </a:p>
            <a:p>
              <a:pPr algn="l"/>
              <a:endParaRPr lang="en-GB" sz="1400" b="0" i="0" noProof="0" dirty="0">
                <a:solidFill>
                  <a:srgbClr val="000000"/>
                </a:solidFill>
                <a:effectLst/>
                <a:latin typeface="Arial" panose="020B0604020202020204" pitchFamily="34" charset="0"/>
                <a:cs typeface="Arial" panose="020B0604020202020204" pitchFamily="34" charset="0"/>
              </a:endParaRPr>
            </a:p>
            <a:p>
              <a:pPr algn="l"/>
              <a:r>
                <a:rPr lang="en-GB" sz="1400" b="0" i="0" noProof="0" dirty="0">
                  <a:solidFill>
                    <a:srgbClr val="000000"/>
                  </a:solidFill>
                  <a:effectLst/>
                  <a:latin typeface="Arial" panose="020B0604020202020204" pitchFamily="34" charset="0"/>
                  <a:cs typeface="Arial" panose="020B0604020202020204" pitchFamily="34" charset="0"/>
                </a:rPr>
                <a:t>Thank you,</a:t>
              </a:r>
            </a:p>
            <a:p>
              <a:pPr algn="l"/>
              <a:r>
                <a:rPr lang="en-GB" sz="1400" b="0" i="0" noProof="0" dirty="0" err="1">
                  <a:solidFill>
                    <a:srgbClr val="000000"/>
                  </a:solidFill>
                  <a:effectLst/>
                  <a:latin typeface="Arial" panose="020B0604020202020204" pitchFamily="34" charset="0"/>
                  <a:cs typeface="Arial" panose="020B0604020202020204" pitchFamily="34" charset="0"/>
                </a:rPr>
                <a:t>StreamFlix</a:t>
              </a:r>
              <a:r>
                <a:rPr lang="en-GB" sz="1400" b="0" i="0" noProof="0" dirty="0">
                  <a:solidFill>
                    <a:srgbClr val="000000"/>
                  </a:solidFill>
                  <a:effectLst/>
                  <a:latin typeface="Arial" panose="020B0604020202020204" pitchFamily="34" charset="0"/>
                  <a:cs typeface="Arial" panose="020B0604020202020204" pitchFamily="34" charset="0"/>
                </a:rPr>
                <a:t> Security Team</a:t>
              </a:r>
              <a:br>
                <a:rPr lang="en-GB" sz="1400" noProof="0" dirty="0">
                  <a:latin typeface="Arial" panose="020B0604020202020204" pitchFamily="34" charset="0"/>
                  <a:cs typeface="Arial" panose="020B0604020202020204" pitchFamily="34" charset="0"/>
                </a:rPr>
              </a:br>
              <a:endParaRPr lang="en-GB" sz="1400" noProof="0" dirty="0">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27D1D74E-F062-F2EE-7C2A-3C4765AC0018}"/>
                </a:ext>
              </a:extLst>
            </p:cNvPr>
            <p:cNvSpPr/>
            <p:nvPr/>
          </p:nvSpPr>
          <p:spPr>
            <a:xfrm>
              <a:off x="7133489" y="4339784"/>
              <a:ext cx="3652555" cy="457396"/>
            </a:xfrm>
            <a:prstGeom prst="roundRect">
              <a:avLst>
                <a:gd name="adj" fmla="val 50000"/>
              </a:avLst>
            </a:prstGeom>
            <a:solidFill>
              <a:schemeClr val="accent4">
                <a:lumMod val="40000"/>
                <a:lumOff val="60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i="0" noProof="0" dirty="0">
                  <a:solidFill>
                    <a:srgbClr val="000000"/>
                  </a:solidFill>
                  <a:effectLst/>
                  <a:latin typeface="Arial" panose="020B0604020202020204" pitchFamily="34" charset="0"/>
                  <a:cs typeface="Arial" panose="020B0604020202020204" pitchFamily="34" charset="0"/>
                </a:rPr>
                <a:t>Click here to verify your account</a:t>
              </a:r>
              <a:endParaRPr lang="en-GB" sz="1600" b="1" noProof="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9F4950EB-0503-29D4-3755-138B993D69F7}"/>
                </a:ext>
              </a:extLst>
            </p:cNvPr>
            <p:cNvSpPr txBox="1"/>
            <p:nvPr/>
          </p:nvSpPr>
          <p:spPr>
            <a:xfrm>
              <a:off x="10884397" y="2062739"/>
              <a:ext cx="846780" cy="276999"/>
            </a:xfrm>
            <a:prstGeom prst="rect">
              <a:avLst/>
            </a:prstGeom>
            <a:noFill/>
          </p:spPr>
          <p:txBody>
            <a:bodyPr wrap="square" rtlCol="0">
              <a:spAutoFit/>
            </a:bodyPr>
            <a:lstStyle/>
            <a:p>
              <a:pPr algn="ctr"/>
              <a:r>
                <a:rPr lang="en-GB" sz="1200" noProof="0" dirty="0"/>
                <a:t>02:13 PM</a:t>
              </a:r>
            </a:p>
          </p:txBody>
        </p:sp>
        <p:pic>
          <p:nvPicPr>
            <p:cNvPr id="20" name="Picture 19">
              <a:extLst>
                <a:ext uri="{FF2B5EF4-FFF2-40B4-BE49-F238E27FC236}">
                  <a16:creationId xmlns:a16="http://schemas.microsoft.com/office/drawing/2014/main" id="{8C07C415-4BC1-31C2-155F-2B3D175EBC9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62882" y="1542653"/>
              <a:ext cx="652161" cy="554313"/>
            </a:xfrm>
            <a:prstGeom prst="rect">
              <a:avLst/>
            </a:prstGeom>
          </p:spPr>
        </p:pic>
      </p:grpSp>
      <p:sp>
        <p:nvSpPr>
          <p:cNvPr id="23" name="Title 1">
            <a:extLst>
              <a:ext uri="{FF2B5EF4-FFF2-40B4-BE49-F238E27FC236}">
                <a16:creationId xmlns:a16="http://schemas.microsoft.com/office/drawing/2014/main" id="{14C526C5-F56B-DFAA-7345-4432D6938F36}"/>
              </a:ext>
            </a:extLst>
          </p:cNvPr>
          <p:cNvSpPr>
            <a:spLocks noGrp="1"/>
          </p:cNvSpPr>
          <p:nvPr>
            <p:ph type="title"/>
          </p:nvPr>
        </p:nvSpPr>
        <p:spPr>
          <a:xfrm>
            <a:off x="1671638" y="90488"/>
            <a:ext cx="10186987" cy="763587"/>
          </a:xfrm>
        </p:spPr>
        <p:txBody>
          <a:bodyPr/>
          <a:lstStyle/>
          <a:p>
            <a:r>
              <a:rPr lang="en-GB" sz="4400" noProof="0" dirty="0"/>
              <a:t>1: Scams and phishing </a:t>
            </a:r>
            <a:r>
              <a:rPr lang="en-GB" sz="4400" noProof="0" dirty="0">
                <a:solidFill>
                  <a:srgbClr val="C00000"/>
                </a:solidFill>
              </a:rPr>
              <a:t>ANSWERS</a:t>
            </a:r>
          </a:p>
        </p:txBody>
      </p:sp>
    </p:spTree>
    <p:extLst>
      <p:ext uri="{BB962C8B-B14F-4D97-AF65-F5344CB8AC3E}">
        <p14:creationId xmlns:p14="http://schemas.microsoft.com/office/powerpoint/2010/main" val="141737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D7E41-FAAE-A415-673B-E0ADD2B97557}"/>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2BAC9170-7CE3-FF26-C047-BAED9F98D29D}"/>
              </a:ext>
            </a:extLst>
          </p:cNvPr>
          <p:cNvSpPr/>
          <p:nvPr/>
        </p:nvSpPr>
        <p:spPr>
          <a:xfrm>
            <a:off x="321524" y="2260958"/>
            <a:ext cx="11364016" cy="76357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2E247CCF-5E31-3770-A359-9E4B237CF564}"/>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28E2D6E7-3110-D529-7BA2-3D7A1C288C24}"/>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Scams and phishing </a:t>
            </a:r>
          </a:p>
          <a:p>
            <a:pPr marL="809625" indent="-723900">
              <a:buClr>
                <a:srgbClr val="C00000"/>
              </a:buClr>
              <a:buSzPct val="107000"/>
              <a:buFont typeface="+mj-lt"/>
              <a:buAutoNum type="arabicPeriod"/>
            </a:pPr>
            <a:r>
              <a:rPr lang="en-GB" noProof="0" dirty="0"/>
              <a:t>Radicalisation</a:t>
            </a:r>
            <a:endParaRPr lang="en-GB" sz="3600" noProof="0" dirty="0"/>
          </a:p>
          <a:p>
            <a:pPr marL="809625" indent="-723900">
              <a:buClr>
                <a:srgbClr val="C00000"/>
              </a:buClr>
              <a:buSzPct val="107000"/>
              <a:buFont typeface="+mj-lt"/>
              <a:buAutoNum type="arabicPeriod"/>
            </a:pPr>
            <a:r>
              <a:rPr lang="en-GB" sz="3600" noProof="0" dirty="0"/>
              <a:t>Online bullying</a:t>
            </a:r>
          </a:p>
          <a:p>
            <a:pPr marL="809625" indent="-723900">
              <a:buClr>
                <a:srgbClr val="C00000"/>
              </a:buClr>
              <a:buSzPct val="107000"/>
              <a:buFont typeface="+mj-lt"/>
              <a:buAutoNum type="arabicPeriod"/>
            </a:pPr>
            <a:r>
              <a:rPr lang="en-GB" sz="3600" noProof="0" dirty="0"/>
              <a:t>Keeping yourself safe</a:t>
            </a:r>
            <a:endParaRPr lang="en-GB" noProof="0" dirty="0"/>
          </a:p>
        </p:txBody>
      </p:sp>
    </p:spTree>
    <p:extLst>
      <p:ext uri="{BB962C8B-B14F-4D97-AF65-F5344CB8AC3E}">
        <p14:creationId xmlns:p14="http://schemas.microsoft.com/office/powerpoint/2010/main" val="332660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A80F37-EB0D-DF78-40A1-B3A676E2AB6E}"/>
              </a:ext>
            </a:extLst>
          </p:cNvPr>
          <p:cNvSpPr>
            <a:spLocks noGrp="1"/>
          </p:cNvSpPr>
          <p:nvPr>
            <p:ph type="title"/>
          </p:nvPr>
        </p:nvSpPr>
        <p:spPr>
          <a:xfrm>
            <a:off x="5478695" y="198671"/>
            <a:ext cx="6380224" cy="763571"/>
          </a:xfrm>
        </p:spPr>
        <p:txBody>
          <a:bodyPr/>
          <a:lstStyle/>
          <a:p>
            <a:r>
              <a:rPr lang="en-GB" noProof="0" dirty="0"/>
              <a:t>Radicalisation</a:t>
            </a:r>
          </a:p>
        </p:txBody>
      </p:sp>
      <p:sp>
        <p:nvSpPr>
          <p:cNvPr id="5" name="Content Placeholder 4">
            <a:extLst>
              <a:ext uri="{FF2B5EF4-FFF2-40B4-BE49-F238E27FC236}">
                <a16:creationId xmlns:a16="http://schemas.microsoft.com/office/drawing/2014/main" id="{5B6A19F8-9F61-E80D-A258-C997511E61F0}"/>
              </a:ext>
            </a:extLst>
          </p:cNvPr>
          <p:cNvSpPr>
            <a:spLocks noGrp="1"/>
          </p:cNvSpPr>
          <p:nvPr>
            <p:ph idx="1"/>
          </p:nvPr>
        </p:nvSpPr>
        <p:spPr>
          <a:xfrm>
            <a:off x="5478695" y="1447459"/>
            <a:ext cx="5679041" cy="4952736"/>
          </a:xfrm>
        </p:spPr>
        <p:txBody>
          <a:bodyPr>
            <a:normAutofit/>
          </a:bodyPr>
          <a:lstStyle/>
          <a:p>
            <a:pPr>
              <a:spcAft>
                <a:spcPts val="600"/>
              </a:spcAft>
            </a:pPr>
            <a:r>
              <a:rPr lang="en-GB" b="1" noProof="0" dirty="0">
                <a:solidFill>
                  <a:srgbClr val="C00000"/>
                </a:solidFill>
              </a:rPr>
              <a:t>Radicalisation</a:t>
            </a:r>
            <a:r>
              <a:rPr lang="en-GB" noProof="0" dirty="0"/>
              <a:t> is when someone tries to influence you into adopting extreme or harmful beliefs.</a:t>
            </a:r>
          </a:p>
        </p:txBody>
      </p:sp>
      <p:pic>
        <p:nvPicPr>
          <p:cNvPr id="9" name="Picture 8" descr="An angry man pointing at the camera">
            <a:extLst>
              <a:ext uri="{FF2B5EF4-FFF2-40B4-BE49-F238E27FC236}">
                <a16:creationId xmlns:a16="http://schemas.microsoft.com/office/drawing/2014/main" id="{C8C940F9-8B97-D54B-8CCB-BED0513A85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715000" cy="6858000"/>
          </a:xfrm>
          <a:prstGeom prst="rect">
            <a:avLst/>
          </a:prstGeom>
        </p:spPr>
      </p:pic>
    </p:spTree>
    <p:extLst>
      <p:ext uri="{BB962C8B-B14F-4D97-AF65-F5344CB8AC3E}">
        <p14:creationId xmlns:p14="http://schemas.microsoft.com/office/powerpoint/2010/main" val="1300991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E8D995-FF7C-F6D2-D4D1-340D56F529FC}"/>
              </a:ext>
            </a:extLst>
          </p:cNvPr>
          <p:cNvSpPr>
            <a:spLocks noGrp="1"/>
          </p:cNvSpPr>
          <p:nvPr>
            <p:ph idx="1"/>
          </p:nvPr>
        </p:nvSpPr>
        <p:spPr/>
        <p:txBody>
          <a:bodyPr>
            <a:normAutofit fontScale="85000" lnSpcReduction="20000"/>
          </a:bodyPr>
          <a:lstStyle/>
          <a:p>
            <a:pPr>
              <a:spcAft>
                <a:spcPts val="600"/>
              </a:spcAft>
            </a:pPr>
            <a:r>
              <a:rPr lang="en-GB" noProof="0" dirty="0"/>
              <a:t>What do we mean by “extreme views”?</a:t>
            </a:r>
          </a:p>
          <a:p>
            <a:pPr>
              <a:spcAft>
                <a:spcPts val="600"/>
              </a:spcAft>
            </a:pPr>
            <a:r>
              <a:rPr lang="en-GB" b="1" noProof="0" dirty="0">
                <a:solidFill>
                  <a:srgbClr val="C00000"/>
                </a:solidFill>
              </a:rPr>
              <a:t>Extreme views are opinions or beliefs that go far beyond what most people consider reasonable, fair or balanced. These views often:</a:t>
            </a:r>
          </a:p>
          <a:p>
            <a:pPr marL="893763" indent="-441325">
              <a:spcAft>
                <a:spcPts val="600"/>
              </a:spcAft>
              <a:buFont typeface="Arial" panose="020B0604020202020204" pitchFamily="34" charset="0"/>
              <a:buChar char="•"/>
            </a:pPr>
            <a:r>
              <a:rPr lang="en-GB" b="1" noProof="0" dirty="0">
                <a:solidFill>
                  <a:srgbClr val="C00000"/>
                </a:solidFill>
              </a:rPr>
              <a:t>Blame or target certain groups unfairly.</a:t>
            </a:r>
          </a:p>
          <a:p>
            <a:pPr marL="893763" indent="-441325">
              <a:spcAft>
                <a:spcPts val="600"/>
              </a:spcAft>
              <a:buFont typeface="Arial" panose="020B0604020202020204" pitchFamily="34" charset="0"/>
              <a:buChar char="•"/>
            </a:pPr>
            <a:r>
              <a:rPr lang="en-GB" b="1" noProof="0" dirty="0">
                <a:solidFill>
                  <a:srgbClr val="C00000"/>
                </a:solidFill>
              </a:rPr>
              <a:t>Promote hate, violence or harmful actions.</a:t>
            </a:r>
          </a:p>
          <a:p>
            <a:pPr marL="893763" indent="-441325">
              <a:spcAft>
                <a:spcPts val="600"/>
              </a:spcAft>
              <a:buFont typeface="Arial" panose="020B0604020202020204" pitchFamily="34" charset="0"/>
              <a:buChar char="•"/>
            </a:pPr>
            <a:r>
              <a:rPr lang="en-GB" b="1" noProof="0" dirty="0">
                <a:solidFill>
                  <a:srgbClr val="C00000"/>
                </a:solidFill>
              </a:rPr>
              <a:t>Reject facts or evidence in favour of false information.</a:t>
            </a:r>
          </a:p>
          <a:p>
            <a:pPr>
              <a:spcAft>
                <a:spcPts val="600"/>
              </a:spcAft>
            </a:pPr>
            <a:r>
              <a:rPr lang="en-GB" b="1" noProof="0" dirty="0">
                <a:solidFill>
                  <a:srgbClr val="C00000"/>
                </a:solidFill>
              </a:rPr>
              <a:t>It is important to question extreme views because they can spread fear and anger and may be used to manipulate people.</a:t>
            </a:r>
          </a:p>
        </p:txBody>
      </p:sp>
      <p:sp>
        <p:nvSpPr>
          <p:cNvPr id="2" name="Title 1">
            <a:extLst>
              <a:ext uri="{FF2B5EF4-FFF2-40B4-BE49-F238E27FC236}">
                <a16:creationId xmlns:a16="http://schemas.microsoft.com/office/drawing/2014/main" id="{13C3A152-9F5D-3845-9AE8-DB638EA76107}"/>
              </a:ext>
            </a:extLst>
          </p:cNvPr>
          <p:cNvSpPr>
            <a:spLocks noGrp="1"/>
          </p:cNvSpPr>
          <p:nvPr>
            <p:ph type="title"/>
          </p:nvPr>
        </p:nvSpPr>
        <p:spPr/>
        <p:txBody>
          <a:bodyPr/>
          <a:lstStyle/>
          <a:p>
            <a:r>
              <a:rPr lang="en-GB" noProof="0" dirty="0"/>
              <a:t>Radicalisation</a:t>
            </a:r>
          </a:p>
        </p:txBody>
      </p:sp>
    </p:spTree>
    <p:extLst>
      <p:ext uri="{BB962C8B-B14F-4D97-AF65-F5344CB8AC3E}">
        <p14:creationId xmlns:p14="http://schemas.microsoft.com/office/powerpoint/2010/main" val="3391867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12600-5864-2EA8-80E0-FFF42DDB9D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FF11FAD-669E-0678-C276-1AA4D9903C7F}"/>
              </a:ext>
            </a:extLst>
          </p:cNvPr>
          <p:cNvSpPr>
            <a:spLocks noGrp="1"/>
          </p:cNvSpPr>
          <p:nvPr>
            <p:ph type="title"/>
          </p:nvPr>
        </p:nvSpPr>
        <p:spPr/>
        <p:txBody>
          <a:bodyPr/>
          <a:lstStyle/>
          <a:p>
            <a:r>
              <a:rPr lang="en-GB" noProof="0" dirty="0"/>
              <a:t>Radicalisation</a:t>
            </a:r>
          </a:p>
        </p:txBody>
      </p:sp>
      <p:sp>
        <p:nvSpPr>
          <p:cNvPr id="5" name="Content Placeholder 4">
            <a:extLst>
              <a:ext uri="{FF2B5EF4-FFF2-40B4-BE49-F238E27FC236}">
                <a16:creationId xmlns:a16="http://schemas.microsoft.com/office/drawing/2014/main" id="{A9089573-04FB-A46E-A8F4-977DBC76BA50}"/>
              </a:ext>
            </a:extLst>
          </p:cNvPr>
          <p:cNvSpPr>
            <a:spLocks noGrp="1"/>
          </p:cNvSpPr>
          <p:nvPr>
            <p:ph idx="1"/>
          </p:nvPr>
        </p:nvSpPr>
        <p:spPr/>
        <p:txBody>
          <a:bodyPr>
            <a:normAutofit/>
          </a:bodyPr>
          <a:lstStyle/>
          <a:p>
            <a:pPr>
              <a:spcAft>
                <a:spcPts val="600"/>
              </a:spcAft>
            </a:pPr>
            <a:r>
              <a:rPr lang="en-GB" noProof="0" dirty="0"/>
              <a:t>How radicalisation happens online:</a:t>
            </a:r>
          </a:p>
          <a:p>
            <a:pPr marL="893763" indent="-441325">
              <a:spcAft>
                <a:spcPts val="600"/>
              </a:spcAft>
              <a:buFont typeface="Arial" panose="020B0604020202020204" pitchFamily="34" charset="0"/>
              <a:buChar char="•"/>
            </a:pPr>
            <a:r>
              <a:rPr lang="en-GB" noProof="0" dirty="0"/>
              <a:t>Pretending to be a friend to gain trust.</a:t>
            </a:r>
          </a:p>
          <a:p>
            <a:pPr marL="893763" indent="-441325">
              <a:spcAft>
                <a:spcPts val="600"/>
              </a:spcAft>
              <a:buFont typeface="Arial" panose="020B0604020202020204" pitchFamily="34" charset="0"/>
              <a:buChar char="•"/>
            </a:pPr>
            <a:r>
              <a:rPr lang="en-GB" noProof="0" dirty="0"/>
              <a:t>Sharing emotional or frightening content to manipulate you.</a:t>
            </a:r>
          </a:p>
          <a:p>
            <a:pPr marL="893763" indent="-441325">
              <a:spcAft>
                <a:spcPts val="600"/>
              </a:spcAft>
              <a:buFont typeface="Arial" panose="020B0604020202020204" pitchFamily="34" charset="0"/>
              <a:buChar char="•"/>
            </a:pPr>
            <a:r>
              <a:rPr lang="en-GB" noProof="0" dirty="0"/>
              <a:t>Using fake facts or edited videos to persuade you.</a:t>
            </a:r>
          </a:p>
          <a:p>
            <a:pPr marL="893763" indent="-441325">
              <a:spcAft>
                <a:spcPts val="600"/>
              </a:spcAft>
              <a:buFont typeface="Arial" panose="020B0604020202020204" pitchFamily="34" charset="0"/>
              <a:buChar char="•"/>
            </a:pPr>
            <a:r>
              <a:rPr lang="en-GB" noProof="0" dirty="0"/>
              <a:t>Inviting you to private groups to share extreme ideas.</a:t>
            </a:r>
          </a:p>
        </p:txBody>
      </p:sp>
    </p:spTree>
    <p:extLst>
      <p:ext uri="{BB962C8B-B14F-4D97-AF65-F5344CB8AC3E}">
        <p14:creationId xmlns:p14="http://schemas.microsoft.com/office/powerpoint/2010/main" val="94337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D4FBF-739A-AD27-4468-8221F7FE5F7C}"/>
              </a:ext>
            </a:extLst>
          </p:cNvPr>
          <p:cNvSpPr>
            <a:spLocks noGrp="1"/>
          </p:cNvSpPr>
          <p:nvPr>
            <p:ph type="title"/>
          </p:nvPr>
        </p:nvSpPr>
        <p:spPr/>
        <p:txBody>
          <a:bodyPr/>
          <a:lstStyle/>
          <a:p>
            <a:r>
              <a:rPr lang="en-GB" noProof="0" dirty="0"/>
              <a:t>Radicalisation</a:t>
            </a:r>
          </a:p>
        </p:txBody>
      </p:sp>
      <p:sp>
        <p:nvSpPr>
          <p:cNvPr id="3" name="Content Placeholder 2">
            <a:extLst>
              <a:ext uri="{FF2B5EF4-FFF2-40B4-BE49-F238E27FC236}">
                <a16:creationId xmlns:a16="http://schemas.microsoft.com/office/drawing/2014/main" id="{6D7AFBD7-29A2-25A5-2EBE-6AE9774D718C}"/>
              </a:ext>
            </a:extLst>
          </p:cNvPr>
          <p:cNvSpPr>
            <a:spLocks noGrp="1"/>
          </p:cNvSpPr>
          <p:nvPr>
            <p:ph idx="1"/>
          </p:nvPr>
        </p:nvSpPr>
        <p:spPr/>
        <p:txBody>
          <a:bodyPr>
            <a:normAutofit fontScale="92500" lnSpcReduction="10000"/>
          </a:bodyPr>
          <a:lstStyle/>
          <a:p>
            <a:r>
              <a:rPr lang="en-GB" noProof="0" dirty="0"/>
              <a:t>It is important to be aware of radicalisation and take precautions when online:</a:t>
            </a:r>
          </a:p>
          <a:p>
            <a:pPr marL="985838" indent="-533400">
              <a:buFont typeface="+mj-lt"/>
              <a:buAutoNum type="arabicPeriod"/>
            </a:pPr>
            <a:r>
              <a:rPr lang="en-GB" noProof="0" dirty="0"/>
              <a:t>Ask: "Is this true? Who is sharing it? Why does it make me feel this way?"</a:t>
            </a:r>
          </a:p>
          <a:p>
            <a:pPr marL="985838" indent="-533400">
              <a:buFont typeface="+mj-lt"/>
              <a:buAutoNum type="arabicPeriod"/>
            </a:pPr>
            <a:r>
              <a:rPr lang="en-GB" noProof="0" dirty="0"/>
              <a:t>Check the source – is it trustworthy?</a:t>
            </a:r>
          </a:p>
          <a:p>
            <a:pPr marL="985838" indent="-533400">
              <a:buFont typeface="+mj-lt"/>
              <a:buAutoNum type="arabicPeriod"/>
            </a:pPr>
            <a:r>
              <a:rPr lang="en-GB" noProof="0" dirty="0"/>
              <a:t>Talk to a trusted adult if something feels wrong.</a:t>
            </a:r>
          </a:p>
          <a:p>
            <a:pPr marL="985838" indent="-533400">
              <a:buFont typeface="+mj-lt"/>
              <a:buAutoNum type="arabicPeriod"/>
            </a:pPr>
            <a:r>
              <a:rPr lang="en-GB" noProof="0" dirty="0"/>
              <a:t>Report harmful content online.</a:t>
            </a:r>
          </a:p>
        </p:txBody>
      </p:sp>
    </p:spTree>
    <p:extLst>
      <p:ext uri="{BB962C8B-B14F-4D97-AF65-F5344CB8AC3E}">
        <p14:creationId xmlns:p14="http://schemas.microsoft.com/office/powerpoint/2010/main" val="294121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4ADBD-6C3A-2AEB-4F7A-1C9E819093DF}"/>
              </a:ext>
            </a:extLst>
          </p:cNvPr>
          <p:cNvSpPr>
            <a:spLocks noGrp="1"/>
          </p:cNvSpPr>
          <p:nvPr>
            <p:ph type="title"/>
          </p:nvPr>
        </p:nvSpPr>
        <p:spPr/>
        <p:txBody>
          <a:bodyPr/>
          <a:lstStyle/>
          <a:p>
            <a:r>
              <a:rPr lang="en-GB" noProof="0" dirty="0"/>
              <a:t>Radicalisation</a:t>
            </a:r>
          </a:p>
        </p:txBody>
      </p:sp>
      <p:sp>
        <p:nvSpPr>
          <p:cNvPr id="3" name="Content Placeholder 2">
            <a:extLst>
              <a:ext uri="{FF2B5EF4-FFF2-40B4-BE49-F238E27FC236}">
                <a16:creationId xmlns:a16="http://schemas.microsoft.com/office/drawing/2014/main" id="{481FED6E-54AC-1550-110D-0B233389C331}"/>
              </a:ext>
            </a:extLst>
          </p:cNvPr>
          <p:cNvSpPr>
            <a:spLocks noGrp="1"/>
          </p:cNvSpPr>
          <p:nvPr>
            <p:ph idx="1"/>
          </p:nvPr>
        </p:nvSpPr>
        <p:spPr/>
        <p:txBody>
          <a:bodyPr>
            <a:normAutofit fontScale="85000" lnSpcReduction="20000"/>
          </a:bodyPr>
          <a:lstStyle/>
          <a:p>
            <a:r>
              <a:rPr lang="en-GB" noProof="0" dirty="0"/>
              <a:t>Jamie joined a new gaming group online and started chatting with someone called Alex.</a:t>
            </a:r>
          </a:p>
          <a:p>
            <a:r>
              <a:rPr lang="en-GB" noProof="0" dirty="0"/>
              <a:t>At first, Alex was really friendly and gave Jamie tips on how to improve in the game. </a:t>
            </a:r>
          </a:p>
          <a:p>
            <a:r>
              <a:rPr lang="en-GB" noProof="0" dirty="0"/>
              <a:t>After a few days, Alex started sharing videos that blamed certain groups of people for problems in the world. </a:t>
            </a:r>
          </a:p>
          <a:p>
            <a:r>
              <a:rPr lang="en-GB" noProof="0" dirty="0"/>
              <a:t>Alex also invited Jamie to join a private chat group where people were sharing similar videos and messages. Jamie felt uncomfortable but did not know what to do.</a:t>
            </a:r>
          </a:p>
        </p:txBody>
      </p:sp>
    </p:spTree>
    <p:extLst>
      <p:ext uri="{BB962C8B-B14F-4D97-AF65-F5344CB8AC3E}">
        <p14:creationId xmlns:p14="http://schemas.microsoft.com/office/powerpoint/2010/main" val="275825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1566D-B03F-658A-A045-96E7B9D6976C}"/>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EB3DD86-E410-C06E-FF7A-99F6DDD34D6E}"/>
              </a:ext>
            </a:extLst>
          </p:cNvPr>
          <p:cNvSpPr/>
          <p:nvPr/>
        </p:nvSpPr>
        <p:spPr>
          <a:xfrm>
            <a:off x="413992" y="3108858"/>
            <a:ext cx="11364016" cy="76357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C624D5B1-8A13-3E31-AB91-2337594758E0}"/>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8D114B3C-B338-B643-4FFF-541AB2D14272}"/>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Scams and phishing </a:t>
            </a:r>
          </a:p>
          <a:p>
            <a:pPr marL="809625" indent="-723900">
              <a:buClr>
                <a:srgbClr val="C00000"/>
              </a:buClr>
              <a:buSzPct val="107000"/>
              <a:buFont typeface="+mj-lt"/>
              <a:buAutoNum type="arabicPeriod"/>
            </a:pPr>
            <a:r>
              <a:rPr lang="en-GB" noProof="0" dirty="0"/>
              <a:t>Radicalisation</a:t>
            </a:r>
            <a:endParaRPr lang="en-GB" sz="3600" noProof="0" dirty="0"/>
          </a:p>
          <a:p>
            <a:pPr marL="809625" indent="-723900">
              <a:buClr>
                <a:srgbClr val="C00000"/>
              </a:buClr>
              <a:buSzPct val="107000"/>
              <a:buFont typeface="+mj-lt"/>
              <a:buAutoNum type="arabicPeriod"/>
            </a:pPr>
            <a:r>
              <a:rPr lang="en-GB" sz="3600" noProof="0" dirty="0"/>
              <a:t>Online bullying</a:t>
            </a:r>
          </a:p>
          <a:p>
            <a:pPr marL="809625" indent="-723900">
              <a:buClr>
                <a:srgbClr val="C00000"/>
              </a:buClr>
              <a:buSzPct val="107000"/>
              <a:buFont typeface="+mj-lt"/>
              <a:buAutoNum type="arabicPeriod"/>
            </a:pPr>
            <a:r>
              <a:rPr lang="en-GB" sz="3600" noProof="0" dirty="0"/>
              <a:t>Keeping yourself safe</a:t>
            </a:r>
            <a:endParaRPr lang="en-GB" noProof="0" dirty="0"/>
          </a:p>
        </p:txBody>
      </p:sp>
    </p:spTree>
    <p:extLst>
      <p:ext uri="{BB962C8B-B14F-4D97-AF65-F5344CB8AC3E}">
        <p14:creationId xmlns:p14="http://schemas.microsoft.com/office/powerpoint/2010/main" val="100599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53763CC-01A1-7DC7-42B2-D7AA8C46AA3C}"/>
              </a:ext>
            </a:extLst>
          </p:cNvPr>
          <p:cNvSpPr>
            <a:spLocks noGrp="1"/>
          </p:cNvSpPr>
          <p:nvPr>
            <p:ph idx="1"/>
          </p:nvPr>
        </p:nvSpPr>
        <p:spPr/>
        <p:txBody>
          <a:bodyPr>
            <a:normAutofit/>
          </a:bodyPr>
          <a:lstStyle/>
          <a:p>
            <a:r>
              <a:rPr lang="en-GB" noProof="0" dirty="0"/>
              <a:t>What is </a:t>
            </a:r>
            <a:r>
              <a:rPr lang="en-GB" b="1" noProof="0" dirty="0">
                <a:solidFill>
                  <a:srgbClr val="C00000"/>
                </a:solidFill>
              </a:rPr>
              <a:t>online bullying</a:t>
            </a:r>
            <a:r>
              <a:rPr lang="en-GB" noProof="0" dirty="0"/>
              <a:t>?</a:t>
            </a:r>
          </a:p>
          <a:p>
            <a:r>
              <a:rPr lang="en-GB" b="1" noProof="0" dirty="0">
                <a:solidFill>
                  <a:srgbClr val="C00000"/>
                </a:solidFill>
              </a:rPr>
              <a:t>Online bullying is when someone uses the internet to repeatedly hurt or upset someone, such as by sending mean messages or posting nasty comments.</a:t>
            </a:r>
          </a:p>
        </p:txBody>
      </p:sp>
      <p:sp>
        <p:nvSpPr>
          <p:cNvPr id="4" name="Title 3">
            <a:extLst>
              <a:ext uri="{FF2B5EF4-FFF2-40B4-BE49-F238E27FC236}">
                <a16:creationId xmlns:a16="http://schemas.microsoft.com/office/drawing/2014/main" id="{CB16B68A-ED7F-8EC5-2850-67BABDE3E38E}"/>
              </a:ext>
            </a:extLst>
          </p:cNvPr>
          <p:cNvSpPr>
            <a:spLocks noGrp="1"/>
          </p:cNvSpPr>
          <p:nvPr>
            <p:ph type="title"/>
          </p:nvPr>
        </p:nvSpPr>
        <p:spPr/>
        <p:txBody>
          <a:bodyPr/>
          <a:lstStyle/>
          <a:p>
            <a:r>
              <a:rPr lang="en-GB" noProof="0" dirty="0"/>
              <a:t>Online bullying</a:t>
            </a:r>
          </a:p>
        </p:txBody>
      </p:sp>
    </p:spTree>
    <p:extLst>
      <p:ext uri="{BB962C8B-B14F-4D97-AF65-F5344CB8AC3E}">
        <p14:creationId xmlns:p14="http://schemas.microsoft.com/office/powerpoint/2010/main" val="424714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4E87-D61A-8CB0-756E-0C260BE03438}"/>
              </a:ext>
            </a:extLst>
          </p:cNvPr>
          <p:cNvSpPr>
            <a:spLocks noGrp="1"/>
          </p:cNvSpPr>
          <p:nvPr>
            <p:ph type="title"/>
          </p:nvPr>
        </p:nvSpPr>
        <p:spPr/>
        <p:txBody>
          <a:bodyPr/>
          <a:lstStyle/>
          <a:p>
            <a:r>
              <a:rPr lang="en-GB" noProof="0" dirty="0"/>
              <a:t>Online bullying</a:t>
            </a:r>
          </a:p>
        </p:txBody>
      </p:sp>
      <p:sp>
        <p:nvSpPr>
          <p:cNvPr id="3" name="Content Placeholder 2">
            <a:extLst>
              <a:ext uri="{FF2B5EF4-FFF2-40B4-BE49-F238E27FC236}">
                <a16:creationId xmlns:a16="http://schemas.microsoft.com/office/drawing/2014/main" id="{731A8B83-019E-A44C-7BAE-F533335768BF}"/>
              </a:ext>
            </a:extLst>
          </p:cNvPr>
          <p:cNvSpPr>
            <a:spLocks noGrp="1"/>
          </p:cNvSpPr>
          <p:nvPr>
            <p:ph idx="1"/>
          </p:nvPr>
        </p:nvSpPr>
        <p:spPr/>
        <p:txBody>
          <a:bodyPr>
            <a:normAutofit/>
          </a:bodyPr>
          <a:lstStyle/>
          <a:p>
            <a:r>
              <a:rPr lang="en-GB" noProof="0" dirty="0"/>
              <a:t>Online bullying can include sending mean messages, posting nasty comments, sharing embarrassing pictures or leaving someone out on purpose in group chats or games. </a:t>
            </a:r>
          </a:p>
          <a:p>
            <a:r>
              <a:rPr lang="en-GB" noProof="0" dirty="0"/>
              <a:t>It can happen on social media, in games or through private messages.</a:t>
            </a:r>
          </a:p>
        </p:txBody>
      </p:sp>
    </p:spTree>
    <p:extLst>
      <p:ext uri="{BB962C8B-B14F-4D97-AF65-F5344CB8AC3E}">
        <p14:creationId xmlns:p14="http://schemas.microsoft.com/office/powerpoint/2010/main" val="108706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6FF4A-F824-A7EB-A23F-8459C754C06E}"/>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94ECA2C-CB06-083C-BB4A-99151473E833}"/>
              </a:ext>
            </a:extLst>
          </p:cNvPr>
          <p:cNvSpPr>
            <a:spLocks noGrp="1"/>
          </p:cNvSpPr>
          <p:nvPr>
            <p:ph idx="1"/>
          </p:nvPr>
        </p:nvSpPr>
        <p:spPr/>
        <p:txBody>
          <a:bodyPr>
            <a:normAutofit lnSpcReduction="10000"/>
          </a:bodyPr>
          <a:lstStyle/>
          <a:p>
            <a:r>
              <a:rPr lang="en-GB" noProof="0" dirty="0"/>
              <a:t>How might someone feel if they are being bullied online?</a:t>
            </a:r>
          </a:p>
          <a:p>
            <a:r>
              <a:rPr lang="en-GB" b="1" noProof="0" dirty="0">
                <a:solidFill>
                  <a:srgbClr val="C00000"/>
                </a:solidFill>
              </a:rPr>
              <a:t>They might feel sad, lonely, scared or as though they do not want to go online anymore.</a:t>
            </a:r>
          </a:p>
          <a:p>
            <a:r>
              <a:rPr lang="en-GB" noProof="0" dirty="0"/>
              <a:t>Why do you think people bully others online?</a:t>
            </a:r>
          </a:p>
          <a:p>
            <a:r>
              <a:rPr lang="en-GB" b="1" noProof="0" dirty="0">
                <a:solidFill>
                  <a:srgbClr val="C00000"/>
                </a:solidFill>
              </a:rPr>
              <a:t>Some people bully online because they feel angry, jealous or want to appear powerful.</a:t>
            </a:r>
          </a:p>
        </p:txBody>
      </p:sp>
      <p:sp>
        <p:nvSpPr>
          <p:cNvPr id="4" name="Title 3">
            <a:extLst>
              <a:ext uri="{FF2B5EF4-FFF2-40B4-BE49-F238E27FC236}">
                <a16:creationId xmlns:a16="http://schemas.microsoft.com/office/drawing/2014/main" id="{8D130EF2-3F14-6FC9-0823-FA4753350AD5}"/>
              </a:ext>
            </a:extLst>
          </p:cNvPr>
          <p:cNvSpPr>
            <a:spLocks noGrp="1"/>
          </p:cNvSpPr>
          <p:nvPr>
            <p:ph type="title"/>
          </p:nvPr>
        </p:nvSpPr>
        <p:spPr/>
        <p:txBody>
          <a:bodyPr/>
          <a:lstStyle/>
          <a:p>
            <a:r>
              <a:rPr lang="en-GB" noProof="0" dirty="0"/>
              <a:t>Online bullying</a:t>
            </a:r>
          </a:p>
        </p:txBody>
      </p:sp>
    </p:spTree>
    <p:extLst>
      <p:ext uri="{BB962C8B-B14F-4D97-AF65-F5344CB8AC3E}">
        <p14:creationId xmlns:p14="http://schemas.microsoft.com/office/powerpoint/2010/main" val="4220631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EDDA1D-7F26-B66C-5B38-B48B6664C313}"/>
              </a:ext>
            </a:extLst>
          </p:cNvPr>
          <p:cNvSpPr>
            <a:spLocks noGrp="1"/>
          </p:cNvSpPr>
          <p:nvPr>
            <p:ph type="title"/>
          </p:nvPr>
        </p:nvSpPr>
        <p:spPr/>
        <p:txBody>
          <a:bodyPr/>
          <a:lstStyle/>
          <a:p>
            <a:r>
              <a:rPr lang="en-GB" noProof="0" dirty="0"/>
              <a:t>Online bullying</a:t>
            </a:r>
          </a:p>
        </p:txBody>
      </p:sp>
      <p:sp>
        <p:nvSpPr>
          <p:cNvPr id="5" name="Content Placeholder 4">
            <a:extLst>
              <a:ext uri="{FF2B5EF4-FFF2-40B4-BE49-F238E27FC236}">
                <a16:creationId xmlns:a16="http://schemas.microsoft.com/office/drawing/2014/main" id="{39D3042D-E51D-2234-039A-365A45EF1B24}"/>
              </a:ext>
            </a:extLst>
          </p:cNvPr>
          <p:cNvSpPr>
            <a:spLocks noGrp="1"/>
          </p:cNvSpPr>
          <p:nvPr>
            <p:ph idx="1"/>
          </p:nvPr>
        </p:nvSpPr>
        <p:spPr/>
        <p:txBody>
          <a:bodyPr>
            <a:normAutofit fontScale="85000" lnSpcReduction="20000"/>
          </a:bodyPr>
          <a:lstStyle/>
          <a:p>
            <a:r>
              <a:rPr lang="en-GB" noProof="0" dirty="0"/>
              <a:t>Online bullying can seriously harm someone’s life.</a:t>
            </a:r>
          </a:p>
          <a:p>
            <a:r>
              <a:rPr lang="en-GB" b="1" noProof="0" dirty="0"/>
              <a:t>Emotional Impact:</a:t>
            </a:r>
          </a:p>
          <a:p>
            <a:pPr marL="893763" indent="-441325">
              <a:buFont typeface="Arial" panose="020B0604020202020204" pitchFamily="34" charset="0"/>
              <a:buChar char="•"/>
            </a:pPr>
            <a:r>
              <a:rPr lang="en-GB" noProof="0" dirty="0"/>
              <a:t>Makes people feel sad, scared or alone.</a:t>
            </a:r>
          </a:p>
          <a:p>
            <a:pPr marL="893763" indent="-441325">
              <a:buFont typeface="Arial" panose="020B0604020202020204" pitchFamily="34" charset="0"/>
              <a:buChar char="•"/>
            </a:pPr>
            <a:r>
              <a:rPr lang="en-GB" noProof="0" dirty="0"/>
              <a:t>It can also lead to anxiety or depression.</a:t>
            </a:r>
          </a:p>
          <a:p>
            <a:r>
              <a:rPr lang="en-GB" b="1" noProof="0" dirty="0"/>
              <a:t>Social Impact:</a:t>
            </a:r>
          </a:p>
          <a:p>
            <a:pPr marL="893763" indent="-441325">
              <a:buFont typeface="Arial" panose="020B0604020202020204" pitchFamily="34" charset="0"/>
              <a:buChar char="•"/>
            </a:pPr>
            <a:r>
              <a:rPr lang="en-GB" noProof="0" dirty="0"/>
              <a:t>People might avoid friends, school or social activities.</a:t>
            </a:r>
          </a:p>
          <a:p>
            <a:pPr marL="893763" indent="-441325">
              <a:buFont typeface="Arial" panose="020B0604020202020204" pitchFamily="34" charset="0"/>
              <a:buChar char="•"/>
            </a:pPr>
            <a:r>
              <a:rPr lang="en-GB" noProof="0" dirty="0"/>
              <a:t>They may feel isolated and lose confidence.</a:t>
            </a:r>
          </a:p>
        </p:txBody>
      </p:sp>
    </p:spTree>
    <p:extLst>
      <p:ext uri="{BB962C8B-B14F-4D97-AF65-F5344CB8AC3E}">
        <p14:creationId xmlns:p14="http://schemas.microsoft.com/office/powerpoint/2010/main" val="1140388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8EE9-F22A-C0B9-B966-D03DD3B81383}"/>
              </a:ext>
            </a:extLst>
          </p:cNvPr>
          <p:cNvSpPr>
            <a:spLocks noGrp="1"/>
          </p:cNvSpPr>
          <p:nvPr>
            <p:ph type="title"/>
          </p:nvPr>
        </p:nvSpPr>
        <p:spPr/>
        <p:txBody>
          <a:bodyPr/>
          <a:lstStyle/>
          <a:p>
            <a:r>
              <a:rPr lang="en-GB" noProof="0" dirty="0"/>
              <a:t>Online bullying</a:t>
            </a:r>
          </a:p>
        </p:txBody>
      </p:sp>
      <p:sp>
        <p:nvSpPr>
          <p:cNvPr id="3" name="Content Placeholder 2">
            <a:extLst>
              <a:ext uri="{FF2B5EF4-FFF2-40B4-BE49-F238E27FC236}">
                <a16:creationId xmlns:a16="http://schemas.microsoft.com/office/drawing/2014/main" id="{0284BDE5-66F4-4BF6-5607-764BB5D8714D}"/>
              </a:ext>
            </a:extLst>
          </p:cNvPr>
          <p:cNvSpPr>
            <a:spLocks noGrp="1"/>
          </p:cNvSpPr>
          <p:nvPr>
            <p:ph idx="1"/>
          </p:nvPr>
        </p:nvSpPr>
        <p:spPr/>
        <p:txBody>
          <a:bodyPr>
            <a:normAutofit fontScale="92500"/>
          </a:bodyPr>
          <a:lstStyle/>
          <a:p>
            <a:r>
              <a:rPr lang="en-GB" b="1" noProof="0" dirty="0"/>
              <a:t>Long-Term Effects:</a:t>
            </a:r>
          </a:p>
          <a:p>
            <a:pPr marL="893763" indent="-441325">
              <a:buFont typeface="Arial" panose="020B0604020202020204" pitchFamily="34" charset="0"/>
              <a:buChar char="•"/>
            </a:pPr>
            <a:r>
              <a:rPr lang="en-GB" noProof="0" dirty="0"/>
              <a:t>Hurtful words and posts can stay online forever.</a:t>
            </a:r>
          </a:p>
          <a:p>
            <a:pPr marL="893763" indent="-441325">
              <a:buFont typeface="Arial" panose="020B0604020202020204" pitchFamily="34" charset="0"/>
              <a:buChar char="•"/>
            </a:pPr>
            <a:r>
              <a:rPr lang="en-GB" noProof="0" dirty="0"/>
              <a:t>Victims might struggle to trust others or feel safe online.</a:t>
            </a:r>
          </a:p>
          <a:p>
            <a:r>
              <a:rPr lang="en-GB" noProof="0" dirty="0"/>
              <a:t>Online bullying is not harmless – it can deeply hurt someone’s mental health and wellbeing. Always think before you post or comment.</a:t>
            </a:r>
          </a:p>
        </p:txBody>
      </p:sp>
    </p:spTree>
    <p:extLst>
      <p:ext uri="{BB962C8B-B14F-4D97-AF65-F5344CB8AC3E}">
        <p14:creationId xmlns:p14="http://schemas.microsoft.com/office/powerpoint/2010/main" val="1391268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2CE39-6587-A5E1-4B6E-1D616F53952C}"/>
              </a:ext>
            </a:extLst>
          </p:cNvPr>
          <p:cNvSpPr>
            <a:spLocks noGrp="1"/>
          </p:cNvSpPr>
          <p:nvPr>
            <p:ph type="title"/>
          </p:nvPr>
        </p:nvSpPr>
        <p:spPr/>
        <p:txBody>
          <a:bodyPr/>
          <a:lstStyle/>
          <a:p>
            <a:r>
              <a:rPr lang="en-GB" noProof="0" dirty="0"/>
              <a:t>Online bullying</a:t>
            </a:r>
          </a:p>
        </p:txBody>
      </p:sp>
      <p:sp>
        <p:nvSpPr>
          <p:cNvPr id="3" name="Content Placeholder 2">
            <a:extLst>
              <a:ext uri="{FF2B5EF4-FFF2-40B4-BE49-F238E27FC236}">
                <a16:creationId xmlns:a16="http://schemas.microsoft.com/office/drawing/2014/main" id="{58F760D9-6731-908E-56BC-E61464B97F9B}"/>
              </a:ext>
            </a:extLst>
          </p:cNvPr>
          <p:cNvSpPr>
            <a:spLocks noGrp="1"/>
          </p:cNvSpPr>
          <p:nvPr>
            <p:ph idx="1"/>
          </p:nvPr>
        </p:nvSpPr>
        <p:spPr/>
        <p:txBody>
          <a:bodyPr>
            <a:normAutofit fontScale="77500" lnSpcReduction="20000"/>
          </a:bodyPr>
          <a:lstStyle/>
          <a:p>
            <a:pPr>
              <a:spcAft>
                <a:spcPts val="600"/>
              </a:spcAft>
            </a:pPr>
            <a:r>
              <a:rPr lang="en-GB" noProof="0" dirty="0"/>
              <a:t>If it is happening to you:</a:t>
            </a:r>
          </a:p>
          <a:p>
            <a:pPr marL="893763" indent="-441325">
              <a:spcAft>
                <a:spcPts val="600"/>
              </a:spcAft>
              <a:buFont typeface="Arial" panose="020B0604020202020204" pitchFamily="34" charset="0"/>
              <a:buChar char="•"/>
            </a:pPr>
            <a:r>
              <a:rPr lang="en-GB" b="1" noProof="0" dirty="0"/>
              <a:t>Do not respond: </a:t>
            </a:r>
            <a:r>
              <a:rPr lang="en-GB" noProof="0" dirty="0"/>
              <a:t>Avoid replying to mean messages or comments – it can make things worse.</a:t>
            </a:r>
          </a:p>
          <a:p>
            <a:pPr marL="893763" indent="-441325">
              <a:spcAft>
                <a:spcPts val="600"/>
              </a:spcAft>
              <a:buFont typeface="Arial" panose="020B0604020202020204" pitchFamily="34" charset="0"/>
              <a:buChar char="•"/>
            </a:pPr>
            <a:r>
              <a:rPr lang="en-GB" b="1" noProof="0" dirty="0"/>
              <a:t>Save evidence: </a:t>
            </a:r>
            <a:r>
              <a:rPr lang="en-GB" noProof="0" dirty="0"/>
              <a:t>Take screenshots of the messages or comments in case you need to report it later.</a:t>
            </a:r>
          </a:p>
          <a:p>
            <a:pPr marL="893763" indent="-441325">
              <a:spcAft>
                <a:spcPts val="600"/>
              </a:spcAft>
              <a:buFont typeface="Arial" panose="020B0604020202020204" pitchFamily="34" charset="0"/>
              <a:buChar char="•"/>
            </a:pPr>
            <a:r>
              <a:rPr lang="en-GB" b="1" noProof="0" dirty="0"/>
              <a:t>Block the bully: </a:t>
            </a:r>
            <a:r>
              <a:rPr lang="en-GB" noProof="0" dirty="0"/>
              <a:t>Use the platform’s settings to block the person who is bullying you.</a:t>
            </a:r>
          </a:p>
          <a:p>
            <a:pPr marL="893763" indent="-441325">
              <a:spcAft>
                <a:spcPts val="600"/>
              </a:spcAft>
              <a:buFont typeface="Arial" panose="020B0604020202020204" pitchFamily="34" charset="0"/>
              <a:buChar char="•"/>
            </a:pPr>
            <a:r>
              <a:rPr lang="en-GB" b="1" noProof="0" dirty="0"/>
              <a:t>Tell someone you trust: </a:t>
            </a:r>
            <a:r>
              <a:rPr lang="en-GB" noProof="0" dirty="0"/>
              <a:t>Speak to a parent, teacher or another trusted adult about what is happening.</a:t>
            </a:r>
          </a:p>
          <a:p>
            <a:pPr marL="893763" indent="-441325">
              <a:spcAft>
                <a:spcPts val="600"/>
              </a:spcAft>
              <a:buFont typeface="Arial" panose="020B0604020202020204" pitchFamily="34" charset="0"/>
              <a:buChar char="•"/>
            </a:pPr>
            <a:r>
              <a:rPr lang="en-GB" b="1" noProof="0" dirty="0"/>
              <a:t>Report it: </a:t>
            </a:r>
            <a:r>
              <a:rPr lang="en-GB" noProof="0" dirty="0"/>
              <a:t>Use the "report" feature on the app or website to let the platform know about the bullying.</a:t>
            </a:r>
          </a:p>
        </p:txBody>
      </p:sp>
    </p:spTree>
    <p:extLst>
      <p:ext uri="{BB962C8B-B14F-4D97-AF65-F5344CB8AC3E}">
        <p14:creationId xmlns:p14="http://schemas.microsoft.com/office/powerpoint/2010/main" val="3508263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96EC1-B91A-5A6D-282A-F8BE0366C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84DA6-6B26-5DBE-2D94-3FD206B28D62}"/>
              </a:ext>
            </a:extLst>
          </p:cNvPr>
          <p:cNvSpPr>
            <a:spLocks noGrp="1"/>
          </p:cNvSpPr>
          <p:nvPr>
            <p:ph type="title"/>
          </p:nvPr>
        </p:nvSpPr>
        <p:spPr/>
        <p:txBody>
          <a:bodyPr/>
          <a:lstStyle/>
          <a:p>
            <a:r>
              <a:rPr lang="en-GB" noProof="0" dirty="0"/>
              <a:t>Online bullying</a:t>
            </a:r>
          </a:p>
        </p:txBody>
      </p:sp>
      <p:sp>
        <p:nvSpPr>
          <p:cNvPr id="3" name="Content Placeholder 2">
            <a:extLst>
              <a:ext uri="{FF2B5EF4-FFF2-40B4-BE49-F238E27FC236}">
                <a16:creationId xmlns:a16="http://schemas.microsoft.com/office/drawing/2014/main" id="{81C141B4-B265-18F6-E201-1525CF4C4313}"/>
              </a:ext>
            </a:extLst>
          </p:cNvPr>
          <p:cNvSpPr>
            <a:spLocks noGrp="1"/>
          </p:cNvSpPr>
          <p:nvPr>
            <p:ph idx="1"/>
          </p:nvPr>
        </p:nvSpPr>
        <p:spPr/>
        <p:txBody>
          <a:bodyPr>
            <a:normAutofit fontScale="85000" lnSpcReduction="20000"/>
          </a:bodyPr>
          <a:lstStyle/>
          <a:p>
            <a:r>
              <a:rPr lang="en-GB" noProof="0" dirty="0"/>
              <a:t>If you see someone else being bullied:</a:t>
            </a:r>
          </a:p>
          <a:p>
            <a:pPr marL="893763" indent="-441325">
              <a:buFont typeface="Arial" panose="020B0604020202020204" pitchFamily="34" charset="0"/>
              <a:buChar char="•"/>
            </a:pPr>
            <a:r>
              <a:rPr lang="en-GB" b="1" noProof="0" dirty="0"/>
              <a:t>Do not join in: </a:t>
            </a:r>
            <a:r>
              <a:rPr lang="en-GB" noProof="0" dirty="0"/>
              <a:t>Avoid liking or sharing hurtful messages or posts.</a:t>
            </a:r>
          </a:p>
          <a:p>
            <a:pPr marL="893763" indent="-441325">
              <a:buFont typeface="Arial" panose="020B0604020202020204" pitchFamily="34" charset="0"/>
              <a:buChar char="•"/>
            </a:pPr>
            <a:r>
              <a:rPr lang="en-GB" b="1" noProof="0" dirty="0"/>
              <a:t>Support the victim: </a:t>
            </a:r>
            <a:r>
              <a:rPr lang="en-GB" noProof="0" dirty="0"/>
              <a:t>Send them a kind message or let them know you are there for them.</a:t>
            </a:r>
          </a:p>
          <a:p>
            <a:pPr marL="893763" indent="-441325">
              <a:buFont typeface="Arial" panose="020B0604020202020204" pitchFamily="34" charset="0"/>
              <a:buChar char="•"/>
            </a:pPr>
            <a:r>
              <a:rPr lang="en-GB" b="1" noProof="0" dirty="0"/>
              <a:t>Report the bullying: </a:t>
            </a:r>
            <a:r>
              <a:rPr lang="en-GB" noProof="0" dirty="0"/>
              <a:t>Use the platform’s tools to report the behaviour, even if it is not happening to you.</a:t>
            </a:r>
          </a:p>
          <a:p>
            <a:pPr marL="893763" indent="-441325">
              <a:buFont typeface="Arial" panose="020B0604020202020204" pitchFamily="34" charset="0"/>
              <a:buChar char="•"/>
            </a:pPr>
            <a:r>
              <a:rPr lang="en-GB" b="1" noProof="0" dirty="0"/>
              <a:t>Tell an adult: </a:t>
            </a:r>
            <a:r>
              <a:rPr lang="en-GB" noProof="0" dirty="0"/>
              <a:t>Speak to a teacher, parent or another trusted adult so they can help.</a:t>
            </a:r>
          </a:p>
        </p:txBody>
      </p:sp>
    </p:spTree>
    <p:extLst>
      <p:ext uri="{BB962C8B-B14F-4D97-AF65-F5344CB8AC3E}">
        <p14:creationId xmlns:p14="http://schemas.microsoft.com/office/powerpoint/2010/main" val="1877720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EE302-9431-EE91-E0F8-FBF80D7760B3}"/>
              </a:ext>
            </a:extLst>
          </p:cNvPr>
          <p:cNvSpPr>
            <a:spLocks noGrp="1"/>
          </p:cNvSpPr>
          <p:nvPr>
            <p:ph type="title"/>
          </p:nvPr>
        </p:nvSpPr>
        <p:spPr/>
        <p:txBody>
          <a:bodyPr/>
          <a:lstStyle/>
          <a:p>
            <a:r>
              <a:rPr lang="en-GB" noProof="0" dirty="0"/>
              <a:t>Online bullying</a:t>
            </a:r>
          </a:p>
        </p:txBody>
      </p:sp>
      <p:sp>
        <p:nvSpPr>
          <p:cNvPr id="3" name="Content Placeholder 2">
            <a:extLst>
              <a:ext uri="{FF2B5EF4-FFF2-40B4-BE49-F238E27FC236}">
                <a16:creationId xmlns:a16="http://schemas.microsoft.com/office/drawing/2014/main" id="{A36C1F1A-A817-E2D2-D59A-D7E2F313B490}"/>
              </a:ext>
            </a:extLst>
          </p:cNvPr>
          <p:cNvSpPr>
            <a:spLocks noGrp="1"/>
          </p:cNvSpPr>
          <p:nvPr>
            <p:ph idx="1"/>
          </p:nvPr>
        </p:nvSpPr>
        <p:spPr>
          <a:xfrm>
            <a:off x="413992" y="1313895"/>
            <a:ext cx="4887473" cy="4952736"/>
          </a:xfrm>
        </p:spPr>
        <p:txBody>
          <a:bodyPr/>
          <a:lstStyle/>
          <a:p>
            <a:r>
              <a:rPr lang="en-GB" noProof="0" dirty="0"/>
              <a:t>Online bullying can hurt people deeply, but by taking action and supporting each other, we can make the internet a safer and kinder place.</a:t>
            </a:r>
          </a:p>
        </p:txBody>
      </p:sp>
      <p:pic>
        <p:nvPicPr>
          <p:cNvPr id="5" name="Picture 4" descr="A young girl looking at a phone and looking worried">
            <a:extLst>
              <a:ext uri="{FF2B5EF4-FFF2-40B4-BE49-F238E27FC236}">
                <a16:creationId xmlns:a16="http://schemas.microsoft.com/office/drawing/2014/main" id="{CE0F5ACC-D6BE-ADE6-5EB7-B90B693AC2F7}"/>
              </a:ext>
            </a:extLst>
          </p:cNvPr>
          <p:cNvPicPr>
            <a:picLocks noChangeAspect="1"/>
          </p:cNvPicPr>
          <p:nvPr/>
        </p:nvPicPr>
        <p:blipFill>
          <a:blip r:embed="rId2">
            <a:extLst>
              <a:ext uri="{28A0092B-C50C-407E-A947-70E740481C1C}">
                <a14:useLocalDpi xmlns:a14="http://schemas.microsoft.com/office/drawing/2010/main" val="0"/>
              </a:ext>
            </a:extLst>
          </a:blip>
          <a:srcRect t="11536" b="12210"/>
          <a:stretch/>
        </p:blipFill>
        <p:spPr>
          <a:xfrm>
            <a:off x="5848135" y="1249682"/>
            <a:ext cx="5715000" cy="5229546"/>
          </a:xfrm>
          <a:prstGeom prst="rect">
            <a:avLst/>
          </a:prstGeom>
        </p:spPr>
      </p:pic>
    </p:spTree>
    <p:extLst>
      <p:ext uri="{BB962C8B-B14F-4D97-AF65-F5344CB8AC3E}">
        <p14:creationId xmlns:p14="http://schemas.microsoft.com/office/powerpoint/2010/main" val="3755173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3168C-A7D8-59E7-2538-6EC01289D281}"/>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390C032-0D35-C57D-4584-01FBC285D8F0}"/>
              </a:ext>
            </a:extLst>
          </p:cNvPr>
          <p:cNvSpPr/>
          <p:nvPr/>
        </p:nvSpPr>
        <p:spPr>
          <a:xfrm>
            <a:off x="413992" y="4006081"/>
            <a:ext cx="11364016" cy="76357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BA253C1A-A4A7-2471-5531-1FC5E9CDB8DC}"/>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068A365D-E49F-1D8F-4ECD-3BE657AB4F78}"/>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Scams and phishing </a:t>
            </a:r>
          </a:p>
          <a:p>
            <a:pPr marL="809625" indent="-723900">
              <a:buClr>
                <a:srgbClr val="C00000"/>
              </a:buClr>
              <a:buSzPct val="107000"/>
              <a:buFont typeface="+mj-lt"/>
              <a:buAutoNum type="arabicPeriod"/>
            </a:pPr>
            <a:r>
              <a:rPr lang="en-GB" noProof="0" dirty="0"/>
              <a:t>Radicalisation</a:t>
            </a:r>
            <a:endParaRPr lang="en-GB" sz="3600" noProof="0" dirty="0"/>
          </a:p>
          <a:p>
            <a:pPr marL="809625" indent="-723900">
              <a:buClr>
                <a:srgbClr val="C00000"/>
              </a:buClr>
              <a:buSzPct val="107000"/>
              <a:buFont typeface="+mj-lt"/>
              <a:buAutoNum type="arabicPeriod"/>
            </a:pPr>
            <a:r>
              <a:rPr lang="en-GB" sz="3600" noProof="0" dirty="0"/>
              <a:t>Online bullying</a:t>
            </a:r>
          </a:p>
          <a:p>
            <a:pPr marL="809625" indent="-723900">
              <a:buClr>
                <a:srgbClr val="C00000"/>
              </a:buClr>
              <a:buSzPct val="107000"/>
              <a:buFont typeface="+mj-lt"/>
              <a:buAutoNum type="arabicPeriod"/>
            </a:pPr>
            <a:r>
              <a:rPr lang="en-GB" sz="3600" noProof="0" dirty="0"/>
              <a:t>Keeping yourself safe</a:t>
            </a:r>
            <a:endParaRPr lang="en-GB" noProof="0" dirty="0"/>
          </a:p>
        </p:txBody>
      </p:sp>
    </p:spTree>
    <p:extLst>
      <p:ext uri="{BB962C8B-B14F-4D97-AF65-F5344CB8AC3E}">
        <p14:creationId xmlns:p14="http://schemas.microsoft.com/office/powerpoint/2010/main" val="1957909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56665-E7B7-640F-BFCD-A2BFA667FAF4}"/>
              </a:ext>
            </a:extLst>
          </p:cNvPr>
          <p:cNvSpPr>
            <a:spLocks noGrp="1"/>
          </p:cNvSpPr>
          <p:nvPr>
            <p:ph type="title"/>
          </p:nvPr>
        </p:nvSpPr>
        <p:spPr/>
        <p:txBody>
          <a:bodyPr/>
          <a:lstStyle/>
          <a:p>
            <a:r>
              <a:rPr lang="en-GB" sz="4400" noProof="0" dirty="0"/>
              <a:t>Keeping yourself safe</a:t>
            </a:r>
          </a:p>
        </p:txBody>
      </p:sp>
      <p:sp>
        <p:nvSpPr>
          <p:cNvPr id="3" name="Content Placeholder 2">
            <a:extLst>
              <a:ext uri="{FF2B5EF4-FFF2-40B4-BE49-F238E27FC236}">
                <a16:creationId xmlns:a16="http://schemas.microsoft.com/office/drawing/2014/main" id="{A14C98A0-7E9C-3147-DC6E-A0727E23F7D1}"/>
              </a:ext>
            </a:extLst>
          </p:cNvPr>
          <p:cNvSpPr>
            <a:spLocks noGrp="1"/>
          </p:cNvSpPr>
          <p:nvPr>
            <p:ph idx="1"/>
          </p:nvPr>
        </p:nvSpPr>
        <p:spPr/>
        <p:txBody>
          <a:bodyPr>
            <a:normAutofit lnSpcReduction="10000"/>
          </a:bodyPr>
          <a:lstStyle/>
          <a:p>
            <a:r>
              <a:rPr lang="en-GB" noProof="0" dirty="0"/>
              <a:t>Most platforms (social media, games) have a “Report” button.</a:t>
            </a:r>
          </a:p>
          <a:p>
            <a:r>
              <a:rPr lang="en-GB" noProof="0" dirty="0"/>
              <a:t>Use it to report harmful messages, comments or profiles.</a:t>
            </a:r>
          </a:p>
          <a:p>
            <a:r>
              <a:rPr lang="en-GB" noProof="0" dirty="0"/>
              <a:t>Follow the steps provided by the platform to explain the issue.</a:t>
            </a:r>
          </a:p>
          <a:p>
            <a:r>
              <a:rPr lang="en-GB" b="1" noProof="0" dirty="0">
                <a:solidFill>
                  <a:srgbClr val="C00000"/>
                </a:solidFill>
              </a:rPr>
              <a:t>Reporting</a:t>
            </a:r>
            <a:r>
              <a:rPr lang="en-GB" noProof="0" dirty="0"/>
              <a:t> and telling a trusted adult helps to keep you and others safe online.</a:t>
            </a:r>
          </a:p>
        </p:txBody>
      </p:sp>
    </p:spTree>
    <p:extLst>
      <p:ext uri="{BB962C8B-B14F-4D97-AF65-F5344CB8AC3E}">
        <p14:creationId xmlns:p14="http://schemas.microsoft.com/office/powerpoint/2010/main" val="1358212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16E16-000F-2E72-A227-16575183040A}"/>
              </a:ext>
            </a:extLst>
          </p:cNvPr>
          <p:cNvSpPr>
            <a:spLocks noGrp="1"/>
          </p:cNvSpPr>
          <p:nvPr>
            <p:ph type="title"/>
          </p:nvPr>
        </p:nvSpPr>
        <p:spPr/>
        <p:txBody>
          <a:bodyPr/>
          <a:lstStyle/>
          <a:p>
            <a:r>
              <a:rPr lang="en-GB" sz="4400" noProof="0" dirty="0"/>
              <a:t>Keeping yourself safe</a:t>
            </a:r>
          </a:p>
        </p:txBody>
      </p:sp>
      <p:sp>
        <p:nvSpPr>
          <p:cNvPr id="3" name="Content Placeholder 2">
            <a:extLst>
              <a:ext uri="{FF2B5EF4-FFF2-40B4-BE49-F238E27FC236}">
                <a16:creationId xmlns:a16="http://schemas.microsoft.com/office/drawing/2014/main" id="{6F198529-2D4E-F6DD-F9A1-FB0E13DDF8E5}"/>
              </a:ext>
            </a:extLst>
          </p:cNvPr>
          <p:cNvSpPr>
            <a:spLocks noGrp="1"/>
          </p:cNvSpPr>
          <p:nvPr>
            <p:ph idx="1"/>
          </p:nvPr>
        </p:nvSpPr>
        <p:spPr/>
        <p:txBody>
          <a:bodyPr/>
          <a:lstStyle/>
          <a:p>
            <a:r>
              <a:rPr lang="en-GB" noProof="0" dirty="0"/>
              <a:t>It is important to tell a trusted adult because they can support you and help take further action if needed.</a:t>
            </a:r>
          </a:p>
          <a:p>
            <a:r>
              <a:rPr lang="en-GB" noProof="0" dirty="0"/>
              <a:t>Adults can contact schools, platforms or even the police if the situation is serious.</a:t>
            </a:r>
          </a:p>
          <a:p>
            <a:r>
              <a:rPr lang="en-GB" noProof="0" dirty="0"/>
              <a:t>Speaking up ensures the harmful behaviour is stopped and others are protected.</a:t>
            </a:r>
          </a:p>
        </p:txBody>
      </p:sp>
    </p:spTree>
    <p:extLst>
      <p:ext uri="{BB962C8B-B14F-4D97-AF65-F5344CB8AC3E}">
        <p14:creationId xmlns:p14="http://schemas.microsoft.com/office/powerpoint/2010/main" val="1612792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1823230-7DC2-ED63-93E7-BD6AA4E97249}"/>
              </a:ext>
            </a:extLst>
          </p:cNvPr>
          <p:cNvSpPr>
            <a:spLocks noGrp="1"/>
          </p:cNvSpPr>
          <p:nvPr>
            <p:ph idx="1"/>
          </p:nvPr>
        </p:nvSpPr>
        <p:spPr/>
        <p:txBody>
          <a:bodyPr>
            <a:normAutofit fontScale="85000" lnSpcReduction="20000"/>
          </a:bodyPr>
          <a:lstStyle/>
          <a:p>
            <a:r>
              <a:rPr lang="en-GB" noProof="0" dirty="0"/>
              <a:t>You receive an email from “Your Bank” saying, “We’ve noticed unusual activity on your account. Click here to verify your details.”</a:t>
            </a:r>
          </a:p>
          <a:p>
            <a:r>
              <a:rPr lang="en-GB" noProof="0" dirty="0"/>
              <a:t>What type of risk is this?</a:t>
            </a:r>
          </a:p>
          <a:p>
            <a:r>
              <a:rPr lang="en-GB" b="1" noProof="0" dirty="0">
                <a:solidFill>
                  <a:srgbClr val="C00000"/>
                </a:solidFill>
              </a:rPr>
              <a:t>This is a phishing scam designed to steal your personal or financial information.</a:t>
            </a:r>
          </a:p>
          <a:p>
            <a:r>
              <a:rPr lang="en-GB" noProof="0" dirty="0"/>
              <a:t>What should you do if you receive this email?</a:t>
            </a:r>
          </a:p>
          <a:p>
            <a:r>
              <a:rPr lang="en-GB" b="1" noProof="0" dirty="0">
                <a:solidFill>
                  <a:srgbClr val="C00000"/>
                </a:solidFill>
              </a:rPr>
              <a:t>Do not click the link or reply to the email. Contact your bank directly using their official website or phone number to check if there is an issue.</a:t>
            </a:r>
          </a:p>
        </p:txBody>
      </p:sp>
      <p:sp>
        <p:nvSpPr>
          <p:cNvPr id="4" name="Title 3">
            <a:extLst>
              <a:ext uri="{FF2B5EF4-FFF2-40B4-BE49-F238E27FC236}">
                <a16:creationId xmlns:a16="http://schemas.microsoft.com/office/drawing/2014/main" id="{A2F6E355-0421-962D-4FC9-BC26ED8C13A3}"/>
              </a:ext>
            </a:extLst>
          </p:cNvPr>
          <p:cNvSpPr>
            <a:spLocks noGrp="1"/>
          </p:cNvSpPr>
          <p:nvPr>
            <p:ph type="title"/>
          </p:nvPr>
        </p:nvSpPr>
        <p:spPr/>
        <p:txBody>
          <a:bodyPr/>
          <a:lstStyle/>
          <a:p>
            <a:r>
              <a:rPr lang="en-GB" sz="4000" noProof="0" dirty="0"/>
              <a:t>Keeping yourself safe</a:t>
            </a:r>
          </a:p>
        </p:txBody>
      </p:sp>
    </p:spTree>
    <p:extLst>
      <p:ext uri="{BB962C8B-B14F-4D97-AF65-F5344CB8AC3E}">
        <p14:creationId xmlns:p14="http://schemas.microsoft.com/office/powerpoint/2010/main" val="226914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9A3D9-1993-F529-916C-2E2492FD8161}"/>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DFEE863-5579-D433-E701-9F47A9451FF7}"/>
              </a:ext>
            </a:extLst>
          </p:cNvPr>
          <p:cNvSpPr>
            <a:spLocks noGrp="1"/>
          </p:cNvSpPr>
          <p:nvPr>
            <p:ph idx="1"/>
          </p:nvPr>
        </p:nvSpPr>
        <p:spPr/>
        <p:txBody>
          <a:bodyPr>
            <a:normAutofit fontScale="85000" lnSpcReduction="20000"/>
          </a:bodyPr>
          <a:lstStyle/>
          <a:p>
            <a:r>
              <a:rPr lang="en-GB" noProof="0" dirty="0"/>
              <a:t>Someone sends you a message in a game saying, “Click this link to get free rewards!” The link looks suspicious.</a:t>
            </a:r>
          </a:p>
          <a:p>
            <a:r>
              <a:rPr lang="en-GB" noProof="0" dirty="0"/>
              <a:t>What type of risk is this?</a:t>
            </a:r>
          </a:p>
          <a:p>
            <a:r>
              <a:rPr lang="en-GB" b="1" noProof="0" dirty="0">
                <a:solidFill>
                  <a:srgbClr val="C00000"/>
                </a:solidFill>
              </a:rPr>
              <a:t>This could be a scam designed to trick you into downloading harmful software or sharing personal information.</a:t>
            </a:r>
          </a:p>
          <a:p>
            <a:r>
              <a:rPr lang="en-GB" noProof="0" dirty="0"/>
              <a:t>What should you do if you receive this message?</a:t>
            </a:r>
          </a:p>
          <a:p>
            <a:r>
              <a:rPr lang="en-GB" b="1" noProof="0" dirty="0">
                <a:solidFill>
                  <a:srgbClr val="C00000"/>
                </a:solidFill>
              </a:rPr>
              <a:t>Ignore and delete the message. Do not click on the link.</a:t>
            </a:r>
          </a:p>
        </p:txBody>
      </p:sp>
      <p:sp>
        <p:nvSpPr>
          <p:cNvPr id="4" name="Title 3">
            <a:extLst>
              <a:ext uri="{FF2B5EF4-FFF2-40B4-BE49-F238E27FC236}">
                <a16:creationId xmlns:a16="http://schemas.microsoft.com/office/drawing/2014/main" id="{A81CF791-1FAF-7964-589F-0538E42708FE}"/>
              </a:ext>
            </a:extLst>
          </p:cNvPr>
          <p:cNvSpPr>
            <a:spLocks noGrp="1"/>
          </p:cNvSpPr>
          <p:nvPr>
            <p:ph type="title"/>
          </p:nvPr>
        </p:nvSpPr>
        <p:spPr/>
        <p:txBody>
          <a:bodyPr/>
          <a:lstStyle/>
          <a:p>
            <a:r>
              <a:rPr lang="en-GB" sz="4000" noProof="0" dirty="0"/>
              <a:t>Keeping yourself safe</a:t>
            </a:r>
          </a:p>
        </p:txBody>
      </p:sp>
    </p:spTree>
    <p:extLst>
      <p:ext uri="{BB962C8B-B14F-4D97-AF65-F5344CB8AC3E}">
        <p14:creationId xmlns:p14="http://schemas.microsoft.com/office/powerpoint/2010/main" val="3374160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D455F-9C70-680A-A285-790588EF6C3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C043CCA-62C1-FDB7-04FC-BE821AA1EE17}"/>
              </a:ext>
            </a:extLst>
          </p:cNvPr>
          <p:cNvSpPr>
            <a:spLocks noGrp="1"/>
          </p:cNvSpPr>
          <p:nvPr>
            <p:ph idx="1"/>
          </p:nvPr>
        </p:nvSpPr>
        <p:spPr/>
        <p:txBody>
          <a:bodyPr>
            <a:normAutofit fontScale="77500" lnSpcReduction="20000"/>
          </a:bodyPr>
          <a:lstStyle/>
          <a:p>
            <a:r>
              <a:rPr lang="en-GB" noProof="0" dirty="0"/>
              <a:t>A classmate creates a group chat and starts sharing mean jokes about another pupil. They encourage others to join in.</a:t>
            </a:r>
          </a:p>
          <a:p>
            <a:r>
              <a:rPr lang="en-GB" noProof="0" dirty="0"/>
              <a:t>What type of risk is this?</a:t>
            </a:r>
          </a:p>
          <a:p>
            <a:r>
              <a:rPr lang="en-GB" b="1" noProof="0" dirty="0">
                <a:solidFill>
                  <a:srgbClr val="C00000"/>
                </a:solidFill>
              </a:rPr>
              <a:t>This is online bullying, which can harm someone emotionally and socially.</a:t>
            </a:r>
          </a:p>
          <a:p>
            <a:r>
              <a:rPr lang="en-GB" noProof="0" dirty="0"/>
              <a:t>What should you do if you see this behaviour?</a:t>
            </a:r>
          </a:p>
          <a:p>
            <a:r>
              <a:rPr lang="en-GB" b="1" noProof="0" dirty="0">
                <a:solidFill>
                  <a:srgbClr val="C00000"/>
                </a:solidFill>
              </a:rPr>
              <a:t>Do not participate in the bullying, take </a:t>
            </a:r>
            <a:r>
              <a:rPr lang="en-GB" b="1" noProof="0" dirty="0" err="1">
                <a:solidFill>
                  <a:srgbClr val="C00000"/>
                </a:solidFill>
              </a:rPr>
              <a:t>sreenshots</a:t>
            </a:r>
            <a:r>
              <a:rPr lang="en-GB" b="1" noProof="0" dirty="0">
                <a:solidFill>
                  <a:srgbClr val="C00000"/>
                </a:solidFill>
              </a:rPr>
              <a:t> as evidence of the bullying in case you need them later. Leave the group chat and report it to a trusted adult or teacher.</a:t>
            </a:r>
          </a:p>
        </p:txBody>
      </p:sp>
      <p:sp>
        <p:nvSpPr>
          <p:cNvPr id="4" name="Title 3">
            <a:extLst>
              <a:ext uri="{FF2B5EF4-FFF2-40B4-BE49-F238E27FC236}">
                <a16:creationId xmlns:a16="http://schemas.microsoft.com/office/drawing/2014/main" id="{EE2D412F-5C20-3648-0D59-F1A600B34B49}"/>
              </a:ext>
            </a:extLst>
          </p:cNvPr>
          <p:cNvSpPr>
            <a:spLocks noGrp="1"/>
          </p:cNvSpPr>
          <p:nvPr>
            <p:ph type="title"/>
          </p:nvPr>
        </p:nvSpPr>
        <p:spPr/>
        <p:txBody>
          <a:bodyPr/>
          <a:lstStyle/>
          <a:p>
            <a:r>
              <a:rPr lang="en-GB" sz="4000" noProof="0" dirty="0"/>
              <a:t>Keeping yourself safe</a:t>
            </a:r>
          </a:p>
        </p:txBody>
      </p:sp>
    </p:spTree>
    <p:extLst>
      <p:ext uri="{BB962C8B-B14F-4D97-AF65-F5344CB8AC3E}">
        <p14:creationId xmlns:p14="http://schemas.microsoft.com/office/powerpoint/2010/main" val="174521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49F23-E1F9-4054-7BF1-E24E39B3DDB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2279CC9-BB3E-F2BA-C3A3-98479591769C}"/>
              </a:ext>
            </a:extLst>
          </p:cNvPr>
          <p:cNvSpPr>
            <a:spLocks noGrp="1"/>
          </p:cNvSpPr>
          <p:nvPr>
            <p:ph idx="1"/>
          </p:nvPr>
        </p:nvSpPr>
        <p:spPr/>
        <p:txBody>
          <a:bodyPr>
            <a:normAutofit fontScale="85000" lnSpcReduction="20000"/>
          </a:bodyPr>
          <a:lstStyle/>
          <a:p>
            <a:r>
              <a:rPr lang="en-GB" noProof="0" dirty="0"/>
              <a:t>A stranger sends you a friend request on social media and starts asking you personal questions, such as where you live or what school you go to.</a:t>
            </a:r>
          </a:p>
          <a:p>
            <a:r>
              <a:rPr lang="en-GB" noProof="0" dirty="0"/>
              <a:t>What type of risk is this?</a:t>
            </a:r>
          </a:p>
          <a:p>
            <a:r>
              <a:rPr lang="en-GB" b="1" noProof="0" dirty="0">
                <a:solidFill>
                  <a:srgbClr val="C00000"/>
                </a:solidFill>
              </a:rPr>
              <a:t>This is a potential grooming or identity theft risk, as the stranger could misuse your personal information.</a:t>
            </a:r>
          </a:p>
          <a:p>
            <a:r>
              <a:rPr lang="en-GB" noProof="0" dirty="0"/>
              <a:t>What should you do if you see this behaviour?</a:t>
            </a:r>
          </a:p>
          <a:p>
            <a:r>
              <a:rPr lang="en-GB" b="1" noProof="0" dirty="0">
                <a:solidFill>
                  <a:srgbClr val="C00000"/>
                </a:solidFill>
              </a:rPr>
              <a:t>Do not reply to the messages. Block the person and report their account to the platform.</a:t>
            </a:r>
          </a:p>
        </p:txBody>
      </p:sp>
      <p:sp>
        <p:nvSpPr>
          <p:cNvPr id="4" name="Title 3">
            <a:extLst>
              <a:ext uri="{FF2B5EF4-FFF2-40B4-BE49-F238E27FC236}">
                <a16:creationId xmlns:a16="http://schemas.microsoft.com/office/drawing/2014/main" id="{51EBF769-7FD5-25BB-AD50-81C0C9DA4A1C}"/>
              </a:ext>
            </a:extLst>
          </p:cNvPr>
          <p:cNvSpPr>
            <a:spLocks noGrp="1"/>
          </p:cNvSpPr>
          <p:nvPr>
            <p:ph type="title"/>
          </p:nvPr>
        </p:nvSpPr>
        <p:spPr/>
        <p:txBody>
          <a:bodyPr/>
          <a:lstStyle/>
          <a:p>
            <a:r>
              <a:rPr lang="en-GB" sz="4000" noProof="0" dirty="0"/>
              <a:t>Keeping yourself safe</a:t>
            </a:r>
          </a:p>
        </p:txBody>
      </p:sp>
    </p:spTree>
    <p:extLst>
      <p:ext uri="{BB962C8B-B14F-4D97-AF65-F5344CB8AC3E}">
        <p14:creationId xmlns:p14="http://schemas.microsoft.com/office/powerpoint/2010/main" val="2005624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8C5B9-52D6-7E85-7986-2C31CAF3B8F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893A03C-C5C1-14ED-E0EE-3EC8B4D17144}"/>
              </a:ext>
            </a:extLst>
          </p:cNvPr>
          <p:cNvSpPr>
            <a:spLocks noGrp="1"/>
          </p:cNvSpPr>
          <p:nvPr>
            <p:ph idx="1"/>
          </p:nvPr>
        </p:nvSpPr>
        <p:spPr/>
        <p:txBody>
          <a:bodyPr>
            <a:normAutofit fontScale="85000" lnSpcReduction="20000"/>
          </a:bodyPr>
          <a:lstStyle/>
          <a:p>
            <a:r>
              <a:rPr lang="en-GB" noProof="0" dirty="0"/>
              <a:t>You see a video online that blames a specific group of people for problems in the world and encourages viewers to take action against them.</a:t>
            </a:r>
          </a:p>
          <a:p>
            <a:r>
              <a:rPr lang="en-GB" noProof="0" dirty="0"/>
              <a:t>What type of risk is this?</a:t>
            </a:r>
          </a:p>
          <a:p>
            <a:r>
              <a:rPr lang="en-GB" b="1" noProof="0" dirty="0">
                <a:solidFill>
                  <a:srgbClr val="C00000"/>
                </a:solidFill>
              </a:rPr>
              <a:t>This is an example of radicalisation or spreading extreme views, which can influence people to adopt harmful beliefs.</a:t>
            </a:r>
          </a:p>
          <a:p>
            <a:r>
              <a:rPr lang="en-GB" noProof="0" dirty="0"/>
              <a:t>What should you do if you see this video?</a:t>
            </a:r>
          </a:p>
          <a:p>
            <a:r>
              <a:rPr lang="en-GB" b="1" noProof="0" dirty="0">
                <a:solidFill>
                  <a:srgbClr val="C00000"/>
                </a:solidFill>
              </a:rPr>
              <a:t>Do not share or engage with the video. Report it to the platform and tell a trusted adult about it.</a:t>
            </a:r>
          </a:p>
        </p:txBody>
      </p:sp>
      <p:sp>
        <p:nvSpPr>
          <p:cNvPr id="4" name="Title 3">
            <a:extLst>
              <a:ext uri="{FF2B5EF4-FFF2-40B4-BE49-F238E27FC236}">
                <a16:creationId xmlns:a16="http://schemas.microsoft.com/office/drawing/2014/main" id="{F7DB8280-B98A-E202-F3FA-678C74E2AE45}"/>
              </a:ext>
            </a:extLst>
          </p:cNvPr>
          <p:cNvSpPr>
            <a:spLocks noGrp="1"/>
          </p:cNvSpPr>
          <p:nvPr>
            <p:ph type="title"/>
          </p:nvPr>
        </p:nvSpPr>
        <p:spPr/>
        <p:txBody>
          <a:bodyPr/>
          <a:lstStyle/>
          <a:p>
            <a:r>
              <a:rPr lang="en-GB" sz="4000" noProof="0" dirty="0"/>
              <a:t>Keeping yourself safe</a:t>
            </a:r>
          </a:p>
        </p:txBody>
      </p:sp>
    </p:spTree>
    <p:extLst>
      <p:ext uri="{BB962C8B-B14F-4D97-AF65-F5344CB8AC3E}">
        <p14:creationId xmlns:p14="http://schemas.microsoft.com/office/powerpoint/2010/main" val="183744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220DD-1B34-3F6E-ECDA-C3BBC48CDD02}"/>
              </a:ext>
            </a:extLst>
          </p:cNvPr>
          <p:cNvSpPr>
            <a:spLocks noGrp="1"/>
          </p:cNvSpPr>
          <p:nvPr>
            <p:ph type="title"/>
          </p:nvPr>
        </p:nvSpPr>
        <p:spPr/>
        <p:txBody>
          <a:bodyPr/>
          <a:lstStyle/>
          <a:p>
            <a:r>
              <a:rPr lang="en-GB" noProof="0" dirty="0"/>
              <a:t>Summary of lesson</a:t>
            </a:r>
          </a:p>
        </p:txBody>
      </p:sp>
      <p:sp>
        <p:nvSpPr>
          <p:cNvPr id="3" name="Content Placeholder 2">
            <a:extLst>
              <a:ext uri="{FF2B5EF4-FFF2-40B4-BE49-F238E27FC236}">
                <a16:creationId xmlns:a16="http://schemas.microsoft.com/office/drawing/2014/main" id="{C7B2BC8E-D2E8-90F7-8C7A-DFC54C6F6B13}"/>
              </a:ext>
            </a:extLst>
          </p:cNvPr>
          <p:cNvSpPr>
            <a:spLocks noGrp="1"/>
          </p:cNvSpPr>
          <p:nvPr>
            <p:ph idx="1"/>
          </p:nvPr>
        </p:nvSpPr>
        <p:spPr/>
        <p:txBody>
          <a:bodyPr>
            <a:noAutofit/>
          </a:bodyPr>
          <a:lstStyle/>
          <a:p>
            <a:pPr>
              <a:spcAft>
                <a:spcPts val="600"/>
              </a:spcAft>
            </a:pPr>
            <a:r>
              <a:rPr lang="en-GB" sz="2900" noProof="0" dirty="0"/>
              <a:t>Today, we learned about staying safe online by recognising risks such as scams, bullying and extreme content. </a:t>
            </a:r>
          </a:p>
          <a:p>
            <a:pPr>
              <a:spcAft>
                <a:spcPts val="600"/>
              </a:spcAft>
            </a:pPr>
            <a:r>
              <a:rPr lang="en-GB" sz="2900" noProof="0" dirty="0"/>
              <a:t>We explored how to respond to these situations, such as reporting harmful behaviour and telling a trusted adult. </a:t>
            </a:r>
          </a:p>
          <a:p>
            <a:pPr>
              <a:spcAft>
                <a:spcPts val="600"/>
              </a:spcAft>
            </a:pPr>
            <a:r>
              <a:rPr lang="en-GB" sz="2900" noProof="0" dirty="0"/>
              <a:t>By understanding these dangers, we can protect ourselves and others while using the internet responsibly.</a:t>
            </a:r>
          </a:p>
          <a:p>
            <a:pPr>
              <a:spcAft>
                <a:spcPts val="600"/>
              </a:spcAft>
            </a:pPr>
            <a:r>
              <a:rPr lang="en-GB" sz="2900" noProof="0" dirty="0"/>
              <a:t>You developed </a:t>
            </a:r>
            <a:r>
              <a:rPr lang="en-GB" sz="2900" noProof="0"/>
              <a:t>important skills </a:t>
            </a:r>
            <a:r>
              <a:rPr lang="en-GB" sz="2900" noProof="0" dirty="0"/>
              <a:t>such as </a:t>
            </a:r>
            <a:r>
              <a:rPr lang="en-GB" sz="2900" b="1" noProof="0" dirty="0"/>
              <a:t>critical thinking</a:t>
            </a:r>
            <a:r>
              <a:rPr lang="en-GB" sz="2900" noProof="0" dirty="0"/>
              <a:t>, </a:t>
            </a:r>
            <a:r>
              <a:rPr lang="en-GB" sz="2900" b="1" noProof="0" dirty="0"/>
              <a:t>teamwork</a:t>
            </a:r>
            <a:r>
              <a:rPr lang="en-GB" sz="2900" noProof="0" dirty="0"/>
              <a:t> and </a:t>
            </a:r>
            <a:r>
              <a:rPr lang="en-GB" sz="2900" b="1" noProof="0" dirty="0"/>
              <a:t>being safe </a:t>
            </a:r>
            <a:r>
              <a:rPr lang="en-GB" sz="2900" noProof="0" dirty="0"/>
              <a:t>and </a:t>
            </a:r>
            <a:r>
              <a:rPr lang="en-GB" sz="2900" b="1" noProof="0" dirty="0"/>
              <a:t>responsible</a:t>
            </a:r>
            <a:r>
              <a:rPr lang="en-GB" sz="2900" noProof="0" dirty="0"/>
              <a:t> online.</a:t>
            </a:r>
          </a:p>
        </p:txBody>
      </p:sp>
    </p:spTree>
    <p:extLst>
      <p:ext uri="{BB962C8B-B14F-4D97-AF65-F5344CB8AC3E}">
        <p14:creationId xmlns:p14="http://schemas.microsoft.com/office/powerpoint/2010/main" val="2757112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9F27A30-74F1-B68F-DB4C-1E52B13E6B0A}"/>
              </a:ext>
            </a:extLst>
          </p:cNvPr>
          <p:cNvSpPr>
            <a:spLocks noGrp="1"/>
          </p:cNvSpPr>
          <p:nvPr>
            <p:ph type="body" sz="quarter" idx="10"/>
          </p:nvPr>
        </p:nvSpPr>
        <p:spPr/>
        <p:txBody>
          <a:bodyPr>
            <a:normAutofit/>
          </a:bodyPr>
          <a:lstStyle/>
          <a:p>
            <a:r>
              <a:rPr lang="en-GB" sz="2800" noProof="0" dirty="0">
                <a:solidFill>
                  <a:srgbClr val="C00000"/>
                </a:solidFill>
                <a:hlinkClick r:id="rId2">
                  <a:extLst>
                    <a:ext uri="{A12FA001-AC4F-418D-AE19-62706E023703}">
                      <ahyp:hlinkClr xmlns:ahyp="http://schemas.microsoft.com/office/drawing/2018/hyperlinkcolor" val="tx"/>
                    </a:ext>
                  </a:extLst>
                </a:hlinkClick>
              </a:rPr>
              <a:t>https://www.nicholawilkin.com/terms</a:t>
            </a:r>
            <a:r>
              <a:rPr lang="en-GB" sz="2800" noProof="0" dirty="0">
                <a:solidFill>
                  <a:srgbClr val="C00000"/>
                </a:solidFill>
              </a:rPr>
              <a:t> </a:t>
            </a:r>
          </a:p>
        </p:txBody>
      </p:sp>
      <p:sp>
        <p:nvSpPr>
          <p:cNvPr id="8" name="Title 7">
            <a:extLst>
              <a:ext uri="{FF2B5EF4-FFF2-40B4-BE49-F238E27FC236}">
                <a16:creationId xmlns:a16="http://schemas.microsoft.com/office/drawing/2014/main" id="{AD801862-38A1-2E92-3A46-84D475AF4FD0}"/>
              </a:ext>
            </a:extLst>
          </p:cNvPr>
          <p:cNvSpPr>
            <a:spLocks noGrp="1"/>
          </p:cNvSpPr>
          <p:nvPr>
            <p:ph type="title"/>
          </p:nvPr>
        </p:nvSpPr>
        <p:spPr/>
        <p:txBody>
          <a:bodyPr/>
          <a:lstStyle/>
          <a:p>
            <a:r>
              <a:rPr lang="en-GB" noProof="0" dirty="0"/>
              <a:t>© 2025 Nichola Wilkin Ltd</a:t>
            </a:r>
          </a:p>
        </p:txBody>
      </p:sp>
    </p:spTree>
    <p:extLst>
      <p:ext uri="{BB962C8B-B14F-4D97-AF65-F5344CB8AC3E}">
        <p14:creationId xmlns:p14="http://schemas.microsoft.com/office/powerpoint/2010/main" val="549628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76200">
          <a:solidFill>
            <a:srgbClr val="C00000"/>
          </a:solidFill>
          <a:tailEnd type="triangle"/>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9546B4CD-A1D5-4DFE-B56F-C863773A2EAD}" vid="{EAACDE77-F2E5-4310-8C19-1E4AFB9A93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NEW Example Lesson 2</Template>
  <TotalTime>691</TotalTime>
  <Words>3125</Words>
  <Application>Microsoft Office PowerPoint</Application>
  <PresentationFormat>Widescreen</PresentationFormat>
  <Paragraphs>351</Paragraphs>
  <Slides>47</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OpenDyslexicAlta</vt:lpstr>
      <vt:lpstr>Aptos</vt:lpstr>
      <vt:lpstr>Symbol</vt:lpstr>
      <vt:lpstr>Office Theme</vt:lpstr>
      <vt:lpstr>Understanding online risks</vt:lpstr>
      <vt:lpstr>Objective</vt:lpstr>
      <vt:lpstr>Keywords</vt:lpstr>
      <vt:lpstr>Keywords</vt:lpstr>
      <vt:lpstr>What do you already know?</vt:lpstr>
      <vt:lpstr>Steps to success</vt:lpstr>
      <vt:lpstr>Scams and phishing</vt:lpstr>
      <vt:lpstr>Scams and phishing</vt:lpstr>
      <vt:lpstr>Scams and phishing</vt:lpstr>
      <vt:lpstr>Scams and phishing</vt:lpstr>
      <vt:lpstr>Scams and phishing</vt:lpstr>
      <vt:lpstr>Scams and phishing</vt:lpstr>
      <vt:lpstr>Scams and phishing</vt:lpstr>
      <vt:lpstr>Scams and phishing</vt:lpstr>
      <vt:lpstr>Scams and phishing</vt:lpstr>
      <vt:lpstr>Scams and phishing</vt:lpstr>
      <vt:lpstr>Scams and phishing</vt:lpstr>
      <vt:lpstr>Scams and phishing</vt:lpstr>
      <vt:lpstr>1: Scams and phishing</vt:lpstr>
      <vt:lpstr>1: Scams and phishing</vt:lpstr>
      <vt:lpstr>1: Scams and phishing ANSWERS</vt:lpstr>
      <vt:lpstr>1: Scams and phishing ANSWERS</vt:lpstr>
      <vt:lpstr>Steps to success</vt:lpstr>
      <vt:lpstr>Radicalisation</vt:lpstr>
      <vt:lpstr>Radicalisation</vt:lpstr>
      <vt:lpstr>Radicalisation</vt:lpstr>
      <vt:lpstr>Radicalisation</vt:lpstr>
      <vt:lpstr>Radicalisation</vt:lpstr>
      <vt:lpstr>Steps to success</vt:lpstr>
      <vt:lpstr>Online bullying</vt:lpstr>
      <vt:lpstr>Online bullying</vt:lpstr>
      <vt:lpstr>Online bullying</vt:lpstr>
      <vt:lpstr>Online bullying</vt:lpstr>
      <vt:lpstr>Online bullying</vt:lpstr>
      <vt:lpstr>Online bullying</vt:lpstr>
      <vt:lpstr>Online bullying</vt:lpstr>
      <vt:lpstr>Online bullying</vt:lpstr>
      <vt:lpstr>Steps to success</vt:lpstr>
      <vt:lpstr>Keeping yourself safe</vt:lpstr>
      <vt:lpstr>Keeping yourself safe</vt:lpstr>
      <vt:lpstr>Keeping yourself safe</vt:lpstr>
      <vt:lpstr>Keeping yourself safe</vt:lpstr>
      <vt:lpstr>Keeping yourself safe</vt:lpstr>
      <vt:lpstr>Keeping yourself safe</vt:lpstr>
      <vt:lpstr>Keeping yourself safe</vt:lpstr>
      <vt:lpstr>Summary of lesson</vt:lpstr>
      <vt:lpstr>© 2025 Nichola Wilkin Ltd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Nicky Lacey</dc:creator>
  <dc:description>© 2025 Nichola Wilkin Ltd</dc:description>
  <cp:lastModifiedBy>Jim Finn (Adamstown CC)</cp:lastModifiedBy>
  <cp:revision>22</cp:revision>
  <dcterms:created xsi:type="dcterms:W3CDTF">2025-05-05T08:54:12Z</dcterms:created>
  <dcterms:modified xsi:type="dcterms:W3CDTF">2026-09-01T06:45:36Z</dcterms:modified>
  <cp:category>© 2025 Nichola Wilkin Ltd</cp:category>
</cp:coreProperties>
</file>