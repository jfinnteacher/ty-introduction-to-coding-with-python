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6" r:id="rId2"/>
  </p:sldMasterIdLst>
  <p:handoutMasterIdLst>
    <p:handoutMasterId r:id="rId36"/>
  </p:handoutMasterIdLst>
  <p:sldIdLst>
    <p:sldId id="341" r:id="rId3"/>
    <p:sldId id="256" r:id="rId4"/>
    <p:sldId id="258" r:id="rId5"/>
    <p:sldId id="259" r:id="rId6"/>
    <p:sldId id="274" r:id="rId7"/>
    <p:sldId id="261" r:id="rId8"/>
    <p:sldId id="262"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309" r:id="rId24"/>
    <p:sldId id="294" r:id="rId25"/>
    <p:sldId id="297" r:id="rId26"/>
    <p:sldId id="303" r:id="rId27"/>
    <p:sldId id="304" r:id="rId28"/>
    <p:sldId id="298" r:id="rId29"/>
    <p:sldId id="299" r:id="rId30"/>
    <p:sldId id="300" r:id="rId31"/>
    <p:sldId id="301" r:id="rId32"/>
    <p:sldId id="302" r:id="rId33"/>
    <p:sldId id="305" r:id="rId34"/>
    <p:sldId id="272" r:id="rId35"/>
  </p:sldIdLst>
  <p:sldSz cx="12192000" cy="6858000"/>
  <p:notesSz cx="6889750" cy="10021888"/>
  <p:embeddedFontLst>
    <p:embeddedFont>
      <p:font typeface="OpenDyslexicAlta" panose="020B060402020202020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70"/>
    <a:srgbClr val="E7EAED"/>
    <a:srgbClr val="CCD2D8"/>
    <a:srgbClr val="FFFFCC"/>
    <a:srgbClr val="FFFFE1"/>
    <a:srgbClr val="FBE3D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2" autoAdjust="0"/>
    <p:restoredTop sz="94660"/>
  </p:normalViewPr>
  <p:slideViewPr>
    <p:cSldViewPr snapToGrid="0">
      <p:cViewPr varScale="1">
        <p:scale>
          <a:sx n="78" d="100"/>
          <a:sy n="78" d="100"/>
        </p:scale>
        <p:origin x="653" y="77"/>
      </p:cViewPr>
      <p:guideLst>
        <p:guide orient="horz" pos="2160"/>
        <p:guide pos="3840"/>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35232B-3405-650A-0E6D-919F2AF1E0DF}"/>
              </a:ext>
            </a:extLst>
          </p:cNvPr>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GB"/>
          </a:p>
        </p:txBody>
      </p:sp>
      <p:sp>
        <p:nvSpPr>
          <p:cNvPr id="3" name="Date Placeholder 2">
            <a:extLst>
              <a:ext uri="{FF2B5EF4-FFF2-40B4-BE49-F238E27FC236}">
                <a16:creationId xmlns:a16="http://schemas.microsoft.com/office/drawing/2014/main" id="{A63A1DF0-6A0F-7410-1697-3F3648492322}"/>
              </a:ext>
            </a:extLst>
          </p:cNvPr>
          <p:cNvSpPr>
            <a:spLocks noGrp="1"/>
          </p:cNvSpPr>
          <p:nvPr>
            <p:ph type="dt" sz="quarter" idx="1"/>
          </p:nvPr>
        </p:nvSpPr>
        <p:spPr>
          <a:xfrm>
            <a:off x="3902597" y="0"/>
            <a:ext cx="2985558" cy="502835"/>
          </a:xfrm>
          <a:prstGeom prst="rect">
            <a:avLst/>
          </a:prstGeom>
        </p:spPr>
        <p:txBody>
          <a:bodyPr vert="horz" lIns="96634" tIns="48317" rIns="96634" bIns="48317" rtlCol="0"/>
          <a:lstStyle>
            <a:lvl1pPr algn="r">
              <a:defRPr sz="1300"/>
            </a:lvl1pPr>
          </a:lstStyle>
          <a:p>
            <a:fld id="{28791796-119E-4260-B149-940ECFE008A4}" type="datetimeFigureOut">
              <a:rPr lang="en-GB" smtClean="0"/>
              <a:t>01/09/2026</a:t>
            </a:fld>
            <a:endParaRPr lang="en-GB"/>
          </a:p>
        </p:txBody>
      </p:sp>
      <p:sp>
        <p:nvSpPr>
          <p:cNvPr id="4" name="Footer Placeholder 3">
            <a:extLst>
              <a:ext uri="{FF2B5EF4-FFF2-40B4-BE49-F238E27FC236}">
                <a16:creationId xmlns:a16="http://schemas.microsoft.com/office/drawing/2014/main" id="{D35B57EA-C3C3-2477-F872-4F48437CE8DA}"/>
              </a:ext>
            </a:extLst>
          </p:cNvPr>
          <p:cNvSpPr>
            <a:spLocks noGrp="1"/>
          </p:cNvSpPr>
          <p:nvPr>
            <p:ph type="ftr" sz="quarter" idx="2"/>
          </p:nvPr>
        </p:nvSpPr>
        <p:spPr>
          <a:xfrm>
            <a:off x="0" y="9519055"/>
            <a:ext cx="2985558" cy="502834"/>
          </a:xfrm>
          <a:prstGeom prst="rect">
            <a:avLst/>
          </a:prstGeom>
        </p:spPr>
        <p:txBody>
          <a:bodyPr vert="horz" lIns="96634" tIns="48317" rIns="96634" bIns="48317" rtlCol="0" anchor="b"/>
          <a:lstStyle>
            <a:lvl1pPr algn="l">
              <a:defRPr sz="1300"/>
            </a:lvl1pPr>
          </a:lstStyle>
          <a:p>
            <a:endParaRPr lang="en-GB"/>
          </a:p>
        </p:txBody>
      </p:sp>
      <p:sp>
        <p:nvSpPr>
          <p:cNvPr id="5" name="Slide Number Placeholder 4">
            <a:extLst>
              <a:ext uri="{FF2B5EF4-FFF2-40B4-BE49-F238E27FC236}">
                <a16:creationId xmlns:a16="http://schemas.microsoft.com/office/drawing/2014/main" id="{020E89B7-4332-40EF-8A72-D4F2B18E9A25}"/>
              </a:ext>
            </a:extLst>
          </p:cNvPr>
          <p:cNvSpPr>
            <a:spLocks noGrp="1"/>
          </p:cNvSpPr>
          <p:nvPr>
            <p:ph type="sldNum" sz="quarter" idx="3"/>
          </p:nvPr>
        </p:nvSpPr>
        <p:spPr>
          <a:xfrm>
            <a:off x="3902597" y="9519055"/>
            <a:ext cx="2985558" cy="502834"/>
          </a:xfrm>
          <a:prstGeom prst="rect">
            <a:avLst/>
          </a:prstGeom>
        </p:spPr>
        <p:txBody>
          <a:bodyPr vert="horz" lIns="96634" tIns="48317" rIns="96634" bIns="48317" rtlCol="0" anchor="b"/>
          <a:lstStyle>
            <a:lvl1pPr algn="r">
              <a:defRPr sz="1300"/>
            </a:lvl1pPr>
          </a:lstStyle>
          <a:p>
            <a:fld id="{3ED8B0B0-A64E-4C20-A968-F17ABCD71ED1}" type="slidenum">
              <a:rPr lang="en-GB" smtClean="0"/>
              <a:t>‹#›</a:t>
            </a:fld>
            <a:endParaRPr lang="en-GB"/>
          </a:p>
        </p:txBody>
      </p:sp>
    </p:spTree>
    <p:extLst>
      <p:ext uri="{BB962C8B-B14F-4D97-AF65-F5344CB8AC3E}">
        <p14:creationId xmlns:p14="http://schemas.microsoft.com/office/powerpoint/2010/main" val="16687590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4" name="Picture 3" descr="A computer with a crown&#10;&#10;AI-generated content may be incorrect.">
            <a:extLst>
              <a:ext uri="{FF2B5EF4-FFF2-40B4-BE49-F238E27FC236}">
                <a16:creationId xmlns:a16="http://schemas.microsoft.com/office/drawing/2014/main" id="{99136C88-7F9A-20C0-87C3-E89872BBCBE4}"/>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13638" y="5493213"/>
            <a:ext cx="1164724" cy="1164724"/>
          </a:xfrm>
          <a:prstGeom prst="rect">
            <a:avLst/>
          </a:prstGeom>
        </p:spPr>
      </p:pic>
    </p:spTree>
    <p:extLst>
      <p:ext uri="{BB962C8B-B14F-4D97-AF65-F5344CB8AC3E}">
        <p14:creationId xmlns:p14="http://schemas.microsoft.com/office/powerpoint/2010/main" val="12092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854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374282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70722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23367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91066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644045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0865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8363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7163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301"/>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88450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16" name="Picture 15" descr="A paper plane and a drawing&#10;&#10;Description automatically generated with medium confidence">
            <a:extLst>
              <a:ext uri="{FF2B5EF4-FFF2-40B4-BE49-F238E27FC236}">
                <a16:creationId xmlns:a16="http://schemas.microsoft.com/office/drawing/2014/main" id="{5BB791E5-4AC3-B33B-17E1-30878E2CBE88}"/>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39416" y="6075575"/>
            <a:ext cx="1122744" cy="373012"/>
          </a:xfrm>
          <a:prstGeom prst="rect">
            <a:avLst/>
          </a:prstGeom>
        </p:spPr>
      </p:pic>
    </p:spTree>
    <p:extLst>
      <p:ext uri="{BB962C8B-B14F-4D97-AF65-F5344CB8AC3E}">
        <p14:creationId xmlns:p14="http://schemas.microsoft.com/office/powerpoint/2010/main" val="3745927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42170780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1240073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1046347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21417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2554659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42884204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70552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2983548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9983198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33431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301"/>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8863340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Copyr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1C0559-4ADD-C16C-961E-85C1BAD1D7B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2317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6669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2" r:id="rId4"/>
    <p:sldLayoutId id="2147483663" r:id="rId5"/>
    <p:sldLayoutId id="2147483665" r:id="rId6"/>
    <p:sldLayoutId id="2147483652" r:id="rId7"/>
    <p:sldLayoutId id="2147483653" r:id="rId8"/>
    <p:sldLayoutId id="2147483654" r:id="rId9"/>
    <p:sldLayoutId id="2147483655" r:id="rId10"/>
    <p:sldLayoutId id="2147483656" r:id="rId11"/>
    <p:sldLayoutId id="2147483657" r:id="rId12"/>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userDrawn="1">
          <p15:clr>
            <a:srgbClr val="F26B43"/>
          </p15:clr>
        </p15:guide>
        <p15:guide id="2" pos="118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98339939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p15:clr>
            <a:srgbClr val="F26B43"/>
          </p15:clr>
        </p15:guide>
        <p15:guide id="2" pos="118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hyperlink" Target="https://www.nicholawilkin.com/term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3D02A-A8CC-C0F9-0C46-A78F2D96F58E}"/>
              </a:ext>
            </a:extLst>
          </p:cNvPr>
          <p:cNvSpPr>
            <a:spLocks noGrp="1"/>
          </p:cNvSpPr>
          <p:nvPr>
            <p:ph type="title"/>
          </p:nvPr>
        </p:nvSpPr>
        <p:spPr/>
        <p:txBody>
          <a:bodyPr/>
          <a:lstStyle/>
          <a:p>
            <a:r>
              <a:rPr lang="en-GB" dirty="0"/>
              <a:t>Important note for teachers</a:t>
            </a:r>
          </a:p>
        </p:txBody>
      </p:sp>
      <p:sp>
        <p:nvSpPr>
          <p:cNvPr id="3" name="Content Placeholder 2">
            <a:extLst>
              <a:ext uri="{FF2B5EF4-FFF2-40B4-BE49-F238E27FC236}">
                <a16:creationId xmlns:a16="http://schemas.microsoft.com/office/drawing/2014/main" id="{E260A4FE-0454-E4EE-F697-61F40229BF9E}"/>
              </a:ext>
            </a:extLst>
          </p:cNvPr>
          <p:cNvSpPr>
            <a:spLocks noGrp="1"/>
          </p:cNvSpPr>
          <p:nvPr>
            <p:ph idx="1"/>
          </p:nvPr>
        </p:nvSpPr>
        <p:spPr>
          <a:xfrm>
            <a:off x="413993" y="1313895"/>
            <a:ext cx="6396382" cy="4952736"/>
          </a:xfrm>
        </p:spPr>
        <p:txBody>
          <a:bodyPr>
            <a:normAutofit/>
          </a:bodyPr>
          <a:lstStyle/>
          <a:p>
            <a:r>
              <a:rPr lang="en-GB" dirty="0"/>
              <a:t>If you want to use the on-screen profile then you must copy the </a:t>
            </a:r>
            <a:r>
              <a:rPr lang="en-GB" b="1" dirty="0">
                <a:solidFill>
                  <a:srgbClr val="C00000"/>
                </a:solidFill>
              </a:rPr>
              <a:t>01_Staying_Safe_InstaSnap_Profile.pps </a:t>
            </a:r>
            <a:r>
              <a:rPr lang="en-GB" dirty="0"/>
              <a:t>PowerPoint Slide Show into a shared area your students can easily access. </a:t>
            </a:r>
          </a:p>
          <a:p>
            <a:endParaRPr lang="en-GB" dirty="0"/>
          </a:p>
        </p:txBody>
      </p:sp>
      <p:pic>
        <p:nvPicPr>
          <p:cNvPr id="5" name="Picture 4">
            <a:extLst>
              <a:ext uri="{FF2B5EF4-FFF2-40B4-BE49-F238E27FC236}">
                <a16:creationId xmlns:a16="http://schemas.microsoft.com/office/drawing/2014/main" id="{EA0D2CC2-BDC6-C68D-7DD7-88F7AAFB4C6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596" y="580456"/>
            <a:ext cx="5735404" cy="5735404"/>
          </a:xfrm>
          <a:prstGeom prst="rect">
            <a:avLst/>
          </a:prstGeom>
        </p:spPr>
      </p:pic>
    </p:spTree>
    <p:extLst>
      <p:ext uri="{BB962C8B-B14F-4D97-AF65-F5344CB8AC3E}">
        <p14:creationId xmlns:p14="http://schemas.microsoft.com/office/powerpoint/2010/main" val="334726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84CF-D39A-F54C-E3BD-2F32E4670282}"/>
              </a:ext>
            </a:extLst>
          </p:cNvPr>
          <p:cNvSpPr>
            <a:spLocks noGrp="1"/>
          </p:cNvSpPr>
          <p:nvPr>
            <p:ph type="ctrTitle"/>
          </p:nvPr>
        </p:nvSpPr>
        <p:spPr/>
        <p:txBody>
          <a:bodyPr/>
          <a:lstStyle/>
          <a:p>
            <a:r>
              <a:rPr lang="en-GB" noProof="0" dirty="0"/>
              <a:t>Becoming a digital citizen</a:t>
            </a:r>
          </a:p>
        </p:txBody>
      </p:sp>
      <p:sp>
        <p:nvSpPr>
          <p:cNvPr id="3" name="Subtitle 2">
            <a:extLst>
              <a:ext uri="{FF2B5EF4-FFF2-40B4-BE49-F238E27FC236}">
                <a16:creationId xmlns:a16="http://schemas.microsoft.com/office/drawing/2014/main" id="{F4C41960-3132-52E1-575A-55A2633DED4E}"/>
              </a:ext>
            </a:extLst>
          </p:cNvPr>
          <p:cNvSpPr>
            <a:spLocks noGrp="1"/>
          </p:cNvSpPr>
          <p:nvPr>
            <p:ph type="subTitle" idx="1"/>
          </p:nvPr>
        </p:nvSpPr>
        <p:spPr/>
        <p:txBody>
          <a:bodyPr/>
          <a:lstStyle/>
          <a:p>
            <a:r>
              <a:rPr lang="en-GB" b="1" noProof="0" dirty="0"/>
              <a:t>Unit: </a:t>
            </a:r>
            <a:r>
              <a:rPr lang="en-GB" noProof="0" dirty="0"/>
              <a:t>Staying safe and smart online</a:t>
            </a:r>
          </a:p>
        </p:txBody>
      </p:sp>
    </p:spTree>
    <p:extLst>
      <p:ext uri="{BB962C8B-B14F-4D97-AF65-F5344CB8AC3E}">
        <p14:creationId xmlns:p14="http://schemas.microsoft.com/office/powerpoint/2010/main" val="4203895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ABF-1189-622D-C67C-DBF8F48DC098}"/>
              </a:ext>
            </a:extLst>
          </p:cNvPr>
          <p:cNvSpPr>
            <a:spLocks noGrp="1"/>
          </p:cNvSpPr>
          <p:nvPr>
            <p:ph type="title"/>
          </p:nvPr>
        </p:nvSpPr>
        <p:spPr/>
        <p:txBody>
          <a:bodyPr/>
          <a:lstStyle/>
          <a:p>
            <a:r>
              <a:rPr lang="en-GB" noProof="0" dirty="0"/>
              <a:t>Objective</a:t>
            </a:r>
          </a:p>
        </p:txBody>
      </p:sp>
      <p:sp>
        <p:nvSpPr>
          <p:cNvPr id="3" name="Content Placeholder 2">
            <a:extLst>
              <a:ext uri="{FF2B5EF4-FFF2-40B4-BE49-F238E27FC236}">
                <a16:creationId xmlns:a16="http://schemas.microsoft.com/office/drawing/2014/main" id="{F40FE6D7-DD69-1D13-4F3D-238FFCA5BFEC}"/>
              </a:ext>
            </a:extLst>
          </p:cNvPr>
          <p:cNvSpPr>
            <a:spLocks noGrp="1"/>
          </p:cNvSpPr>
          <p:nvPr>
            <p:ph idx="1"/>
          </p:nvPr>
        </p:nvSpPr>
        <p:spPr/>
        <p:txBody>
          <a:bodyPr>
            <a:normAutofit fontScale="92500" lnSpcReduction="10000"/>
          </a:bodyPr>
          <a:lstStyle/>
          <a:p>
            <a:pPr marL="0" indent="0">
              <a:lnSpc>
                <a:spcPct val="150000"/>
              </a:lnSpc>
              <a:buNone/>
            </a:pPr>
            <a:r>
              <a:rPr lang="en-GB" sz="3600" noProof="0" dirty="0"/>
              <a:t>I can identify behaviours of a responsible digital citizen.</a:t>
            </a:r>
          </a:p>
        </p:txBody>
      </p:sp>
    </p:spTree>
    <p:extLst>
      <p:ext uri="{BB962C8B-B14F-4D97-AF65-F5344CB8AC3E}">
        <p14:creationId xmlns:p14="http://schemas.microsoft.com/office/powerpoint/2010/main" val="6238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397C-D2E3-ADCC-840E-27A33C78D114}"/>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57726DDD-8611-BC33-219F-E0BFEE4A07EF}"/>
              </a:ext>
            </a:extLst>
          </p:cNvPr>
          <p:cNvSpPr txBox="1">
            <a:spLocks/>
          </p:cNvSpPr>
          <p:nvPr/>
        </p:nvSpPr>
        <p:spPr>
          <a:xfrm>
            <a:off x="413992" y="1504950"/>
            <a:ext cx="11444927" cy="476168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GB" noProof="0" dirty="0"/>
              <a:t>Every time you post, like, or share something online, you leave a </a:t>
            </a:r>
            <a:r>
              <a:rPr lang="en-GB" b="1" noProof="0" dirty="0">
                <a:solidFill>
                  <a:srgbClr val="C00000"/>
                </a:solidFill>
              </a:rPr>
              <a:t>digital footprint</a:t>
            </a:r>
            <a:r>
              <a:rPr lang="en-GB" noProof="0" dirty="0"/>
              <a:t> which is a record of your online activity.</a:t>
            </a:r>
          </a:p>
          <a:p>
            <a:pPr marL="0" indent="0">
              <a:buNone/>
            </a:pPr>
            <a:r>
              <a:rPr lang="en-GB" noProof="0" dirty="0"/>
              <a:t>Showing </a:t>
            </a:r>
            <a:r>
              <a:rPr lang="en-GB" b="1" noProof="0" dirty="0">
                <a:solidFill>
                  <a:srgbClr val="C00000"/>
                </a:solidFill>
              </a:rPr>
              <a:t>empathy</a:t>
            </a:r>
            <a:r>
              <a:rPr lang="en-GB" noProof="0" dirty="0"/>
              <a:t> online means considering how your words and actions might affect someone else’s feelings.</a:t>
            </a:r>
          </a:p>
          <a:p>
            <a:pPr marL="0" indent="0">
              <a:buNone/>
            </a:pPr>
            <a:r>
              <a:rPr lang="en-GB" noProof="0" dirty="0"/>
              <a:t>Protecting your </a:t>
            </a:r>
            <a:r>
              <a:rPr lang="en-GB" b="1" noProof="0" dirty="0">
                <a:solidFill>
                  <a:srgbClr val="C00000"/>
                </a:solidFill>
              </a:rPr>
              <a:t>privacy</a:t>
            </a:r>
            <a:r>
              <a:rPr lang="en-GB" noProof="0" dirty="0"/>
              <a:t> online means keeping personal information, such as your address or passwords, safe from others.</a:t>
            </a:r>
          </a:p>
        </p:txBody>
      </p:sp>
    </p:spTree>
    <p:extLst>
      <p:ext uri="{BB962C8B-B14F-4D97-AF65-F5344CB8AC3E}">
        <p14:creationId xmlns:p14="http://schemas.microsoft.com/office/powerpoint/2010/main" val="314898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86AD-244C-8AC1-86E7-3D084F4401D8}"/>
              </a:ext>
            </a:extLst>
          </p:cNvPr>
          <p:cNvSpPr>
            <a:spLocks noGrp="1"/>
          </p:cNvSpPr>
          <p:nvPr>
            <p:ph type="title"/>
          </p:nvPr>
        </p:nvSpPr>
        <p:spPr/>
        <p:txBody>
          <a:bodyPr/>
          <a:lstStyle/>
          <a:p>
            <a:r>
              <a:rPr lang="en-GB" noProof="0" dirty="0"/>
              <a:t>What do you already know?</a:t>
            </a:r>
          </a:p>
        </p:txBody>
      </p:sp>
      <p:sp>
        <p:nvSpPr>
          <p:cNvPr id="3" name="Content Placeholder 2">
            <a:extLst>
              <a:ext uri="{FF2B5EF4-FFF2-40B4-BE49-F238E27FC236}">
                <a16:creationId xmlns:a16="http://schemas.microsoft.com/office/drawing/2014/main" id="{F0FC761F-680C-8008-5001-6739C23BF339}"/>
              </a:ext>
            </a:extLst>
          </p:cNvPr>
          <p:cNvSpPr>
            <a:spLocks noGrp="1"/>
          </p:cNvSpPr>
          <p:nvPr>
            <p:ph idx="1"/>
          </p:nvPr>
        </p:nvSpPr>
        <p:spPr/>
        <p:txBody>
          <a:bodyPr/>
          <a:lstStyle/>
          <a:p>
            <a:r>
              <a:rPr lang="en-GB" noProof="0" dirty="0"/>
              <a:t>The internet is a space where people can communicate, share information and learn new things.</a:t>
            </a:r>
          </a:p>
          <a:p>
            <a:r>
              <a:rPr lang="en-GB" noProof="0" dirty="0"/>
              <a:t>What you post online can be seen by others, even if you delete it.</a:t>
            </a:r>
          </a:p>
          <a:p>
            <a:r>
              <a:rPr lang="en-GB" noProof="0" dirty="0"/>
              <a:t>Bullying can happen both in person and online and it’s important to treat others with kindness.</a:t>
            </a:r>
          </a:p>
        </p:txBody>
      </p:sp>
    </p:spTree>
    <p:extLst>
      <p:ext uri="{BB962C8B-B14F-4D97-AF65-F5344CB8AC3E}">
        <p14:creationId xmlns:p14="http://schemas.microsoft.com/office/powerpoint/2010/main" val="37599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B66E799-D9B4-A6C8-BAFB-22007923A781}"/>
              </a:ext>
            </a:extLst>
          </p:cNvPr>
          <p:cNvSpPr/>
          <p:nvPr/>
        </p:nvSpPr>
        <p:spPr>
          <a:xfrm>
            <a:off x="413992" y="1428750"/>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0CD4A36-A530-71B9-E5F7-5307B39D6DC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CEDC0B2-9F40-1C8A-C33B-787DDB6DCEC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Digital footprint</a:t>
            </a:r>
          </a:p>
          <a:p>
            <a:pPr marL="809625" indent="-723900">
              <a:buClr>
                <a:srgbClr val="C00000"/>
              </a:buClr>
              <a:buSzPct val="107000"/>
              <a:buFont typeface="+mj-lt"/>
              <a:buAutoNum type="arabicPeriod"/>
            </a:pPr>
            <a:r>
              <a:rPr lang="en-GB" sz="3600" noProof="0" dirty="0"/>
              <a:t>Personal privacy</a:t>
            </a:r>
          </a:p>
          <a:p>
            <a:endParaRPr lang="en-GB" noProof="0" dirty="0"/>
          </a:p>
        </p:txBody>
      </p:sp>
    </p:spTree>
    <p:extLst>
      <p:ext uri="{BB962C8B-B14F-4D97-AF65-F5344CB8AC3E}">
        <p14:creationId xmlns:p14="http://schemas.microsoft.com/office/powerpoint/2010/main" val="343493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lstStyle/>
          <a:p>
            <a:r>
              <a:rPr lang="en-GB" noProof="0" dirty="0"/>
              <a:t>Work in pairs and discuss the following scenario.</a:t>
            </a:r>
          </a:p>
          <a:p>
            <a:r>
              <a:rPr lang="en-GB" noProof="0" dirty="0"/>
              <a:t>You see a classmate sharing a photo of another student without their permission. Some people in the comments are making fun of the photo. </a:t>
            </a:r>
          </a:p>
          <a:p>
            <a:r>
              <a:rPr lang="en-GB" noProof="0" dirty="0"/>
              <a:t>What would you do?</a:t>
            </a:r>
          </a:p>
        </p:txBody>
      </p:sp>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Digital footprint</a:t>
            </a:r>
          </a:p>
        </p:txBody>
      </p:sp>
    </p:spTree>
    <p:extLst>
      <p:ext uri="{BB962C8B-B14F-4D97-AF65-F5344CB8AC3E}">
        <p14:creationId xmlns:p14="http://schemas.microsoft.com/office/powerpoint/2010/main" val="2892186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79CF-60FD-76E9-1642-784E56EA32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C3E408-D308-849C-434B-C98F8522CC2F}"/>
              </a:ext>
            </a:extLst>
          </p:cNvPr>
          <p:cNvSpPr>
            <a:spLocks noGrp="1"/>
          </p:cNvSpPr>
          <p:nvPr>
            <p:ph idx="1"/>
          </p:nvPr>
        </p:nvSpPr>
        <p:spPr/>
        <p:txBody>
          <a:bodyPr/>
          <a:lstStyle/>
          <a:p>
            <a:r>
              <a:rPr lang="en-GB" noProof="0" dirty="0"/>
              <a:t>Work in pairs and discuss the following scenario.</a:t>
            </a:r>
          </a:p>
          <a:p>
            <a:r>
              <a:rPr lang="en-GB" noProof="0" dirty="0"/>
              <a:t>Your friend receives a private message from someone they don’t know asking for personal information like their phone number or address. They’re not sure if it’s safe to reply. </a:t>
            </a:r>
          </a:p>
          <a:p>
            <a:r>
              <a:rPr lang="en-GB" noProof="0" dirty="0"/>
              <a:t>How would you advise them?</a:t>
            </a:r>
          </a:p>
        </p:txBody>
      </p:sp>
      <p:sp>
        <p:nvSpPr>
          <p:cNvPr id="2" name="Title 1">
            <a:extLst>
              <a:ext uri="{FF2B5EF4-FFF2-40B4-BE49-F238E27FC236}">
                <a16:creationId xmlns:a16="http://schemas.microsoft.com/office/drawing/2014/main" id="{C8AEF0C5-FB0D-F5DA-749B-632B81D9EF2A}"/>
              </a:ext>
            </a:extLst>
          </p:cNvPr>
          <p:cNvSpPr>
            <a:spLocks noGrp="1"/>
          </p:cNvSpPr>
          <p:nvPr>
            <p:ph type="title"/>
          </p:nvPr>
        </p:nvSpPr>
        <p:spPr/>
        <p:txBody>
          <a:bodyPr/>
          <a:lstStyle/>
          <a:p>
            <a:r>
              <a:rPr lang="en-GB" noProof="0" dirty="0"/>
              <a:t>Digital footprint</a:t>
            </a:r>
          </a:p>
        </p:txBody>
      </p:sp>
    </p:spTree>
    <p:extLst>
      <p:ext uri="{BB962C8B-B14F-4D97-AF65-F5344CB8AC3E}">
        <p14:creationId xmlns:p14="http://schemas.microsoft.com/office/powerpoint/2010/main" val="121381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AF736-DF2B-9AC6-4459-8736B6D184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F2653-401E-B7A2-A5B7-48795B649D64}"/>
              </a:ext>
            </a:extLst>
          </p:cNvPr>
          <p:cNvSpPr>
            <a:spLocks noGrp="1"/>
          </p:cNvSpPr>
          <p:nvPr>
            <p:ph idx="1"/>
          </p:nvPr>
        </p:nvSpPr>
        <p:spPr/>
        <p:txBody>
          <a:bodyPr/>
          <a:lstStyle/>
          <a:p>
            <a:r>
              <a:rPr lang="en-GB" noProof="0" dirty="0"/>
              <a:t>Work in pairs and discuss the following scenario.</a:t>
            </a:r>
          </a:p>
          <a:p>
            <a:r>
              <a:rPr lang="en-GB" noProof="0" dirty="0"/>
              <a:t>You notice that a popular social media account you follow has posted some information that seems shocking but you’re not sure if it’s true. Your friend believes it straight away and shares it. </a:t>
            </a:r>
          </a:p>
          <a:p>
            <a:r>
              <a:rPr lang="en-GB" noProof="0" dirty="0"/>
              <a:t>What should you do?</a:t>
            </a:r>
          </a:p>
        </p:txBody>
      </p:sp>
      <p:sp>
        <p:nvSpPr>
          <p:cNvPr id="2" name="Title 1">
            <a:extLst>
              <a:ext uri="{FF2B5EF4-FFF2-40B4-BE49-F238E27FC236}">
                <a16:creationId xmlns:a16="http://schemas.microsoft.com/office/drawing/2014/main" id="{A28BFF73-B8E8-F1F9-AFD3-25B68B1158E8}"/>
              </a:ext>
            </a:extLst>
          </p:cNvPr>
          <p:cNvSpPr>
            <a:spLocks noGrp="1"/>
          </p:cNvSpPr>
          <p:nvPr>
            <p:ph type="title"/>
          </p:nvPr>
        </p:nvSpPr>
        <p:spPr/>
        <p:txBody>
          <a:bodyPr/>
          <a:lstStyle/>
          <a:p>
            <a:r>
              <a:rPr lang="en-GB" noProof="0" dirty="0"/>
              <a:t>Digital footprint</a:t>
            </a:r>
          </a:p>
        </p:txBody>
      </p:sp>
    </p:spTree>
    <p:extLst>
      <p:ext uri="{BB962C8B-B14F-4D97-AF65-F5344CB8AC3E}">
        <p14:creationId xmlns:p14="http://schemas.microsoft.com/office/powerpoint/2010/main" val="253609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955D4F-7BC8-992A-8235-6E498F0065B1}"/>
              </a:ext>
            </a:extLst>
          </p:cNvPr>
          <p:cNvSpPr>
            <a:spLocks noGrp="1"/>
          </p:cNvSpPr>
          <p:nvPr>
            <p:ph type="title"/>
          </p:nvPr>
        </p:nvSpPr>
        <p:spPr/>
        <p:txBody>
          <a:bodyPr/>
          <a:lstStyle/>
          <a:p>
            <a:r>
              <a:rPr lang="en-GB" noProof="0" dirty="0"/>
              <a:t>Digital footprint</a:t>
            </a:r>
          </a:p>
        </p:txBody>
      </p:sp>
      <p:sp>
        <p:nvSpPr>
          <p:cNvPr id="5" name="Content Placeholder 4">
            <a:extLst>
              <a:ext uri="{FF2B5EF4-FFF2-40B4-BE49-F238E27FC236}">
                <a16:creationId xmlns:a16="http://schemas.microsoft.com/office/drawing/2014/main" id="{1BC5128E-AB6B-FE68-9DC8-06E4EB2575FB}"/>
              </a:ext>
            </a:extLst>
          </p:cNvPr>
          <p:cNvSpPr>
            <a:spLocks noGrp="1"/>
          </p:cNvSpPr>
          <p:nvPr>
            <p:ph idx="1"/>
          </p:nvPr>
        </p:nvSpPr>
        <p:spPr>
          <a:xfrm>
            <a:off x="413993" y="1313895"/>
            <a:ext cx="6596408" cy="4952736"/>
          </a:xfrm>
        </p:spPr>
        <p:txBody>
          <a:bodyPr/>
          <a:lstStyle/>
          <a:p>
            <a:r>
              <a:rPr lang="en-GB" noProof="0" dirty="0"/>
              <a:t>A </a:t>
            </a:r>
            <a:r>
              <a:rPr lang="en-GB" b="1" noProof="0" dirty="0">
                <a:solidFill>
                  <a:srgbClr val="C00000"/>
                </a:solidFill>
              </a:rPr>
              <a:t>digital footprint </a:t>
            </a:r>
            <a:r>
              <a:rPr lang="en-GB" noProof="0" dirty="0"/>
              <a:t>is a record of everything you do online.</a:t>
            </a:r>
          </a:p>
          <a:p>
            <a:r>
              <a:rPr lang="en-GB" noProof="0" dirty="0"/>
              <a:t>It includes the websites you visit, the things you post, the photos you share and the things you like or comment on.</a:t>
            </a:r>
          </a:p>
        </p:txBody>
      </p:sp>
      <p:pic>
        <p:nvPicPr>
          <p:cNvPr id="7" name="Picture 6" descr="Digital footprint">
            <a:extLst>
              <a:ext uri="{FF2B5EF4-FFF2-40B4-BE49-F238E27FC236}">
                <a16:creationId xmlns:a16="http://schemas.microsoft.com/office/drawing/2014/main" id="{115F5090-CA0E-2784-A2F2-F56C3049182D}"/>
              </a:ext>
            </a:extLst>
          </p:cNvPr>
          <p:cNvPicPr>
            <a:picLocks noChangeAspect="1"/>
          </p:cNvPicPr>
          <p:nvPr/>
        </p:nvPicPr>
        <p:blipFill>
          <a:blip r:embed="rId2">
            <a:extLst>
              <a:ext uri="{28A0092B-C50C-407E-A947-70E740481C1C}">
                <a14:useLocalDpi xmlns:a14="http://schemas.microsoft.com/office/drawing/2010/main" val="0"/>
              </a:ext>
            </a:extLst>
          </a:blip>
          <a:srcRect t="16262" b="11520"/>
          <a:stretch/>
        </p:blipFill>
        <p:spPr>
          <a:xfrm>
            <a:off x="6705600" y="1313895"/>
            <a:ext cx="5486400" cy="4952736"/>
          </a:xfrm>
          <a:prstGeom prst="rect">
            <a:avLst/>
          </a:prstGeom>
        </p:spPr>
      </p:pic>
    </p:spTree>
    <p:extLst>
      <p:ext uri="{BB962C8B-B14F-4D97-AF65-F5344CB8AC3E}">
        <p14:creationId xmlns:p14="http://schemas.microsoft.com/office/powerpoint/2010/main" val="284976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DAFE7-4B9D-EF4B-92FD-985899152E67}"/>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CAD8D856-BCA9-A1B1-0107-94D780D9EBD9}"/>
              </a:ext>
            </a:extLst>
          </p:cNvPr>
          <p:cNvSpPr>
            <a:spLocks noGrp="1"/>
          </p:cNvSpPr>
          <p:nvPr>
            <p:ph idx="1"/>
          </p:nvPr>
        </p:nvSpPr>
        <p:spPr/>
        <p:txBody>
          <a:bodyPr/>
          <a:lstStyle/>
          <a:p>
            <a:r>
              <a:rPr lang="en-GB" noProof="0" dirty="0"/>
              <a:t>There are two types of digital footprint:</a:t>
            </a:r>
          </a:p>
          <a:p>
            <a:pPr marL="893763" indent="-385763">
              <a:buFont typeface="Arial" panose="020B0604020202020204" pitchFamily="34" charset="0"/>
              <a:buChar char="•"/>
            </a:pPr>
            <a:r>
              <a:rPr lang="en-GB" noProof="0" dirty="0"/>
              <a:t>Active footprint</a:t>
            </a:r>
          </a:p>
          <a:p>
            <a:pPr marL="893763" indent="-385763">
              <a:buFont typeface="Arial" panose="020B0604020202020204" pitchFamily="34" charset="0"/>
              <a:buChar char="•"/>
            </a:pPr>
            <a:r>
              <a:rPr lang="en-GB" noProof="0" dirty="0"/>
              <a:t>Passive footprint</a:t>
            </a:r>
          </a:p>
          <a:p>
            <a:r>
              <a:rPr lang="en-GB" noProof="0" dirty="0"/>
              <a:t>What do you think the difference is between the two types of digital footprint?</a:t>
            </a:r>
          </a:p>
        </p:txBody>
      </p:sp>
    </p:spTree>
    <p:extLst>
      <p:ext uri="{BB962C8B-B14F-4D97-AF65-F5344CB8AC3E}">
        <p14:creationId xmlns:p14="http://schemas.microsoft.com/office/powerpoint/2010/main" val="349622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31EC714-C78C-A4E1-26FF-6D876ACB2D8B}"/>
              </a:ext>
            </a:extLst>
          </p:cNvPr>
          <p:cNvSpPr>
            <a:spLocks noGrp="1"/>
          </p:cNvSpPr>
          <p:nvPr>
            <p:ph sz="half" idx="10"/>
          </p:nvPr>
        </p:nvSpPr>
        <p:spPr/>
        <p:txBody>
          <a:bodyPr/>
          <a:lstStyle/>
          <a:p>
            <a:r>
              <a:rPr lang="en-GB" b="1" noProof="0" dirty="0">
                <a:solidFill>
                  <a:srgbClr val="C00000"/>
                </a:solidFill>
              </a:rPr>
              <a:t>This is created when you deliberately share information online, such as posting on social media, leaving a review, or sending an email.</a:t>
            </a:r>
          </a:p>
          <a:p>
            <a:endParaRPr lang="en-GB" noProof="0" dirty="0"/>
          </a:p>
        </p:txBody>
      </p:sp>
      <p:sp>
        <p:nvSpPr>
          <p:cNvPr id="5" name="Content Placeholder 4">
            <a:extLst>
              <a:ext uri="{FF2B5EF4-FFF2-40B4-BE49-F238E27FC236}">
                <a16:creationId xmlns:a16="http://schemas.microsoft.com/office/drawing/2014/main" id="{72F9E6E9-C227-9A4E-5CFE-BF859ED614CB}"/>
              </a:ext>
            </a:extLst>
          </p:cNvPr>
          <p:cNvSpPr>
            <a:spLocks noGrp="1"/>
          </p:cNvSpPr>
          <p:nvPr>
            <p:ph sz="half" idx="2"/>
          </p:nvPr>
        </p:nvSpPr>
        <p:spPr/>
        <p:txBody>
          <a:bodyPr/>
          <a:lstStyle/>
          <a:p>
            <a:r>
              <a:rPr lang="en-GB" sz="3200" b="1" noProof="0" dirty="0">
                <a:solidFill>
                  <a:srgbClr val="C00000"/>
                </a:solidFill>
              </a:rPr>
              <a:t>This is created without you realising it, such as when websites track your browsing habits or collect data about you through cookies.</a:t>
            </a:r>
          </a:p>
          <a:p>
            <a:endParaRPr lang="en-GB" noProof="0" dirty="0"/>
          </a:p>
        </p:txBody>
      </p:sp>
      <p:sp>
        <p:nvSpPr>
          <p:cNvPr id="4" name="Text Placeholder 3">
            <a:extLst>
              <a:ext uri="{FF2B5EF4-FFF2-40B4-BE49-F238E27FC236}">
                <a16:creationId xmlns:a16="http://schemas.microsoft.com/office/drawing/2014/main" id="{FE4BBF39-7175-BD83-08AE-DDCFF176DE51}"/>
              </a:ext>
            </a:extLst>
          </p:cNvPr>
          <p:cNvSpPr>
            <a:spLocks noGrp="1"/>
          </p:cNvSpPr>
          <p:nvPr>
            <p:ph type="body" idx="1"/>
          </p:nvPr>
        </p:nvSpPr>
        <p:spPr/>
        <p:txBody>
          <a:bodyPr/>
          <a:lstStyle/>
          <a:p>
            <a:r>
              <a:rPr lang="en-GB" noProof="0" dirty="0"/>
              <a:t>Active footprint</a:t>
            </a:r>
          </a:p>
        </p:txBody>
      </p:sp>
      <p:sp>
        <p:nvSpPr>
          <p:cNvPr id="6" name="Text Placeholder 5">
            <a:extLst>
              <a:ext uri="{FF2B5EF4-FFF2-40B4-BE49-F238E27FC236}">
                <a16:creationId xmlns:a16="http://schemas.microsoft.com/office/drawing/2014/main" id="{6FA9F53A-BCF5-6A2B-45E1-0D987B5F27E2}"/>
              </a:ext>
            </a:extLst>
          </p:cNvPr>
          <p:cNvSpPr>
            <a:spLocks noGrp="1"/>
          </p:cNvSpPr>
          <p:nvPr>
            <p:ph type="body" sz="quarter" idx="3"/>
          </p:nvPr>
        </p:nvSpPr>
        <p:spPr/>
        <p:txBody>
          <a:bodyPr/>
          <a:lstStyle/>
          <a:p>
            <a:r>
              <a:rPr lang="en-GB" noProof="0" dirty="0"/>
              <a:t>Passive footprint</a:t>
            </a:r>
          </a:p>
        </p:txBody>
      </p:sp>
      <p:sp>
        <p:nvSpPr>
          <p:cNvPr id="2" name="Title 1">
            <a:extLst>
              <a:ext uri="{FF2B5EF4-FFF2-40B4-BE49-F238E27FC236}">
                <a16:creationId xmlns:a16="http://schemas.microsoft.com/office/drawing/2014/main" id="{162BAF71-C082-3908-4303-89C5C47CE069}"/>
              </a:ext>
            </a:extLst>
          </p:cNvPr>
          <p:cNvSpPr>
            <a:spLocks noGrp="1"/>
          </p:cNvSpPr>
          <p:nvPr>
            <p:ph type="title"/>
          </p:nvPr>
        </p:nvSpPr>
        <p:spPr/>
        <p:txBody>
          <a:bodyPr/>
          <a:lstStyle/>
          <a:p>
            <a:r>
              <a:rPr lang="en-GB" noProof="0" dirty="0"/>
              <a:t>Digital footprint</a:t>
            </a:r>
          </a:p>
        </p:txBody>
      </p:sp>
    </p:spTree>
    <p:extLst>
      <p:ext uri="{BB962C8B-B14F-4D97-AF65-F5344CB8AC3E}">
        <p14:creationId xmlns:p14="http://schemas.microsoft.com/office/powerpoint/2010/main" val="26942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FD8BB19-6DF4-E01F-FFCE-9F2EB006F6AB}"/>
              </a:ext>
            </a:extLst>
          </p:cNvPr>
          <p:cNvSpPr>
            <a:spLocks noGrp="1"/>
          </p:cNvSpPr>
          <p:nvPr>
            <p:ph type="title"/>
          </p:nvPr>
        </p:nvSpPr>
        <p:spPr/>
        <p:txBody>
          <a:bodyPr/>
          <a:lstStyle/>
          <a:p>
            <a:r>
              <a:rPr lang="en-GB" noProof="0" dirty="0"/>
              <a:t>Digital footprint</a:t>
            </a:r>
          </a:p>
        </p:txBody>
      </p:sp>
      <p:sp>
        <p:nvSpPr>
          <p:cNvPr id="8" name="Content Placeholder 7">
            <a:extLst>
              <a:ext uri="{FF2B5EF4-FFF2-40B4-BE49-F238E27FC236}">
                <a16:creationId xmlns:a16="http://schemas.microsoft.com/office/drawing/2014/main" id="{43DE709E-F94D-6414-3241-1D1AAD8EC56F}"/>
              </a:ext>
            </a:extLst>
          </p:cNvPr>
          <p:cNvSpPr>
            <a:spLocks noGrp="1"/>
          </p:cNvSpPr>
          <p:nvPr>
            <p:ph idx="1"/>
          </p:nvPr>
        </p:nvSpPr>
        <p:spPr/>
        <p:txBody>
          <a:bodyPr>
            <a:normAutofit lnSpcReduction="10000"/>
          </a:bodyPr>
          <a:lstStyle/>
          <a:p>
            <a:r>
              <a:rPr lang="en-GB" noProof="0" dirty="0"/>
              <a:t>Why do you think being aware of your digital footprint matters?</a:t>
            </a:r>
          </a:p>
          <a:p>
            <a:r>
              <a:rPr lang="en-GB" b="1" noProof="0" dirty="0">
                <a:solidFill>
                  <a:srgbClr val="C00000"/>
                </a:solidFill>
              </a:rPr>
              <a:t>Your digital footprint can affect your reputation both now and in the future.</a:t>
            </a:r>
          </a:p>
          <a:p>
            <a:r>
              <a:rPr lang="en-GB" b="1" noProof="0" dirty="0">
                <a:solidFill>
                  <a:srgbClr val="C00000"/>
                </a:solidFill>
              </a:rPr>
              <a:t>It can be seen by others including friends, family, teachers and even future employers.</a:t>
            </a:r>
          </a:p>
          <a:p>
            <a:r>
              <a:rPr lang="en-GB" b="1" noProof="0" dirty="0">
                <a:solidFill>
                  <a:srgbClr val="C00000"/>
                </a:solidFill>
              </a:rPr>
              <a:t>Once something is online, it can be difficult to remove completely.</a:t>
            </a:r>
          </a:p>
          <a:p>
            <a:endParaRPr lang="en-GB" noProof="0" dirty="0"/>
          </a:p>
        </p:txBody>
      </p:sp>
    </p:spTree>
    <p:extLst>
      <p:ext uri="{BB962C8B-B14F-4D97-AF65-F5344CB8AC3E}">
        <p14:creationId xmlns:p14="http://schemas.microsoft.com/office/powerpoint/2010/main" val="147763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A8823-94BD-3C35-32F3-D1A53C94ECCF}"/>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4E5BB460-8410-F917-36DA-8070A647D00C}"/>
              </a:ext>
            </a:extLst>
          </p:cNvPr>
          <p:cNvSpPr>
            <a:spLocks noGrp="1"/>
          </p:cNvSpPr>
          <p:nvPr>
            <p:ph idx="1"/>
          </p:nvPr>
        </p:nvSpPr>
        <p:spPr/>
        <p:txBody>
          <a:bodyPr>
            <a:normAutofit fontScale="92500" lnSpcReduction="20000"/>
          </a:bodyPr>
          <a:lstStyle/>
          <a:p>
            <a:r>
              <a:rPr lang="en-GB" noProof="0" dirty="0"/>
              <a:t>A teenager shared a funny but embarrassing photo of their friend on social media without asking for permission. </a:t>
            </a:r>
          </a:p>
          <a:p>
            <a:r>
              <a:rPr lang="en-GB" noProof="0" dirty="0"/>
              <a:t>Do you think they were right to do this?</a:t>
            </a:r>
          </a:p>
          <a:p>
            <a:r>
              <a:rPr lang="en-GB" b="1" noProof="0" dirty="0">
                <a:solidFill>
                  <a:srgbClr val="C00000"/>
                </a:solidFill>
              </a:rPr>
              <a:t>No, they were not.</a:t>
            </a:r>
          </a:p>
          <a:p>
            <a:r>
              <a:rPr lang="en-GB" noProof="0" dirty="0"/>
              <a:t>The photo went viral and the friend felt humiliated. This damaged their friendship and the friend asked the school to intervene. The teenager learned that even harmless posts can have unintended consequences.</a:t>
            </a:r>
          </a:p>
          <a:p>
            <a:endParaRPr lang="en-GB" noProof="0" dirty="0"/>
          </a:p>
          <a:p>
            <a:endParaRPr lang="en-GB" noProof="0" dirty="0"/>
          </a:p>
        </p:txBody>
      </p:sp>
    </p:spTree>
    <p:extLst>
      <p:ext uri="{BB962C8B-B14F-4D97-AF65-F5344CB8AC3E}">
        <p14:creationId xmlns:p14="http://schemas.microsoft.com/office/powerpoint/2010/main" val="390848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17217-502D-4415-3131-656613100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C7F65-1FB9-D018-3262-0F9869FF1C53}"/>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AE62AABA-7709-23AB-794F-1A41DCBB5D38}"/>
              </a:ext>
            </a:extLst>
          </p:cNvPr>
          <p:cNvSpPr>
            <a:spLocks noGrp="1"/>
          </p:cNvSpPr>
          <p:nvPr>
            <p:ph idx="1"/>
          </p:nvPr>
        </p:nvSpPr>
        <p:spPr/>
        <p:txBody>
          <a:bodyPr>
            <a:normAutofit fontScale="92500" lnSpcReduction="20000"/>
          </a:bodyPr>
          <a:lstStyle/>
          <a:p>
            <a:r>
              <a:rPr lang="en-GB" noProof="0" dirty="0"/>
              <a:t>A student posted rude comments on a public forum about a teacher.</a:t>
            </a:r>
          </a:p>
          <a:p>
            <a:r>
              <a:rPr lang="en-GB" noProof="0" dirty="0"/>
              <a:t>Do you think they were right to do this?</a:t>
            </a:r>
          </a:p>
          <a:p>
            <a:r>
              <a:rPr lang="en-GB" b="1" noProof="0" dirty="0">
                <a:solidFill>
                  <a:srgbClr val="C00000"/>
                </a:solidFill>
              </a:rPr>
              <a:t>No, they were not.</a:t>
            </a:r>
          </a:p>
          <a:p>
            <a:r>
              <a:rPr lang="en-GB" noProof="0" dirty="0"/>
              <a:t>Years later, when applying for a job, the employer found these comments during an online background check. The student didn’t get the job because the employer questioned their professionalism.</a:t>
            </a:r>
          </a:p>
          <a:p>
            <a:endParaRPr lang="en-GB" noProof="0" dirty="0"/>
          </a:p>
        </p:txBody>
      </p:sp>
    </p:spTree>
    <p:extLst>
      <p:ext uri="{BB962C8B-B14F-4D97-AF65-F5344CB8AC3E}">
        <p14:creationId xmlns:p14="http://schemas.microsoft.com/office/powerpoint/2010/main" val="386227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35D3-620C-1855-83EE-E0887CBB5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B5788-6ECA-3753-C1DE-64451C210233}"/>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82C828D3-849E-69BC-6EDB-758F8CA513FE}"/>
              </a:ext>
            </a:extLst>
          </p:cNvPr>
          <p:cNvSpPr>
            <a:spLocks noGrp="1"/>
          </p:cNvSpPr>
          <p:nvPr>
            <p:ph idx="1"/>
          </p:nvPr>
        </p:nvSpPr>
        <p:spPr/>
        <p:txBody>
          <a:bodyPr>
            <a:normAutofit fontScale="92500" lnSpcReduction="10000"/>
          </a:bodyPr>
          <a:lstStyle/>
          <a:p>
            <a:r>
              <a:rPr lang="en-GB" noProof="0" dirty="0"/>
              <a:t>A person shared personal information on their social media profile, including their home address and holiday plans. </a:t>
            </a:r>
          </a:p>
          <a:p>
            <a:r>
              <a:rPr lang="en-GB" noProof="0" dirty="0"/>
              <a:t>Do you think they were right to do this?</a:t>
            </a:r>
          </a:p>
          <a:p>
            <a:r>
              <a:rPr lang="en-GB" b="1" noProof="0" dirty="0">
                <a:solidFill>
                  <a:srgbClr val="C00000"/>
                </a:solidFill>
              </a:rPr>
              <a:t>No, they were not.</a:t>
            </a:r>
          </a:p>
          <a:p>
            <a:r>
              <a:rPr lang="en-GB" noProof="0" dirty="0"/>
              <a:t>While they were on holiday, their house was broken into as the burglars knew it would be empty. </a:t>
            </a:r>
          </a:p>
          <a:p>
            <a:endParaRPr lang="en-GB" noProof="0" dirty="0"/>
          </a:p>
        </p:txBody>
      </p:sp>
    </p:spTree>
    <p:extLst>
      <p:ext uri="{BB962C8B-B14F-4D97-AF65-F5344CB8AC3E}">
        <p14:creationId xmlns:p14="http://schemas.microsoft.com/office/powerpoint/2010/main" val="28926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AA43B-C9B8-1581-ABE7-BA8C2E252B59}"/>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61801471-081E-B67E-9E4C-7DBB2922A45D}"/>
              </a:ext>
            </a:extLst>
          </p:cNvPr>
          <p:cNvSpPr>
            <a:spLocks noGrp="1"/>
          </p:cNvSpPr>
          <p:nvPr>
            <p:ph idx="1"/>
          </p:nvPr>
        </p:nvSpPr>
        <p:spPr/>
        <p:txBody>
          <a:bodyPr>
            <a:normAutofit fontScale="92500" lnSpcReduction="10000"/>
          </a:bodyPr>
          <a:lstStyle/>
          <a:p>
            <a:r>
              <a:rPr lang="en-GB" noProof="0" dirty="0"/>
              <a:t>Negative digital footprints happen when you post or share things that could harm your reputation or hurt others.</a:t>
            </a:r>
          </a:p>
          <a:p>
            <a:r>
              <a:rPr lang="en-GB" noProof="0" dirty="0"/>
              <a:t>Examples include:</a:t>
            </a:r>
          </a:p>
          <a:p>
            <a:pPr marL="893763" indent="-441325">
              <a:buFont typeface="Arial" panose="020B0604020202020204" pitchFamily="34" charset="0"/>
              <a:buChar char="•"/>
            </a:pPr>
            <a:r>
              <a:rPr lang="en-GB" noProof="0" dirty="0"/>
              <a:t>Posting hurtful or mean comments about someone.</a:t>
            </a:r>
          </a:p>
          <a:p>
            <a:pPr marL="893763" indent="-441325">
              <a:buFont typeface="Arial" panose="020B0604020202020204" pitchFamily="34" charset="0"/>
              <a:buChar char="•"/>
            </a:pPr>
            <a:r>
              <a:rPr lang="en-GB" noProof="0" dirty="0"/>
              <a:t>Sharing inappropriate photos or videos.</a:t>
            </a:r>
          </a:p>
          <a:p>
            <a:pPr marL="893763" indent="-441325">
              <a:buFont typeface="Arial" panose="020B0604020202020204" pitchFamily="34" charset="0"/>
              <a:buChar char="•"/>
            </a:pPr>
            <a:r>
              <a:rPr lang="en-GB" noProof="0" dirty="0"/>
              <a:t>Spreading false information or rumours online.</a:t>
            </a:r>
          </a:p>
        </p:txBody>
      </p:sp>
    </p:spTree>
    <p:extLst>
      <p:ext uri="{BB962C8B-B14F-4D97-AF65-F5344CB8AC3E}">
        <p14:creationId xmlns:p14="http://schemas.microsoft.com/office/powerpoint/2010/main" val="257421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24BA-B7B5-E694-A7A7-A001CC4F426E}"/>
              </a:ext>
            </a:extLst>
          </p:cNvPr>
          <p:cNvSpPr>
            <a:spLocks noGrp="1"/>
          </p:cNvSpPr>
          <p:nvPr>
            <p:ph type="title"/>
          </p:nvPr>
        </p:nvSpPr>
        <p:spPr/>
        <p:txBody>
          <a:bodyPr/>
          <a:lstStyle/>
          <a:p>
            <a:r>
              <a:rPr lang="en-GB" noProof="0" dirty="0"/>
              <a:t>Digital footprints</a:t>
            </a:r>
          </a:p>
        </p:txBody>
      </p:sp>
      <p:sp>
        <p:nvSpPr>
          <p:cNvPr id="3" name="Content Placeholder 2">
            <a:extLst>
              <a:ext uri="{FF2B5EF4-FFF2-40B4-BE49-F238E27FC236}">
                <a16:creationId xmlns:a16="http://schemas.microsoft.com/office/drawing/2014/main" id="{349D5074-66F3-5F22-2699-DFBCBE75E0F1}"/>
              </a:ext>
            </a:extLst>
          </p:cNvPr>
          <p:cNvSpPr>
            <a:spLocks noGrp="1"/>
          </p:cNvSpPr>
          <p:nvPr>
            <p:ph idx="1"/>
          </p:nvPr>
        </p:nvSpPr>
        <p:spPr>
          <a:xfrm>
            <a:off x="3667874" y="1313895"/>
            <a:ext cx="8191045" cy="4952736"/>
          </a:xfrm>
        </p:spPr>
        <p:txBody>
          <a:bodyPr>
            <a:normAutofit lnSpcReduction="10000"/>
          </a:bodyPr>
          <a:lstStyle/>
          <a:p>
            <a:r>
              <a:rPr lang="en-GB" noProof="0" dirty="0"/>
              <a:t>Your digital footprint doesn’t just have to be negative. It can also be positive. Positive digital footprints are created when you share things that reflect well on you and show your best qualities.</a:t>
            </a:r>
          </a:p>
          <a:p>
            <a:r>
              <a:rPr lang="en-GB" noProof="0" dirty="0"/>
              <a:t>Can you think of anything that would create a positive digital footprint?</a:t>
            </a:r>
          </a:p>
        </p:txBody>
      </p:sp>
      <p:pic>
        <p:nvPicPr>
          <p:cNvPr id="5" name="Picture 4" descr="A gold trophy ">
            <a:extLst>
              <a:ext uri="{FF2B5EF4-FFF2-40B4-BE49-F238E27FC236}">
                <a16:creationId xmlns:a16="http://schemas.microsoft.com/office/drawing/2014/main" id="{555EC07F-E1DF-8C09-176B-A0F99D0C0ED8}"/>
              </a:ext>
            </a:extLst>
          </p:cNvPr>
          <p:cNvPicPr>
            <a:picLocks noChangeAspect="1"/>
          </p:cNvPicPr>
          <p:nvPr/>
        </p:nvPicPr>
        <p:blipFill>
          <a:blip r:embed="rId2">
            <a:extLst>
              <a:ext uri="{28A0092B-C50C-407E-A947-70E740481C1C}">
                <a14:useLocalDpi xmlns:a14="http://schemas.microsoft.com/office/drawing/2010/main" val="0"/>
              </a:ext>
            </a:extLst>
          </a:blip>
          <a:srcRect l="18578" t="10191" r="18409" b="12273"/>
          <a:stretch/>
        </p:blipFill>
        <p:spPr>
          <a:xfrm>
            <a:off x="606174" y="1683765"/>
            <a:ext cx="2845943" cy="4377384"/>
          </a:xfrm>
          <a:prstGeom prst="rect">
            <a:avLst/>
          </a:prstGeom>
        </p:spPr>
      </p:pic>
    </p:spTree>
    <p:extLst>
      <p:ext uri="{BB962C8B-B14F-4D97-AF65-F5344CB8AC3E}">
        <p14:creationId xmlns:p14="http://schemas.microsoft.com/office/powerpoint/2010/main" val="258603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CF2B-1B53-F93E-830F-26BA69C86947}"/>
              </a:ext>
            </a:extLst>
          </p:cNvPr>
          <p:cNvSpPr>
            <a:spLocks noGrp="1"/>
          </p:cNvSpPr>
          <p:nvPr>
            <p:ph type="title"/>
          </p:nvPr>
        </p:nvSpPr>
        <p:spPr/>
        <p:txBody>
          <a:bodyPr/>
          <a:lstStyle/>
          <a:p>
            <a:r>
              <a:rPr lang="en-GB" noProof="0" dirty="0"/>
              <a:t>Digital footprint</a:t>
            </a:r>
          </a:p>
        </p:txBody>
      </p:sp>
      <p:sp>
        <p:nvSpPr>
          <p:cNvPr id="3" name="Content Placeholder 2">
            <a:extLst>
              <a:ext uri="{FF2B5EF4-FFF2-40B4-BE49-F238E27FC236}">
                <a16:creationId xmlns:a16="http://schemas.microsoft.com/office/drawing/2014/main" id="{998ABB6B-3947-13DF-BE6E-B8CE93768502}"/>
              </a:ext>
            </a:extLst>
          </p:cNvPr>
          <p:cNvSpPr>
            <a:spLocks noGrp="1"/>
          </p:cNvSpPr>
          <p:nvPr>
            <p:ph idx="1"/>
          </p:nvPr>
        </p:nvSpPr>
        <p:spPr/>
        <p:txBody>
          <a:bodyPr/>
          <a:lstStyle/>
          <a:p>
            <a:r>
              <a:rPr lang="en-GB" noProof="0" dirty="0"/>
              <a:t>Examples can include:</a:t>
            </a:r>
          </a:p>
          <a:p>
            <a:pPr marL="893763" indent="-441325">
              <a:buFont typeface="Arial" panose="020B0604020202020204" pitchFamily="34" charset="0"/>
              <a:buChar char="•"/>
            </a:pPr>
            <a:r>
              <a:rPr lang="en-GB" noProof="0" dirty="0"/>
              <a:t>Sharing achievements, such as winning a competition or completing a project.</a:t>
            </a:r>
          </a:p>
          <a:p>
            <a:pPr marL="893763" indent="-441325">
              <a:buFont typeface="Arial" panose="020B0604020202020204" pitchFamily="34" charset="0"/>
              <a:buChar char="•"/>
            </a:pPr>
            <a:r>
              <a:rPr lang="en-GB" noProof="0" dirty="0"/>
              <a:t>Posting kind or supportive comments on someone’s post.</a:t>
            </a:r>
          </a:p>
          <a:p>
            <a:pPr marL="893763" indent="-441325">
              <a:buFont typeface="Arial" panose="020B0604020202020204" pitchFamily="34" charset="0"/>
              <a:buChar char="•"/>
            </a:pPr>
            <a:r>
              <a:rPr lang="en-GB" noProof="0" dirty="0"/>
              <a:t>Creating helpful or educational content, like a tutorial or an inspiring story.</a:t>
            </a:r>
          </a:p>
          <a:p>
            <a:endParaRPr lang="en-GB" noProof="0" dirty="0"/>
          </a:p>
        </p:txBody>
      </p:sp>
    </p:spTree>
    <p:extLst>
      <p:ext uri="{BB962C8B-B14F-4D97-AF65-F5344CB8AC3E}">
        <p14:creationId xmlns:p14="http://schemas.microsoft.com/office/powerpoint/2010/main" val="14119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42F1F-0B09-29BA-53B5-E71685BDA36F}"/>
              </a:ext>
            </a:extLst>
          </p:cNvPr>
          <p:cNvSpPr>
            <a:spLocks noGrp="1"/>
          </p:cNvSpPr>
          <p:nvPr>
            <p:ph idx="1"/>
          </p:nvPr>
        </p:nvSpPr>
        <p:spPr>
          <a:xfrm>
            <a:off x="413992" y="1313895"/>
            <a:ext cx="11444927" cy="1145526"/>
          </a:xfrm>
        </p:spPr>
        <p:txBody>
          <a:bodyPr>
            <a:normAutofit fontScale="77500" lnSpcReduction="20000"/>
          </a:bodyPr>
          <a:lstStyle/>
          <a:p>
            <a:r>
              <a:rPr lang="en-GB" noProof="0" dirty="0"/>
              <a:t>Here is a list of actions related to online behaviour. For each action, decide whether it creates a positive or negative digital footprint and tick the appropriate column.</a:t>
            </a:r>
          </a:p>
        </p:txBody>
      </p:sp>
      <p:sp>
        <p:nvSpPr>
          <p:cNvPr id="2" name="Title 1">
            <a:extLst>
              <a:ext uri="{FF2B5EF4-FFF2-40B4-BE49-F238E27FC236}">
                <a16:creationId xmlns:a16="http://schemas.microsoft.com/office/drawing/2014/main" id="{95B65685-765A-AF93-D56A-20BB4B049AEA}"/>
              </a:ext>
            </a:extLst>
          </p:cNvPr>
          <p:cNvSpPr>
            <a:spLocks noGrp="1"/>
          </p:cNvSpPr>
          <p:nvPr>
            <p:ph type="title"/>
          </p:nvPr>
        </p:nvSpPr>
        <p:spPr/>
        <p:txBody>
          <a:bodyPr/>
          <a:lstStyle/>
          <a:p>
            <a:r>
              <a:rPr lang="en-GB" noProof="0" dirty="0"/>
              <a:t>1: Digital footprint</a:t>
            </a:r>
          </a:p>
        </p:txBody>
      </p:sp>
      <p:graphicFrame>
        <p:nvGraphicFramePr>
          <p:cNvPr id="6" name="Table 5">
            <a:extLst>
              <a:ext uri="{FF2B5EF4-FFF2-40B4-BE49-F238E27FC236}">
                <a16:creationId xmlns:a16="http://schemas.microsoft.com/office/drawing/2014/main" id="{5C1D99D6-7E36-58E5-9E0C-36039436934B}"/>
              </a:ext>
            </a:extLst>
          </p:cNvPr>
          <p:cNvGraphicFramePr>
            <a:graphicFrameLocks noGrp="1"/>
          </p:cNvGraphicFramePr>
          <p:nvPr>
            <p:extLst>
              <p:ext uri="{D42A27DB-BD31-4B8C-83A1-F6EECF244321}">
                <p14:modId xmlns:p14="http://schemas.microsoft.com/office/powerpoint/2010/main" val="886637515"/>
              </p:ext>
            </p:extLst>
          </p:nvPr>
        </p:nvGraphicFramePr>
        <p:xfrm>
          <a:off x="413992" y="2459421"/>
          <a:ext cx="11567799" cy="4086987"/>
        </p:xfrm>
        <a:graphic>
          <a:graphicData uri="http://schemas.openxmlformats.org/drawingml/2006/table">
            <a:tbl>
              <a:tblPr firstRow="1" bandRow="1">
                <a:tableStyleId>{5C22544A-7EE6-4342-B048-85BDC9FD1C3A}</a:tableStyleId>
              </a:tblPr>
              <a:tblGrid>
                <a:gridCol w="8677455">
                  <a:extLst>
                    <a:ext uri="{9D8B030D-6E8A-4147-A177-3AD203B41FA5}">
                      <a16:colId xmlns:a16="http://schemas.microsoft.com/office/drawing/2014/main" val="2356815630"/>
                    </a:ext>
                  </a:extLst>
                </a:gridCol>
                <a:gridCol w="1429407">
                  <a:extLst>
                    <a:ext uri="{9D8B030D-6E8A-4147-A177-3AD203B41FA5}">
                      <a16:colId xmlns:a16="http://schemas.microsoft.com/office/drawing/2014/main" val="4149975334"/>
                    </a:ext>
                  </a:extLst>
                </a:gridCol>
                <a:gridCol w="1460937">
                  <a:extLst>
                    <a:ext uri="{9D8B030D-6E8A-4147-A177-3AD203B41FA5}">
                      <a16:colId xmlns:a16="http://schemas.microsoft.com/office/drawing/2014/main" val="4187033577"/>
                    </a:ext>
                  </a:extLst>
                </a:gridCol>
              </a:tblGrid>
              <a:tr h="370840">
                <a:tc>
                  <a:txBody>
                    <a:bodyPr/>
                    <a:lstStyle/>
                    <a:p>
                      <a:pPr>
                        <a:lnSpc>
                          <a:spcPct val="115000"/>
                        </a:lnSpc>
                        <a:spcAft>
                          <a:spcPts val="800"/>
                        </a:spcAft>
                        <a:buNone/>
                      </a:pPr>
                      <a:r>
                        <a:rPr lang="en-GB" sz="18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Action</a:t>
                      </a:r>
                      <a:endPar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solidFill>
                      <a:srgbClr val="002570"/>
                    </a:solidFill>
                  </a:tcPr>
                </a:tc>
                <a:tc>
                  <a:txBody>
                    <a:bodyPr/>
                    <a:lstStyle/>
                    <a:p>
                      <a:pPr algn="ctr">
                        <a:lnSpc>
                          <a:spcPct val="115000"/>
                        </a:lnSpc>
                        <a:spcAft>
                          <a:spcPts val="800"/>
                        </a:spcAft>
                        <a:buNone/>
                      </a:pPr>
                      <a:r>
                        <a:rPr lang="en-GB" sz="18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Positive</a:t>
                      </a:r>
                      <a:endPar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solidFill>
                      <a:srgbClr val="002570"/>
                    </a:solidFill>
                  </a:tcPr>
                </a:tc>
                <a:tc>
                  <a:txBody>
                    <a:bodyPr/>
                    <a:lstStyle/>
                    <a:p>
                      <a:pPr algn="ctr">
                        <a:lnSpc>
                          <a:spcPct val="115000"/>
                        </a:lnSpc>
                        <a:spcAft>
                          <a:spcPts val="800"/>
                        </a:spcAft>
                        <a:buNone/>
                      </a:pPr>
                      <a:r>
                        <a:rPr lang="en-GB" sz="18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Negative</a:t>
                      </a:r>
                      <a:endPar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solidFill>
                      <a:srgbClr val="002570"/>
                    </a:solidFill>
                  </a:tcPr>
                </a:tc>
                <a:extLst>
                  <a:ext uri="{0D108BD9-81ED-4DB2-BD59-A6C34878D82A}">
                    <a16:rowId xmlns:a16="http://schemas.microsoft.com/office/drawing/2014/main" val="666232364"/>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Writing a supportive comment on someone’s blog post.</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9453988"/>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Sharing a funny meme that includes someone’s personal photo without their permission.</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4278055"/>
                  </a:ext>
                </a:extLst>
              </a:tr>
              <a:tr h="370840">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Complaining about a teacher or classmate publicly on social media.</a:t>
                      </a:r>
                    </a:p>
                  </a:txBody>
                  <a:tcPr marL="68580" marR="68580" marT="0" marB="0" anchor="b"/>
                </a:tc>
                <a:tc>
                  <a:txBody>
                    <a:bodyPr/>
                    <a:lstStyle/>
                    <a:p>
                      <a:pPr algn="ctr">
                        <a:lnSpc>
                          <a:spcPct val="115000"/>
                        </a:lnSpc>
                        <a:spcAft>
                          <a:spcPts val="800"/>
                        </a:spcAft>
                        <a:buNone/>
                      </a:pP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3077752"/>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Posting a video tutorial you created to help others with homework.</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3297767"/>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Using someone else’s artwork in your own post without crediting them.</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815622"/>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Reporting an inappropriate or harmful post to a website administrator.</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3676379"/>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Sharing your gaming username and password with a friend.</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4641101"/>
                  </a:ext>
                </a:extLst>
              </a:tr>
              <a:tr h="370840">
                <a:tc>
                  <a:txBody>
                    <a:bodyPr/>
                    <a:lstStyle/>
                    <a:p>
                      <a:pPr>
                        <a:lnSpc>
                          <a:spcPct val="115000"/>
                        </a:lnSpc>
                        <a:spcAft>
                          <a:spcPts val="800"/>
                        </a:spcAft>
                        <a:buNone/>
                      </a:pPr>
                      <a:r>
                        <a:rPr lang="en-GB" sz="18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Posting an inspiring story about overcoming a challenge.</a:t>
                      </a:r>
                      <a:endPar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b"/>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8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4146107"/>
                  </a:ext>
                </a:extLst>
              </a:tr>
            </a:tbl>
          </a:graphicData>
        </a:graphic>
      </p:graphicFrame>
    </p:spTree>
    <p:extLst>
      <p:ext uri="{BB962C8B-B14F-4D97-AF65-F5344CB8AC3E}">
        <p14:creationId xmlns:p14="http://schemas.microsoft.com/office/powerpoint/2010/main" val="3676853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E6A4B-472C-38AD-DFBB-4F3314446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1CDD8-E337-CC44-1BBB-27F2C4FFA4D5}"/>
              </a:ext>
            </a:extLst>
          </p:cNvPr>
          <p:cNvSpPr>
            <a:spLocks noGrp="1"/>
          </p:cNvSpPr>
          <p:nvPr>
            <p:ph type="title"/>
          </p:nvPr>
        </p:nvSpPr>
        <p:spPr/>
        <p:txBody>
          <a:bodyPr/>
          <a:lstStyle/>
          <a:p>
            <a:r>
              <a:rPr lang="en-GB" noProof="0" dirty="0"/>
              <a:t>1: Digital footprint </a:t>
            </a:r>
            <a:r>
              <a:rPr lang="en-GB" noProof="0" dirty="0">
                <a:solidFill>
                  <a:srgbClr val="C00000"/>
                </a:solidFill>
              </a:rPr>
              <a:t>ANSWERS</a:t>
            </a:r>
          </a:p>
        </p:txBody>
      </p:sp>
      <p:graphicFrame>
        <p:nvGraphicFramePr>
          <p:cNvPr id="6" name="Table 5">
            <a:extLst>
              <a:ext uri="{FF2B5EF4-FFF2-40B4-BE49-F238E27FC236}">
                <a16:creationId xmlns:a16="http://schemas.microsoft.com/office/drawing/2014/main" id="{97A2B06C-F8E5-C9B6-99B5-31C8D5192F67}"/>
              </a:ext>
            </a:extLst>
          </p:cNvPr>
          <p:cNvGraphicFramePr>
            <a:graphicFrameLocks noGrp="1"/>
          </p:cNvGraphicFramePr>
          <p:nvPr>
            <p:extLst>
              <p:ext uri="{D42A27DB-BD31-4B8C-83A1-F6EECF244321}">
                <p14:modId xmlns:p14="http://schemas.microsoft.com/office/powerpoint/2010/main" val="1174601924"/>
              </p:ext>
            </p:extLst>
          </p:nvPr>
        </p:nvGraphicFramePr>
        <p:xfrm>
          <a:off x="462455" y="1334814"/>
          <a:ext cx="11396464" cy="5243068"/>
        </p:xfrm>
        <a:graphic>
          <a:graphicData uri="http://schemas.openxmlformats.org/drawingml/2006/table">
            <a:tbl>
              <a:tblPr firstRow="1" bandRow="1">
                <a:tableStyleId>{5C22544A-7EE6-4342-B048-85BDC9FD1C3A}</a:tableStyleId>
              </a:tblPr>
              <a:tblGrid>
                <a:gridCol w="8287464">
                  <a:extLst>
                    <a:ext uri="{9D8B030D-6E8A-4147-A177-3AD203B41FA5}">
                      <a16:colId xmlns:a16="http://schemas.microsoft.com/office/drawing/2014/main" val="2356815630"/>
                    </a:ext>
                  </a:extLst>
                </a:gridCol>
                <a:gridCol w="1554500">
                  <a:extLst>
                    <a:ext uri="{9D8B030D-6E8A-4147-A177-3AD203B41FA5}">
                      <a16:colId xmlns:a16="http://schemas.microsoft.com/office/drawing/2014/main" val="4149975334"/>
                    </a:ext>
                  </a:extLst>
                </a:gridCol>
                <a:gridCol w="1554500">
                  <a:extLst>
                    <a:ext uri="{9D8B030D-6E8A-4147-A177-3AD203B41FA5}">
                      <a16:colId xmlns:a16="http://schemas.microsoft.com/office/drawing/2014/main" val="4187033577"/>
                    </a:ext>
                  </a:extLst>
                </a:gridCol>
              </a:tblGrid>
              <a:tr h="370840">
                <a:tc>
                  <a:txBody>
                    <a:bodyPr/>
                    <a:lstStyle/>
                    <a:p>
                      <a:pPr>
                        <a:lnSpc>
                          <a:spcPct val="115000"/>
                        </a:lnSpc>
                        <a:spcAft>
                          <a:spcPts val="800"/>
                        </a:spcAft>
                        <a:buNone/>
                      </a:pPr>
                      <a:r>
                        <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Action</a:t>
                      </a:r>
                    </a:p>
                  </a:txBody>
                  <a:tcPr marL="68580" marR="68580" marT="0" marB="0">
                    <a:solidFill>
                      <a:srgbClr val="002570"/>
                    </a:solidFill>
                  </a:tcPr>
                </a:tc>
                <a:tc>
                  <a:txBody>
                    <a:bodyPr/>
                    <a:lstStyle/>
                    <a:p>
                      <a:pPr algn="ctr">
                        <a:lnSpc>
                          <a:spcPct val="115000"/>
                        </a:lnSpc>
                        <a:spcAft>
                          <a:spcPts val="800"/>
                        </a:spcAft>
                        <a:buNone/>
                      </a:pPr>
                      <a:r>
                        <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Positive</a:t>
                      </a:r>
                    </a:p>
                  </a:txBody>
                  <a:tcPr marL="68580" marR="68580" marT="0" marB="0">
                    <a:solidFill>
                      <a:srgbClr val="002570"/>
                    </a:solidFill>
                  </a:tcPr>
                </a:tc>
                <a:tc>
                  <a:txBody>
                    <a:bodyPr/>
                    <a:lstStyle/>
                    <a:p>
                      <a:pPr algn="ctr">
                        <a:lnSpc>
                          <a:spcPct val="115000"/>
                        </a:lnSpc>
                        <a:spcAft>
                          <a:spcPts val="800"/>
                        </a:spcAft>
                        <a:buNone/>
                      </a:pPr>
                      <a:r>
                        <a:rPr lang="en-GB" sz="2000" kern="100" noProof="0" dirty="0">
                          <a:solidFill>
                            <a:schemeClr val="bg1"/>
                          </a:solidFill>
                          <a:effectLst/>
                          <a:latin typeface="OpenDyslexicAlta" panose="00000500000000000000" pitchFamily="50" charset="0"/>
                          <a:ea typeface="Aptos" panose="020B0004020202020204" pitchFamily="34" charset="0"/>
                          <a:cs typeface="Times New Roman" panose="02020603050405020304" pitchFamily="18" charset="0"/>
                        </a:rPr>
                        <a:t>Negative</a:t>
                      </a:r>
                    </a:p>
                  </a:txBody>
                  <a:tcPr marL="68580" marR="68580" marT="0" marB="0">
                    <a:solidFill>
                      <a:srgbClr val="002570"/>
                    </a:solidFill>
                  </a:tcPr>
                </a:tc>
                <a:extLst>
                  <a:ext uri="{0D108BD9-81ED-4DB2-BD59-A6C34878D82A}">
                    <a16:rowId xmlns:a16="http://schemas.microsoft.com/office/drawing/2014/main" val="666232364"/>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Writing a supportive comment on someone’s blog post.</a:t>
                      </a:r>
                    </a:p>
                  </a:txBody>
                  <a:tcPr marL="68580" marR="68580" marT="0" marB="0" anchor="b"/>
                </a:tc>
                <a:tc>
                  <a:txBody>
                    <a:bodyPr/>
                    <a:lstStyle/>
                    <a:p>
                      <a:pPr algn="ctr">
                        <a:lnSpc>
                          <a:spcPct val="115000"/>
                        </a:lnSpc>
                        <a:spcAft>
                          <a:spcPts val="800"/>
                        </a:spcAft>
                        <a:buNone/>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endParaRPr lang="en-GB" sz="20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800"/>
                        </a:spcAft>
                        <a:buNone/>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3949453988"/>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Sharing a funny meme that includes someone’s personal photo without their permission.</a:t>
                      </a:r>
                    </a:p>
                  </a:txBody>
                  <a:tcPr marL="68580" marR="68580" marT="0" marB="0" anchor="b"/>
                </a:tc>
                <a:tc>
                  <a:txBody>
                    <a:bodyPr/>
                    <a:lstStyle/>
                    <a:p>
                      <a:pPr marL="0" algn="ctr" defTabSz="914400" rtl="0" eaLnBrk="1" latinLnBrk="0" hangingPunct="1">
                        <a:lnSpc>
                          <a:spcPct val="115000"/>
                        </a:lnSpc>
                        <a:spcAft>
                          <a:spcPts val="800"/>
                        </a:spcAft>
                        <a:buNone/>
                      </a:pPr>
                      <a:r>
                        <a:rPr lang="en-GB" sz="2000" kern="100" noProof="0" dirty="0">
                          <a:solidFill>
                            <a:schemeClr val="dk1"/>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724278055"/>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Complaining about a teacher or classmate publicly on social media.</a:t>
                      </a:r>
                    </a:p>
                  </a:txBody>
                  <a:tcPr marL="68580" marR="68580" marT="0" marB="0" anchor="b"/>
                </a:tc>
                <a:tc>
                  <a:txBody>
                    <a:bodyPr/>
                    <a:lstStyle/>
                    <a:p>
                      <a:pPr marL="0" algn="ctr" defTabSz="914400" rtl="0" eaLnBrk="1" latinLnBrk="0" hangingPunct="1">
                        <a:lnSpc>
                          <a:spcPct val="115000"/>
                        </a:lnSpc>
                        <a:spcAft>
                          <a:spcPts val="800"/>
                        </a:spcAft>
                        <a:buNone/>
                      </a:pPr>
                      <a:r>
                        <a:rPr lang="en-GB" sz="2000" kern="100" noProof="0" dirty="0">
                          <a:solidFill>
                            <a:schemeClr val="dk1"/>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endPar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9719410"/>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Posting a video tutorial you created to help others with homework.</a:t>
                      </a:r>
                    </a:p>
                  </a:txBody>
                  <a:tcPr marL="68580" marR="68580" marT="0" marB="0" anchor="b"/>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1453297767"/>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Using someone else’s artwork in your own post without crediting them.</a:t>
                      </a:r>
                    </a:p>
                  </a:txBody>
                  <a:tcPr marL="68580" marR="68580" marT="0" marB="0" anchor="b"/>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382815622"/>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Reporting an inappropriate or harmful post to a website administrator.</a:t>
                      </a:r>
                    </a:p>
                  </a:txBody>
                  <a:tcPr marL="68580" marR="68580" marT="0" marB="0" anchor="b"/>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endPar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1913676379"/>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Sharing your gaming username and password with a friend.</a:t>
                      </a:r>
                    </a:p>
                  </a:txBody>
                  <a:tcPr marL="68580" marR="68580" marT="0" marB="0" anchor="b"/>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754641101"/>
                  </a:ext>
                </a:extLst>
              </a:tr>
              <a:tr h="370840">
                <a:tc>
                  <a:txBody>
                    <a:bodyPr/>
                    <a:lstStyle/>
                    <a:p>
                      <a:pPr>
                        <a:lnSpc>
                          <a:spcPct val="115000"/>
                        </a:lnSpc>
                        <a:spcAft>
                          <a:spcPts val="800"/>
                        </a:spcAft>
                        <a:buNone/>
                      </a:pPr>
                      <a:r>
                        <a:rPr lang="en-GB" sz="20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Posting an inspiring story about overcoming a challenge.</a:t>
                      </a:r>
                    </a:p>
                  </a:txBody>
                  <a:tcPr marL="68580" marR="68580" marT="0" marB="0" anchor="b"/>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sym typeface="Wingdings" panose="05000000000000000000" pitchFamily="2" charset="2"/>
                        </a:rPr>
                        <a:t></a:t>
                      </a:r>
                      <a:endPar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marL="0" algn="ctr" defTabSz="914400" rtl="0" eaLnBrk="1" latinLnBrk="0" hangingPunct="1">
                        <a:lnSpc>
                          <a:spcPct val="115000"/>
                        </a:lnSpc>
                        <a:spcAft>
                          <a:spcPts val="800"/>
                        </a:spcAft>
                        <a:buNone/>
                      </a:pPr>
                      <a:r>
                        <a:rPr lang="en-GB" sz="2800"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 </a:t>
                      </a:r>
                    </a:p>
                  </a:txBody>
                  <a:tcPr marL="68580" marR="68580" marT="0" marB="0" anchor="ctr"/>
                </a:tc>
                <a:extLst>
                  <a:ext uri="{0D108BD9-81ED-4DB2-BD59-A6C34878D82A}">
                    <a16:rowId xmlns:a16="http://schemas.microsoft.com/office/drawing/2014/main" val="734146107"/>
                  </a:ext>
                </a:extLst>
              </a:tr>
            </a:tbl>
          </a:graphicData>
        </a:graphic>
      </p:graphicFrame>
      <p:sp>
        <p:nvSpPr>
          <p:cNvPr id="7" name="Rectangle 6">
            <a:extLst>
              <a:ext uri="{FF2B5EF4-FFF2-40B4-BE49-F238E27FC236}">
                <a16:creationId xmlns:a16="http://schemas.microsoft.com/office/drawing/2014/main" id="{3DE0D59C-7DA1-18A9-A1A7-A673CA4D15F7}"/>
              </a:ext>
            </a:extLst>
          </p:cNvPr>
          <p:cNvSpPr/>
          <p:nvPr/>
        </p:nvSpPr>
        <p:spPr>
          <a:xfrm>
            <a:off x="9280634" y="1755228"/>
            <a:ext cx="483475" cy="367862"/>
          </a:xfrm>
          <a:prstGeom prst="rect">
            <a:avLst/>
          </a:prstGeom>
          <a:solidFill>
            <a:srgbClr val="CCD2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Rectangle 8">
            <a:extLst>
              <a:ext uri="{FF2B5EF4-FFF2-40B4-BE49-F238E27FC236}">
                <a16:creationId xmlns:a16="http://schemas.microsoft.com/office/drawing/2014/main" id="{65DB5206-B2F8-8530-3ADB-91F8A33CF973}"/>
              </a:ext>
            </a:extLst>
          </p:cNvPr>
          <p:cNvSpPr/>
          <p:nvPr/>
        </p:nvSpPr>
        <p:spPr>
          <a:xfrm>
            <a:off x="10820399" y="2328042"/>
            <a:ext cx="483475" cy="367862"/>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Rectangle 9">
            <a:extLst>
              <a:ext uri="{FF2B5EF4-FFF2-40B4-BE49-F238E27FC236}">
                <a16:creationId xmlns:a16="http://schemas.microsoft.com/office/drawing/2014/main" id="{DCEE2042-D090-F2F2-3FD0-1C8F78DEB531}"/>
              </a:ext>
            </a:extLst>
          </p:cNvPr>
          <p:cNvSpPr/>
          <p:nvPr/>
        </p:nvSpPr>
        <p:spPr>
          <a:xfrm>
            <a:off x="10820399" y="3061138"/>
            <a:ext cx="483475" cy="367862"/>
          </a:xfrm>
          <a:prstGeom prst="rect">
            <a:avLst/>
          </a:prstGeom>
          <a:solidFill>
            <a:srgbClr val="CCD2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Rectangle 10">
            <a:extLst>
              <a:ext uri="{FF2B5EF4-FFF2-40B4-BE49-F238E27FC236}">
                <a16:creationId xmlns:a16="http://schemas.microsoft.com/office/drawing/2014/main" id="{66DD1644-C906-C303-B49F-C2E14FE4111A}"/>
              </a:ext>
            </a:extLst>
          </p:cNvPr>
          <p:cNvSpPr/>
          <p:nvPr/>
        </p:nvSpPr>
        <p:spPr>
          <a:xfrm>
            <a:off x="9280634" y="3689130"/>
            <a:ext cx="483475" cy="367862"/>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a:extLst>
              <a:ext uri="{FF2B5EF4-FFF2-40B4-BE49-F238E27FC236}">
                <a16:creationId xmlns:a16="http://schemas.microsoft.com/office/drawing/2014/main" id="{E7713594-E324-76B5-6D6C-1DD186559C3E}"/>
              </a:ext>
            </a:extLst>
          </p:cNvPr>
          <p:cNvSpPr/>
          <p:nvPr/>
        </p:nvSpPr>
        <p:spPr>
          <a:xfrm>
            <a:off x="10820398" y="4359163"/>
            <a:ext cx="483475" cy="367862"/>
          </a:xfrm>
          <a:prstGeom prst="rect">
            <a:avLst/>
          </a:prstGeom>
          <a:solidFill>
            <a:srgbClr val="CCD2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380AF83F-8296-C939-93AD-7365F070EEC9}"/>
              </a:ext>
            </a:extLst>
          </p:cNvPr>
          <p:cNvSpPr/>
          <p:nvPr/>
        </p:nvSpPr>
        <p:spPr>
          <a:xfrm>
            <a:off x="9354204" y="5133506"/>
            <a:ext cx="483475" cy="367862"/>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Rectangle 13">
            <a:extLst>
              <a:ext uri="{FF2B5EF4-FFF2-40B4-BE49-F238E27FC236}">
                <a16:creationId xmlns:a16="http://schemas.microsoft.com/office/drawing/2014/main" id="{4EEC33EF-2357-5D5E-77A9-F16B8AA3532E}"/>
              </a:ext>
            </a:extLst>
          </p:cNvPr>
          <p:cNvSpPr/>
          <p:nvPr/>
        </p:nvSpPr>
        <p:spPr>
          <a:xfrm>
            <a:off x="10820398" y="5678208"/>
            <a:ext cx="483475" cy="367862"/>
          </a:xfrm>
          <a:prstGeom prst="rect">
            <a:avLst/>
          </a:prstGeom>
          <a:solidFill>
            <a:srgbClr val="CCD2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F7A4E1E1-5331-0D49-13ED-21BF0EAF53FA}"/>
              </a:ext>
            </a:extLst>
          </p:cNvPr>
          <p:cNvSpPr/>
          <p:nvPr/>
        </p:nvSpPr>
        <p:spPr>
          <a:xfrm>
            <a:off x="9354203" y="6172190"/>
            <a:ext cx="483475" cy="367862"/>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302993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F60D-F962-2D0B-7113-F81BB07F6C5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0AE376C-1785-034E-A349-10B62D1152A6}"/>
              </a:ext>
            </a:extLst>
          </p:cNvPr>
          <p:cNvSpPr/>
          <p:nvPr/>
        </p:nvSpPr>
        <p:spPr>
          <a:xfrm>
            <a:off x="300976" y="3098584"/>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E5F1D8C-6511-ECE1-6B16-670154EC9B29}"/>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F0DD6CCF-582D-6ACA-898B-A90EB5F9B1A6}"/>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Digital footprint</a:t>
            </a:r>
          </a:p>
          <a:p>
            <a:pPr marL="809625" indent="-723900">
              <a:buClr>
                <a:srgbClr val="C00000"/>
              </a:buClr>
              <a:buSzPct val="107000"/>
              <a:buFont typeface="+mj-lt"/>
              <a:buAutoNum type="arabicPeriod"/>
            </a:pPr>
            <a:r>
              <a:rPr lang="en-GB" sz="3600" noProof="0" dirty="0"/>
              <a:t>Personal privacy</a:t>
            </a:r>
          </a:p>
          <a:p>
            <a:endParaRPr lang="en-GB" noProof="0" dirty="0"/>
          </a:p>
        </p:txBody>
      </p:sp>
    </p:spTree>
    <p:extLst>
      <p:ext uri="{BB962C8B-B14F-4D97-AF65-F5344CB8AC3E}">
        <p14:creationId xmlns:p14="http://schemas.microsoft.com/office/powerpoint/2010/main" val="254895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DAE525-24F3-6AE2-A42C-365D6C93ABA4}"/>
              </a:ext>
            </a:extLst>
          </p:cNvPr>
          <p:cNvSpPr>
            <a:spLocks noGrp="1"/>
          </p:cNvSpPr>
          <p:nvPr>
            <p:ph type="title"/>
          </p:nvPr>
        </p:nvSpPr>
        <p:spPr/>
        <p:txBody>
          <a:bodyPr/>
          <a:lstStyle/>
          <a:p>
            <a:r>
              <a:rPr lang="en-GB" noProof="0" dirty="0"/>
              <a:t>Personal privacy</a:t>
            </a:r>
          </a:p>
        </p:txBody>
      </p:sp>
      <p:sp>
        <p:nvSpPr>
          <p:cNvPr id="5" name="Content Placeholder 4">
            <a:extLst>
              <a:ext uri="{FF2B5EF4-FFF2-40B4-BE49-F238E27FC236}">
                <a16:creationId xmlns:a16="http://schemas.microsoft.com/office/drawing/2014/main" id="{58D09DC9-5137-C7DF-C031-97D2BE22DCC6}"/>
              </a:ext>
            </a:extLst>
          </p:cNvPr>
          <p:cNvSpPr>
            <a:spLocks noGrp="1"/>
          </p:cNvSpPr>
          <p:nvPr>
            <p:ph idx="1"/>
          </p:nvPr>
        </p:nvSpPr>
        <p:spPr>
          <a:xfrm>
            <a:off x="413992" y="1313894"/>
            <a:ext cx="7177655" cy="5118803"/>
          </a:xfrm>
        </p:spPr>
        <p:txBody>
          <a:bodyPr>
            <a:normAutofit fontScale="62500" lnSpcReduction="20000"/>
          </a:bodyPr>
          <a:lstStyle/>
          <a:p>
            <a:pPr>
              <a:lnSpc>
                <a:spcPct val="100000"/>
              </a:lnSpc>
              <a:spcAft>
                <a:spcPts val="600"/>
              </a:spcAft>
            </a:pPr>
            <a:r>
              <a:rPr lang="en-GB" noProof="0" dirty="0"/>
              <a:t>Personal information is any detail that can identify you or give others access to your private life. Protecting your </a:t>
            </a:r>
            <a:r>
              <a:rPr lang="en-GB" b="1" noProof="0" dirty="0">
                <a:solidFill>
                  <a:srgbClr val="C00000"/>
                </a:solidFill>
              </a:rPr>
              <a:t>privacy</a:t>
            </a:r>
            <a:r>
              <a:rPr lang="en-GB" noProof="0" dirty="0"/>
              <a:t> is important to keep this information safe.</a:t>
            </a:r>
          </a:p>
          <a:p>
            <a:pPr>
              <a:lnSpc>
                <a:spcPct val="100000"/>
              </a:lnSpc>
              <a:spcAft>
                <a:spcPts val="600"/>
              </a:spcAft>
            </a:pPr>
            <a:r>
              <a:rPr lang="en-GB" noProof="0" dirty="0"/>
              <a:t> Examples of personal information include:</a:t>
            </a:r>
          </a:p>
          <a:p>
            <a:pPr marL="893763" indent="-441325">
              <a:lnSpc>
                <a:spcPct val="100000"/>
              </a:lnSpc>
              <a:spcAft>
                <a:spcPts val="600"/>
              </a:spcAft>
              <a:buFont typeface="Arial" panose="020B0604020202020204" pitchFamily="34" charset="0"/>
              <a:buChar char="•"/>
            </a:pPr>
            <a:r>
              <a:rPr lang="en-GB" noProof="0" dirty="0"/>
              <a:t>Your full name.</a:t>
            </a:r>
          </a:p>
          <a:p>
            <a:pPr marL="893763" indent="-441325">
              <a:lnSpc>
                <a:spcPct val="100000"/>
              </a:lnSpc>
              <a:spcAft>
                <a:spcPts val="600"/>
              </a:spcAft>
              <a:buFont typeface="Arial" panose="020B0604020202020204" pitchFamily="34" charset="0"/>
              <a:buChar char="•"/>
            </a:pPr>
            <a:r>
              <a:rPr lang="en-GB" noProof="0" dirty="0"/>
              <a:t>Your address or phone number.</a:t>
            </a:r>
          </a:p>
          <a:p>
            <a:pPr marL="893763" indent="-441325">
              <a:lnSpc>
                <a:spcPct val="100000"/>
              </a:lnSpc>
              <a:spcAft>
                <a:spcPts val="600"/>
              </a:spcAft>
              <a:buFont typeface="Arial" panose="020B0604020202020204" pitchFamily="34" charset="0"/>
              <a:buChar char="•"/>
            </a:pPr>
            <a:r>
              <a:rPr lang="en-GB" noProof="0" dirty="0"/>
              <a:t>Your passwords.</a:t>
            </a:r>
          </a:p>
          <a:p>
            <a:pPr marL="893763" indent="-441325">
              <a:lnSpc>
                <a:spcPct val="100000"/>
              </a:lnSpc>
              <a:spcAft>
                <a:spcPts val="600"/>
              </a:spcAft>
              <a:buFont typeface="Arial" panose="020B0604020202020204" pitchFamily="34" charset="0"/>
              <a:buChar char="•"/>
            </a:pPr>
            <a:r>
              <a:rPr lang="en-GB" noProof="0" dirty="0"/>
              <a:t>Photos or videos of you that give hints about other personal information (e.g. school logo).</a:t>
            </a:r>
          </a:p>
          <a:p>
            <a:pPr marL="893763" indent="-441325">
              <a:lnSpc>
                <a:spcPct val="100000"/>
              </a:lnSpc>
              <a:spcAft>
                <a:spcPts val="600"/>
              </a:spcAft>
              <a:buFont typeface="Arial" panose="020B0604020202020204" pitchFamily="34" charset="0"/>
              <a:buChar char="•"/>
            </a:pPr>
            <a:r>
              <a:rPr lang="en-GB" noProof="0" dirty="0"/>
              <a:t>Bank details or other sensitive information.</a:t>
            </a:r>
          </a:p>
          <a:p>
            <a:endParaRPr lang="en-GB" noProof="0" dirty="0"/>
          </a:p>
        </p:txBody>
      </p:sp>
      <p:pic>
        <p:nvPicPr>
          <p:cNvPr id="7" name="Picture 6">
            <a:extLst>
              <a:ext uri="{FF2B5EF4-FFF2-40B4-BE49-F238E27FC236}">
                <a16:creationId xmlns:a16="http://schemas.microsoft.com/office/drawing/2014/main" id="{1F9AF540-4C49-C2A9-B8D1-AB57B24B432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5818" y="1313894"/>
            <a:ext cx="3962190" cy="4952737"/>
          </a:xfrm>
          <a:prstGeom prst="rect">
            <a:avLst/>
          </a:prstGeom>
        </p:spPr>
      </p:pic>
    </p:spTree>
    <p:extLst>
      <p:ext uri="{BB962C8B-B14F-4D97-AF65-F5344CB8AC3E}">
        <p14:creationId xmlns:p14="http://schemas.microsoft.com/office/powerpoint/2010/main" val="343490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8722C4-536B-F9F1-6413-B12702B9A846}"/>
              </a:ext>
            </a:extLst>
          </p:cNvPr>
          <p:cNvSpPr>
            <a:spLocks noGrp="1"/>
          </p:cNvSpPr>
          <p:nvPr>
            <p:ph idx="1"/>
          </p:nvPr>
        </p:nvSpPr>
        <p:spPr/>
        <p:txBody>
          <a:bodyPr>
            <a:normAutofit fontScale="85000" lnSpcReduction="20000"/>
          </a:bodyPr>
          <a:lstStyle/>
          <a:p>
            <a:r>
              <a:rPr lang="en-GB" noProof="0" dirty="0"/>
              <a:t>Why is protecting personal information important?</a:t>
            </a:r>
          </a:p>
          <a:p>
            <a:r>
              <a:rPr lang="en-GB" b="1" noProof="0" dirty="0">
                <a:solidFill>
                  <a:srgbClr val="C00000"/>
                </a:solidFill>
              </a:rPr>
              <a:t>Protecting personal information keeps you safe and stops people from stealing your data or finding out too much about you.</a:t>
            </a:r>
          </a:p>
          <a:p>
            <a:r>
              <a:rPr lang="en-GB" b="1" noProof="0" dirty="0"/>
              <a:t>Safety: </a:t>
            </a:r>
            <a:r>
              <a:rPr lang="en-GB" noProof="0" dirty="0"/>
              <a:t>Sharing personal details can make you a target for scams or online predators.</a:t>
            </a:r>
          </a:p>
          <a:p>
            <a:r>
              <a:rPr lang="en-GB" b="1" noProof="0" dirty="0"/>
              <a:t>Privacy: </a:t>
            </a:r>
            <a:r>
              <a:rPr lang="en-GB" noProof="0" dirty="0"/>
              <a:t>Your information could be used without your permission, such as being shared publicly or sold.</a:t>
            </a:r>
          </a:p>
          <a:p>
            <a:r>
              <a:rPr lang="en-GB" b="1" noProof="0" dirty="0"/>
              <a:t>Control: </a:t>
            </a:r>
            <a:r>
              <a:rPr lang="en-GB" noProof="0" dirty="0"/>
              <a:t>Once it’s online, it’s hard to remove and it could affect your future (e.g., job opportunities).</a:t>
            </a:r>
          </a:p>
        </p:txBody>
      </p:sp>
      <p:sp>
        <p:nvSpPr>
          <p:cNvPr id="2" name="Title 1">
            <a:extLst>
              <a:ext uri="{FF2B5EF4-FFF2-40B4-BE49-F238E27FC236}">
                <a16:creationId xmlns:a16="http://schemas.microsoft.com/office/drawing/2014/main" id="{FD2463CE-7D57-9E28-787E-243249F938C4}"/>
              </a:ext>
            </a:extLst>
          </p:cNvPr>
          <p:cNvSpPr>
            <a:spLocks noGrp="1"/>
          </p:cNvSpPr>
          <p:nvPr>
            <p:ph type="title"/>
          </p:nvPr>
        </p:nvSpPr>
        <p:spPr/>
        <p:txBody>
          <a:bodyPr/>
          <a:lstStyle/>
          <a:p>
            <a:r>
              <a:rPr lang="en-GB" noProof="0" dirty="0"/>
              <a:t>Personal privacy</a:t>
            </a:r>
          </a:p>
        </p:txBody>
      </p:sp>
    </p:spTree>
    <p:extLst>
      <p:ext uri="{BB962C8B-B14F-4D97-AF65-F5344CB8AC3E}">
        <p14:creationId xmlns:p14="http://schemas.microsoft.com/office/powerpoint/2010/main" val="1445857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6230-80AB-44F8-9B31-7861B1DBCE89}"/>
              </a:ext>
            </a:extLst>
          </p:cNvPr>
          <p:cNvSpPr>
            <a:spLocks noGrp="1"/>
          </p:cNvSpPr>
          <p:nvPr>
            <p:ph type="title"/>
          </p:nvPr>
        </p:nvSpPr>
        <p:spPr/>
        <p:txBody>
          <a:bodyPr/>
          <a:lstStyle/>
          <a:p>
            <a:r>
              <a:rPr lang="en-GB" noProof="0" dirty="0"/>
              <a:t>Personal privacy</a:t>
            </a:r>
          </a:p>
        </p:txBody>
      </p:sp>
      <p:sp>
        <p:nvSpPr>
          <p:cNvPr id="3" name="Content Placeholder 2">
            <a:extLst>
              <a:ext uri="{FF2B5EF4-FFF2-40B4-BE49-F238E27FC236}">
                <a16:creationId xmlns:a16="http://schemas.microsoft.com/office/drawing/2014/main" id="{48AA5C71-C07E-D2AC-BB4F-4F68410DA5FA}"/>
              </a:ext>
            </a:extLst>
          </p:cNvPr>
          <p:cNvSpPr>
            <a:spLocks noGrp="1"/>
          </p:cNvSpPr>
          <p:nvPr>
            <p:ph idx="1"/>
          </p:nvPr>
        </p:nvSpPr>
        <p:spPr/>
        <p:txBody>
          <a:bodyPr/>
          <a:lstStyle/>
          <a:p>
            <a:r>
              <a:rPr lang="en-GB" noProof="0" dirty="0"/>
              <a:t>Work in pairs and take a look at the social media account for @CoolKid2025.</a:t>
            </a:r>
          </a:p>
          <a:p>
            <a:r>
              <a:rPr lang="en-GB" noProof="0" dirty="0"/>
              <a:t>Read their profile and each of the three posts to find out more.</a:t>
            </a:r>
          </a:p>
          <a:p>
            <a:r>
              <a:rPr lang="en-GB" noProof="0" dirty="0"/>
              <a:t>What can you find out about them?</a:t>
            </a:r>
          </a:p>
        </p:txBody>
      </p:sp>
    </p:spTree>
    <p:extLst>
      <p:ext uri="{BB962C8B-B14F-4D97-AF65-F5344CB8AC3E}">
        <p14:creationId xmlns:p14="http://schemas.microsoft.com/office/powerpoint/2010/main" val="3241806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08F68-1500-A4A1-5E14-356DA013A1D5}"/>
              </a:ext>
            </a:extLst>
          </p:cNvPr>
          <p:cNvSpPr>
            <a:spLocks noGrp="1"/>
          </p:cNvSpPr>
          <p:nvPr>
            <p:ph type="title"/>
          </p:nvPr>
        </p:nvSpPr>
        <p:spPr/>
        <p:txBody>
          <a:bodyPr/>
          <a:lstStyle/>
          <a:p>
            <a:r>
              <a:rPr lang="en-GB" noProof="0" dirty="0"/>
              <a:t>Personal privacy </a:t>
            </a:r>
            <a:r>
              <a:rPr lang="en-GB" noProof="0" dirty="0">
                <a:solidFill>
                  <a:srgbClr val="C00000"/>
                </a:solidFill>
              </a:rPr>
              <a:t>ANSWERS</a:t>
            </a:r>
          </a:p>
        </p:txBody>
      </p:sp>
      <p:sp>
        <p:nvSpPr>
          <p:cNvPr id="3" name="Content Placeholder 2">
            <a:extLst>
              <a:ext uri="{FF2B5EF4-FFF2-40B4-BE49-F238E27FC236}">
                <a16:creationId xmlns:a16="http://schemas.microsoft.com/office/drawing/2014/main" id="{3FEFDCB0-C14F-C961-A6D6-A91DEAE8F1D2}"/>
              </a:ext>
            </a:extLst>
          </p:cNvPr>
          <p:cNvSpPr>
            <a:spLocks noGrp="1"/>
          </p:cNvSpPr>
          <p:nvPr>
            <p:ph idx="1"/>
          </p:nvPr>
        </p:nvSpPr>
        <p:spPr>
          <a:xfrm>
            <a:off x="413993" y="1313895"/>
            <a:ext cx="4935773" cy="4952736"/>
          </a:xfrm>
        </p:spPr>
        <p:txBody>
          <a:bodyPr>
            <a:noAutofit/>
          </a:bodyPr>
          <a:lstStyle/>
          <a:p>
            <a:pPr>
              <a:lnSpc>
                <a:spcPct val="70000"/>
              </a:lnSpc>
              <a:spcAft>
                <a:spcPts val="600"/>
              </a:spcAft>
            </a:pPr>
            <a:r>
              <a:rPr lang="en-GB" sz="2000" noProof="0" dirty="0"/>
              <a:t>You could have found out:</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What they look like (photos)</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name (Jamie Smith)</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 city they live in (London) </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school (St. Francis School, the logo is on their jumper in their profile image) </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 year they are in at school (year 11)</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gaming ID (jsmith29462)</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YouTube channel (jsmith_coolkid2025) </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 area they live in (around the corner from their school)</a:t>
            </a:r>
          </a:p>
          <a:p>
            <a:pPr marL="571500" indent="-571500">
              <a:lnSpc>
                <a:spcPct val="70000"/>
              </a:lnSpc>
              <a:spcAft>
                <a:spcPts val="600"/>
              </a:spcAft>
              <a:buFont typeface="Arial" panose="020B0604020202020204" pitchFamily="34" charset="0"/>
              <a:buChar char="•"/>
            </a:pPr>
            <a:endParaRPr lang="en-GB" sz="2000" b="1" noProof="0" dirty="0">
              <a:solidFill>
                <a:srgbClr val="C00000"/>
              </a:solidFill>
            </a:endParaRPr>
          </a:p>
        </p:txBody>
      </p:sp>
      <p:sp>
        <p:nvSpPr>
          <p:cNvPr id="4" name="Content Placeholder 3">
            <a:extLst>
              <a:ext uri="{FF2B5EF4-FFF2-40B4-BE49-F238E27FC236}">
                <a16:creationId xmlns:a16="http://schemas.microsoft.com/office/drawing/2014/main" id="{3748BC8F-9A0C-49DB-9419-487A1FC0565A}"/>
              </a:ext>
            </a:extLst>
          </p:cNvPr>
          <p:cNvSpPr>
            <a:spLocks noGrp="1"/>
          </p:cNvSpPr>
          <p:nvPr>
            <p:ph sz="half" idx="4294967295"/>
          </p:nvPr>
        </p:nvSpPr>
        <p:spPr>
          <a:xfrm>
            <a:off x="5433849" y="1715784"/>
            <a:ext cx="6175949" cy="4550079"/>
          </a:xfrm>
        </p:spPr>
        <p:txBody>
          <a:bodyPr>
            <a:noAutofit/>
          </a:bodyPr>
          <a:lstStyle/>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address (you can go to that area and look for the house in the photo)</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Where they are likely to hang out (the park is likely to be near their home)</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password (note in photo); they may use the same password for all the known user IDs </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date of birth (you can work out their birthday because of the comments and knowing the year they are at school)</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house is empty as they are on holiday with their family</a:t>
            </a:r>
          </a:p>
          <a:p>
            <a:pPr marL="571500" indent="-211138">
              <a:lnSpc>
                <a:spcPct val="70000"/>
              </a:lnSpc>
              <a:spcAft>
                <a:spcPts val="600"/>
              </a:spcAft>
              <a:buFont typeface="Arial" panose="020B0604020202020204" pitchFamily="34" charset="0"/>
              <a:buChar char="•"/>
            </a:pPr>
            <a:r>
              <a:rPr lang="en-GB" sz="2000" b="1" noProof="0" dirty="0">
                <a:solidFill>
                  <a:srgbClr val="C00000"/>
                </a:solidFill>
              </a:rPr>
              <a:t>Their bank account details (photo)</a:t>
            </a:r>
          </a:p>
        </p:txBody>
      </p:sp>
    </p:spTree>
    <p:extLst>
      <p:ext uri="{BB962C8B-B14F-4D97-AF65-F5344CB8AC3E}">
        <p14:creationId xmlns:p14="http://schemas.microsoft.com/office/powerpoint/2010/main" val="181585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0677A9-47F1-D224-BB9C-03D0B02F81ED}"/>
              </a:ext>
            </a:extLst>
          </p:cNvPr>
          <p:cNvSpPr>
            <a:spLocks noGrp="1"/>
          </p:cNvSpPr>
          <p:nvPr>
            <p:ph type="title"/>
          </p:nvPr>
        </p:nvSpPr>
        <p:spPr/>
        <p:txBody>
          <a:bodyPr/>
          <a:lstStyle/>
          <a:p>
            <a:r>
              <a:rPr lang="en-GB" noProof="0" dirty="0"/>
              <a:t>Personal privacy</a:t>
            </a:r>
          </a:p>
        </p:txBody>
      </p:sp>
      <p:sp>
        <p:nvSpPr>
          <p:cNvPr id="5" name="Content Placeholder 4">
            <a:extLst>
              <a:ext uri="{FF2B5EF4-FFF2-40B4-BE49-F238E27FC236}">
                <a16:creationId xmlns:a16="http://schemas.microsoft.com/office/drawing/2014/main" id="{5A40736E-9A86-D804-8CA4-5C001CB413FF}"/>
              </a:ext>
            </a:extLst>
          </p:cNvPr>
          <p:cNvSpPr>
            <a:spLocks noGrp="1"/>
          </p:cNvSpPr>
          <p:nvPr>
            <p:ph idx="1"/>
          </p:nvPr>
        </p:nvSpPr>
        <p:spPr/>
        <p:txBody>
          <a:bodyPr/>
          <a:lstStyle/>
          <a:p>
            <a:r>
              <a:rPr lang="en-GB" noProof="0" dirty="0"/>
              <a:t>Privacy settings are tools on social media platforms that help you control:</a:t>
            </a:r>
          </a:p>
          <a:p>
            <a:pPr marL="893763" indent="-441325">
              <a:buFont typeface="Arial" panose="020B0604020202020204" pitchFamily="34" charset="0"/>
              <a:buChar char="•"/>
            </a:pPr>
            <a:r>
              <a:rPr lang="en-GB" noProof="0" dirty="0"/>
              <a:t>Who can see your posts and photos.</a:t>
            </a:r>
          </a:p>
          <a:p>
            <a:pPr marL="893763" indent="-441325">
              <a:buFont typeface="Arial" panose="020B0604020202020204" pitchFamily="34" charset="0"/>
              <a:buChar char="•"/>
            </a:pPr>
            <a:r>
              <a:rPr lang="en-GB" noProof="0" dirty="0"/>
              <a:t>Who can send you messages or friend requests.</a:t>
            </a:r>
          </a:p>
          <a:p>
            <a:pPr marL="893763" indent="-441325">
              <a:buFont typeface="Arial" panose="020B0604020202020204" pitchFamily="34" charset="0"/>
              <a:buChar char="•"/>
            </a:pPr>
            <a:r>
              <a:rPr lang="en-GB" noProof="0" dirty="0"/>
              <a:t>What information about you is visible to others.</a:t>
            </a:r>
          </a:p>
        </p:txBody>
      </p:sp>
    </p:spTree>
    <p:extLst>
      <p:ext uri="{BB962C8B-B14F-4D97-AF65-F5344CB8AC3E}">
        <p14:creationId xmlns:p14="http://schemas.microsoft.com/office/powerpoint/2010/main" val="215809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BD0F-96AC-CB20-BCE0-90DA693EF2EB}"/>
              </a:ext>
            </a:extLst>
          </p:cNvPr>
          <p:cNvSpPr>
            <a:spLocks noGrp="1"/>
          </p:cNvSpPr>
          <p:nvPr>
            <p:ph type="title"/>
          </p:nvPr>
        </p:nvSpPr>
        <p:spPr/>
        <p:txBody>
          <a:bodyPr/>
          <a:lstStyle/>
          <a:p>
            <a:r>
              <a:rPr lang="en-GB" noProof="0" dirty="0"/>
              <a:t>Personal privacy</a:t>
            </a:r>
          </a:p>
        </p:txBody>
      </p:sp>
      <p:sp>
        <p:nvSpPr>
          <p:cNvPr id="3" name="Content Placeholder 2">
            <a:extLst>
              <a:ext uri="{FF2B5EF4-FFF2-40B4-BE49-F238E27FC236}">
                <a16:creationId xmlns:a16="http://schemas.microsoft.com/office/drawing/2014/main" id="{1619B55B-14D1-F37B-7950-080A3D1B8FF3}"/>
              </a:ext>
            </a:extLst>
          </p:cNvPr>
          <p:cNvSpPr>
            <a:spLocks noGrp="1"/>
          </p:cNvSpPr>
          <p:nvPr>
            <p:ph idx="1"/>
          </p:nvPr>
        </p:nvSpPr>
        <p:spPr>
          <a:xfrm>
            <a:off x="4500081" y="1313895"/>
            <a:ext cx="7358838" cy="4952736"/>
          </a:xfrm>
        </p:spPr>
        <p:txBody>
          <a:bodyPr/>
          <a:lstStyle/>
          <a:p>
            <a:r>
              <a:rPr lang="en-GB" noProof="0" dirty="0"/>
              <a:t>You can alter how social media platforms display your data and the privacy settings also allow you to change how others can interact with you.</a:t>
            </a:r>
          </a:p>
          <a:p>
            <a:r>
              <a:rPr lang="en-GB" noProof="0" dirty="0"/>
              <a:t>Let’s look at some of the things you can change.</a:t>
            </a:r>
          </a:p>
        </p:txBody>
      </p:sp>
      <p:pic>
        <p:nvPicPr>
          <p:cNvPr id="5" name="Picture 4" descr="A person holding a tablet with a lock on the screen.">
            <a:extLst>
              <a:ext uri="{FF2B5EF4-FFF2-40B4-BE49-F238E27FC236}">
                <a16:creationId xmlns:a16="http://schemas.microsoft.com/office/drawing/2014/main" id="{1B12A832-843A-B8A4-5708-C004F53E16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92" y="1582219"/>
            <a:ext cx="3653490" cy="4566863"/>
          </a:xfrm>
          <a:prstGeom prst="rect">
            <a:avLst/>
          </a:prstGeom>
        </p:spPr>
      </p:pic>
    </p:spTree>
    <p:extLst>
      <p:ext uri="{BB962C8B-B14F-4D97-AF65-F5344CB8AC3E}">
        <p14:creationId xmlns:p14="http://schemas.microsoft.com/office/powerpoint/2010/main" val="2924929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3376-5CF4-81A4-1879-72EC40825EE3}"/>
              </a:ext>
            </a:extLst>
          </p:cNvPr>
          <p:cNvSpPr>
            <a:spLocks noGrp="1"/>
          </p:cNvSpPr>
          <p:nvPr>
            <p:ph type="title"/>
          </p:nvPr>
        </p:nvSpPr>
        <p:spPr/>
        <p:txBody>
          <a:bodyPr/>
          <a:lstStyle/>
          <a:p>
            <a:r>
              <a:rPr lang="en-GB" noProof="0" dirty="0"/>
              <a:t>Personal privacy</a:t>
            </a:r>
          </a:p>
        </p:txBody>
      </p:sp>
      <p:sp>
        <p:nvSpPr>
          <p:cNvPr id="3" name="Content Placeholder 2">
            <a:extLst>
              <a:ext uri="{FF2B5EF4-FFF2-40B4-BE49-F238E27FC236}">
                <a16:creationId xmlns:a16="http://schemas.microsoft.com/office/drawing/2014/main" id="{670C9780-9EA1-09B1-BF7A-E02CB1BEE000}"/>
              </a:ext>
            </a:extLst>
          </p:cNvPr>
          <p:cNvSpPr>
            <a:spLocks noGrp="1"/>
          </p:cNvSpPr>
          <p:nvPr>
            <p:ph idx="1"/>
          </p:nvPr>
        </p:nvSpPr>
        <p:spPr/>
        <p:txBody>
          <a:bodyPr/>
          <a:lstStyle/>
          <a:p>
            <a:r>
              <a:rPr lang="en-GB" b="1" noProof="0" dirty="0"/>
              <a:t>Limit who can see your posts:</a:t>
            </a:r>
          </a:p>
          <a:p>
            <a:pPr marL="360363"/>
            <a:r>
              <a:rPr lang="en-GB" noProof="0" dirty="0"/>
              <a:t>Set your profile to private so only approved friends can view your content.</a:t>
            </a:r>
          </a:p>
          <a:p>
            <a:r>
              <a:rPr lang="en-GB" b="1" noProof="0" dirty="0"/>
              <a:t>Control tagging:</a:t>
            </a:r>
          </a:p>
          <a:p>
            <a:pPr marL="360363"/>
            <a:r>
              <a:rPr lang="en-GB" noProof="0" dirty="0"/>
              <a:t>Approve tags before they appear on your profile.</a:t>
            </a:r>
          </a:p>
        </p:txBody>
      </p:sp>
    </p:spTree>
    <p:extLst>
      <p:ext uri="{BB962C8B-B14F-4D97-AF65-F5344CB8AC3E}">
        <p14:creationId xmlns:p14="http://schemas.microsoft.com/office/powerpoint/2010/main" val="73064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3DEC-9EE8-3557-6A96-7179FCC45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188D5-8B66-2306-3A2A-FCA88E948CF9}"/>
              </a:ext>
            </a:extLst>
          </p:cNvPr>
          <p:cNvSpPr>
            <a:spLocks noGrp="1"/>
          </p:cNvSpPr>
          <p:nvPr>
            <p:ph type="title"/>
          </p:nvPr>
        </p:nvSpPr>
        <p:spPr/>
        <p:txBody>
          <a:bodyPr/>
          <a:lstStyle/>
          <a:p>
            <a:r>
              <a:rPr lang="en-GB" noProof="0" dirty="0"/>
              <a:t>Personal privacy</a:t>
            </a:r>
          </a:p>
        </p:txBody>
      </p:sp>
      <p:sp>
        <p:nvSpPr>
          <p:cNvPr id="3" name="Content Placeholder 2">
            <a:extLst>
              <a:ext uri="{FF2B5EF4-FFF2-40B4-BE49-F238E27FC236}">
                <a16:creationId xmlns:a16="http://schemas.microsoft.com/office/drawing/2014/main" id="{C80CC49F-85AA-3FF5-9027-89D7A1944DE8}"/>
              </a:ext>
            </a:extLst>
          </p:cNvPr>
          <p:cNvSpPr>
            <a:spLocks noGrp="1"/>
          </p:cNvSpPr>
          <p:nvPr>
            <p:ph idx="1"/>
          </p:nvPr>
        </p:nvSpPr>
        <p:spPr/>
        <p:txBody>
          <a:bodyPr/>
          <a:lstStyle/>
          <a:p>
            <a:r>
              <a:rPr lang="en-GB" b="1" noProof="0" dirty="0"/>
              <a:t>Review your profile information:</a:t>
            </a:r>
          </a:p>
          <a:p>
            <a:pPr marL="360363"/>
            <a:r>
              <a:rPr lang="en-GB" noProof="0" dirty="0"/>
              <a:t>Hide sensitive details like your birthday, school or location.</a:t>
            </a:r>
          </a:p>
          <a:p>
            <a:r>
              <a:rPr lang="en-GB" b="1" noProof="0" dirty="0"/>
              <a:t>Block and report:</a:t>
            </a:r>
          </a:p>
          <a:p>
            <a:pPr marL="360363"/>
            <a:r>
              <a:rPr lang="en-GB" noProof="0" dirty="0"/>
              <a:t>Use block and report features to stop unwanted interactions.</a:t>
            </a:r>
          </a:p>
        </p:txBody>
      </p:sp>
    </p:spTree>
    <p:extLst>
      <p:ext uri="{BB962C8B-B14F-4D97-AF65-F5344CB8AC3E}">
        <p14:creationId xmlns:p14="http://schemas.microsoft.com/office/powerpoint/2010/main" val="115084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B1D2-73DE-29AF-78E0-D6E8EA39E6A2}"/>
              </a:ext>
            </a:extLst>
          </p:cNvPr>
          <p:cNvSpPr>
            <a:spLocks noGrp="1"/>
          </p:cNvSpPr>
          <p:nvPr>
            <p:ph type="title"/>
          </p:nvPr>
        </p:nvSpPr>
        <p:spPr/>
        <p:txBody>
          <a:bodyPr/>
          <a:lstStyle/>
          <a:p>
            <a:r>
              <a:rPr lang="en-GB" noProof="0" dirty="0"/>
              <a:t>Personal privacy</a:t>
            </a:r>
          </a:p>
        </p:txBody>
      </p:sp>
      <p:sp>
        <p:nvSpPr>
          <p:cNvPr id="3" name="Content Placeholder 2">
            <a:extLst>
              <a:ext uri="{FF2B5EF4-FFF2-40B4-BE49-F238E27FC236}">
                <a16:creationId xmlns:a16="http://schemas.microsoft.com/office/drawing/2014/main" id="{31405857-2223-92E1-4980-B1CC1ADCF0CF}"/>
              </a:ext>
            </a:extLst>
          </p:cNvPr>
          <p:cNvSpPr>
            <a:spLocks noGrp="1"/>
          </p:cNvSpPr>
          <p:nvPr>
            <p:ph idx="1"/>
          </p:nvPr>
        </p:nvSpPr>
        <p:spPr/>
        <p:txBody>
          <a:bodyPr/>
          <a:lstStyle/>
          <a:p>
            <a:r>
              <a:rPr lang="en-GB" noProof="0" dirty="0"/>
              <a:t>You need to regularly check and update your privacy settings to stay in control of your online presence.</a:t>
            </a:r>
          </a:p>
          <a:p>
            <a:r>
              <a:rPr lang="en-GB" noProof="0" dirty="0"/>
              <a:t>This needs to be done on every social media platform or chat forum you use.</a:t>
            </a:r>
          </a:p>
        </p:txBody>
      </p:sp>
    </p:spTree>
    <p:extLst>
      <p:ext uri="{BB962C8B-B14F-4D97-AF65-F5344CB8AC3E}">
        <p14:creationId xmlns:p14="http://schemas.microsoft.com/office/powerpoint/2010/main" val="259144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63EBB-3CC6-AC24-7C86-541E33B80716}"/>
              </a:ext>
            </a:extLst>
          </p:cNvPr>
          <p:cNvSpPr>
            <a:spLocks noGrp="1"/>
          </p:cNvSpPr>
          <p:nvPr>
            <p:ph idx="1"/>
          </p:nvPr>
        </p:nvSpPr>
        <p:spPr/>
        <p:txBody>
          <a:bodyPr/>
          <a:lstStyle/>
          <a:p>
            <a:r>
              <a:rPr lang="en-GB" noProof="0" dirty="0"/>
              <a:t>What could happen if someone shares too much personal information online?</a:t>
            </a:r>
          </a:p>
          <a:p>
            <a:r>
              <a:rPr lang="en-GB" b="1" noProof="0" dirty="0">
                <a:solidFill>
                  <a:srgbClr val="C00000"/>
                </a:solidFill>
              </a:rPr>
              <a:t>If someone shares too much personal information online, strangers could find out where they live or go to school, and they might get scammed or hacked. It could also make it easier for someone to pretend to be them and commit criminal acts.</a:t>
            </a:r>
          </a:p>
          <a:p>
            <a:endParaRPr lang="en-GB" noProof="0" dirty="0"/>
          </a:p>
        </p:txBody>
      </p:sp>
      <p:sp>
        <p:nvSpPr>
          <p:cNvPr id="2" name="Title 1">
            <a:extLst>
              <a:ext uri="{FF2B5EF4-FFF2-40B4-BE49-F238E27FC236}">
                <a16:creationId xmlns:a16="http://schemas.microsoft.com/office/drawing/2014/main" id="{BB6F7240-461B-4F58-3516-5D1320700D04}"/>
              </a:ext>
            </a:extLst>
          </p:cNvPr>
          <p:cNvSpPr>
            <a:spLocks noGrp="1"/>
          </p:cNvSpPr>
          <p:nvPr>
            <p:ph type="title"/>
          </p:nvPr>
        </p:nvSpPr>
        <p:spPr/>
        <p:txBody>
          <a:bodyPr/>
          <a:lstStyle/>
          <a:p>
            <a:r>
              <a:rPr lang="en-GB" noProof="0" dirty="0"/>
              <a:t>Personal privacy</a:t>
            </a:r>
          </a:p>
        </p:txBody>
      </p:sp>
    </p:spTree>
    <p:extLst>
      <p:ext uri="{BB962C8B-B14F-4D97-AF65-F5344CB8AC3E}">
        <p14:creationId xmlns:p14="http://schemas.microsoft.com/office/powerpoint/2010/main" val="424792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27A30-74F1-B68F-DB4C-1E52B13E6B0A}"/>
              </a:ext>
            </a:extLst>
          </p:cNvPr>
          <p:cNvSpPr>
            <a:spLocks noGrp="1"/>
          </p:cNvSpPr>
          <p:nvPr>
            <p:ph type="body" sz="quarter" idx="10"/>
          </p:nvPr>
        </p:nvSpPr>
        <p:spPr/>
        <p:txBody>
          <a:bodyPr>
            <a:normAutofit/>
          </a:bodyPr>
          <a:lstStyle/>
          <a:p>
            <a:r>
              <a:rPr lang="en-GB" sz="2800" noProof="0" dirty="0">
                <a:solidFill>
                  <a:srgbClr val="C00000"/>
                </a:solidFill>
                <a:hlinkClick r:id="rId2">
                  <a:extLst>
                    <a:ext uri="{A12FA001-AC4F-418D-AE19-62706E023703}">
                      <ahyp:hlinkClr xmlns:ahyp="http://schemas.microsoft.com/office/drawing/2018/hyperlinkcolor" val="tx"/>
                    </a:ext>
                  </a:extLst>
                </a:hlinkClick>
              </a:rPr>
              <a:t>https://www.nicholawilkin.com/terms</a:t>
            </a:r>
            <a:r>
              <a:rPr lang="en-GB" sz="2800" noProof="0" dirty="0">
                <a:solidFill>
                  <a:srgbClr val="C00000"/>
                </a:solidFill>
              </a:rPr>
              <a:t> </a:t>
            </a:r>
          </a:p>
        </p:txBody>
      </p:sp>
      <p:sp>
        <p:nvSpPr>
          <p:cNvPr id="8" name="Title 7">
            <a:extLst>
              <a:ext uri="{FF2B5EF4-FFF2-40B4-BE49-F238E27FC236}">
                <a16:creationId xmlns:a16="http://schemas.microsoft.com/office/drawing/2014/main" id="{AD801862-38A1-2E92-3A46-84D475AF4FD0}"/>
              </a:ext>
            </a:extLst>
          </p:cNvPr>
          <p:cNvSpPr>
            <a:spLocks noGrp="1"/>
          </p:cNvSpPr>
          <p:nvPr>
            <p:ph type="title"/>
          </p:nvPr>
        </p:nvSpPr>
        <p:spPr/>
        <p:txBody>
          <a:bodyPr/>
          <a:lstStyle/>
          <a:p>
            <a:r>
              <a:rPr lang="en-GB" noProof="0" dirty="0"/>
              <a:t>© 2025 Nichola Wilkin Ltd</a:t>
            </a:r>
          </a:p>
        </p:txBody>
      </p:sp>
    </p:spTree>
    <p:extLst>
      <p:ext uri="{BB962C8B-B14F-4D97-AF65-F5344CB8AC3E}">
        <p14:creationId xmlns:p14="http://schemas.microsoft.com/office/powerpoint/2010/main" val="54962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9546B4CD-A1D5-4DFE-B56F-C863773A2EAD}" vid="{EAACDE77-F2E5-4310-8C19-1E4AFB9A939F}"/>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UMP Lesson NEW" id="{C9A9ACB9-C378-4D9D-AE4B-3DEEAE075EDF}" vid="{1364BCE9-C759-47AF-B5CB-81ADE8DD550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NEW Example Lesson 2</Template>
  <TotalTime>931</TotalTime>
  <Words>1755</Words>
  <Application>Microsoft Office PowerPoint</Application>
  <PresentationFormat>Widescreen</PresentationFormat>
  <Paragraphs>194</Paragraphs>
  <Slides>33</Slides>
  <Notes>0</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OpenDyslexicAlta</vt:lpstr>
      <vt:lpstr>Arial</vt:lpstr>
      <vt:lpstr>Aptos</vt:lpstr>
      <vt:lpstr>Office Theme</vt:lpstr>
      <vt:lpstr>1_Office Theme</vt:lpstr>
      <vt:lpstr>Important note for teachers</vt:lpstr>
      <vt:lpstr>Becoming a digital citizen</vt:lpstr>
      <vt:lpstr>Objective</vt:lpstr>
      <vt:lpstr>Keywords</vt:lpstr>
      <vt:lpstr>What do you already know?</vt:lpstr>
      <vt:lpstr>Steps to success</vt:lpstr>
      <vt:lpstr>Digital footprint</vt:lpstr>
      <vt:lpstr>Digital footprint</vt:lpstr>
      <vt:lpstr>Digital footprint</vt:lpstr>
      <vt:lpstr>Digital footprint</vt:lpstr>
      <vt:lpstr>Digital footprint</vt:lpstr>
      <vt:lpstr>Digital footprint</vt:lpstr>
      <vt:lpstr>Digital footprint</vt:lpstr>
      <vt:lpstr>Digital footprint</vt:lpstr>
      <vt:lpstr>Digital footprint</vt:lpstr>
      <vt:lpstr>Digital footprint</vt:lpstr>
      <vt:lpstr>Digital footprint</vt:lpstr>
      <vt:lpstr>Digital footprints</vt:lpstr>
      <vt:lpstr>Digital footprint</vt:lpstr>
      <vt:lpstr>1: Digital footprint</vt:lpstr>
      <vt:lpstr>1: Digital footprint ANSWERS</vt:lpstr>
      <vt:lpstr>Steps to success</vt:lpstr>
      <vt:lpstr>Personal privacy</vt:lpstr>
      <vt:lpstr>Personal privacy</vt:lpstr>
      <vt:lpstr>Personal privacy</vt:lpstr>
      <vt:lpstr>Personal privacy ANSWERS</vt:lpstr>
      <vt:lpstr>Personal privacy</vt:lpstr>
      <vt:lpstr>Personal privacy</vt:lpstr>
      <vt:lpstr>Personal privacy</vt:lpstr>
      <vt:lpstr>Personal privacy</vt:lpstr>
      <vt:lpstr>Personal privacy</vt:lpstr>
      <vt:lpstr>Personal privacy</vt:lpstr>
      <vt:lpstr>© 2025 Nichola Wilkin Ltd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Nicky Lacey</dc:creator>
  <dc:description>© 2025 Nichola Wilkin Ltd</dc:description>
  <cp:lastModifiedBy>Jim Finn (Adamstown CC)</cp:lastModifiedBy>
  <cp:revision>17</cp:revision>
  <cp:lastPrinted>2025-06-17T14:03:41Z</cp:lastPrinted>
  <dcterms:created xsi:type="dcterms:W3CDTF">2025-04-26T05:34:22Z</dcterms:created>
  <dcterms:modified xsi:type="dcterms:W3CDTF">2026-09-01T06:36:06Z</dcterms:modified>
  <cp:category>© 2025 Nichola Wilkin Ltd</cp:category>
</cp:coreProperties>
</file>