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handoutMasterIdLst>
    <p:handoutMasterId r:id="rId56"/>
  </p:handoutMasterIdLst>
  <p:sldIdLst>
    <p:sldId id="256" r:id="rId2"/>
    <p:sldId id="258" r:id="rId3"/>
    <p:sldId id="259" r:id="rId4"/>
    <p:sldId id="274" r:id="rId5"/>
    <p:sldId id="261" r:id="rId6"/>
    <p:sldId id="262" r:id="rId7"/>
    <p:sldId id="275" r:id="rId8"/>
    <p:sldId id="276" r:id="rId9"/>
    <p:sldId id="277" r:id="rId10"/>
    <p:sldId id="278" r:id="rId11"/>
    <p:sldId id="279" r:id="rId12"/>
    <p:sldId id="268" r:id="rId13"/>
    <p:sldId id="280" r:id="rId14"/>
    <p:sldId id="281" r:id="rId15"/>
    <p:sldId id="282" r:id="rId16"/>
    <p:sldId id="283" r:id="rId17"/>
    <p:sldId id="284" r:id="rId18"/>
    <p:sldId id="286" r:id="rId19"/>
    <p:sldId id="287" r:id="rId20"/>
    <p:sldId id="288" r:id="rId21"/>
    <p:sldId id="289" r:id="rId22"/>
    <p:sldId id="290" r:id="rId23"/>
    <p:sldId id="318" r:id="rId24"/>
    <p:sldId id="291" r:id="rId25"/>
    <p:sldId id="292" r:id="rId26"/>
    <p:sldId id="293" r:id="rId27"/>
    <p:sldId id="294" r:id="rId28"/>
    <p:sldId id="295" r:id="rId29"/>
    <p:sldId id="296" r:id="rId30"/>
    <p:sldId id="297" r:id="rId31"/>
    <p:sldId id="298" r:id="rId32"/>
    <p:sldId id="320" r:id="rId33"/>
    <p:sldId id="299" r:id="rId34"/>
    <p:sldId id="300" r:id="rId35"/>
    <p:sldId id="319" r:id="rId36"/>
    <p:sldId id="302" r:id="rId37"/>
    <p:sldId id="303" r:id="rId38"/>
    <p:sldId id="304" r:id="rId39"/>
    <p:sldId id="301" r:id="rId40"/>
    <p:sldId id="305" r:id="rId41"/>
    <p:sldId id="310" r:id="rId42"/>
    <p:sldId id="306" r:id="rId43"/>
    <p:sldId id="307" r:id="rId44"/>
    <p:sldId id="308" r:id="rId45"/>
    <p:sldId id="309" r:id="rId46"/>
    <p:sldId id="311" r:id="rId47"/>
    <p:sldId id="317" r:id="rId48"/>
    <p:sldId id="315" r:id="rId49"/>
    <p:sldId id="316" r:id="rId50"/>
    <p:sldId id="312" r:id="rId51"/>
    <p:sldId id="313" r:id="rId52"/>
    <p:sldId id="314" r:id="rId53"/>
    <p:sldId id="267" r:id="rId54"/>
    <p:sldId id="272" r:id="rId55"/>
  </p:sldIdLst>
  <p:sldSz cx="12192000" cy="6858000"/>
  <p:notesSz cx="6858000" cy="9144000"/>
  <p:embeddedFontLst>
    <p:embeddedFont>
      <p:font typeface="OpenDyslexicAlta" panose="00000500000000000000" pitchFamily="50" charset="0"/>
      <p:regular r:id="rId57"/>
      <p:bold r:id="rId58"/>
      <p:italic r:id="rId59"/>
      <p:boldItalic r:id="rId6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FFFFE1"/>
    <a:srgbClr val="FBE3D6"/>
    <a:srgbClr val="002570"/>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93" d="100"/>
          <a:sy n="93" d="100"/>
        </p:scale>
        <p:origin x="1188" y="306"/>
      </p:cViewPr>
      <p:guideLst>
        <p:guide orient="horz" pos="2160"/>
        <p:guide pos="3840"/>
      </p:guideLst>
    </p:cSldViewPr>
  </p:slideViewPr>
  <p:notesTextViewPr>
    <p:cViewPr>
      <p:scale>
        <a:sx n="3" d="2"/>
        <a:sy n="3" d="2"/>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font" Target="fonts/font2.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handoutMaster" Target="handoutMasters/handoutMaster1.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F35232B-3405-650A-0E6D-919F2AF1E0D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63A1DF0-6A0F-7410-1697-3F364849232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8791796-119E-4260-B149-940ECFE008A4}" type="datetimeFigureOut">
              <a:rPr lang="en-GB" smtClean="0"/>
              <a:t>18/06/2025</a:t>
            </a:fld>
            <a:endParaRPr lang="en-GB"/>
          </a:p>
        </p:txBody>
      </p:sp>
      <p:sp>
        <p:nvSpPr>
          <p:cNvPr id="4" name="Footer Placeholder 3">
            <a:extLst>
              <a:ext uri="{FF2B5EF4-FFF2-40B4-BE49-F238E27FC236}">
                <a16:creationId xmlns:a16="http://schemas.microsoft.com/office/drawing/2014/main" id="{D35B57EA-C3C3-2477-F872-4F48437CE8D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20E89B7-4332-40EF-8A72-D4F2B18E9A2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D8B0B0-A64E-4C20-A968-F17ABCD71ED1}" type="slidenum">
              <a:rPr lang="en-GB" smtClean="0"/>
              <a:t>‹#›</a:t>
            </a:fld>
            <a:endParaRPr lang="en-GB"/>
          </a:p>
        </p:txBody>
      </p:sp>
    </p:spTree>
    <p:extLst>
      <p:ext uri="{BB962C8B-B14F-4D97-AF65-F5344CB8AC3E}">
        <p14:creationId xmlns:p14="http://schemas.microsoft.com/office/powerpoint/2010/main" val="166875908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9B45729A-2A02-69F1-5F8E-3A7464A80F62}"/>
              </a:ext>
            </a:extLst>
          </p:cNvPr>
          <p:cNvSpPr/>
          <p:nvPr userDrawn="1"/>
        </p:nvSpPr>
        <p:spPr>
          <a:xfrm>
            <a:off x="1217704" y="782425"/>
            <a:ext cx="9766169" cy="3016577"/>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A2484D-F227-7D83-9D1F-199680CA61A4}"/>
              </a:ext>
            </a:extLst>
          </p:cNvPr>
          <p:cNvSpPr>
            <a:spLocks noGrp="1"/>
          </p:cNvSpPr>
          <p:nvPr>
            <p:ph type="ctrTitle"/>
          </p:nvPr>
        </p:nvSpPr>
        <p:spPr>
          <a:xfrm>
            <a:off x="1893127" y="782425"/>
            <a:ext cx="8415323" cy="3016577"/>
          </a:xfrm>
        </p:spPr>
        <p:txBody>
          <a:bodyPr anchor="ctr"/>
          <a:lstStyle>
            <a:lvl1pPr algn="l">
              <a:defRPr sz="6000"/>
            </a:lvl1pPr>
          </a:lstStyle>
          <a:p>
            <a:r>
              <a:rPr lang="en-GB"/>
              <a:t>Click to edit Master title style</a:t>
            </a:r>
            <a:endParaRPr lang="en-GB" dirty="0"/>
          </a:p>
        </p:txBody>
      </p:sp>
      <p:sp>
        <p:nvSpPr>
          <p:cNvPr id="3" name="Subtitle 2">
            <a:extLst>
              <a:ext uri="{FF2B5EF4-FFF2-40B4-BE49-F238E27FC236}">
                <a16:creationId xmlns:a16="http://schemas.microsoft.com/office/drawing/2014/main" id="{C8C6A4D3-0153-0D86-80ED-42D75EA9F829}"/>
              </a:ext>
            </a:extLst>
          </p:cNvPr>
          <p:cNvSpPr>
            <a:spLocks noGrp="1"/>
          </p:cNvSpPr>
          <p:nvPr>
            <p:ph type="subTitle" idx="1"/>
          </p:nvPr>
        </p:nvSpPr>
        <p:spPr>
          <a:xfrm>
            <a:off x="1893127" y="4717062"/>
            <a:ext cx="8415322" cy="638666"/>
          </a:xfrm>
        </p:spPr>
        <p:txBody>
          <a:bodyPr anchor="ct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pic>
        <p:nvPicPr>
          <p:cNvPr id="4" name="Picture 3" descr="A computer with a crown&#10;&#10;AI-generated content may be incorrect.">
            <a:extLst>
              <a:ext uri="{FF2B5EF4-FFF2-40B4-BE49-F238E27FC236}">
                <a16:creationId xmlns:a16="http://schemas.microsoft.com/office/drawing/2014/main" id="{AD72A7E5-0F24-ECDA-6589-FC00C347B9E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13638" y="5493213"/>
            <a:ext cx="1164724" cy="1164724"/>
          </a:xfrm>
          <a:prstGeom prst="rect">
            <a:avLst/>
          </a:prstGeom>
        </p:spPr>
      </p:pic>
    </p:spTree>
    <p:extLst>
      <p:ext uri="{BB962C8B-B14F-4D97-AF65-F5344CB8AC3E}">
        <p14:creationId xmlns:p14="http://schemas.microsoft.com/office/powerpoint/2010/main" val="1209274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98543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413993" y="198671"/>
            <a:ext cx="11444926"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3" name="Picture 2" descr="A white rectangular object with black dots&#10;&#10;Description automatically generated with medium confidence">
            <a:extLst>
              <a:ext uri="{FF2B5EF4-FFF2-40B4-BE49-F238E27FC236}">
                <a16:creationId xmlns:a16="http://schemas.microsoft.com/office/drawing/2014/main" id="{31F8124E-EB43-9B25-D02C-9751D13000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81240" y="518310"/>
            <a:ext cx="5229519" cy="549705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50681" y="2503502"/>
            <a:ext cx="3890638" cy="2947387"/>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vl3pPr marL="914400" indent="0">
              <a:buNone/>
              <a:defRPr/>
            </a:lvl3pPr>
          </a:lstStyle>
          <a:p>
            <a:pPr lvl="0"/>
            <a:r>
              <a:rPr lang="en-GB"/>
              <a:t>Click to edit Master text styles</a:t>
            </a:r>
          </a:p>
        </p:txBody>
      </p:sp>
    </p:spTree>
    <p:extLst>
      <p:ext uri="{BB962C8B-B14F-4D97-AF65-F5344CB8AC3E}">
        <p14:creationId xmlns:p14="http://schemas.microsoft.com/office/powerpoint/2010/main" val="3742827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actical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B6C0A17E-84FF-A9F1-C94E-DFFA41EEED9B}"/>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pic>
        <p:nvPicPr>
          <p:cNvPr id="7" name="Picture 6" descr="A computer with a keyboard&#10;&#10;Description automatically generated">
            <a:extLst>
              <a:ext uri="{FF2B5EF4-FFF2-40B4-BE49-F238E27FC236}">
                <a16:creationId xmlns:a16="http://schemas.microsoft.com/office/drawing/2014/main" id="{D90EB9EB-35CA-B193-CB6D-E1224A36382C}"/>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flipH="1">
            <a:off x="523390" y="34649"/>
            <a:ext cx="874081" cy="874081"/>
          </a:xfrm>
          <a:prstGeom prst="rect">
            <a:avLst/>
          </a:prstGeom>
        </p:spPr>
      </p:pic>
    </p:spTree>
    <p:extLst>
      <p:ext uri="{BB962C8B-B14F-4D97-AF65-F5344CB8AC3E}">
        <p14:creationId xmlns:p14="http://schemas.microsoft.com/office/powerpoint/2010/main" val="707226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aper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pic>
        <p:nvPicPr>
          <p:cNvPr id="4" name="Picture 3" descr="A black pen with a cap&#10;&#10;Description automatically generated">
            <a:extLst>
              <a:ext uri="{FF2B5EF4-FFF2-40B4-BE49-F238E27FC236}">
                <a16:creationId xmlns:a16="http://schemas.microsoft.com/office/drawing/2014/main" id="{23553E00-1685-A73C-C4C2-17F580B6012E}"/>
              </a:ext>
            </a:extLst>
          </p:cNvPr>
          <p:cNvPicPr>
            <a:picLocks noChangeAspect="1"/>
          </p:cNvPicPr>
          <p:nvPr userDrawn="1"/>
        </p:nvPicPr>
        <p:blipFill>
          <a:blip r:embed="rId3">
            <a:clrChange>
              <a:clrFrom>
                <a:srgbClr val="FFFFFF"/>
              </a:clrFrom>
              <a:clrTo>
                <a:srgbClr val="FFFFFF">
                  <a:alpha val="0"/>
                </a:srgbClr>
              </a:clrTo>
            </a:clrChange>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07507" y="56188"/>
            <a:ext cx="831001" cy="831001"/>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12336767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scussion Tas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EA5713A-126C-F98F-BE50-718B5BBA6CB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6" name="Picture 15" descr="A black line with a pointy face&#10;&#10;Description automatically generated with medium confidence">
            <a:extLst>
              <a:ext uri="{FF2B5EF4-FFF2-40B4-BE49-F238E27FC236}">
                <a16:creationId xmlns:a16="http://schemas.microsoft.com/office/drawing/2014/main" id="{080783A8-50E8-B90D-6B33-6C93A5F0EBEC}"/>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7" name="Text Placeholder 2">
            <a:extLst>
              <a:ext uri="{FF2B5EF4-FFF2-40B4-BE49-F238E27FC236}">
                <a16:creationId xmlns:a16="http://schemas.microsoft.com/office/drawing/2014/main" id="{83179003-490C-809D-D793-312B68D7424C}"/>
              </a:ext>
            </a:extLst>
          </p:cNvPr>
          <p:cNvSpPr>
            <a:spLocks noGrp="1"/>
          </p:cNvSpPr>
          <p:nvPr>
            <p:ph idx="1"/>
          </p:nvPr>
        </p:nvSpPr>
        <p:spPr>
          <a:xfrm>
            <a:off x="413992" y="1313895"/>
            <a:ext cx="11444927" cy="4952736"/>
          </a:xfrm>
          <a:prstGeom prst="rect">
            <a:avLst/>
          </a:prstGeom>
        </p:spPr>
        <p:txBody>
          <a:bodyPr vert="horz" lIns="91440" tIns="45720" rIns="91440" bIns="45720" rtlCol="0">
            <a:normAutofit/>
          </a:bodyPr>
          <a:lstStyle>
            <a:lvl1pPr marL="0" indent="0">
              <a:buNone/>
              <a:defRPr/>
            </a:lvl1pPr>
            <a:lvl2pPr>
              <a:buClr>
                <a:srgbClr val="C00000"/>
              </a:buClr>
              <a:buSzPct val="115000"/>
              <a:defRPr/>
            </a:lvl2pPr>
          </a:lstStyle>
          <a:p>
            <a:pPr lvl="0"/>
            <a:r>
              <a:rPr lang="en-GB"/>
              <a:t>Click to edit Master text styles</a:t>
            </a:r>
          </a:p>
          <a:p>
            <a:pPr lvl="1"/>
            <a:r>
              <a:rPr lang="en-GB"/>
              <a:t>Second level</a:t>
            </a:r>
          </a:p>
          <a:p>
            <a:pPr lvl="2"/>
            <a:r>
              <a:rPr lang="en-GB"/>
              <a:t>Third level</a:t>
            </a:r>
          </a:p>
        </p:txBody>
      </p:sp>
      <p:sp>
        <p:nvSpPr>
          <p:cNvPr id="3" name="Title 1">
            <a:extLst>
              <a:ext uri="{FF2B5EF4-FFF2-40B4-BE49-F238E27FC236}">
                <a16:creationId xmlns:a16="http://schemas.microsoft.com/office/drawing/2014/main" id="{8E8FBBBB-AC3E-C1DC-7C7D-80D22331DE68}"/>
              </a:ext>
            </a:extLst>
          </p:cNvPr>
          <p:cNvSpPr>
            <a:spLocks noGrp="1"/>
          </p:cNvSpPr>
          <p:nvPr>
            <p:ph type="title"/>
          </p:nvPr>
        </p:nvSpPr>
        <p:spPr>
          <a:xfrm>
            <a:off x="1671589" y="89905"/>
            <a:ext cx="10187330" cy="763571"/>
          </a:xfrm>
        </p:spPr>
        <p:txBody>
          <a:bodyPr/>
          <a:lstStyle>
            <a:lvl1pPr>
              <a:defRPr b="1"/>
            </a:lvl1pPr>
          </a:lstStyle>
          <a:p>
            <a:r>
              <a:rPr lang="en-GB"/>
              <a:t>Click to edit Master title style</a:t>
            </a:r>
            <a:endParaRPr lang="en-GB" dirty="0"/>
          </a:p>
        </p:txBody>
      </p:sp>
      <p:pic>
        <p:nvPicPr>
          <p:cNvPr id="5" name="Picture 4" descr="A black and white outline of a couple of speech bubbles&#10;&#10;Description automatically generated">
            <a:extLst>
              <a:ext uri="{FF2B5EF4-FFF2-40B4-BE49-F238E27FC236}">
                <a16:creationId xmlns:a16="http://schemas.microsoft.com/office/drawing/2014/main" id="{EEB8BB81-B4B1-2F82-6670-DB34481D0E10}"/>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3081" y="0"/>
            <a:ext cx="944871" cy="944871"/>
          </a:xfrm>
          <a:prstGeom prst="rect">
            <a:avLst/>
          </a:prstGeom>
        </p:spPr>
      </p:pic>
    </p:spTree>
    <p:extLst>
      <p:ext uri="{BB962C8B-B14F-4D97-AF65-F5344CB8AC3E}">
        <p14:creationId xmlns:p14="http://schemas.microsoft.com/office/powerpoint/2010/main" val="910662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FC063F6-0EE5-AAAC-3CC9-255C98F437FF}"/>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8310735F-9F0E-A09C-0CF7-00E89B13D85A}"/>
              </a:ext>
            </a:extLst>
          </p:cNvPr>
          <p:cNvSpPr>
            <a:spLocks noGrp="1"/>
          </p:cNvSpPr>
          <p:nvPr>
            <p:ph sz="half" idx="1"/>
          </p:nvPr>
        </p:nvSpPr>
        <p:spPr>
          <a:xfrm>
            <a:off x="413992" y="1313890"/>
            <a:ext cx="5635673" cy="4952737"/>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a:p>
            <a:pPr lvl="2"/>
            <a:r>
              <a:rPr lang="en-GB"/>
              <a:t>Third level</a:t>
            </a:r>
          </a:p>
        </p:txBody>
      </p:sp>
      <p:sp>
        <p:nvSpPr>
          <p:cNvPr id="4" name="Content Placeholder 3">
            <a:extLst>
              <a:ext uri="{FF2B5EF4-FFF2-40B4-BE49-F238E27FC236}">
                <a16:creationId xmlns:a16="http://schemas.microsoft.com/office/drawing/2014/main" id="{E0B7DE29-8D35-8F81-F97D-29C023AE4EEE}"/>
              </a:ext>
            </a:extLst>
          </p:cNvPr>
          <p:cNvSpPr>
            <a:spLocks noGrp="1"/>
          </p:cNvSpPr>
          <p:nvPr>
            <p:ph sz="half" idx="2"/>
          </p:nvPr>
        </p:nvSpPr>
        <p:spPr>
          <a:xfrm>
            <a:off x="6223247" y="1313890"/>
            <a:ext cx="5635673" cy="4952739"/>
          </a:xfrm>
        </p:spPr>
        <p:txBody>
          <a:bodyPr/>
          <a:lstStyle>
            <a:lvl1pPr marL="0" indent="0">
              <a:buNone/>
              <a:defRPr/>
            </a:lvl1pPr>
            <a:lvl2pPr marL="685800" indent="-228600">
              <a:defRPr lang="en-GB" sz="3200" kern="1200" dirty="0">
                <a:solidFill>
                  <a:srgbClr val="002570"/>
                </a:solidFill>
                <a:latin typeface="OpenDyslexicAlta" panose="00000500000000000000" pitchFamily="50" charset="0"/>
                <a:ea typeface="+mn-ea"/>
                <a:cs typeface="+mn-cs"/>
              </a:defRPr>
            </a:lvl2pPr>
          </a:lstStyle>
          <a:p>
            <a:pPr lvl="0"/>
            <a:r>
              <a:rPr lang="en-GB"/>
              <a:t>Click to edit Master text styles</a:t>
            </a:r>
          </a:p>
          <a:p>
            <a:pPr lvl="1"/>
            <a:r>
              <a:rPr lang="en-GB"/>
              <a:t>Second level</a:t>
            </a:r>
          </a:p>
        </p:txBody>
      </p:sp>
      <p:pic>
        <p:nvPicPr>
          <p:cNvPr id="13" name="Picture 12" descr="A black line with a pointy face&#10;&#10;Description automatically generated with medium confidence">
            <a:extLst>
              <a:ext uri="{FF2B5EF4-FFF2-40B4-BE49-F238E27FC236}">
                <a16:creationId xmlns:a16="http://schemas.microsoft.com/office/drawing/2014/main" id="{8087F63A-1EA4-664A-4548-C3086100B94B}"/>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4" name="Title 1">
            <a:extLst>
              <a:ext uri="{FF2B5EF4-FFF2-40B4-BE49-F238E27FC236}">
                <a16:creationId xmlns:a16="http://schemas.microsoft.com/office/drawing/2014/main" id="{4A6B3F91-A53F-3877-C3BE-6E52402D8056}"/>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64404505"/>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8">
            <a:extLst>
              <a:ext uri="{FF2B5EF4-FFF2-40B4-BE49-F238E27FC236}">
                <a16:creationId xmlns:a16="http://schemas.microsoft.com/office/drawing/2014/main" id="{505C2B80-4160-4381-751B-A34DADCB3B00}"/>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Content Placeholder 2">
            <a:extLst>
              <a:ext uri="{FF2B5EF4-FFF2-40B4-BE49-F238E27FC236}">
                <a16:creationId xmlns:a16="http://schemas.microsoft.com/office/drawing/2014/main" id="{C54E5830-5177-BEC2-17FC-C20BB5A3B9D6}"/>
              </a:ext>
            </a:extLst>
          </p:cNvPr>
          <p:cNvSpPr>
            <a:spLocks noGrp="1"/>
          </p:cNvSpPr>
          <p:nvPr>
            <p:ph sz="half" idx="10"/>
          </p:nvPr>
        </p:nvSpPr>
        <p:spPr>
          <a:xfrm>
            <a:off x="413992" y="2308190"/>
            <a:ext cx="5635673" cy="3958438"/>
          </a:xfrm>
        </p:spPr>
        <p:txBody>
          <a:bodyPr>
            <a:normAutofit/>
          </a:bodyPr>
          <a:lstStyle>
            <a:lvl1pPr marL="0" indent="0">
              <a:buNone/>
              <a:defRPr sz="3200"/>
            </a:lvl1pPr>
            <a:lvl2pPr marL="685800" indent="-228600">
              <a:defRPr lang="en-GB" sz="3200" kern="1200" dirty="0">
                <a:solidFill>
                  <a:srgbClr val="002570"/>
                </a:solidFill>
                <a:latin typeface="OpenDyslexicAlta" panose="00000500000000000000" pitchFamily="50" charset="0"/>
                <a:ea typeface="+mn-ea"/>
                <a:cs typeface="+mn-cs"/>
              </a:defRPr>
            </a:lvl2pPr>
            <a:lvl3pPr>
              <a:defRPr sz="2400"/>
            </a:lvl3pPr>
            <a:lvl4pPr>
              <a:defRPr sz="2000"/>
            </a:lvl4pPr>
            <a:lvl5pPr>
              <a:defRPr sz="2000"/>
            </a:lvl5pPr>
          </a:lstStyle>
          <a:p>
            <a:pPr lvl="0"/>
            <a:r>
              <a:rPr lang="en-GB"/>
              <a:t>Click to edit Master text styles</a:t>
            </a:r>
          </a:p>
          <a:p>
            <a:pPr lvl="1"/>
            <a:r>
              <a:rPr lang="en-GB"/>
              <a:t>Second level</a:t>
            </a:r>
          </a:p>
        </p:txBody>
      </p:sp>
      <p:sp>
        <p:nvSpPr>
          <p:cNvPr id="14" name="Content Placeholder 3">
            <a:extLst>
              <a:ext uri="{FF2B5EF4-FFF2-40B4-BE49-F238E27FC236}">
                <a16:creationId xmlns:a16="http://schemas.microsoft.com/office/drawing/2014/main" id="{20C6DAD7-F485-8649-8094-4915CBAD34DD}"/>
              </a:ext>
            </a:extLst>
          </p:cNvPr>
          <p:cNvSpPr>
            <a:spLocks noGrp="1"/>
          </p:cNvSpPr>
          <p:nvPr>
            <p:ph sz="half" idx="2"/>
          </p:nvPr>
        </p:nvSpPr>
        <p:spPr>
          <a:xfrm>
            <a:off x="6223247" y="2308189"/>
            <a:ext cx="5635673" cy="3958439"/>
          </a:xfrm>
        </p:spPr>
        <p:txBody>
          <a:bodyPr>
            <a:normAutofit/>
          </a:bodyPr>
          <a:lstStyle>
            <a:lvl1pPr marL="0" indent="0">
              <a:buNone/>
              <a:defRPr sz="2800"/>
            </a:lvl1pPr>
            <a:lvl2pPr marL="685800" indent="-228600">
              <a:defRPr lang="en-GB" sz="3200" kern="1200" dirty="0">
                <a:solidFill>
                  <a:srgbClr val="002570"/>
                </a:solidFill>
                <a:latin typeface="OpenDyslexicAlta" panose="00000500000000000000" pitchFamily="50" charset="0"/>
                <a:ea typeface="+mn-ea"/>
                <a:cs typeface="+mn-cs"/>
              </a:defRPr>
            </a:lvl2pPr>
            <a:lvl3pPr marL="914400" indent="0">
              <a:buNone/>
              <a:defRPr sz="2000"/>
            </a:lvl3pPr>
            <a:lvl4pPr>
              <a:defRPr sz="1800"/>
            </a:lvl4pPr>
            <a:lvl5pPr>
              <a:defRPr sz="1800"/>
            </a:lvl5pPr>
          </a:lstStyle>
          <a:p>
            <a:pPr lvl="0"/>
            <a:r>
              <a:rPr lang="en-GB"/>
              <a:t>Click to edit Master text styles</a:t>
            </a:r>
          </a:p>
          <a:p>
            <a:pPr lvl="1"/>
            <a:r>
              <a:rPr lang="en-GB"/>
              <a:t>Second level</a:t>
            </a:r>
          </a:p>
        </p:txBody>
      </p:sp>
      <p:sp>
        <p:nvSpPr>
          <p:cNvPr id="3" name="Text Placeholder 2">
            <a:extLst>
              <a:ext uri="{FF2B5EF4-FFF2-40B4-BE49-F238E27FC236}">
                <a16:creationId xmlns:a16="http://schemas.microsoft.com/office/drawing/2014/main" id="{5D6F6873-5066-9CBE-31A3-8947B94AA3C6}"/>
              </a:ext>
            </a:extLst>
          </p:cNvPr>
          <p:cNvSpPr>
            <a:spLocks noGrp="1"/>
          </p:cNvSpPr>
          <p:nvPr>
            <p:ph type="body" idx="1"/>
          </p:nvPr>
        </p:nvSpPr>
        <p:spPr>
          <a:xfrm>
            <a:off x="413992" y="1313892"/>
            <a:ext cx="5635673"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5" name="Text Placeholder 4">
            <a:extLst>
              <a:ext uri="{FF2B5EF4-FFF2-40B4-BE49-F238E27FC236}">
                <a16:creationId xmlns:a16="http://schemas.microsoft.com/office/drawing/2014/main" id="{3818A2E8-94EF-3974-C0EC-C97DD5650D8A}"/>
              </a:ext>
            </a:extLst>
          </p:cNvPr>
          <p:cNvSpPr>
            <a:spLocks noGrp="1"/>
          </p:cNvSpPr>
          <p:nvPr>
            <p:ph type="body" sz="quarter" idx="3"/>
          </p:nvPr>
        </p:nvSpPr>
        <p:spPr>
          <a:xfrm>
            <a:off x="6232125" y="1313892"/>
            <a:ext cx="5626795" cy="825626"/>
          </a:xfrm>
        </p:spPr>
        <p:txBody>
          <a:bodyPr anchor="ctr">
            <a:no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pic>
        <p:nvPicPr>
          <p:cNvPr id="18" name="Picture 17" descr="A black line with a pointy face&#10;&#10;Description automatically generated with medium confidence">
            <a:extLst>
              <a:ext uri="{FF2B5EF4-FFF2-40B4-BE49-F238E27FC236}">
                <a16:creationId xmlns:a16="http://schemas.microsoft.com/office/drawing/2014/main" id="{71F6B3FE-228E-A800-6AF6-E4388756599A}"/>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9" name="Title 1">
            <a:extLst>
              <a:ext uri="{FF2B5EF4-FFF2-40B4-BE49-F238E27FC236}">
                <a16:creationId xmlns:a16="http://schemas.microsoft.com/office/drawing/2014/main" id="{41280ABC-EFFB-3E34-0F02-FE8B134DEA1C}"/>
              </a:ext>
            </a:extLst>
          </p:cNvPr>
          <p:cNvSpPr>
            <a:spLocks noGrp="1"/>
          </p:cNvSpPr>
          <p:nvPr>
            <p:ph type="title"/>
          </p:nvPr>
        </p:nvSpPr>
        <p:spPr>
          <a:xfrm>
            <a:off x="413992" y="198671"/>
            <a:ext cx="11444927"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270865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1A4115-2704-1EF9-388A-425081E54709}"/>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descr="A black line with a pointy face&#10;&#10;Description automatically generated with medium confidence">
            <a:extLst>
              <a:ext uri="{FF2B5EF4-FFF2-40B4-BE49-F238E27FC236}">
                <a16:creationId xmlns:a16="http://schemas.microsoft.com/office/drawing/2014/main" id="{A6CEE2C1-575B-AC39-905A-F03B14DEAF1E}"/>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
        <p:nvSpPr>
          <p:cNvPr id="12" name="Title 1">
            <a:extLst>
              <a:ext uri="{FF2B5EF4-FFF2-40B4-BE49-F238E27FC236}">
                <a16:creationId xmlns:a16="http://schemas.microsoft.com/office/drawing/2014/main" id="{44DE5943-EE5E-C183-E7D2-83A09533C4E0}"/>
              </a:ext>
            </a:extLst>
          </p:cNvPr>
          <p:cNvSpPr>
            <a:spLocks noGrp="1"/>
          </p:cNvSpPr>
          <p:nvPr>
            <p:ph type="title"/>
          </p:nvPr>
        </p:nvSpPr>
        <p:spPr>
          <a:xfrm>
            <a:off x="413993" y="198671"/>
            <a:ext cx="11455452"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3836339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pic>
        <p:nvPicPr>
          <p:cNvPr id="8" name="Picture 7" descr="A black line with a pointy face&#10;&#10;Description automatically generated with medium confidence">
            <a:extLst>
              <a:ext uri="{FF2B5EF4-FFF2-40B4-BE49-F238E27FC236}">
                <a16:creationId xmlns:a16="http://schemas.microsoft.com/office/drawing/2014/main" id="{43D123E1-2520-9FE4-B3F5-4770893FC891}"/>
              </a:ext>
            </a:extLst>
          </p:cNvPr>
          <p:cNvPicPr>
            <a:picLocks noChangeAspect="1"/>
          </p:cNvPicPr>
          <p:nvPr userDrawn="1"/>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67890" y="6384782"/>
            <a:ext cx="711000" cy="336693"/>
          </a:xfrm>
          <a:prstGeom prst="rect">
            <a:avLst/>
          </a:prstGeom>
        </p:spPr>
      </p:pic>
    </p:spTree>
    <p:extLst>
      <p:ext uri="{BB962C8B-B14F-4D97-AF65-F5344CB8AC3E}">
        <p14:creationId xmlns:p14="http://schemas.microsoft.com/office/powerpoint/2010/main" val="716321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without logo">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4474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pyright">
    <p:spTree>
      <p:nvGrpSpPr>
        <p:cNvPr id="1" name=""/>
        <p:cNvGrpSpPr/>
        <p:nvPr/>
      </p:nvGrpSpPr>
      <p:grpSpPr>
        <a:xfrm>
          <a:off x="0" y="0"/>
          <a:ext cx="0" cy="0"/>
          <a:chOff x="0" y="0"/>
          <a:chExt cx="0" cy="0"/>
        </a:xfrm>
      </p:grpSpPr>
      <p:pic>
        <p:nvPicPr>
          <p:cNvPr id="3" name="Picture 2" descr="A close-up of a document&#10;&#10;Description automatically generated">
            <a:extLst>
              <a:ext uri="{FF2B5EF4-FFF2-40B4-BE49-F238E27FC236}">
                <a16:creationId xmlns:a16="http://schemas.microsoft.com/office/drawing/2014/main" id="{041E3DC7-C04A-F8E9-4E3A-E29356158978}"/>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8301"/>
          <a:stretch/>
        </p:blipFill>
        <p:spPr>
          <a:xfrm>
            <a:off x="0" y="1255058"/>
            <a:ext cx="12192000" cy="5602941"/>
          </a:xfrm>
          <a:prstGeom prst="rect">
            <a:avLst/>
          </a:prstGeom>
        </p:spPr>
      </p:pic>
      <p:sp>
        <p:nvSpPr>
          <p:cNvPr id="5" name="Text Placeholder 4">
            <a:extLst>
              <a:ext uri="{FF2B5EF4-FFF2-40B4-BE49-F238E27FC236}">
                <a16:creationId xmlns:a16="http://schemas.microsoft.com/office/drawing/2014/main" id="{F0B0DCFE-B0FF-4E6E-A7D3-D647C7B06B1C}"/>
              </a:ext>
            </a:extLst>
          </p:cNvPr>
          <p:cNvSpPr>
            <a:spLocks noGrp="1"/>
          </p:cNvSpPr>
          <p:nvPr>
            <p:ph type="body" sz="quarter" idx="10"/>
          </p:nvPr>
        </p:nvSpPr>
        <p:spPr>
          <a:xfrm>
            <a:off x="1259541" y="5969934"/>
            <a:ext cx="9672918" cy="574675"/>
          </a:xfrm>
        </p:spPr>
        <p:txBody>
          <a:bodyPr>
            <a:normAutofit/>
          </a:bodyPr>
          <a:lstStyle>
            <a:lvl1pPr marL="0" indent="0" algn="ctr">
              <a:buNone/>
              <a:defRPr sz="2800">
                <a:solidFill>
                  <a:srgbClr val="C00000"/>
                </a:solidFill>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GB"/>
              <a:t>Click to edit Master text styles</a:t>
            </a:r>
          </a:p>
        </p:txBody>
      </p:sp>
      <p:sp>
        <p:nvSpPr>
          <p:cNvPr id="6" name="Rectangle 8">
            <a:extLst>
              <a:ext uri="{FF2B5EF4-FFF2-40B4-BE49-F238E27FC236}">
                <a16:creationId xmlns:a16="http://schemas.microsoft.com/office/drawing/2014/main" id="{5795545D-231C-FDCB-8BDA-55C729529025}"/>
              </a:ext>
            </a:extLst>
          </p:cNvPr>
          <p:cNvSpPr/>
          <p:nvPr userDrawn="1"/>
        </p:nvSpPr>
        <p:spPr>
          <a:xfrm>
            <a:off x="0" y="-11155"/>
            <a:ext cx="12192000" cy="1156375"/>
          </a:xfrm>
          <a:custGeom>
            <a:avLst/>
            <a:gdLst>
              <a:gd name="connsiteX0" fmla="*/ 0 w 12192000"/>
              <a:gd name="connsiteY0" fmla="*/ 0 h 1036620"/>
              <a:gd name="connsiteX1" fmla="*/ 12192000 w 12192000"/>
              <a:gd name="connsiteY1" fmla="*/ 0 h 1036620"/>
              <a:gd name="connsiteX2" fmla="*/ 12192000 w 12192000"/>
              <a:gd name="connsiteY2" fmla="*/ 1036620 h 1036620"/>
              <a:gd name="connsiteX3" fmla="*/ 0 w 12192000"/>
              <a:gd name="connsiteY3" fmla="*/ 1036620 h 1036620"/>
              <a:gd name="connsiteX4" fmla="*/ 0 w 12192000"/>
              <a:gd name="connsiteY4" fmla="*/ 0 h 1036620"/>
              <a:gd name="connsiteX0" fmla="*/ 0 w 12192000"/>
              <a:gd name="connsiteY0" fmla="*/ 0 h 1036627"/>
              <a:gd name="connsiteX1" fmla="*/ 12192000 w 12192000"/>
              <a:gd name="connsiteY1" fmla="*/ 0 h 1036627"/>
              <a:gd name="connsiteX2" fmla="*/ 12192000 w 12192000"/>
              <a:gd name="connsiteY2" fmla="*/ 1036620 h 1036627"/>
              <a:gd name="connsiteX3" fmla="*/ 9516862 w 12192000"/>
              <a:gd name="connsiteY3" fmla="*/ 827901 h 1036627"/>
              <a:gd name="connsiteX4" fmla="*/ 0 w 12192000"/>
              <a:gd name="connsiteY4" fmla="*/ 1036620 h 1036627"/>
              <a:gd name="connsiteX5" fmla="*/ 0 w 12192000"/>
              <a:gd name="connsiteY5" fmla="*/ 0 h 1036627"/>
              <a:gd name="connsiteX0" fmla="*/ 0 w 12192000"/>
              <a:gd name="connsiteY0" fmla="*/ 0 h 1191885"/>
              <a:gd name="connsiteX1" fmla="*/ 12192000 w 12192000"/>
              <a:gd name="connsiteY1" fmla="*/ 0 h 1191885"/>
              <a:gd name="connsiteX2" fmla="*/ 12192000 w 12192000"/>
              <a:gd name="connsiteY2" fmla="*/ 1036620 h 1191885"/>
              <a:gd name="connsiteX3" fmla="*/ 9516862 w 12192000"/>
              <a:gd name="connsiteY3" fmla="*/ 827901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91885"/>
              <a:gd name="connsiteX1" fmla="*/ 12192000 w 12192000"/>
              <a:gd name="connsiteY1" fmla="*/ 0 h 1191885"/>
              <a:gd name="connsiteX2" fmla="*/ 12192000 w 12192000"/>
              <a:gd name="connsiteY2" fmla="*/ 1036620 h 1191885"/>
              <a:gd name="connsiteX3" fmla="*/ 9472474 w 12192000"/>
              <a:gd name="connsiteY3" fmla="*/ 916678 h 1191885"/>
              <a:gd name="connsiteX4" fmla="*/ 2645546 w 12192000"/>
              <a:gd name="connsiteY4" fmla="*/ 1191885 h 1191885"/>
              <a:gd name="connsiteX5" fmla="*/ 0 w 12192000"/>
              <a:gd name="connsiteY5" fmla="*/ 1036620 h 1191885"/>
              <a:gd name="connsiteX6" fmla="*/ 0 w 12192000"/>
              <a:gd name="connsiteY6" fmla="*/ 0 h 1191885"/>
              <a:gd name="connsiteX0" fmla="*/ 0 w 12192000"/>
              <a:gd name="connsiteY0" fmla="*/ 0 h 1156375"/>
              <a:gd name="connsiteX1" fmla="*/ 12192000 w 12192000"/>
              <a:gd name="connsiteY1" fmla="*/ 0 h 1156375"/>
              <a:gd name="connsiteX2" fmla="*/ 12192000 w 12192000"/>
              <a:gd name="connsiteY2" fmla="*/ 1036620 h 1156375"/>
              <a:gd name="connsiteX3" fmla="*/ 9472474 w 12192000"/>
              <a:gd name="connsiteY3" fmla="*/ 916678 h 1156375"/>
              <a:gd name="connsiteX4" fmla="*/ 2654424 w 12192000"/>
              <a:gd name="connsiteY4" fmla="*/ 1156375 h 1156375"/>
              <a:gd name="connsiteX5" fmla="*/ 0 w 12192000"/>
              <a:gd name="connsiteY5" fmla="*/ 1036620 h 1156375"/>
              <a:gd name="connsiteX6" fmla="*/ 0 w 12192000"/>
              <a:gd name="connsiteY6" fmla="*/ 0 h 1156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156375">
                <a:moveTo>
                  <a:pt x="0" y="0"/>
                </a:moveTo>
                <a:lnTo>
                  <a:pt x="12192000" y="0"/>
                </a:lnTo>
                <a:lnTo>
                  <a:pt x="12192000" y="1036620"/>
                </a:lnTo>
                <a:cubicBezTo>
                  <a:pt x="11258858" y="1038068"/>
                  <a:pt x="10405616" y="915230"/>
                  <a:pt x="9472474" y="916678"/>
                </a:cubicBezTo>
                <a:cubicBezTo>
                  <a:pt x="7244179" y="966985"/>
                  <a:pt x="4882719" y="1106068"/>
                  <a:pt x="2654424" y="1156375"/>
                </a:cubicBezTo>
                <a:lnTo>
                  <a:pt x="0" y="1036620"/>
                </a:lnTo>
                <a:lnTo>
                  <a:pt x="0" y="0"/>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itle 1">
            <a:extLst>
              <a:ext uri="{FF2B5EF4-FFF2-40B4-BE49-F238E27FC236}">
                <a16:creationId xmlns:a16="http://schemas.microsoft.com/office/drawing/2014/main" id="{D17830B5-81EF-08EE-0D51-086C891343B1}"/>
              </a:ext>
            </a:extLst>
          </p:cNvPr>
          <p:cNvSpPr>
            <a:spLocks noGrp="1"/>
          </p:cNvSpPr>
          <p:nvPr>
            <p:ph type="title"/>
          </p:nvPr>
        </p:nvSpPr>
        <p:spPr>
          <a:xfrm>
            <a:off x="413993" y="198671"/>
            <a:ext cx="10515600" cy="763571"/>
          </a:xfrm>
        </p:spPr>
        <p:txBody>
          <a:bodyPr/>
          <a:lstStyle>
            <a:lvl1pPr>
              <a:defRPr b="1"/>
            </a:lvl1pPr>
          </a:lstStyle>
          <a:p>
            <a:r>
              <a:rPr lang="en-GB"/>
              <a:t>Click to edit Master title style</a:t>
            </a:r>
            <a:endParaRPr lang="en-GB" dirty="0"/>
          </a:p>
        </p:txBody>
      </p:sp>
    </p:spTree>
    <p:extLst>
      <p:ext uri="{BB962C8B-B14F-4D97-AF65-F5344CB8AC3E}">
        <p14:creationId xmlns:p14="http://schemas.microsoft.com/office/powerpoint/2010/main" val="7884506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916DFD2-1DEA-8D22-4791-DE55801F9A2B}"/>
              </a:ext>
            </a:extLst>
          </p:cNvPr>
          <p:cNvSpPr>
            <a:spLocks noGrp="1"/>
          </p:cNvSpPr>
          <p:nvPr>
            <p:ph type="title"/>
          </p:nvPr>
        </p:nvSpPr>
        <p:spPr>
          <a:xfrm>
            <a:off x="413993" y="136525"/>
            <a:ext cx="10515600" cy="763571"/>
          </a:xfrm>
          <a:prstGeom prst="rect">
            <a:avLst/>
          </a:prstGeom>
        </p:spPr>
        <p:txBody>
          <a:bodyPr vert="horz" lIns="91440" tIns="45720" rIns="91440" bIns="45720" rtlCol="0" anchor="ctr">
            <a:no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9CDDF7BB-0A96-D666-6992-98AEF317A714}"/>
              </a:ext>
            </a:extLst>
          </p:cNvPr>
          <p:cNvSpPr>
            <a:spLocks noGrp="1"/>
          </p:cNvSpPr>
          <p:nvPr>
            <p:ph type="body" idx="1"/>
          </p:nvPr>
        </p:nvSpPr>
        <p:spPr>
          <a:xfrm>
            <a:off x="413992" y="1313895"/>
            <a:ext cx="11444927" cy="4952736"/>
          </a:xfrm>
          <a:prstGeom prst="rect">
            <a:avLst/>
          </a:prstGeom>
        </p:spPr>
        <p:txBody>
          <a:bodyPr vert="horz" lIns="91440" tIns="45720" rIns="91440" bIns="45720" rtlCol="0">
            <a:normAutofit/>
          </a:bodyPr>
          <a:lstStyle/>
          <a:p>
            <a:pPr lvl="0"/>
            <a:r>
              <a:rPr lang="en-GB" dirty="0"/>
              <a:t>Click to edit Master text styles</a:t>
            </a:r>
          </a:p>
          <a:p>
            <a:pPr marL="685800" lvl="1" indent="-228600" algn="l" defTabSz="914400" rtl="0" eaLnBrk="1" latinLnBrk="0" hangingPunct="1">
              <a:lnSpc>
                <a:spcPct val="90000"/>
              </a:lnSpc>
              <a:spcBef>
                <a:spcPts val="500"/>
              </a:spcBef>
              <a:spcAft>
                <a:spcPts val="1800"/>
              </a:spcAft>
              <a:buClr>
                <a:srgbClr val="C00000"/>
              </a:buClr>
              <a:buSzPct val="115000"/>
              <a:buFont typeface="Arial" panose="020B0604020202020204" pitchFamily="34" charset="0"/>
              <a:buChar char="•"/>
            </a:pPr>
            <a:r>
              <a:rPr lang="en-GB" dirty="0"/>
              <a:t>Second level</a:t>
            </a:r>
          </a:p>
        </p:txBody>
      </p:sp>
      <p:sp>
        <p:nvSpPr>
          <p:cNvPr id="4" name="TextBox 3">
            <a:extLst>
              <a:ext uri="{FF2B5EF4-FFF2-40B4-BE49-F238E27FC236}">
                <a16:creationId xmlns:a16="http://schemas.microsoft.com/office/drawing/2014/main" id="{AD94F074-8FD9-0C27-50BF-7632BF6FFAB0}"/>
              </a:ext>
            </a:extLst>
          </p:cNvPr>
          <p:cNvSpPr txBox="1"/>
          <p:nvPr userDrawn="1"/>
        </p:nvSpPr>
        <p:spPr>
          <a:xfrm rot="16200000">
            <a:off x="11757747" y="6208302"/>
            <a:ext cx="1083951" cy="215444"/>
          </a:xfrm>
          <a:prstGeom prst="rect">
            <a:avLst/>
          </a:prstGeom>
          <a:noFill/>
        </p:spPr>
        <p:txBody>
          <a:bodyPr wrap="none" rtlCol="0">
            <a:spAutoFit/>
          </a:bodyPr>
          <a:lstStyle/>
          <a:p>
            <a:r>
              <a:rPr lang="en-GB" sz="800" dirty="0">
                <a:solidFill>
                  <a:schemeClr val="bg2"/>
                </a:solidFill>
              </a:rPr>
              <a:t>© Nichola Wilkin Ltd</a:t>
            </a:r>
          </a:p>
        </p:txBody>
      </p:sp>
    </p:spTree>
    <p:extLst>
      <p:ext uri="{BB962C8B-B14F-4D97-AF65-F5344CB8AC3E}">
        <p14:creationId xmlns:p14="http://schemas.microsoft.com/office/powerpoint/2010/main" val="3666903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4" r:id="rId3"/>
    <p:sldLayoutId id="2147483662" r:id="rId4"/>
    <p:sldLayoutId id="2147483663" r:id="rId5"/>
    <p:sldLayoutId id="2147483665" r:id="rId6"/>
    <p:sldLayoutId id="2147483652" r:id="rId7"/>
    <p:sldLayoutId id="2147483653" r:id="rId8"/>
    <p:sldLayoutId id="2147483654" r:id="rId9"/>
    <p:sldLayoutId id="2147483655" r:id="rId10"/>
    <p:sldLayoutId id="2147483656" r:id="rId11"/>
    <p:sldLayoutId id="2147483657" r:id="rId12"/>
  </p:sldLayoutIdLst>
  <p:txStyles>
    <p:titleStyle>
      <a:lvl1pPr algn="l" defTabSz="914400" rtl="0" eaLnBrk="1" latinLnBrk="0" hangingPunct="1">
        <a:lnSpc>
          <a:spcPct val="90000"/>
        </a:lnSpc>
        <a:spcBef>
          <a:spcPct val="0"/>
        </a:spcBef>
        <a:buNone/>
        <a:defRPr sz="4800" b="1" kern="1200">
          <a:solidFill>
            <a:srgbClr val="002570"/>
          </a:solidFill>
          <a:latin typeface="OpenDyslexicAlta" panose="00000500000000000000" pitchFamily="50" charset="0"/>
          <a:ea typeface="+mj-ea"/>
          <a:cs typeface="+mj-cs"/>
        </a:defRPr>
      </a:lvl1pPr>
    </p:titleStyle>
    <p:bodyStyle>
      <a:lvl1pPr marL="0" indent="0" algn="l" defTabSz="914400" rtl="0" eaLnBrk="1" latinLnBrk="0" hangingPunct="1">
        <a:lnSpc>
          <a:spcPct val="90000"/>
        </a:lnSpc>
        <a:spcBef>
          <a:spcPts val="1000"/>
        </a:spcBef>
        <a:spcAft>
          <a:spcPts val="1800"/>
        </a:spcAft>
        <a:buFont typeface="Arial" panose="020B0604020202020204" pitchFamily="34" charset="0"/>
        <a:buNone/>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lang="en-GB" sz="3200" kern="1200" dirty="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22" userDrawn="1">
          <p15:clr>
            <a:srgbClr val="F26B43"/>
          </p15:clr>
        </p15:guide>
        <p15:guide id="2" pos="11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nicholawilkin.com/terms" TargetMode="Externa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84CF-D39A-F54C-E3BD-2F32E4670282}"/>
              </a:ext>
            </a:extLst>
          </p:cNvPr>
          <p:cNvSpPr>
            <a:spLocks noGrp="1"/>
          </p:cNvSpPr>
          <p:nvPr>
            <p:ph type="ctrTitle"/>
          </p:nvPr>
        </p:nvSpPr>
        <p:spPr/>
        <p:txBody>
          <a:bodyPr/>
          <a:lstStyle/>
          <a:p>
            <a:r>
              <a:rPr lang="en-GB" noProof="0" dirty="0"/>
              <a:t>Safe searching online</a:t>
            </a:r>
          </a:p>
        </p:txBody>
      </p:sp>
      <p:sp>
        <p:nvSpPr>
          <p:cNvPr id="3" name="Subtitle 2">
            <a:extLst>
              <a:ext uri="{FF2B5EF4-FFF2-40B4-BE49-F238E27FC236}">
                <a16:creationId xmlns:a16="http://schemas.microsoft.com/office/drawing/2014/main" id="{F4C41960-3132-52E1-575A-55A2633DED4E}"/>
              </a:ext>
            </a:extLst>
          </p:cNvPr>
          <p:cNvSpPr>
            <a:spLocks noGrp="1"/>
          </p:cNvSpPr>
          <p:nvPr>
            <p:ph type="subTitle" idx="1"/>
          </p:nvPr>
        </p:nvSpPr>
        <p:spPr/>
        <p:txBody>
          <a:bodyPr/>
          <a:lstStyle/>
          <a:p>
            <a:r>
              <a:rPr lang="en-GB" b="1" noProof="0" dirty="0"/>
              <a:t>Unit: </a:t>
            </a:r>
            <a:r>
              <a:rPr lang="en-GB" noProof="0" dirty="0"/>
              <a:t>Staying safe and smart online</a:t>
            </a:r>
          </a:p>
        </p:txBody>
      </p:sp>
    </p:spTree>
    <p:extLst>
      <p:ext uri="{BB962C8B-B14F-4D97-AF65-F5344CB8AC3E}">
        <p14:creationId xmlns:p14="http://schemas.microsoft.com/office/powerpoint/2010/main" val="42038955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02ABF-1189-622D-C67C-DBF8F48DC098}"/>
              </a:ext>
            </a:extLst>
          </p:cNvPr>
          <p:cNvSpPr>
            <a:spLocks noGrp="1"/>
          </p:cNvSpPr>
          <p:nvPr>
            <p:ph type="title"/>
          </p:nvPr>
        </p:nvSpPr>
        <p:spPr/>
        <p:txBody>
          <a:bodyPr/>
          <a:lstStyle/>
          <a:p>
            <a:r>
              <a:rPr lang="en-GB" noProof="0" dirty="0"/>
              <a:t>Objective</a:t>
            </a:r>
          </a:p>
        </p:txBody>
      </p:sp>
      <p:sp>
        <p:nvSpPr>
          <p:cNvPr id="3" name="Content Placeholder 2">
            <a:extLst>
              <a:ext uri="{FF2B5EF4-FFF2-40B4-BE49-F238E27FC236}">
                <a16:creationId xmlns:a16="http://schemas.microsoft.com/office/drawing/2014/main" id="{F40FE6D7-DD69-1D13-4F3D-238FFCA5BFEC}"/>
              </a:ext>
            </a:extLst>
          </p:cNvPr>
          <p:cNvSpPr>
            <a:spLocks noGrp="1"/>
          </p:cNvSpPr>
          <p:nvPr>
            <p:ph idx="1"/>
          </p:nvPr>
        </p:nvSpPr>
        <p:spPr/>
        <p:txBody>
          <a:bodyPr>
            <a:normAutofit fontScale="77500" lnSpcReduction="20000"/>
          </a:bodyPr>
          <a:lstStyle/>
          <a:p>
            <a:pPr marL="0" indent="0">
              <a:lnSpc>
                <a:spcPct val="150000"/>
              </a:lnSpc>
              <a:buNone/>
            </a:pPr>
            <a:r>
              <a:rPr lang="en-GB" sz="3600" noProof="0" dirty="0"/>
              <a:t>I can demonstrate how to use search engines effectively and safely.</a:t>
            </a:r>
          </a:p>
        </p:txBody>
      </p:sp>
    </p:spTree>
    <p:extLst>
      <p:ext uri="{BB962C8B-B14F-4D97-AF65-F5344CB8AC3E}">
        <p14:creationId xmlns:p14="http://schemas.microsoft.com/office/powerpoint/2010/main" val="623897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A397C-D2E3-ADCC-840E-27A33C78D114}"/>
              </a:ext>
            </a:extLst>
          </p:cNvPr>
          <p:cNvSpPr>
            <a:spLocks noGrp="1"/>
          </p:cNvSpPr>
          <p:nvPr>
            <p:ph type="title"/>
          </p:nvPr>
        </p:nvSpPr>
        <p:spPr/>
        <p:txBody>
          <a:bodyPr/>
          <a:lstStyle/>
          <a:p>
            <a:r>
              <a:rPr lang="en-GB" noProof="0" dirty="0"/>
              <a:t>Keywords</a:t>
            </a:r>
          </a:p>
        </p:txBody>
      </p:sp>
      <p:sp>
        <p:nvSpPr>
          <p:cNvPr id="4" name="Content Placeholder 25">
            <a:extLst>
              <a:ext uri="{FF2B5EF4-FFF2-40B4-BE49-F238E27FC236}">
                <a16:creationId xmlns:a16="http://schemas.microsoft.com/office/drawing/2014/main" id="{57726DDD-8611-BC33-219F-E0BFEE4A07EF}"/>
              </a:ext>
            </a:extLst>
          </p:cNvPr>
          <p:cNvSpPr txBox="1">
            <a:spLocks/>
          </p:cNvSpPr>
          <p:nvPr/>
        </p:nvSpPr>
        <p:spPr>
          <a:xfrm>
            <a:off x="413992" y="1504950"/>
            <a:ext cx="11444927" cy="4761681"/>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spcAft>
                <a:spcPts val="1800"/>
              </a:spcAft>
              <a:buFont typeface="Arial" panose="020B0604020202020204" pitchFamily="34" charset="0"/>
              <a:buChar char="•"/>
              <a:defRPr sz="3600" kern="1200">
                <a:solidFill>
                  <a:srgbClr val="002570"/>
                </a:solidFill>
                <a:latin typeface="OpenDyslexicAlta" panose="00000500000000000000" pitchFamily="50" charset="0"/>
                <a:ea typeface="+mn-ea"/>
                <a:cs typeface="+mn-cs"/>
              </a:defRPr>
            </a:lvl1pPr>
            <a:lvl2pPr marL="685800" indent="-228600" algn="l" defTabSz="914400" rtl="0" eaLnBrk="1" latinLnBrk="0" hangingPunct="1">
              <a:lnSpc>
                <a:spcPct val="90000"/>
              </a:lnSpc>
              <a:spcBef>
                <a:spcPts val="500"/>
              </a:spcBef>
              <a:spcAft>
                <a:spcPts val="1800"/>
              </a:spcAft>
              <a:buFont typeface="Arial" panose="020B0604020202020204" pitchFamily="34" charset="0"/>
              <a:buChar char="•"/>
              <a:defRPr sz="3200" kern="1200">
                <a:solidFill>
                  <a:srgbClr val="002570"/>
                </a:solidFill>
                <a:latin typeface="OpenDyslexicAlta" panose="00000500000000000000" pitchFamily="50" charset="0"/>
                <a:ea typeface="+mn-ea"/>
                <a:cs typeface="+mn-cs"/>
              </a:defRPr>
            </a:lvl2pPr>
            <a:lvl3pPr marL="1143000" indent="-228600" algn="l" defTabSz="914400" rtl="0" eaLnBrk="1" latinLnBrk="0" hangingPunct="1">
              <a:lnSpc>
                <a:spcPct val="90000"/>
              </a:lnSpc>
              <a:spcBef>
                <a:spcPts val="500"/>
              </a:spcBef>
              <a:spcAft>
                <a:spcPts val="1800"/>
              </a:spcAft>
              <a:buFont typeface="Arial" panose="020B0604020202020204" pitchFamily="34" charset="0"/>
              <a:buChar char="•"/>
              <a:defRPr sz="2800" kern="1200">
                <a:solidFill>
                  <a:srgbClr val="002570"/>
                </a:solidFill>
                <a:latin typeface="OpenDyslexicAlta" panose="00000500000000000000" pitchFamily="50" charset="0"/>
                <a:ea typeface="+mn-ea"/>
                <a:cs typeface="+mn-cs"/>
              </a:defRPr>
            </a:lvl3pPr>
            <a:lvl4pPr marL="16002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4pPr>
            <a:lvl5pPr marL="2057400" indent="-228600" algn="l" defTabSz="914400" rtl="0" eaLnBrk="1" latinLnBrk="0" hangingPunct="1">
              <a:lnSpc>
                <a:spcPct val="90000"/>
              </a:lnSpc>
              <a:spcBef>
                <a:spcPts val="500"/>
              </a:spcBef>
              <a:spcAft>
                <a:spcPts val="1800"/>
              </a:spcAft>
              <a:buFont typeface="Arial" panose="020B0604020202020204" pitchFamily="34" charset="0"/>
              <a:buChar char="•"/>
              <a:defRPr sz="2400" kern="1200">
                <a:solidFill>
                  <a:srgbClr val="002570"/>
                </a:solidFill>
                <a:latin typeface="OpenDyslexicAlta" panose="000005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4000" noProof="0" dirty="0"/>
              <a:t>A </a:t>
            </a:r>
            <a:r>
              <a:rPr lang="en-GB" sz="4000" b="1" noProof="0" dirty="0">
                <a:solidFill>
                  <a:srgbClr val="C00000"/>
                </a:solidFill>
              </a:rPr>
              <a:t>search engine </a:t>
            </a:r>
            <a:r>
              <a:rPr lang="en-GB" sz="4000" noProof="0" dirty="0"/>
              <a:t>is a tool on the internet that helps you find information by matching your question to websites.</a:t>
            </a:r>
          </a:p>
          <a:p>
            <a:pPr marL="0" indent="0">
              <a:buNone/>
            </a:pPr>
            <a:r>
              <a:rPr lang="en-GB" sz="4000" b="1" noProof="0" dirty="0">
                <a:solidFill>
                  <a:srgbClr val="C00000"/>
                </a:solidFill>
              </a:rPr>
              <a:t>Bias</a:t>
            </a:r>
            <a:r>
              <a:rPr lang="en-GB" sz="4000" noProof="0" dirty="0"/>
              <a:t> means when something is unfairly influenced, such as how search engines may show results that favour certain websites or opinions.</a:t>
            </a:r>
          </a:p>
          <a:p>
            <a:pPr marL="0" indent="0">
              <a:buNone/>
            </a:pPr>
            <a:r>
              <a:rPr lang="en-GB" sz="4000" b="1" noProof="0" dirty="0">
                <a:solidFill>
                  <a:srgbClr val="C00000"/>
                </a:solidFill>
              </a:rPr>
              <a:t>Advanced search </a:t>
            </a:r>
            <a:r>
              <a:rPr lang="en-GB" sz="4000" noProof="0" dirty="0"/>
              <a:t>is a way to use special tricks, such as quotation marks or specific words, to find exactly what you’re looking for online.</a:t>
            </a:r>
          </a:p>
          <a:p>
            <a:pPr marL="0" indent="0">
              <a:buNone/>
            </a:pPr>
            <a:r>
              <a:rPr lang="en-GB" sz="4000" b="1" noProof="0" dirty="0">
                <a:solidFill>
                  <a:srgbClr val="C00000"/>
                </a:solidFill>
              </a:rPr>
              <a:t>Inappropriate </a:t>
            </a:r>
            <a:r>
              <a:rPr lang="en-GB" sz="4000" noProof="0" dirty="0"/>
              <a:t>content</a:t>
            </a:r>
            <a:r>
              <a:rPr lang="en-GB" sz="4000" b="1" noProof="0" dirty="0">
                <a:solidFill>
                  <a:srgbClr val="C00000"/>
                </a:solidFill>
              </a:rPr>
              <a:t> </a:t>
            </a:r>
            <a:r>
              <a:rPr lang="en-GB" sz="4000" noProof="0" dirty="0"/>
              <a:t>includes anything online that is harmful, upsetting or unsuitable for your age, which you should learn to avoid.</a:t>
            </a:r>
          </a:p>
        </p:txBody>
      </p:sp>
    </p:spTree>
    <p:extLst>
      <p:ext uri="{BB962C8B-B14F-4D97-AF65-F5344CB8AC3E}">
        <p14:creationId xmlns:p14="http://schemas.microsoft.com/office/powerpoint/2010/main" val="3148982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86AD-244C-8AC1-86E7-3D084F4401D8}"/>
              </a:ext>
            </a:extLst>
          </p:cNvPr>
          <p:cNvSpPr>
            <a:spLocks noGrp="1"/>
          </p:cNvSpPr>
          <p:nvPr>
            <p:ph type="title"/>
          </p:nvPr>
        </p:nvSpPr>
        <p:spPr/>
        <p:txBody>
          <a:bodyPr/>
          <a:lstStyle/>
          <a:p>
            <a:r>
              <a:rPr lang="en-GB" noProof="0" dirty="0"/>
              <a:t>What do you already know?</a:t>
            </a:r>
          </a:p>
        </p:txBody>
      </p:sp>
      <p:sp>
        <p:nvSpPr>
          <p:cNvPr id="3" name="Content Placeholder 2">
            <a:extLst>
              <a:ext uri="{FF2B5EF4-FFF2-40B4-BE49-F238E27FC236}">
                <a16:creationId xmlns:a16="http://schemas.microsoft.com/office/drawing/2014/main" id="{F0FC761F-680C-8008-5001-6739C23BF339}"/>
              </a:ext>
            </a:extLst>
          </p:cNvPr>
          <p:cNvSpPr>
            <a:spLocks noGrp="1"/>
          </p:cNvSpPr>
          <p:nvPr>
            <p:ph idx="1"/>
          </p:nvPr>
        </p:nvSpPr>
        <p:spPr/>
        <p:txBody>
          <a:bodyPr>
            <a:normAutofit fontScale="92500" lnSpcReduction="10000"/>
          </a:bodyPr>
          <a:lstStyle/>
          <a:p>
            <a:r>
              <a:rPr lang="en-GB" noProof="0" dirty="0"/>
              <a:t>Search engines are tools used to find information quickly online.</a:t>
            </a:r>
          </a:p>
          <a:p>
            <a:r>
              <a:rPr lang="en-GB" noProof="0" dirty="0"/>
              <a:t>You should already know how to type a simple search query into a search engine.</a:t>
            </a:r>
          </a:p>
          <a:p>
            <a:r>
              <a:rPr lang="en-GB" noProof="0" dirty="0"/>
              <a:t>The internet contains both useful and harmful information, so it is important to think critically about what you find.</a:t>
            </a:r>
          </a:p>
          <a:p>
            <a:r>
              <a:rPr lang="en-GB" noProof="0" dirty="0"/>
              <a:t>Websites can be designed to grab your attention but are not always be trustworthy.</a:t>
            </a:r>
          </a:p>
        </p:txBody>
      </p:sp>
    </p:spTree>
    <p:extLst>
      <p:ext uri="{BB962C8B-B14F-4D97-AF65-F5344CB8AC3E}">
        <p14:creationId xmlns:p14="http://schemas.microsoft.com/office/powerpoint/2010/main" val="37599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3B66E799-D9B4-A6C8-BAFB-22007923A781}"/>
              </a:ext>
            </a:extLst>
          </p:cNvPr>
          <p:cNvSpPr/>
          <p:nvPr/>
        </p:nvSpPr>
        <p:spPr>
          <a:xfrm>
            <a:off x="413992" y="1428750"/>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80CD4A36-A530-71B9-E5F7-5307B39D6DC4}"/>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CEDC0B2-9F40-1C8A-C33B-787DDB6DCEC4}"/>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Search engines</a:t>
            </a:r>
          </a:p>
          <a:p>
            <a:pPr marL="809625" indent="-723900">
              <a:buClr>
                <a:srgbClr val="C00000"/>
              </a:buClr>
              <a:buSzPct val="107000"/>
              <a:buFont typeface="+mj-lt"/>
              <a:buAutoNum type="arabicPeriod"/>
            </a:pPr>
            <a:r>
              <a:rPr lang="en-GB" sz="3600" noProof="0" dirty="0"/>
              <a:t>Advanced search</a:t>
            </a:r>
          </a:p>
          <a:p>
            <a:pPr marL="809625" indent="-723900">
              <a:buClr>
                <a:srgbClr val="C00000"/>
              </a:buClr>
              <a:buSzPct val="107000"/>
              <a:buFont typeface="+mj-lt"/>
              <a:buAutoNum type="arabicPeriod"/>
            </a:pPr>
            <a:r>
              <a:rPr lang="en-GB" sz="3600" noProof="0" dirty="0"/>
              <a:t>Safe searching</a:t>
            </a:r>
          </a:p>
          <a:p>
            <a:endParaRPr lang="en-GB" noProof="0" dirty="0"/>
          </a:p>
        </p:txBody>
      </p:sp>
    </p:spTree>
    <p:extLst>
      <p:ext uri="{BB962C8B-B14F-4D97-AF65-F5344CB8AC3E}">
        <p14:creationId xmlns:p14="http://schemas.microsoft.com/office/powerpoint/2010/main" val="3434938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1: Search engines</a:t>
            </a:r>
          </a:p>
        </p:txBody>
      </p:sp>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normAutofit fontScale="92500" lnSpcReduction="10000"/>
          </a:bodyPr>
          <a:lstStyle/>
          <a:p>
            <a:r>
              <a:rPr lang="en-GB" noProof="0" dirty="0"/>
              <a:t>You are going to find the answers to the questions on the next slide.</a:t>
            </a:r>
          </a:p>
          <a:p>
            <a:r>
              <a:rPr lang="en-GB" noProof="0" dirty="0"/>
              <a:t>You will do this by working in pairs. </a:t>
            </a:r>
          </a:p>
          <a:p>
            <a:r>
              <a:rPr lang="en-GB" noProof="0" dirty="0"/>
              <a:t>One person searches and the other observes how they search and notes down the exact keywords that are typed in.</a:t>
            </a:r>
          </a:p>
          <a:p>
            <a:r>
              <a:rPr lang="en-GB" dirty="0"/>
              <a:t>Do not type in the entire question into the search engine, pick a few important words only.</a:t>
            </a:r>
            <a:endParaRPr lang="en-GB" noProof="0" dirty="0"/>
          </a:p>
          <a:p>
            <a:endParaRPr lang="en-GB" noProof="0" dirty="0"/>
          </a:p>
        </p:txBody>
      </p:sp>
    </p:spTree>
    <p:extLst>
      <p:ext uri="{BB962C8B-B14F-4D97-AF65-F5344CB8AC3E}">
        <p14:creationId xmlns:p14="http://schemas.microsoft.com/office/powerpoint/2010/main" val="28921866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423DD-5BC9-A9F3-708A-26BB4E1357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71B11B-9C6D-08F3-844C-855086ECBF60}"/>
              </a:ext>
            </a:extLst>
          </p:cNvPr>
          <p:cNvSpPr>
            <a:spLocks noGrp="1"/>
          </p:cNvSpPr>
          <p:nvPr>
            <p:ph type="title"/>
          </p:nvPr>
        </p:nvSpPr>
        <p:spPr/>
        <p:txBody>
          <a:bodyPr/>
          <a:lstStyle/>
          <a:p>
            <a:r>
              <a:rPr lang="en-GB" noProof="0" dirty="0"/>
              <a:t>1: Search engines</a:t>
            </a:r>
          </a:p>
        </p:txBody>
      </p:sp>
      <p:sp>
        <p:nvSpPr>
          <p:cNvPr id="3" name="Content Placeholder 2">
            <a:extLst>
              <a:ext uri="{FF2B5EF4-FFF2-40B4-BE49-F238E27FC236}">
                <a16:creationId xmlns:a16="http://schemas.microsoft.com/office/drawing/2014/main" id="{C0DC50A9-2761-E591-7674-0E7C6D401DDB}"/>
              </a:ext>
            </a:extLst>
          </p:cNvPr>
          <p:cNvSpPr>
            <a:spLocks noGrp="1"/>
          </p:cNvSpPr>
          <p:nvPr>
            <p:ph idx="1"/>
          </p:nvPr>
        </p:nvSpPr>
        <p:spPr/>
        <p:txBody>
          <a:bodyPr>
            <a:normAutofit fontScale="92500" lnSpcReduction="20000"/>
          </a:bodyPr>
          <a:lstStyle/>
          <a:p>
            <a:pPr marL="742950" indent="-742950">
              <a:spcAft>
                <a:spcPts val="1200"/>
              </a:spcAft>
              <a:buFont typeface="+mj-lt"/>
              <a:buAutoNum type="arabicPeriod"/>
            </a:pPr>
            <a:r>
              <a:rPr lang="en-GB" noProof="0" dirty="0"/>
              <a:t>What is the tallest mountain in South America and how high is it?</a:t>
            </a:r>
          </a:p>
          <a:p>
            <a:pPr marL="742950" indent="-742950">
              <a:spcAft>
                <a:spcPts val="1200"/>
              </a:spcAft>
              <a:buFont typeface="+mj-lt"/>
              <a:buAutoNum type="arabicPeriod"/>
            </a:pPr>
            <a:r>
              <a:rPr lang="en-GB" noProof="0" dirty="0"/>
              <a:t>Which country has the most official languages and how many does it have?</a:t>
            </a:r>
          </a:p>
          <a:p>
            <a:pPr marL="742950" indent="-742950">
              <a:spcAft>
                <a:spcPts val="1200"/>
              </a:spcAft>
              <a:buFont typeface="+mj-lt"/>
              <a:buAutoNum type="arabicPeriod"/>
            </a:pPr>
            <a:r>
              <a:rPr lang="en-GB" noProof="0" dirty="0"/>
              <a:t>In what year was the first email sent and who sent it?</a:t>
            </a:r>
          </a:p>
          <a:p>
            <a:pPr marL="742950" indent="-742950">
              <a:spcAft>
                <a:spcPts val="1200"/>
              </a:spcAft>
              <a:buFont typeface="+mj-lt"/>
              <a:buAutoNum type="arabicPeriod"/>
            </a:pPr>
            <a:r>
              <a:rPr lang="en-GB" noProof="0" dirty="0"/>
              <a:t>Which animal is known as the "ship of the desert" and why is it called that?</a:t>
            </a:r>
          </a:p>
          <a:p>
            <a:pPr marL="742950" indent="-742950">
              <a:spcAft>
                <a:spcPts val="1200"/>
              </a:spcAft>
              <a:buFont typeface="+mj-lt"/>
              <a:buAutoNum type="arabicPeriod"/>
            </a:pPr>
            <a:r>
              <a:rPr lang="en-GB" noProof="0" dirty="0"/>
              <a:t>What is the smallest country in the world by land area and where is it located?</a:t>
            </a:r>
          </a:p>
          <a:p>
            <a:endParaRPr lang="en-GB" noProof="0" dirty="0"/>
          </a:p>
        </p:txBody>
      </p:sp>
    </p:spTree>
    <p:extLst>
      <p:ext uri="{BB962C8B-B14F-4D97-AF65-F5344CB8AC3E}">
        <p14:creationId xmlns:p14="http://schemas.microsoft.com/office/powerpoint/2010/main" val="3191455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424C2-7EE5-9425-8418-3ADB17C938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D49062-B4CF-1296-3DA4-E04F234C82EB}"/>
              </a:ext>
            </a:extLst>
          </p:cNvPr>
          <p:cNvSpPr>
            <a:spLocks noGrp="1"/>
          </p:cNvSpPr>
          <p:nvPr>
            <p:ph type="title"/>
          </p:nvPr>
        </p:nvSpPr>
        <p:spPr/>
        <p:txBody>
          <a:bodyPr/>
          <a:lstStyle/>
          <a:p>
            <a:r>
              <a:rPr lang="en-GB" noProof="0" dirty="0"/>
              <a:t>1: Search engines </a:t>
            </a:r>
            <a:r>
              <a:rPr lang="en-GB" noProof="0" dirty="0">
                <a:solidFill>
                  <a:srgbClr val="C00000"/>
                </a:solidFill>
              </a:rPr>
              <a:t>ANSWERS</a:t>
            </a:r>
          </a:p>
        </p:txBody>
      </p:sp>
      <p:sp>
        <p:nvSpPr>
          <p:cNvPr id="3" name="Content Placeholder 2">
            <a:extLst>
              <a:ext uri="{FF2B5EF4-FFF2-40B4-BE49-F238E27FC236}">
                <a16:creationId xmlns:a16="http://schemas.microsoft.com/office/drawing/2014/main" id="{5384E889-7A91-2FBF-5953-AA9FE779F5A1}"/>
              </a:ext>
            </a:extLst>
          </p:cNvPr>
          <p:cNvSpPr>
            <a:spLocks noGrp="1"/>
          </p:cNvSpPr>
          <p:nvPr>
            <p:ph idx="1"/>
          </p:nvPr>
        </p:nvSpPr>
        <p:spPr/>
        <p:txBody>
          <a:bodyPr>
            <a:normAutofit fontScale="92500" lnSpcReduction="20000"/>
          </a:bodyPr>
          <a:lstStyle/>
          <a:p>
            <a:pPr marL="742950" indent="-742950">
              <a:spcAft>
                <a:spcPts val="1200"/>
              </a:spcAft>
              <a:buFont typeface="+mj-lt"/>
              <a:buAutoNum type="arabicPeriod"/>
            </a:pPr>
            <a:r>
              <a:rPr lang="en-GB" noProof="0" dirty="0"/>
              <a:t>What is the tallest mountain in South America and how high is it?</a:t>
            </a:r>
          </a:p>
          <a:p>
            <a:pPr marL="719138">
              <a:spcAft>
                <a:spcPts val="1200"/>
              </a:spcAft>
            </a:pPr>
            <a:r>
              <a:rPr lang="en-GB" b="1" noProof="0" dirty="0">
                <a:solidFill>
                  <a:srgbClr val="C00000"/>
                </a:solidFill>
              </a:rPr>
              <a:t>Aconcagua, 6,961 metres (22,841 feet).</a:t>
            </a:r>
          </a:p>
          <a:p>
            <a:pPr marL="742950" indent="-742950">
              <a:spcAft>
                <a:spcPts val="1200"/>
              </a:spcAft>
              <a:buFont typeface="+mj-lt"/>
              <a:buAutoNum type="arabicPeriod" startAt="2"/>
            </a:pPr>
            <a:r>
              <a:rPr lang="en-GB" noProof="0" dirty="0"/>
              <a:t>Which country has the most official languages and how many does it have?</a:t>
            </a:r>
          </a:p>
          <a:p>
            <a:pPr marL="719138">
              <a:spcAft>
                <a:spcPts val="1200"/>
              </a:spcAft>
            </a:pPr>
            <a:r>
              <a:rPr lang="en-GB" b="1" noProof="0" dirty="0">
                <a:solidFill>
                  <a:srgbClr val="C00000"/>
                </a:solidFill>
              </a:rPr>
              <a:t>Bolivia, with 37 official languages.</a:t>
            </a:r>
          </a:p>
          <a:p>
            <a:pPr marL="742950" indent="-742950">
              <a:spcAft>
                <a:spcPts val="1200"/>
              </a:spcAft>
              <a:buFont typeface="+mj-lt"/>
              <a:buAutoNum type="arabicPeriod" startAt="3"/>
            </a:pPr>
            <a:r>
              <a:rPr lang="en-GB" noProof="0" dirty="0"/>
              <a:t>In what year was the first email sent and who sent it?</a:t>
            </a:r>
          </a:p>
          <a:p>
            <a:pPr marL="719138">
              <a:spcAft>
                <a:spcPts val="1200"/>
              </a:spcAft>
            </a:pPr>
            <a:r>
              <a:rPr lang="en-GB" b="1" noProof="0" dirty="0">
                <a:solidFill>
                  <a:srgbClr val="C00000"/>
                </a:solidFill>
              </a:rPr>
              <a:t>1971, sent by Ray Tomlinson.</a:t>
            </a:r>
            <a:endParaRPr lang="en-GB" noProof="0" dirty="0"/>
          </a:p>
        </p:txBody>
      </p:sp>
    </p:spTree>
    <p:extLst>
      <p:ext uri="{BB962C8B-B14F-4D97-AF65-F5344CB8AC3E}">
        <p14:creationId xmlns:p14="http://schemas.microsoft.com/office/powerpoint/2010/main" val="771662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D0058-8E5D-783E-4962-C5DEBD8D63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C5DB34-9652-AA84-F724-D2B23CE3F636}"/>
              </a:ext>
            </a:extLst>
          </p:cNvPr>
          <p:cNvSpPr>
            <a:spLocks noGrp="1"/>
          </p:cNvSpPr>
          <p:nvPr>
            <p:ph type="title"/>
          </p:nvPr>
        </p:nvSpPr>
        <p:spPr/>
        <p:txBody>
          <a:bodyPr/>
          <a:lstStyle/>
          <a:p>
            <a:r>
              <a:rPr lang="en-GB" noProof="0" dirty="0"/>
              <a:t>1: Search engines </a:t>
            </a:r>
            <a:r>
              <a:rPr lang="en-GB" noProof="0" dirty="0">
                <a:solidFill>
                  <a:srgbClr val="C00000"/>
                </a:solidFill>
              </a:rPr>
              <a:t>ANSWERS</a:t>
            </a:r>
          </a:p>
        </p:txBody>
      </p:sp>
      <p:sp>
        <p:nvSpPr>
          <p:cNvPr id="3" name="Content Placeholder 2">
            <a:extLst>
              <a:ext uri="{FF2B5EF4-FFF2-40B4-BE49-F238E27FC236}">
                <a16:creationId xmlns:a16="http://schemas.microsoft.com/office/drawing/2014/main" id="{8D17ED2F-6A8C-5123-527D-076D03411061}"/>
              </a:ext>
            </a:extLst>
          </p:cNvPr>
          <p:cNvSpPr>
            <a:spLocks noGrp="1"/>
          </p:cNvSpPr>
          <p:nvPr>
            <p:ph idx="1"/>
          </p:nvPr>
        </p:nvSpPr>
        <p:spPr/>
        <p:txBody>
          <a:bodyPr>
            <a:normAutofit/>
          </a:bodyPr>
          <a:lstStyle/>
          <a:p>
            <a:pPr marL="742950" indent="-742950">
              <a:spcAft>
                <a:spcPts val="1200"/>
              </a:spcAft>
              <a:buFont typeface="+mj-lt"/>
              <a:buAutoNum type="arabicPeriod" startAt="4"/>
            </a:pPr>
            <a:r>
              <a:rPr lang="en-GB" noProof="0" dirty="0"/>
              <a:t>Which animal is known as the "ship of the desert" and why is it called that?</a:t>
            </a:r>
          </a:p>
          <a:p>
            <a:pPr marL="719138">
              <a:spcAft>
                <a:spcPts val="1200"/>
              </a:spcAft>
            </a:pPr>
            <a:r>
              <a:rPr lang="en-GB" b="1" noProof="0" dirty="0">
                <a:solidFill>
                  <a:srgbClr val="C00000"/>
                </a:solidFill>
              </a:rPr>
              <a:t>The camel, because it can travel long distances across deserts.</a:t>
            </a:r>
          </a:p>
          <a:p>
            <a:pPr marL="742950" indent="-742950">
              <a:spcAft>
                <a:spcPts val="1200"/>
              </a:spcAft>
              <a:buFont typeface="+mj-lt"/>
              <a:buAutoNum type="arabicPeriod" startAt="5"/>
            </a:pPr>
            <a:r>
              <a:rPr lang="en-GB" noProof="0" dirty="0"/>
              <a:t>What is the smallest country in the world by land area and where is it located?</a:t>
            </a:r>
          </a:p>
          <a:p>
            <a:pPr marL="719138">
              <a:spcAft>
                <a:spcPts val="1200"/>
              </a:spcAft>
            </a:pPr>
            <a:r>
              <a:rPr lang="en-GB" b="1" noProof="0" dirty="0">
                <a:solidFill>
                  <a:srgbClr val="C00000"/>
                </a:solidFill>
              </a:rPr>
              <a:t>Vatican City, located within Rome, Italy.</a:t>
            </a:r>
            <a:endParaRPr lang="en-GB" noProof="0" dirty="0"/>
          </a:p>
        </p:txBody>
      </p:sp>
    </p:spTree>
    <p:extLst>
      <p:ext uri="{BB962C8B-B14F-4D97-AF65-F5344CB8AC3E}">
        <p14:creationId xmlns:p14="http://schemas.microsoft.com/office/powerpoint/2010/main" val="3206928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76452C0-8E2A-28E1-E77E-7E16CB9EFDA0}"/>
              </a:ext>
            </a:extLst>
          </p:cNvPr>
          <p:cNvSpPr>
            <a:spLocks noGrp="1"/>
          </p:cNvSpPr>
          <p:nvPr>
            <p:ph idx="1"/>
          </p:nvPr>
        </p:nvSpPr>
        <p:spPr/>
        <p:txBody>
          <a:bodyPr>
            <a:normAutofit fontScale="85000" lnSpcReduction="10000"/>
          </a:bodyPr>
          <a:lstStyle/>
          <a:p>
            <a:pPr>
              <a:spcAft>
                <a:spcPts val="600"/>
              </a:spcAft>
            </a:pPr>
            <a:r>
              <a:rPr lang="en-GB" sz="3200" noProof="0" dirty="0"/>
              <a:t>What keywords did you type in to find the answers to the following questions:</a:t>
            </a:r>
          </a:p>
          <a:p>
            <a:pPr marL="742950" indent="-742950">
              <a:spcAft>
                <a:spcPts val="600"/>
              </a:spcAft>
              <a:buFont typeface="+mj-lt"/>
              <a:buAutoNum type="arabicPeriod"/>
            </a:pPr>
            <a:r>
              <a:rPr lang="en-GB" sz="3200" noProof="0" dirty="0"/>
              <a:t>What is the tallest mountain in South America and how high is it?</a:t>
            </a:r>
          </a:p>
          <a:p>
            <a:pPr marL="742950" indent="-742950">
              <a:spcAft>
                <a:spcPts val="600"/>
              </a:spcAft>
              <a:buFont typeface="+mj-lt"/>
              <a:buAutoNum type="arabicPeriod"/>
            </a:pPr>
            <a:r>
              <a:rPr lang="en-GB" sz="3200" noProof="0" dirty="0"/>
              <a:t>Which country has the most official languages and how many does it have?</a:t>
            </a:r>
          </a:p>
          <a:p>
            <a:pPr marL="742950" indent="-742950">
              <a:spcAft>
                <a:spcPts val="600"/>
              </a:spcAft>
              <a:buFont typeface="+mj-lt"/>
              <a:buAutoNum type="arabicPeriod"/>
            </a:pPr>
            <a:r>
              <a:rPr lang="en-GB" sz="3200" noProof="0" dirty="0"/>
              <a:t>In what year was the first email sent and who sent it?</a:t>
            </a:r>
          </a:p>
          <a:p>
            <a:pPr marL="742950" indent="-742950">
              <a:spcAft>
                <a:spcPts val="600"/>
              </a:spcAft>
              <a:buFont typeface="+mj-lt"/>
              <a:buAutoNum type="arabicPeriod"/>
            </a:pPr>
            <a:r>
              <a:rPr lang="en-GB" sz="3200" noProof="0" dirty="0"/>
              <a:t>Which animal is known as the "ship of the desert" and why is it called that?</a:t>
            </a:r>
          </a:p>
          <a:p>
            <a:pPr marL="742950" indent="-742950">
              <a:spcAft>
                <a:spcPts val="600"/>
              </a:spcAft>
              <a:buFont typeface="+mj-lt"/>
              <a:buAutoNum type="arabicPeriod"/>
            </a:pPr>
            <a:r>
              <a:rPr lang="en-GB" sz="3200" noProof="0" dirty="0"/>
              <a:t>What is the smallest country in the world by land area and where is it located?</a:t>
            </a:r>
          </a:p>
          <a:p>
            <a:pPr>
              <a:spcAft>
                <a:spcPts val="600"/>
              </a:spcAft>
            </a:pPr>
            <a:endParaRPr lang="en-GB" sz="3200" noProof="0" dirty="0"/>
          </a:p>
        </p:txBody>
      </p:sp>
      <p:sp>
        <p:nvSpPr>
          <p:cNvPr id="4" name="Title 3">
            <a:extLst>
              <a:ext uri="{FF2B5EF4-FFF2-40B4-BE49-F238E27FC236}">
                <a16:creationId xmlns:a16="http://schemas.microsoft.com/office/drawing/2014/main" id="{7773CF01-F20D-9CC7-D1F0-EE157C9E40E1}"/>
              </a:ext>
            </a:extLst>
          </p:cNvPr>
          <p:cNvSpPr>
            <a:spLocks noGrp="1"/>
          </p:cNvSpPr>
          <p:nvPr>
            <p:ph type="title"/>
          </p:nvPr>
        </p:nvSpPr>
        <p:spPr/>
        <p:txBody>
          <a:bodyPr/>
          <a:lstStyle/>
          <a:p>
            <a:r>
              <a:rPr lang="en-GB" noProof="0" dirty="0"/>
              <a:t>1: Search engines</a:t>
            </a:r>
          </a:p>
        </p:txBody>
      </p:sp>
      <p:sp>
        <p:nvSpPr>
          <p:cNvPr id="7" name="Rectangle: Rounded Corners 6">
            <a:extLst>
              <a:ext uri="{FF2B5EF4-FFF2-40B4-BE49-F238E27FC236}">
                <a16:creationId xmlns:a16="http://schemas.microsoft.com/office/drawing/2014/main" id="{484A945C-8E92-BA6D-FCCA-35D5E4E6A61C}"/>
              </a:ext>
              <a:ext uri="{C183D7F6-B498-43B3-948B-1728B52AA6E4}">
                <adec:decorative xmlns:adec="http://schemas.microsoft.com/office/drawing/2017/decorative" val="1"/>
              </a:ext>
            </a:extLst>
          </p:cNvPr>
          <p:cNvSpPr/>
          <p:nvPr/>
        </p:nvSpPr>
        <p:spPr>
          <a:xfrm>
            <a:off x="3442697" y="2110776"/>
            <a:ext cx="3081393"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 name="Rectangle: Rounded Corners 8">
            <a:extLst>
              <a:ext uri="{FF2B5EF4-FFF2-40B4-BE49-F238E27FC236}">
                <a16:creationId xmlns:a16="http://schemas.microsoft.com/office/drawing/2014/main" id="{28E557EF-D8EB-3D9B-D5D8-031865129729}"/>
              </a:ext>
              <a:ext uri="{C183D7F6-B498-43B3-948B-1728B52AA6E4}">
                <adec:decorative xmlns:adec="http://schemas.microsoft.com/office/drawing/2017/decorative" val="1"/>
              </a:ext>
            </a:extLst>
          </p:cNvPr>
          <p:cNvSpPr/>
          <p:nvPr/>
        </p:nvSpPr>
        <p:spPr>
          <a:xfrm>
            <a:off x="6954747" y="2110775"/>
            <a:ext cx="2836525"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Rectangle: Rounded Corners 10">
            <a:extLst>
              <a:ext uri="{FF2B5EF4-FFF2-40B4-BE49-F238E27FC236}">
                <a16:creationId xmlns:a16="http://schemas.microsoft.com/office/drawing/2014/main" id="{7DE05592-00BF-6577-1DB9-5E6DE68B873C}"/>
              </a:ext>
              <a:ext uri="{C183D7F6-B498-43B3-948B-1728B52AA6E4}">
                <adec:decorative xmlns:adec="http://schemas.microsoft.com/office/drawing/2017/decorative" val="1"/>
              </a:ext>
            </a:extLst>
          </p:cNvPr>
          <p:cNvSpPr/>
          <p:nvPr/>
        </p:nvSpPr>
        <p:spPr>
          <a:xfrm>
            <a:off x="2422132" y="2967145"/>
            <a:ext cx="1440951"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C677113C-EDCE-5E2C-EBF0-B7F307484249}"/>
              </a:ext>
              <a:ext uri="{C183D7F6-B498-43B3-948B-1728B52AA6E4}">
                <adec:decorative xmlns:adec="http://schemas.microsoft.com/office/drawing/2017/decorative" val="1"/>
              </a:ext>
            </a:extLst>
          </p:cNvPr>
          <p:cNvSpPr/>
          <p:nvPr/>
        </p:nvSpPr>
        <p:spPr>
          <a:xfrm>
            <a:off x="5415979" y="2967144"/>
            <a:ext cx="4353889"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4" name="Rectangle: Rounded Corners 13">
            <a:extLst>
              <a:ext uri="{FF2B5EF4-FFF2-40B4-BE49-F238E27FC236}">
                <a16:creationId xmlns:a16="http://schemas.microsoft.com/office/drawing/2014/main" id="{5A7D80BC-D46D-921C-D621-4E9A040BFEDD}"/>
              </a:ext>
              <a:ext uri="{C183D7F6-B498-43B3-948B-1728B52AA6E4}">
                <adec:decorative xmlns:adec="http://schemas.microsoft.com/office/drawing/2017/decorative" val="1"/>
              </a:ext>
            </a:extLst>
          </p:cNvPr>
          <p:cNvSpPr/>
          <p:nvPr/>
        </p:nvSpPr>
        <p:spPr>
          <a:xfrm>
            <a:off x="2687122" y="3823512"/>
            <a:ext cx="919108"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6" name="Rectangle: Rounded Corners 15">
            <a:extLst>
              <a:ext uri="{FF2B5EF4-FFF2-40B4-BE49-F238E27FC236}">
                <a16:creationId xmlns:a16="http://schemas.microsoft.com/office/drawing/2014/main" id="{7D564F2C-AB22-67E6-7508-A036C3FEA114}"/>
              </a:ext>
              <a:ext uri="{C183D7F6-B498-43B3-948B-1728B52AA6E4}">
                <adec:decorative xmlns:adec="http://schemas.microsoft.com/office/drawing/2017/decorative" val="1"/>
              </a:ext>
            </a:extLst>
          </p:cNvPr>
          <p:cNvSpPr/>
          <p:nvPr/>
        </p:nvSpPr>
        <p:spPr>
          <a:xfrm>
            <a:off x="5176892" y="3823511"/>
            <a:ext cx="2004744"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8" name="Rectangle: Rounded Corners 17">
            <a:extLst>
              <a:ext uri="{FF2B5EF4-FFF2-40B4-BE49-F238E27FC236}">
                <a16:creationId xmlns:a16="http://schemas.microsoft.com/office/drawing/2014/main" id="{294CB1A1-37AA-3FA2-AF4C-3D26A68D37BC}"/>
              </a:ext>
              <a:ext uri="{C183D7F6-B498-43B3-948B-1728B52AA6E4}">
                <adec:decorative xmlns:adec="http://schemas.microsoft.com/office/drawing/2017/decorative" val="1"/>
              </a:ext>
            </a:extLst>
          </p:cNvPr>
          <p:cNvSpPr/>
          <p:nvPr/>
        </p:nvSpPr>
        <p:spPr>
          <a:xfrm>
            <a:off x="2422132" y="4398052"/>
            <a:ext cx="1248097" cy="368282"/>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0" name="Rectangle: Rounded Corners 19">
            <a:extLst>
              <a:ext uri="{FF2B5EF4-FFF2-40B4-BE49-F238E27FC236}">
                <a16:creationId xmlns:a16="http://schemas.microsoft.com/office/drawing/2014/main" id="{A468646A-B247-429C-02BB-E5018E9FCB9E}"/>
              </a:ext>
              <a:ext uri="{C183D7F6-B498-43B3-948B-1728B52AA6E4}">
                <adec:decorative xmlns:adec="http://schemas.microsoft.com/office/drawing/2017/decorative" val="1"/>
              </a:ext>
            </a:extLst>
          </p:cNvPr>
          <p:cNvSpPr/>
          <p:nvPr/>
        </p:nvSpPr>
        <p:spPr>
          <a:xfrm>
            <a:off x="6869556" y="4398052"/>
            <a:ext cx="3322408" cy="368282"/>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2" name="Rectangle: Rounded Corners 21">
            <a:extLst>
              <a:ext uri="{FF2B5EF4-FFF2-40B4-BE49-F238E27FC236}">
                <a16:creationId xmlns:a16="http://schemas.microsoft.com/office/drawing/2014/main" id="{45103BC0-4233-8B11-3884-5E428C117DED}"/>
              </a:ext>
              <a:ext uri="{C183D7F6-B498-43B3-948B-1728B52AA6E4}">
                <adec:decorative xmlns:adec="http://schemas.microsoft.com/office/drawing/2017/decorative" val="1"/>
              </a:ext>
            </a:extLst>
          </p:cNvPr>
          <p:cNvSpPr/>
          <p:nvPr/>
        </p:nvSpPr>
        <p:spPr>
          <a:xfrm>
            <a:off x="3442846" y="5285240"/>
            <a:ext cx="3081244" cy="368282"/>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3" name="Rectangle: Rounded Corners 22">
            <a:extLst>
              <a:ext uri="{FF2B5EF4-FFF2-40B4-BE49-F238E27FC236}">
                <a16:creationId xmlns:a16="http://schemas.microsoft.com/office/drawing/2014/main" id="{4D029ABF-8A42-DC57-4F93-237B2391E499}"/>
              </a:ext>
              <a:ext uri="{C183D7F6-B498-43B3-948B-1728B52AA6E4}">
                <adec:decorative xmlns:adec="http://schemas.microsoft.com/office/drawing/2017/decorative" val="1"/>
              </a:ext>
            </a:extLst>
          </p:cNvPr>
          <p:cNvSpPr/>
          <p:nvPr/>
        </p:nvSpPr>
        <p:spPr>
          <a:xfrm>
            <a:off x="9472772" y="5285240"/>
            <a:ext cx="1837717" cy="368282"/>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43940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7" grpId="0" animBg="1"/>
      <p:bldP spid="9" grpId="0" animBg="1"/>
      <p:bldP spid="11" grpId="0" animBg="1"/>
      <p:bldP spid="12" grpId="0" animBg="1"/>
      <p:bldP spid="14" grpId="0" animBg="1"/>
      <p:bldP spid="16" grpId="0" animBg="1"/>
      <p:bldP spid="18" grpId="0" animBg="1"/>
      <p:bldP spid="20" grpId="0" animBg="1"/>
      <p:bldP spid="22" grpId="0" animBg="1"/>
      <p:bldP spid="2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1E7A88C-ABE8-BFCE-DE2C-AEF7E2ED4267}"/>
              </a:ext>
            </a:extLst>
          </p:cNvPr>
          <p:cNvSpPr>
            <a:spLocks noGrp="1"/>
          </p:cNvSpPr>
          <p:nvPr>
            <p:ph idx="1"/>
          </p:nvPr>
        </p:nvSpPr>
        <p:spPr/>
        <p:txBody>
          <a:bodyPr/>
          <a:lstStyle/>
          <a:p>
            <a:r>
              <a:rPr lang="en-GB" noProof="0" dirty="0"/>
              <a:t>What keywords worked well?</a:t>
            </a:r>
          </a:p>
          <a:p>
            <a:r>
              <a:rPr lang="en-GB" noProof="0" dirty="0"/>
              <a:t>Do you need to type the entire question when searching for an answer?</a:t>
            </a:r>
          </a:p>
          <a:p>
            <a:r>
              <a:rPr lang="en-GB" noProof="0" dirty="0"/>
              <a:t>What challenges did you face?</a:t>
            </a:r>
          </a:p>
        </p:txBody>
      </p:sp>
      <p:sp>
        <p:nvSpPr>
          <p:cNvPr id="4" name="Title 3">
            <a:extLst>
              <a:ext uri="{FF2B5EF4-FFF2-40B4-BE49-F238E27FC236}">
                <a16:creationId xmlns:a16="http://schemas.microsoft.com/office/drawing/2014/main" id="{E0278BEA-0367-6130-6845-8F29BC93BB55}"/>
              </a:ext>
            </a:extLst>
          </p:cNvPr>
          <p:cNvSpPr>
            <a:spLocks noGrp="1"/>
          </p:cNvSpPr>
          <p:nvPr>
            <p:ph type="title"/>
          </p:nvPr>
        </p:nvSpPr>
        <p:spPr/>
        <p:txBody>
          <a:bodyPr/>
          <a:lstStyle/>
          <a:p>
            <a:r>
              <a:rPr lang="en-GB" noProof="0" dirty="0"/>
              <a:t>1: Search engines</a:t>
            </a:r>
          </a:p>
        </p:txBody>
      </p:sp>
    </p:spTree>
    <p:extLst>
      <p:ext uri="{BB962C8B-B14F-4D97-AF65-F5344CB8AC3E}">
        <p14:creationId xmlns:p14="http://schemas.microsoft.com/office/powerpoint/2010/main" val="4230083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4EDDF-DA3A-23EB-AF41-ED5529DB04E8}"/>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37C15442-47A6-8269-B2FC-CDAB290F753D}"/>
              </a:ext>
            </a:extLst>
          </p:cNvPr>
          <p:cNvSpPr>
            <a:spLocks noGrp="1"/>
          </p:cNvSpPr>
          <p:nvPr>
            <p:ph idx="1"/>
          </p:nvPr>
        </p:nvSpPr>
        <p:spPr/>
        <p:txBody>
          <a:bodyPr/>
          <a:lstStyle/>
          <a:p>
            <a:r>
              <a:rPr lang="en-GB" b="1" noProof="0" dirty="0">
                <a:solidFill>
                  <a:srgbClr val="C00000"/>
                </a:solidFill>
              </a:rPr>
              <a:t>Search engines </a:t>
            </a:r>
            <a:r>
              <a:rPr lang="en-GB" noProof="0" dirty="0"/>
              <a:t>use automated bots called “crawlers” to visit websites and collect information about their content.</a:t>
            </a:r>
          </a:p>
          <a:p>
            <a:r>
              <a:rPr lang="en-GB" noProof="0" dirty="0"/>
              <a:t>The collected information is stored in a giant database called an “index,” which helps the search engine quickly find relevant results when you search.</a:t>
            </a:r>
          </a:p>
        </p:txBody>
      </p:sp>
    </p:spTree>
    <p:extLst>
      <p:ext uri="{BB962C8B-B14F-4D97-AF65-F5344CB8AC3E}">
        <p14:creationId xmlns:p14="http://schemas.microsoft.com/office/powerpoint/2010/main" val="2973774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87C7-BD25-593B-008D-8DFCDE288043}"/>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DBE10505-CB70-05CD-4CA6-44FA41481B45}"/>
              </a:ext>
            </a:extLst>
          </p:cNvPr>
          <p:cNvSpPr>
            <a:spLocks noGrp="1"/>
          </p:cNvSpPr>
          <p:nvPr>
            <p:ph idx="1"/>
          </p:nvPr>
        </p:nvSpPr>
        <p:spPr/>
        <p:txBody>
          <a:bodyPr/>
          <a:lstStyle/>
          <a:p>
            <a:r>
              <a:rPr lang="en-GB" noProof="0" dirty="0"/>
              <a:t>When you type a query, the search engine uses an algorithm to decide the order of results. It shows the most relevant websites at the top.</a:t>
            </a:r>
          </a:p>
          <a:p>
            <a:r>
              <a:rPr lang="en-GB" noProof="0" dirty="0"/>
              <a:t>What do you think Google considers when deciding which websites to show at the top?</a:t>
            </a:r>
          </a:p>
        </p:txBody>
      </p:sp>
    </p:spTree>
    <p:extLst>
      <p:ext uri="{BB962C8B-B14F-4D97-AF65-F5344CB8AC3E}">
        <p14:creationId xmlns:p14="http://schemas.microsoft.com/office/powerpoint/2010/main" val="746234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03ACF-4809-03D5-3492-CC83DAD5A779}"/>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60B3DF51-A486-DBBC-2F5A-3EB454E3FF21}"/>
              </a:ext>
            </a:extLst>
          </p:cNvPr>
          <p:cNvSpPr>
            <a:spLocks noGrp="1"/>
          </p:cNvSpPr>
          <p:nvPr>
            <p:ph idx="1"/>
          </p:nvPr>
        </p:nvSpPr>
        <p:spPr/>
        <p:txBody>
          <a:bodyPr>
            <a:normAutofit lnSpcReduction="10000"/>
          </a:bodyPr>
          <a:lstStyle/>
          <a:p>
            <a:r>
              <a:rPr lang="en-GB" noProof="0" dirty="0"/>
              <a:t>Google’s algorithm considers over 200 factors when ranking websites! Some of these include:</a:t>
            </a:r>
          </a:p>
          <a:p>
            <a:r>
              <a:rPr lang="en-GB" b="1" noProof="0" dirty="0"/>
              <a:t>Keywords: </a:t>
            </a:r>
            <a:r>
              <a:rPr lang="en-GB" noProof="0" dirty="0"/>
              <a:t>Does the website match the words you searched for?</a:t>
            </a:r>
          </a:p>
          <a:p>
            <a:r>
              <a:rPr lang="en-GB" b="1" noProof="0" dirty="0"/>
              <a:t>Popularity: </a:t>
            </a:r>
            <a:r>
              <a:rPr lang="en-GB" noProof="0" dirty="0"/>
              <a:t>Are many people visiting or linking to this website?</a:t>
            </a:r>
          </a:p>
          <a:p>
            <a:r>
              <a:rPr lang="en-GB" b="1" noProof="0" dirty="0"/>
              <a:t>Freshness: </a:t>
            </a:r>
            <a:r>
              <a:rPr lang="en-GB" noProof="0" dirty="0"/>
              <a:t>Is the information up to date?</a:t>
            </a:r>
          </a:p>
        </p:txBody>
      </p:sp>
    </p:spTree>
    <p:extLst>
      <p:ext uri="{BB962C8B-B14F-4D97-AF65-F5344CB8AC3E}">
        <p14:creationId xmlns:p14="http://schemas.microsoft.com/office/powerpoint/2010/main" val="121596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3A1536-A3BF-D3CD-B06D-5F53DA255F7B}"/>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65783DDA-F5E1-BF7C-4C4D-41ED52C802DF}"/>
              </a:ext>
            </a:extLst>
          </p:cNvPr>
          <p:cNvSpPr>
            <a:spLocks noGrp="1"/>
          </p:cNvSpPr>
          <p:nvPr>
            <p:ph idx="1"/>
          </p:nvPr>
        </p:nvSpPr>
        <p:spPr/>
        <p:txBody>
          <a:bodyPr>
            <a:normAutofit lnSpcReduction="10000"/>
          </a:bodyPr>
          <a:lstStyle/>
          <a:p>
            <a:r>
              <a:rPr lang="en-GB" noProof="0" dirty="0"/>
              <a:t>What does the word </a:t>
            </a:r>
            <a:r>
              <a:rPr lang="en-GB" b="1" noProof="0" dirty="0">
                <a:solidFill>
                  <a:srgbClr val="C00000"/>
                </a:solidFill>
              </a:rPr>
              <a:t>bias</a:t>
            </a:r>
            <a:r>
              <a:rPr lang="en-GB" noProof="0" dirty="0"/>
              <a:t> mean?</a:t>
            </a:r>
          </a:p>
          <a:p>
            <a:r>
              <a:rPr lang="en-GB" b="1" noProof="0" dirty="0">
                <a:solidFill>
                  <a:srgbClr val="C00000"/>
                </a:solidFill>
              </a:rPr>
              <a:t>Bias means being unfairly influenced or favouring one side over another. </a:t>
            </a:r>
          </a:p>
          <a:p>
            <a:r>
              <a:rPr lang="en-GB" noProof="0" dirty="0"/>
              <a:t>Search engines can have biases too!</a:t>
            </a:r>
          </a:p>
          <a:p>
            <a:r>
              <a:rPr lang="en-GB" noProof="0" dirty="0"/>
              <a:t>For example, a search engine might show certain websites more often because they are popular or paid for, even if other websites have better information.</a:t>
            </a:r>
          </a:p>
        </p:txBody>
      </p:sp>
    </p:spTree>
    <p:extLst>
      <p:ext uri="{BB962C8B-B14F-4D97-AF65-F5344CB8AC3E}">
        <p14:creationId xmlns:p14="http://schemas.microsoft.com/office/powerpoint/2010/main" val="388381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56F91-9225-817C-0567-6A06E8C952D0}"/>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9A524D20-9D43-118F-5256-A447666271FB}"/>
              </a:ext>
            </a:extLst>
          </p:cNvPr>
          <p:cNvSpPr>
            <a:spLocks noGrp="1"/>
          </p:cNvSpPr>
          <p:nvPr>
            <p:ph idx="1"/>
          </p:nvPr>
        </p:nvSpPr>
        <p:spPr/>
        <p:txBody>
          <a:bodyPr>
            <a:normAutofit fontScale="92500" lnSpcReduction="10000"/>
          </a:bodyPr>
          <a:lstStyle/>
          <a:p>
            <a:r>
              <a:rPr lang="en-GB" noProof="0" dirty="0"/>
              <a:t>Examples of bias in search results:</a:t>
            </a:r>
          </a:p>
          <a:p>
            <a:r>
              <a:rPr lang="en-GB" b="1" noProof="0" dirty="0"/>
              <a:t>Ads: </a:t>
            </a:r>
            <a:r>
              <a:rPr lang="en-GB" noProof="0" dirty="0"/>
              <a:t>Paid advertisements often appear at the top even if they’re not the best match for your query.</a:t>
            </a:r>
          </a:p>
          <a:p>
            <a:r>
              <a:rPr lang="en-GB" b="1" noProof="0" dirty="0"/>
              <a:t>Popularity bias: </a:t>
            </a:r>
            <a:r>
              <a:rPr lang="en-GB" noProof="0" dirty="0"/>
              <a:t>Websites that are already popular are more likely to appear at the top, even if smaller websites have better information.</a:t>
            </a:r>
          </a:p>
          <a:p>
            <a:r>
              <a:rPr lang="en-GB" b="1" noProof="0" dirty="0"/>
              <a:t>Personalisation: </a:t>
            </a:r>
            <a:r>
              <a:rPr lang="en-GB" noProof="0" dirty="0"/>
              <a:t>Search engines show results based on your past searches, which can limit what you see. This is called a “filter bubble”.</a:t>
            </a:r>
          </a:p>
        </p:txBody>
      </p:sp>
    </p:spTree>
    <p:extLst>
      <p:ext uri="{BB962C8B-B14F-4D97-AF65-F5344CB8AC3E}">
        <p14:creationId xmlns:p14="http://schemas.microsoft.com/office/powerpoint/2010/main" val="148393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EA02-2271-33E1-FAE8-366DDCEC7881}"/>
              </a:ext>
            </a:extLst>
          </p:cNvPr>
          <p:cNvSpPr>
            <a:spLocks noGrp="1"/>
          </p:cNvSpPr>
          <p:nvPr>
            <p:ph type="title"/>
          </p:nvPr>
        </p:nvSpPr>
        <p:spPr/>
        <p:txBody>
          <a:bodyPr/>
          <a:lstStyle/>
          <a:p>
            <a:r>
              <a:rPr lang="en-GB" noProof="0" dirty="0"/>
              <a:t>Search engines</a:t>
            </a:r>
          </a:p>
        </p:txBody>
      </p:sp>
      <p:sp>
        <p:nvSpPr>
          <p:cNvPr id="3" name="Content Placeholder 2">
            <a:extLst>
              <a:ext uri="{FF2B5EF4-FFF2-40B4-BE49-F238E27FC236}">
                <a16:creationId xmlns:a16="http://schemas.microsoft.com/office/drawing/2014/main" id="{CC9EEE47-F563-17D8-1385-66DA40ACE9C4}"/>
              </a:ext>
            </a:extLst>
          </p:cNvPr>
          <p:cNvSpPr>
            <a:spLocks noGrp="1"/>
          </p:cNvSpPr>
          <p:nvPr>
            <p:ph idx="1"/>
          </p:nvPr>
        </p:nvSpPr>
        <p:spPr/>
        <p:txBody>
          <a:bodyPr/>
          <a:lstStyle/>
          <a:p>
            <a:r>
              <a:rPr lang="en-GB" noProof="0" dirty="0"/>
              <a:t>This means you don’t always get the best or most accurate information.</a:t>
            </a:r>
          </a:p>
          <a:p>
            <a:r>
              <a:rPr lang="en-GB" noProof="0" dirty="0"/>
              <a:t>It is important to think critically about the results you see and check multiple sources!</a:t>
            </a:r>
          </a:p>
        </p:txBody>
      </p:sp>
    </p:spTree>
    <p:extLst>
      <p:ext uri="{BB962C8B-B14F-4D97-AF65-F5344CB8AC3E}">
        <p14:creationId xmlns:p14="http://schemas.microsoft.com/office/powerpoint/2010/main" val="297907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D213-98EF-B2D0-5898-BBEEA9B6D85F}"/>
              </a:ext>
            </a:extLst>
          </p:cNvPr>
          <p:cNvSpPr>
            <a:spLocks noGrp="1"/>
          </p:cNvSpPr>
          <p:nvPr>
            <p:ph type="title"/>
          </p:nvPr>
        </p:nvSpPr>
        <p:spPr/>
        <p:txBody>
          <a:bodyPr/>
          <a:lstStyle/>
          <a:p>
            <a:r>
              <a:rPr lang="en-GB" noProof="0" dirty="0"/>
              <a:t>2: Search engines</a:t>
            </a:r>
          </a:p>
        </p:txBody>
      </p:sp>
      <p:sp>
        <p:nvSpPr>
          <p:cNvPr id="3" name="Content Placeholder 2">
            <a:extLst>
              <a:ext uri="{FF2B5EF4-FFF2-40B4-BE49-F238E27FC236}">
                <a16:creationId xmlns:a16="http://schemas.microsoft.com/office/drawing/2014/main" id="{F2F87D04-F193-551A-2953-1FCA95AD5CB0}"/>
              </a:ext>
            </a:extLst>
          </p:cNvPr>
          <p:cNvSpPr>
            <a:spLocks noGrp="1"/>
          </p:cNvSpPr>
          <p:nvPr>
            <p:ph idx="1"/>
          </p:nvPr>
        </p:nvSpPr>
        <p:spPr/>
        <p:txBody>
          <a:bodyPr>
            <a:normAutofit fontScale="92500" lnSpcReduction="10000"/>
          </a:bodyPr>
          <a:lstStyle/>
          <a:p>
            <a:r>
              <a:rPr lang="en-GB" noProof="0" dirty="0"/>
              <a:t>You are going to work in pairs to find out how old how old the oldest living monkey was.</a:t>
            </a:r>
          </a:p>
          <a:p>
            <a:r>
              <a:rPr lang="en-GB" noProof="0" dirty="0"/>
              <a:t>You will use Google for your first search and Bing for your second search.</a:t>
            </a:r>
          </a:p>
          <a:p>
            <a:r>
              <a:rPr lang="en-GB" noProof="0" dirty="0"/>
              <a:t>Type the exact same query into both search engines.</a:t>
            </a:r>
          </a:p>
          <a:p>
            <a:r>
              <a:rPr lang="en-GB" noProof="0" dirty="0"/>
              <a:t>Look at the first five results from each search engine.</a:t>
            </a:r>
          </a:p>
          <a:p>
            <a:endParaRPr lang="en-GB" noProof="0" dirty="0"/>
          </a:p>
          <a:p>
            <a:endParaRPr lang="en-GB" noProof="0" dirty="0"/>
          </a:p>
        </p:txBody>
      </p:sp>
    </p:spTree>
    <p:extLst>
      <p:ext uri="{BB962C8B-B14F-4D97-AF65-F5344CB8AC3E}">
        <p14:creationId xmlns:p14="http://schemas.microsoft.com/office/powerpoint/2010/main" val="20970044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21EB1DF3-F4AC-BF29-DDDA-91A6AB383A80}"/>
              </a:ext>
            </a:extLst>
          </p:cNvPr>
          <p:cNvSpPr>
            <a:spLocks noGrp="1"/>
          </p:cNvSpPr>
          <p:nvPr>
            <p:ph idx="1"/>
          </p:nvPr>
        </p:nvSpPr>
        <p:spPr/>
        <p:txBody>
          <a:bodyPr>
            <a:normAutofit fontScale="92500" lnSpcReduction="10000"/>
          </a:bodyPr>
          <a:lstStyle/>
          <a:p>
            <a:r>
              <a:rPr lang="en-GB" noProof="0" dirty="0"/>
              <a:t>Answer the following for each search engine:</a:t>
            </a:r>
          </a:p>
          <a:p>
            <a:pPr marL="742950" indent="-742950">
              <a:buFont typeface="+mj-lt"/>
              <a:buAutoNum type="arabicPeriod"/>
            </a:pPr>
            <a:r>
              <a:rPr lang="en-GB" noProof="0" dirty="0"/>
              <a:t>Are the results the same or different?</a:t>
            </a:r>
          </a:p>
          <a:p>
            <a:pPr marL="742950" indent="-742950">
              <a:buFont typeface="+mj-lt"/>
              <a:buAutoNum type="arabicPeriod"/>
            </a:pPr>
            <a:r>
              <a:rPr lang="en-GB" noProof="0" dirty="0"/>
              <a:t>Do the top results come from well-known websites or lesser-known ones?</a:t>
            </a:r>
          </a:p>
          <a:p>
            <a:pPr marL="742950" indent="-742950">
              <a:buFont typeface="+mj-lt"/>
              <a:buAutoNum type="arabicPeriod"/>
            </a:pPr>
            <a:r>
              <a:rPr lang="en-GB" noProof="0" dirty="0"/>
              <a:t>Are there advertisements at the top of the page?</a:t>
            </a:r>
          </a:p>
          <a:p>
            <a:pPr marL="742950" indent="-742950">
              <a:buFont typeface="+mj-lt"/>
              <a:buAutoNum type="arabicPeriod"/>
            </a:pPr>
            <a:r>
              <a:rPr lang="en-GB" noProof="0" dirty="0"/>
              <a:t>How easy is it to find the answer to your question?</a:t>
            </a:r>
          </a:p>
        </p:txBody>
      </p:sp>
      <p:sp>
        <p:nvSpPr>
          <p:cNvPr id="4" name="Title 3">
            <a:extLst>
              <a:ext uri="{FF2B5EF4-FFF2-40B4-BE49-F238E27FC236}">
                <a16:creationId xmlns:a16="http://schemas.microsoft.com/office/drawing/2014/main" id="{6B70CF42-75EE-ADB5-7C68-99AA76FCAAC5}"/>
              </a:ext>
            </a:extLst>
          </p:cNvPr>
          <p:cNvSpPr>
            <a:spLocks noGrp="1"/>
          </p:cNvSpPr>
          <p:nvPr>
            <p:ph type="title"/>
          </p:nvPr>
        </p:nvSpPr>
        <p:spPr/>
        <p:txBody>
          <a:bodyPr/>
          <a:lstStyle/>
          <a:p>
            <a:r>
              <a:rPr lang="en-GB" noProof="0" dirty="0"/>
              <a:t>2: Search engines</a:t>
            </a:r>
          </a:p>
        </p:txBody>
      </p:sp>
    </p:spTree>
    <p:extLst>
      <p:ext uri="{BB962C8B-B14F-4D97-AF65-F5344CB8AC3E}">
        <p14:creationId xmlns:p14="http://schemas.microsoft.com/office/powerpoint/2010/main" val="2613973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5A80E852-3207-29F7-8186-121EEFF5E624}"/>
              </a:ext>
            </a:extLst>
          </p:cNvPr>
          <p:cNvSpPr>
            <a:spLocks noGrp="1"/>
          </p:cNvSpPr>
          <p:nvPr>
            <p:ph idx="1"/>
          </p:nvPr>
        </p:nvSpPr>
        <p:spPr/>
        <p:txBody>
          <a:bodyPr/>
          <a:lstStyle/>
          <a:p>
            <a:r>
              <a:rPr lang="en-GB" noProof="0" dirty="0"/>
              <a:t>Which search engine gave you the most useful results and why?</a:t>
            </a:r>
          </a:p>
          <a:p>
            <a:r>
              <a:rPr lang="en-GB" noProof="0" dirty="0"/>
              <a:t>Did you notice any biases such as ads or the same websites appearing first?</a:t>
            </a:r>
          </a:p>
          <a:p>
            <a:r>
              <a:rPr lang="en-GB" noProof="0" dirty="0"/>
              <a:t>Which search engine would you use again for this type of query?</a:t>
            </a:r>
          </a:p>
        </p:txBody>
      </p:sp>
      <p:sp>
        <p:nvSpPr>
          <p:cNvPr id="4" name="Title 3">
            <a:extLst>
              <a:ext uri="{FF2B5EF4-FFF2-40B4-BE49-F238E27FC236}">
                <a16:creationId xmlns:a16="http://schemas.microsoft.com/office/drawing/2014/main" id="{A7B21539-A5DD-3DD0-2929-8BC91BED57BB}"/>
              </a:ext>
            </a:extLst>
          </p:cNvPr>
          <p:cNvSpPr>
            <a:spLocks noGrp="1"/>
          </p:cNvSpPr>
          <p:nvPr>
            <p:ph type="title"/>
          </p:nvPr>
        </p:nvSpPr>
        <p:spPr/>
        <p:txBody>
          <a:bodyPr/>
          <a:lstStyle/>
          <a:p>
            <a:r>
              <a:rPr lang="en-GB" noProof="0" dirty="0"/>
              <a:t>2: Search engines</a:t>
            </a:r>
          </a:p>
        </p:txBody>
      </p:sp>
    </p:spTree>
    <p:extLst>
      <p:ext uri="{BB962C8B-B14F-4D97-AF65-F5344CB8AC3E}">
        <p14:creationId xmlns:p14="http://schemas.microsoft.com/office/powerpoint/2010/main" val="1186815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AF4AC70E-AC4F-5049-662B-71205BE990D3}"/>
              </a:ext>
            </a:extLst>
          </p:cNvPr>
          <p:cNvSpPr>
            <a:spLocks noGrp="1"/>
          </p:cNvSpPr>
          <p:nvPr>
            <p:ph idx="1"/>
          </p:nvPr>
        </p:nvSpPr>
        <p:spPr/>
        <p:txBody>
          <a:bodyPr/>
          <a:lstStyle/>
          <a:p>
            <a:r>
              <a:rPr lang="en-GB" noProof="0" dirty="0"/>
              <a:t>Write 2</a:t>
            </a:r>
            <a:r>
              <a:rPr lang="en-GB" b="0" i="0" noProof="0" dirty="0">
                <a:solidFill>
                  <a:srgbClr val="000000"/>
                </a:solidFill>
                <a:effectLst/>
                <a:latin typeface="Arial" panose="020B0604020202020204" pitchFamily="34" charset="0"/>
              </a:rPr>
              <a:t>–</a:t>
            </a:r>
            <a:r>
              <a:rPr lang="en-GB" noProof="0" dirty="0"/>
              <a:t>3 sentences explaining why search engines might not always show the best or fairest results.</a:t>
            </a:r>
          </a:p>
        </p:txBody>
      </p:sp>
      <p:sp>
        <p:nvSpPr>
          <p:cNvPr id="4" name="Title 3">
            <a:extLst>
              <a:ext uri="{FF2B5EF4-FFF2-40B4-BE49-F238E27FC236}">
                <a16:creationId xmlns:a16="http://schemas.microsoft.com/office/drawing/2014/main" id="{88208149-136F-95FF-2BE4-45101A68392E}"/>
              </a:ext>
            </a:extLst>
          </p:cNvPr>
          <p:cNvSpPr>
            <a:spLocks noGrp="1"/>
          </p:cNvSpPr>
          <p:nvPr>
            <p:ph type="title"/>
          </p:nvPr>
        </p:nvSpPr>
        <p:spPr/>
        <p:txBody>
          <a:bodyPr/>
          <a:lstStyle/>
          <a:p>
            <a:r>
              <a:rPr lang="en-GB" noProof="0" dirty="0"/>
              <a:t>3: Search engines</a:t>
            </a:r>
          </a:p>
        </p:txBody>
      </p:sp>
    </p:spTree>
    <p:extLst>
      <p:ext uri="{BB962C8B-B14F-4D97-AF65-F5344CB8AC3E}">
        <p14:creationId xmlns:p14="http://schemas.microsoft.com/office/powerpoint/2010/main" val="1736561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26261-E327-29F3-3A06-01F7E21B61D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89577257-2A92-A657-503B-8B52B19FD699}"/>
              </a:ext>
            </a:extLst>
          </p:cNvPr>
          <p:cNvSpPr>
            <a:spLocks noGrp="1"/>
          </p:cNvSpPr>
          <p:nvPr>
            <p:ph idx="1"/>
          </p:nvPr>
        </p:nvSpPr>
        <p:spPr/>
        <p:txBody>
          <a:bodyPr>
            <a:normAutofit lnSpcReduction="10000"/>
          </a:bodyPr>
          <a:lstStyle/>
          <a:p>
            <a:r>
              <a:rPr lang="en-GB" b="1" noProof="0" dirty="0">
                <a:solidFill>
                  <a:srgbClr val="C00000"/>
                </a:solidFill>
              </a:rPr>
              <a:t>Search engines might not always show the best or fairest results because they can be influenced by factors like ads or popularity. </a:t>
            </a:r>
          </a:p>
          <a:p>
            <a:r>
              <a:rPr lang="en-GB" b="1" noProof="0" dirty="0">
                <a:solidFill>
                  <a:srgbClr val="C00000"/>
                </a:solidFill>
              </a:rPr>
              <a:t>For example, companies can pay to have their websites appear at the top even if they’re not the most useful. </a:t>
            </a:r>
          </a:p>
          <a:p>
            <a:r>
              <a:rPr lang="en-GB" b="1" noProof="0" dirty="0">
                <a:solidFill>
                  <a:srgbClr val="C00000"/>
                </a:solidFill>
              </a:rPr>
              <a:t>Search engines might also favour well-known websites, so meaning smaller but better ones can be harder to find.</a:t>
            </a:r>
          </a:p>
        </p:txBody>
      </p:sp>
      <p:sp>
        <p:nvSpPr>
          <p:cNvPr id="4" name="Title 3">
            <a:extLst>
              <a:ext uri="{FF2B5EF4-FFF2-40B4-BE49-F238E27FC236}">
                <a16:creationId xmlns:a16="http://schemas.microsoft.com/office/drawing/2014/main" id="{E6335EC6-43D5-0DC8-5778-6FACD0A400C4}"/>
              </a:ext>
            </a:extLst>
          </p:cNvPr>
          <p:cNvSpPr>
            <a:spLocks noGrp="1"/>
          </p:cNvSpPr>
          <p:nvPr>
            <p:ph type="title"/>
          </p:nvPr>
        </p:nvSpPr>
        <p:spPr/>
        <p:txBody>
          <a:bodyPr/>
          <a:lstStyle/>
          <a:p>
            <a:r>
              <a:rPr lang="en-GB" noProof="0" dirty="0"/>
              <a:t>3: Search engines </a:t>
            </a:r>
            <a:r>
              <a:rPr lang="en-GB" noProof="0" dirty="0">
                <a:solidFill>
                  <a:srgbClr val="C00000"/>
                </a:solidFill>
              </a:rPr>
              <a:t>ANSWER</a:t>
            </a:r>
          </a:p>
        </p:txBody>
      </p:sp>
    </p:spTree>
    <p:extLst>
      <p:ext uri="{BB962C8B-B14F-4D97-AF65-F5344CB8AC3E}">
        <p14:creationId xmlns:p14="http://schemas.microsoft.com/office/powerpoint/2010/main" val="235721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39C1E-E37A-726F-0A4D-93B21813537E}"/>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C821B366-2FE5-0B04-DB55-08C444D8D297}"/>
              </a:ext>
            </a:extLst>
          </p:cNvPr>
          <p:cNvSpPr/>
          <p:nvPr/>
        </p:nvSpPr>
        <p:spPr>
          <a:xfrm>
            <a:off x="413992" y="2260957"/>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DCE76C3E-8CDB-69B7-A3EE-438D0F69BD42}"/>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4889A654-A810-35B6-9911-FE60014CA885}"/>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Search engines</a:t>
            </a:r>
          </a:p>
          <a:p>
            <a:pPr marL="809625" indent="-723900">
              <a:buClr>
                <a:srgbClr val="C00000"/>
              </a:buClr>
              <a:buSzPct val="107000"/>
              <a:buFont typeface="+mj-lt"/>
              <a:buAutoNum type="arabicPeriod"/>
            </a:pPr>
            <a:r>
              <a:rPr lang="en-GB" sz="3600" noProof="0" dirty="0"/>
              <a:t>Advanced search</a:t>
            </a:r>
          </a:p>
          <a:p>
            <a:pPr marL="809625" indent="-723900">
              <a:buClr>
                <a:srgbClr val="C00000"/>
              </a:buClr>
              <a:buSzPct val="107000"/>
              <a:buFont typeface="+mj-lt"/>
              <a:buAutoNum type="arabicPeriod"/>
            </a:pPr>
            <a:r>
              <a:rPr lang="en-GB" sz="3600" noProof="0" dirty="0"/>
              <a:t>Safe searching</a:t>
            </a:r>
          </a:p>
          <a:p>
            <a:endParaRPr lang="en-GB" noProof="0" dirty="0"/>
          </a:p>
        </p:txBody>
      </p:sp>
    </p:spTree>
    <p:extLst>
      <p:ext uri="{BB962C8B-B14F-4D97-AF65-F5344CB8AC3E}">
        <p14:creationId xmlns:p14="http://schemas.microsoft.com/office/powerpoint/2010/main" val="2788045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79CD0D-B1A9-570A-6CCF-D0E06F222093}"/>
              </a:ext>
            </a:extLst>
          </p:cNvPr>
          <p:cNvSpPr>
            <a:spLocks noGrp="1"/>
          </p:cNvSpPr>
          <p:nvPr>
            <p:ph type="title"/>
          </p:nvPr>
        </p:nvSpPr>
        <p:spPr/>
        <p:txBody>
          <a:bodyPr/>
          <a:lstStyle/>
          <a:p>
            <a:r>
              <a:rPr lang="en-GB" noProof="0" dirty="0"/>
              <a:t>Advanced search</a:t>
            </a:r>
          </a:p>
        </p:txBody>
      </p:sp>
      <p:sp>
        <p:nvSpPr>
          <p:cNvPr id="5" name="Content Placeholder 4">
            <a:extLst>
              <a:ext uri="{FF2B5EF4-FFF2-40B4-BE49-F238E27FC236}">
                <a16:creationId xmlns:a16="http://schemas.microsoft.com/office/drawing/2014/main" id="{6A7C5ABB-0766-5021-92D7-545EE7790CB9}"/>
              </a:ext>
            </a:extLst>
          </p:cNvPr>
          <p:cNvSpPr>
            <a:spLocks noGrp="1"/>
          </p:cNvSpPr>
          <p:nvPr>
            <p:ph idx="1"/>
          </p:nvPr>
        </p:nvSpPr>
        <p:spPr/>
        <p:txBody>
          <a:bodyPr/>
          <a:lstStyle/>
          <a:p>
            <a:r>
              <a:rPr lang="en-GB" b="1" noProof="0" dirty="0">
                <a:solidFill>
                  <a:srgbClr val="C00000"/>
                </a:solidFill>
              </a:rPr>
              <a:t>Advanced search </a:t>
            </a:r>
            <a:r>
              <a:rPr lang="en-GB" noProof="0" dirty="0"/>
              <a:t>operators are special symbols or words you can add to your searches to make them more accurate.</a:t>
            </a:r>
          </a:p>
          <a:p>
            <a:r>
              <a:rPr lang="en-GB" noProof="0" dirty="0"/>
              <a:t>Let’s look at an example of how a search engine searches using keywords.</a:t>
            </a:r>
          </a:p>
        </p:txBody>
      </p:sp>
    </p:spTree>
    <p:extLst>
      <p:ext uri="{BB962C8B-B14F-4D97-AF65-F5344CB8AC3E}">
        <p14:creationId xmlns:p14="http://schemas.microsoft.com/office/powerpoint/2010/main" val="2790863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40AB0-E8BC-7258-44AC-981E27839D03}"/>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34116B03-201D-2285-2515-A996F088A11A}"/>
              </a:ext>
            </a:extLst>
          </p:cNvPr>
          <p:cNvSpPr>
            <a:spLocks noGrp="1"/>
          </p:cNvSpPr>
          <p:nvPr>
            <p:ph idx="1"/>
          </p:nvPr>
        </p:nvSpPr>
        <p:spPr/>
        <p:txBody>
          <a:bodyPr>
            <a:normAutofit fontScale="85000" lnSpcReduction="20000"/>
          </a:bodyPr>
          <a:lstStyle/>
          <a:p>
            <a:r>
              <a:rPr lang="en-GB" b="1" noProof="0" dirty="0"/>
              <a:t>Keywords: </a:t>
            </a:r>
            <a:r>
              <a:rPr lang="en-GB" noProof="0" dirty="0"/>
              <a:t>how to cook chicken soup</a:t>
            </a:r>
          </a:p>
          <a:p>
            <a:r>
              <a:rPr lang="en-GB" noProof="0" dirty="0"/>
              <a:t>The search engine might return a mix of results such as:</a:t>
            </a:r>
          </a:p>
          <a:p>
            <a:pPr marL="893763" indent="-441325">
              <a:buFont typeface="Arial" panose="020B0604020202020204" pitchFamily="34" charset="0"/>
              <a:buChar char="•"/>
            </a:pPr>
            <a:r>
              <a:rPr lang="en-GB" noProof="0" dirty="0"/>
              <a:t>recipes for chicken soup</a:t>
            </a:r>
          </a:p>
          <a:p>
            <a:pPr marL="893763" indent="-441325">
              <a:buFont typeface="Arial" panose="020B0604020202020204" pitchFamily="34" charset="0"/>
              <a:buChar char="•"/>
            </a:pPr>
            <a:r>
              <a:rPr lang="en-GB" noProof="0" dirty="0"/>
              <a:t>articles about the history of chicken soup</a:t>
            </a:r>
          </a:p>
          <a:p>
            <a:pPr marL="893763" indent="-441325">
              <a:buFont typeface="Arial" panose="020B0604020202020204" pitchFamily="34" charset="0"/>
              <a:buChar char="•"/>
            </a:pPr>
            <a:r>
              <a:rPr lang="en-GB" noProof="0" dirty="0"/>
              <a:t>tips for cooking chicken in general, not specifically soup</a:t>
            </a:r>
          </a:p>
          <a:p>
            <a:pPr marL="893763" indent="-441325">
              <a:buFont typeface="Arial" panose="020B0604020202020204" pitchFamily="34" charset="0"/>
              <a:buChar char="•"/>
            </a:pPr>
            <a:r>
              <a:rPr lang="en-GB" noProof="0" dirty="0"/>
              <a:t>advertisements for pre-made chicken soup products.</a:t>
            </a:r>
          </a:p>
        </p:txBody>
      </p:sp>
      <p:sp>
        <p:nvSpPr>
          <p:cNvPr id="4" name="Rectangle: Rounded Corners 3">
            <a:extLst>
              <a:ext uri="{FF2B5EF4-FFF2-40B4-BE49-F238E27FC236}">
                <a16:creationId xmlns:a16="http://schemas.microsoft.com/office/drawing/2014/main" id="{5EE22BC4-C7FC-725A-D9E7-70E648D4939E}"/>
              </a:ext>
              <a:ext uri="{C183D7F6-B498-43B3-948B-1728B52AA6E4}">
                <adec:decorative xmlns:adec="http://schemas.microsoft.com/office/drawing/2017/decorative" val="1"/>
              </a:ext>
            </a:extLst>
          </p:cNvPr>
          <p:cNvSpPr/>
          <p:nvPr/>
        </p:nvSpPr>
        <p:spPr>
          <a:xfrm>
            <a:off x="2845942" y="1186102"/>
            <a:ext cx="5506948" cy="550231"/>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5" name="Rectangle: Rounded Corners 4">
            <a:extLst>
              <a:ext uri="{FF2B5EF4-FFF2-40B4-BE49-F238E27FC236}">
                <a16:creationId xmlns:a16="http://schemas.microsoft.com/office/drawing/2014/main" id="{9036AB10-FB10-48E0-EA13-EA61A5C23C57}"/>
              </a:ext>
              <a:ext uri="{C183D7F6-B498-43B3-948B-1728B52AA6E4}">
                <adec:decorative xmlns:adec="http://schemas.microsoft.com/office/drawing/2017/decorative" val="1"/>
              </a:ext>
            </a:extLst>
          </p:cNvPr>
          <p:cNvSpPr/>
          <p:nvPr/>
        </p:nvSpPr>
        <p:spPr>
          <a:xfrm>
            <a:off x="5600752" y="1186102"/>
            <a:ext cx="2752138" cy="550231"/>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6" name="Rectangle: Rounded Corners 5">
            <a:extLst>
              <a:ext uri="{FF2B5EF4-FFF2-40B4-BE49-F238E27FC236}">
                <a16:creationId xmlns:a16="http://schemas.microsoft.com/office/drawing/2014/main" id="{D7581E0E-BDB4-824A-A3AE-4FC4B4DB641D}"/>
              </a:ext>
              <a:ext uri="{C183D7F6-B498-43B3-948B-1728B52AA6E4}">
                <adec:decorative xmlns:adec="http://schemas.microsoft.com/office/drawing/2017/decorative" val="1"/>
              </a:ext>
            </a:extLst>
          </p:cNvPr>
          <p:cNvSpPr/>
          <p:nvPr/>
        </p:nvSpPr>
        <p:spPr>
          <a:xfrm>
            <a:off x="4441485" y="1186098"/>
            <a:ext cx="2863441" cy="550231"/>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7" name="Rectangle: Rounded Corners 6">
            <a:extLst>
              <a:ext uri="{FF2B5EF4-FFF2-40B4-BE49-F238E27FC236}">
                <a16:creationId xmlns:a16="http://schemas.microsoft.com/office/drawing/2014/main" id="{D021AA47-475C-14EE-F4DD-6C866F256B2A}"/>
              </a:ext>
              <a:ext uri="{C183D7F6-B498-43B3-948B-1728B52AA6E4}">
                <adec:decorative xmlns:adec="http://schemas.microsoft.com/office/drawing/2017/decorative" val="1"/>
              </a:ext>
            </a:extLst>
          </p:cNvPr>
          <p:cNvSpPr/>
          <p:nvPr/>
        </p:nvSpPr>
        <p:spPr>
          <a:xfrm>
            <a:off x="5600752" y="1186100"/>
            <a:ext cx="2752138" cy="550231"/>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335496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xit" presetSubtype="0" fill="hold" grpId="1" nodeType="withEffect">
                                  <p:stCondLst>
                                    <p:cond delay="0"/>
                                  </p:stCondLst>
                                  <p:childTnLst>
                                    <p:set>
                                      <p:cBhvr>
                                        <p:cTn id="16" dur="1" fill="hold">
                                          <p:stCondLst>
                                            <p:cond delay="0"/>
                                          </p:stCondLst>
                                        </p:cTn>
                                        <p:tgtEl>
                                          <p:spTgt spid="4"/>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par>
                                <p:cTn id="23" presetID="1" presetClass="exit" presetSubtype="0" fill="hold" grpId="1" nodeType="withEffect">
                                  <p:stCondLst>
                                    <p:cond delay="0"/>
                                  </p:stCondLst>
                                  <p:childTnLst>
                                    <p:set>
                                      <p:cBhvr>
                                        <p:cTn id="24" dur="1" fill="hold">
                                          <p:stCondLst>
                                            <p:cond delay="0"/>
                                          </p:stCondLst>
                                        </p:cTn>
                                        <p:tgtEl>
                                          <p:spTgt spid="5"/>
                                        </p:tgtEl>
                                        <p:attrNameLst>
                                          <p:attrName>style.visibility</p:attrName>
                                        </p:attrNameLst>
                                      </p:cBhvr>
                                      <p:to>
                                        <p:strVal val="hidden"/>
                                      </p:to>
                                    </p:set>
                                  </p:childTnLst>
                                </p:cTn>
                              </p:par>
                              <p:par>
                                <p:cTn id="25" presetID="1" presetClass="entr" presetSubtype="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6"/>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P spid="4" grpId="1" animBg="1"/>
      <p:bldP spid="5" grpId="0" animBg="1"/>
      <p:bldP spid="5" grpId="1" animBg="1"/>
      <p:bldP spid="6" grpId="0" animBg="1"/>
      <p:bldP spid="6" grpId="1" animBg="1"/>
      <p:bldP spid="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2CDB-BC01-24F3-C617-F45347095142}"/>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4FC0140C-54D8-A937-FE4F-4235D76FAD37}"/>
              </a:ext>
            </a:extLst>
          </p:cNvPr>
          <p:cNvSpPr>
            <a:spLocks noGrp="1"/>
          </p:cNvSpPr>
          <p:nvPr>
            <p:ph idx="1"/>
          </p:nvPr>
        </p:nvSpPr>
        <p:spPr/>
        <p:txBody>
          <a:bodyPr>
            <a:normAutofit lnSpcReduction="10000"/>
          </a:bodyPr>
          <a:lstStyle/>
          <a:p>
            <a:r>
              <a:rPr lang="en-GB" noProof="0" dirty="0"/>
              <a:t>To get all these different results, what is the search engine doing?</a:t>
            </a:r>
          </a:p>
          <a:p>
            <a:r>
              <a:rPr lang="en-GB" b="1" noProof="0" dirty="0">
                <a:solidFill>
                  <a:srgbClr val="C00000"/>
                </a:solidFill>
              </a:rPr>
              <a:t>The search engine breaks your search into smaller parts and looks for matches to just some of the words, not the whole thing.</a:t>
            </a:r>
          </a:p>
          <a:p>
            <a:r>
              <a:rPr lang="en-GB" b="1" noProof="0" dirty="0">
                <a:solidFill>
                  <a:srgbClr val="C00000"/>
                </a:solidFill>
              </a:rPr>
              <a:t>This happens because the search engine tries to show you anything it thinks is related, even if it is not exactly what you want.</a:t>
            </a:r>
          </a:p>
          <a:p>
            <a:endParaRPr lang="en-GB" noProof="0" dirty="0"/>
          </a:p>
        </p:txBody>
      </p:sp>
    </p:spTree>
    <p:extLst>
      <p:ext uri="{BB962C8B-B14F-4D97-AF65-F5344CB8AC3E}">
        <p14:creationId xmlns:p14="http://schemas.microsoft.com/office/powerpoint/2010/main" val="428544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A6821-3812-664E-5160-2B7B2D1E7E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BE8047-6665-5387-28D1-18183B6DC1AA}"/>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CF804629-A77B-EBF4-CA7A-E31407EB439C}"/>
              </a:ext>
            </a:extLst>
          </p:cNvPr>
          <p:cNvSpPr>
            <a:spLocks noGrp="1"/>
          </p:cNvSpPr>
          <p:nvPr>
            <p:ph idx="1"/>
          </p:nvPr>
        </p:nvSpPr>
        <p:spPr/>
        <p:txBody>
          <a:bodyPr>
            <a:normAutofit/>
          </a:bodyPr>
          <a:lstStyle/>
          <a:p>
            <a:r>
              <a:rPr lang="en-GB" noProof="0" dirty="0"/>
              <a:t>We can stop it doing this by using quote marks.</a:t>
            </a:r>
          </a:p>
          <a:p>
            <a:r>
              <a:rPr lang="en-GB" noProof="0" dirty="0"/>
              <a:t>Searching for… </a:t>
            </a:r>
          </a:p>
          <a:p>
            <a:endParaRPr lang="en-GB" noProof="0" dirty="0"/>
          </a:p>
          <a:p>
            <a:endParaRPr lang="en-GB" noProof="0" dirty="0"/>
          </a:p>
          <a:p>
            <a:r>
              <a:rPr lang="en-GB" noProof="0" dirty="0"/>
              <a:t>will only show results with that exact phrase.</a:t>
            </a:r>
          </a:p>
        </p:txBody>
      </p:sp>
      <p:sp>
        <p:nvSpPr>
          <p:cNvPr id="5" name="Rectangle: Rounded Corners 4">
            <a:extLst>
              <a:ext uri="{FF2B5EF4-FFF2-40B4-BE49-F238E27FC236}">
                <a16:creationId xmlns:a16="http://schemas.microsoft.com/office/drawing/2014/main" id="{CD0D9139-70B9-3A9E-A7EE-9D342412ABB5}"/>
              </a:ext>
            </a:extLst>
          </p:cNvPr>
          <p:cNvSpPr/>
          <p:nvPr/>
        </p:nvSpPr>
        <p:spPr>
          <a:xfrm>
            <a:off x="1448656" y="3637052"/>
            <a:ext cx="9092629" cy="100686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400" noProof="0" dirty="0">
                <a:solidFill>
                  <a:sysClr val="windowText" lastClr="000000"/>
                </a:solidFill>
              </a:rPr>
              <a:t>“how to cook chicken soup”</a:t>
            </a:r>
          </a:p>
        </p:txBody>
      </p:sp>
    </p:spTree>
    <p:extLst>
      <p:ext uri="{BB962C8B-B14F-4D97-AF65-F5344CB8AC3E}">
        <p14:creationId xmlns:p14="http://schemas.microsoft.com/office/powerpoint/2010/main" val="2693979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6D18D-A53B-81BF-BEF3-9D0389E608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8268E-0AE1-9ABA-ED3C-4B33DD634707}"/>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BB60B875-AA0A-190E-F8DE-19B985819D84}"/>
              </a:ext>
            </a:extLst>
          </p:cNvPr>
          <p:cNvSpPr>
            <a:spLocks noGrp="1"/>
          </p:cNvSpPr>
          <p:nvPr>
            <p:ph idx="1"/>
          </p:nvPr>
        </p:nvSpPr>
        <p:spPr/>
        <p:txBody>
          <a:bodyPr>
            <a:normAutofit lnSpcReduction="10000"/>
          </a:bodyPr>
          <a:lstStyle/>
          <a:p>
            <a:r>
              <a:rPr lang="en-GB" noProof="0" dirty="0"/>
              <a:t>Sometimes you may want to exclude a word from your search results. You can use the minus sign to do this…</a:t>
            </a:r>
          </a:p>
          <a:p>
            <a:endParaRPr lang="en-GB" noProof="0" dirty="0"/>
          </a:p>
          <a:p>
            <a:endParaRPr lang="en-GB" noProof="0" dirty="0"/>
          </a:p>
          <a:p>
            <a:r>
              <a:rPr lang="en-GB" noProof="0" dirty="0"/>
              <a:t>This search removes any results that include mushrooms, giving you chicken soup recipes that match your preferences.</a:t>
            </a:r>
          </a:p>
        </p:txBody>
      </p:sp>
      <p:sp>
        <p:nvSpPr>
          <p:cNvPr id="5" name="Rectangle: Rounded Corners 4">
            <a:extLst>
              <a:ext uri="{FF2B5EF4-FFF2-40B4-BE49-F238E27FC236}">
                <a16:creationId xmlns:a16="http://schemas.microsoft.com/office/drawing/2014/main" id="{6C56DDA8-2F3B-55B7-6DA7-615DFACA8579}"/>
              </a:ext>
            </a:extLst>
          </p:cNvPr>
          <p:cNvSpPr/>
          <p:nvPr/>
        </p:nvSpPr>
        <p:spPr>
          <a:xfrm>
            <a:off x="1549685" y="3019701"/>
            <a:ext cx="9092629" cy="100686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000" noProof="0" dirty="0">
                <a:solidFill>
                  <a:sysClr val="windowText" lastClr="000000"/>
                </a:solidFill>
              </a:rPr>
              <a:t>how to cook chicken soup -mushrooms</a:t>
            </a:r>
          </a:p>
        </p:txBody>
      </p:sp>
    </p:spTree>
    <p:extLst>
      <p:ext uri="{BB962C8B-B14F-4D97-AF65-F5344CB8AC3E}">
        <p14:creationId xmlns:p14="http://schemas.microsoft.com/office/powerpoint/2010/main" val="823278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2B7290-82B5-9896-392C-7408806E01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745AE0-4EF0-3059-1E48-659D94788139}"/>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2475D070-77D3-3230-C2E3-6F4C167B1688}"/>
              </a:ext>
            </a:extLst>
          </p:cNvPr>
          <p:cNvSpPr>
            <a:spLocks noGrp="1"/>
          </p:cNvSpPr>
          <p:nvPr>
            <p:ph idx="1"/>
          </p:nvPr>
        </p:nvSpPr>
        <p:spPr/>
        <p:txBody>
          <a:bodyPr>
            <a:normAutofit fontScale="92500" lnSpcReduction="10000"/>
          </a:bodyPr>
          <a:lstStyle/>
          <a:p>
            <a:r>
              <a:rPr lang="en-GB" noProof="0" dirty="0"/>
              <a:t>You may also only want to search on a specific website…</a:t>
            </a:r>
          </a:p>
          <a:p>
            <a:endParaRPr lang="en-GB" sz="1700" noProof="0" dirty="0"/>
          </a:p>
          <a:p>
            <a:endParaRPr lang="en-GB" noProof="0" dirty="0"/>
          </a:p>
          <a:p>
            <a:r>
              <a:rPr lang="en-GB" noProof="0" dirty="0"/>
              <a:t>This search will only show results from the </a:t>
            </a:r>
            <a:r>
              <a:rPr lang="en-GB" noProof="0" dirty="0" err="1"/>
              <a:t>AllRecipes</a:t>
            </a:r>
            <a:r>
              <a:rPr lang="en-GB" noProof="0" dirty="0"/>
              <a:t> website, a trusted source for recipes that you know you have liked in the past. You will get chicken soup recipes specifically from that site.</a:t>
            </a:r>
          </a:p>
        </p:txBody>
      </p:sp>
      <p:sp>
        <p:nvSpPr>
          <p:cNvPr id="5" name="Rectangle: Rounded Corners 4">
            <a:extLst>
              <a:ext uri="{FF2B5EF4-FFF2-40B4-BE49-F238E27FC236}">
                <a16:creationId xmlns:a16="http://schemas.microsoft.com/office/drawing/2014/main" id="{FA296F83-21B1-9533-08C6-A6D0952530C0}"/>
              </a:ext>
            </a:extLst>
          </p:cNvPr>
          <p:cNvSpPr/>
          <p:nvPr/>
        </p:nvSpPr>
        <p:spPr>
          <a:xfrm>
            <a:off x="1549685" y="2422133"/>
            <a:ext cx="9092629" cy="100686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200" noProof="0" dirty="0">
                <a:solidFill>
                  <a:sysClr val="windowText" lastClr="000000"/>
                </a:solidFill>
              </a:rPr>
              <a:t>how to cook chicken soup </a:t>
            </a:r>
            <a:r>
              <a:rPr lang="en-GB" sz="3200" noProof="0" dirty="0" err="1">
                <a:solidFill>
                  <a:sysClr val="windowText" lastClr="000000"/>
                </a:solidFill>
              </a:rPr>
              <a:t>site:allrecipes.com</a:t>
            </a:r>
            <a:endParaRPr lang="en-GB" sz="3200" noProof="0" dirty="0">
              <a:solidFill>
                <a:sysClr val="windowText" lastClr="000000"/>
              </a:solidFill>
            </a:endParaRPr>
          </a:p>
        </p:txBody>
      </p:sp>
    </p:spTree>
    <p:extLst>
      <p:ext uri="{BB962C8B-B14F-4D97-AF65-F5344CB8AC3E}">
        <p14:creationId xmlns:p14="http://schemas.microsoft.com/office/powerpoint/2010/main" val="372350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729B9-6BF7-737E-AAAE-FD95782E4AAD}"/>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3179D0C7-6BE9-3B59-AB9D-0F330C88F12E}"/>
              </a:ext>
            </a:extLst>
          </p:cNvPr>
          <p:cNvSpPr>
            <a:spLocks noGrp="1"/>
          </p:cNvSpPr>
          <p:nvPr>
            <p:ph idx="1"/>
          </p:nvPr>
        </p:nvSpPr>
        <p:spPr/>
        <p:txBody>
          <a:bodyPr>
            <a:normAutofit/>
          </a:bodyPr>
          <a:lstStyle/>
          <a:p>
            <a:r>
              <a:rPr lang="en-GB" noProof="0" dirty="0"/>
              <a:t>How can advanced search operators save time?</a:t>
            </a:r>
          </a:p>
          <a:p>
            <a:r>
              <a:rPr lang="en-GB" b="1" noProof="0" dirty="0">
                <a:solidFill>
                  <a:srgbClr val="C00000"/>
                </a:solidFill>
              </a:rPr>
              <a:t>They help you find exactly what you're looking for by making your search more specific so you don’t have to scroll through lots of unrelated results.</a:t>
            </a:r>
          </a:p>
        </p:txBody>
      </p:sp>
    </p:spTree>
    <p:extLst>
      <p:ext uri="{BB962C8B-B14F-4D97-AF65-F5344CB8AC3E}">
        <p14:creationId xmlns:p14="http://schemas.microsoft.com/office/powerpoint/2010/main" val="3043636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ECEAF-3F20-2D5F-5682-E3252E4BA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1AFD34-B7B4-CE3F-37A7-E37CAA308736}"/>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B96E2EFC-4110-6720-D3EB-75D0CE4178D0}"/>
              </a:ext>
            </a:extLst>
          </p:cNvPr>
          <p:cNvSpPr>
            <a:spLocks noGrp="1"/>
          </p:cNvSpPr>
          <p:nvPr>
            <p:ph idx="1"/>
          </p:nvPr>
        </p:nvSpPr>
        <p:spPr/>
        <p:txBody>
          <a:bodyPr>
            <a:normAutofit lnSpcReduction="10000"/>
          </a:bodyPr>
          <a:lstStyle/>
          <a:p>
            <a:r>
              <a:rPr lang="en-GB" noProof="0" dirty="0"/>
              <a:t>What does using quotation marks in a search do?</a:t>
            </a:r>
          </a:p>
          <a:p>
            <a:r>
              <a:rPr lang="en-GB" b="1" noProof="0" dirty="0">
                <a:solidFill>
                  <a:srgbClr val="C00000"/>
                </a:solidFill>
              </a:rPr>
              <a:t>Quotation marks tell the search engine to look for the exact phrase you typed, keeping the words in the same order.</a:t>
            </a:r>
          </a:p>
          <a:p>
            <a:r>
              <a:rPr lang="en-GB" noProof="0" dirty="0"/>
              <a:t>Which operator would you use to exclude a word from your search results?</a:t>
            </a:r>
          </a:p>
          <a:p>
            <a:r>
              <a:rPr lang="en-GB" b="1" noProof="0" dirty="0">
                <a:solidFill>
                  <a:srgbClr val="C00000"/>
                </a:solidFill>
              </a:rPr>
              <a:t>The minus sign (-)</a:t>
            </a:r>
          </a:p>
          <a:p>
            <a:endParaRPr lang="en-GB" noProof="0" dirty="0"/>
          </a:p>
        </p:txBody>
      </p:sp>
    </p:spTree>
    <p:extLst>
      <p:ext uri="{BB962C8B-B14F-4D97-AF65-F5344CB8AC3E}">
        <p14:creationId xmlns:p14="http://schemas.microsoft.com/office/powerpoint/2010/main" val="271449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87B77-D6F8-9601-0FCB-2F9D22068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4A7A2C-E938-FB1C-0AAB-5219EFD0AC1C}"/>
              </a:ext>
            </a:extLst>
          </p:cNvPr>
          <p:cNvSpPr>
            <a:spLocks noGrp="1"/>
          </p:cNvSpPr>
          <p:nvPr>
            <p:ph type="title"/>
          </p:nvPr>
        </p:nvSpPr>
        <p:spPr/>
        <p:txBody>
          <a:bodyPr/>
          <a:lstStyle/>
          <a:p>
            <a:r>
              <a:rPr lang="en-GB" noProof="0" dirty="0"/>
              <a:t>Advanced search</a:t>
            </a:r>
          </a:p>
        </p:txBody>
      </p:sp>
      <p:sp>
        <p:nvSpPr>
          <p:cNvPr id="3" name="Content Placeholder 2">
            <a:extLst>
              <a:ext uri="{FF2B5EF4-FFF2-40B4-BE49-F238E27FC236}">
                <a16:creationId xmlns:a16="http://schemas.microsoft.com/office/drawing/2014/main" id="{F08F5518-8152-4369-3CC7-EEC4095E1DEE}"/>
              </a:ext>
            </a:extLst>
          </p:cNvPr>
          <p:cNvSpPr>
            <a:spLocks noGrp="1"/>
          </p:cNvSpPr>
          <p:nvPr>
            <p:ph idx="1"/>
          </p:nvPr>
        </p:nvSpPr>
        <p:spPr/>
        <p:txBody>
          <a:bodyPr>
            <a:normAutofit/>
          </a:bodyPr>
          <a:lstStyle/>
          <a:p>
            <a:r>
              <a:rPr lang="en-GB" noProof="0" dirty="0"/>
              <a:t>If you only wanted to search for results from one site, what do you type in before the name of website?</a:t>
            </a:r>
          </a:p>
          <a:p>
            <a:r>
              <a:rPr lang="en-GB" b="1" noProof="0" dirty="0">
                <a:solidFill>
                  <a:srgbClr val="C00000"/>
                </a:solidFill>
              </a:rPr>
              <a:t>site:</a:t>
            </a:r>
          </a:p>
          <a:p>
            <a:endParaRPr lang="en-GB" noProof="0" dirty="0"/>
          </a:p>
        </p:txBody>
      </p:sp>
      <p:sp>
        <p:nvSpPr>
          <p:cNvPr id="4" name="Rectangle: Rounded Corners 3">
            <a:extLst>
              <a:ext uri="{FF2B5EF4-FFF2-40B4-BE49-F238E27FC236}">
                <a16:creationId xmlns:a16="http://schemas.microsoft.com/office/drawing/2014/main" id="{5A11D1EA-455F-16AF-4F0E-9D8527066F36}"/>
              </a:ext>
            </a:extLst>
          </p:cNvPr>
          <p:cNvSpPr/>
          <p:nvPr/>
        </p:nvSpPr>
        <p:spPr>
          <a:xfrm>
            <a:off x="1426396" y="4189288"/>
            <a:ext cx="9092629" cy="100686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3200" noProof="0" dirty="0">
                <a:solidFill>
                  <a:sysClr val="windowText" lastClr="000000"/>
                </a:solidFill>
              </a:rPr>
              <a:t>how to cook chicken soup </a:t>
            </a:r>
            <a:r>
              <a:rPr lang="en-GB" sz="3200" noProof="0" dirty="0" err="1">
                <a:solidFill>
                  <a:sysClr val="windowText" lastClr="000000"/>
                </a:solidFill>
              </a:rPr>
              <a:t>site:allrecipes.com</a:t>
            </a:r>
            <a:endParaRPr lang="en-GB" sz="3200" noProof="0" dirty="0">
              <a:solidFill>
                <a:sysClr val="windowText" lastClr="000000"/>
              </a:solidFill>
            </a:endParaRPr>
          </a:p>
        </p:txBody>
      </p:sp>
    </p:spTree>
    <p:extLst>
      <p:ext uri="{BB962C8B-B14F-4D97-AF65-F5344CB8AC3E}">
        <p14:creationId xmlns:p14="http://schemas.microsoft.com/office/powerpoint/2010/main" val="21634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D9F6D3-36FC-8077-9C13-DDDFDC365DF9}"/>
              </a:ext>
            </a:extLst>
          </p:cNvPr>
          <p:cNvSpPr>
            <a:spLocks noGrp="1"/>
          </p:cNvSpPr>
          <p:nvPr>
            <p:ph type="title"/>
          </p:nvPr>
        </p:nvSpPr>
        <p:spPr/>
        <p:txBody>
          <a:bodyPr/>
          <a:lstStyle/>
          <a:p>
            <a:r>
              <a:rPr lang="en-GB" noProof="0" dirty="0"/>
              <a:t>4: Advanced search</a:t>
            </a:r>
          </a:p>
        </p:txBody>
      </p:sp>
      <p:sp>
        <p:nvSpPr>
          <p:cNvPr id="5" name="Content Placeholder 4">
            <a:extLst>
              <a:ext uri="{FF2B5EF4-FFF2-40B4-BE49-F238E27FC236}">
                <a16:creationId xmlns:a16="http://schemas.microsoft.com/office/drawing/2014/main" id="{4D065369-1C2E-24A3-F32E-EC13C2E6740A}"/>
              </a:ext>
            </a:extLst>
          </p:cNvPr>
          <p:cNvSpPr>
            <a:spLocks noGrp="1"/>
          </p:cNvSpPr>
          <p:nvPr>
            <p:ph idx="1"/>
          </p:nvPr>
        </p:nvSpPr>
        <p:spPr/>
        <p:txBody>
          <a:bodyPr>
            <a:normAutofit lnSpcReduction="10000"/>
          </a:bodyPr>
          <a:lstStyle/>
          <a:p>
            <a:r>
              <a:rPr lang="en-GB" noProof="0" dirty="0"/>
              <a:t>Find the following:</a:t>
            </a:r>
          </a:p>
          <a:p>
            <a:pPr marL="571500" indent="-571500">
              <a:buFont typeface="Arial" panose="020B0604020202020204" pitchFamily="34" charset="0"/>
              <a:buChar char="•"/>
            </a:pPr>
            <a:r>
              <a:rPr lang="en-GB" noProof="0" dirty="0"/>
              <a:t>A website that explains how to train a dog to fetch.</a:t>
            </a:r>
          </a:p>
          <a:p>
            <a:pPr marL="571500" indent="-571500">
              <a:buFont typeface="Arial" panose="020B0604020202020204" pitchFamily="34" charset="0"/>
              <a:buChar char="•"/>
            </a:pPr>
            <a:r>
              <a:rPr lang="en-GB" noProof="0" dirty="0"/>
              <a:t>Information about the planet Mars, but make sure the results don’t include anything about Mars chocolate.</a:t>
            </a:r>
          </a:p>
          <a:p>
            <a:pPr marL="571500" indent="-571500">
              <a:buFont typeface="Arial" panose="020B0604020202020204" pitchFamily="34" charset="0"/>
              <a:buChar char="•"/>
            </a:pPr>
            <a:r>
              <a:rPr lang="en-GB" noProof="0" dirty="0"/>
              <a:t>An article about space exploration, but only from the website nasa.gov.</a:t>
            </a:r>
          </a:p>
        </p:txBody>
      </p:sp>
    </p:spTree>
    <p:extLst>
      <p:ext uri="{BB962C8B-B14F-4D97-AF65-F5344CB8AC3E}">
        <p14:creationId xmlns:p14="http://schemas.microsoft.com/office/powerpoint/2010/main" val="2124361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17548-37DE-4533-C019-C32F85FD55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B12885F-59D1-39AF-2BC4-BD61A742F019}"/>
              </a:ext>
            </a:extLst>
          </p:cNvPr>
          <p:cNvSpPr>
            <a:spLocks noGrp="1"/>
          </p:cNvSpPr>
          <p:nvPr>
            <p:ph type="title"/>
          </p:nvPr>
        </p:nvSpPr>
        <p:spPr/>
        <p:txBody>
          <a:bodyPr/>
          <a:lstStyle/>
          <a:p>
            <a:r>
              <a:rPr lang="en-GB" noProof="0" dirty="0"/>
              <a:t>4: Advanced search </a:t>
            </a:r>
            <a:r>
              <a:rPr lang="en-GB" noProof="0" dirty="0">
                <a:solidFill>
                  <a:srgbClr val="C00000"/>
                </a:solidFill>
              </a:rPr>
              <a:t>ANSWERS</a:t>
            </a:r>
          </a:p>
        </p:txBody>
      </p:sp>
      <p:sp>
        <p:nvSpPr>
          <p:cNvPr id="5" name="Content Placeholder 4">
            <a:extLst>
              <a:ext uri="{FF2B5EF4-FFF2-40B4-BE49-F238E27FC236}">
                <a16:creationId xmlns:a16="http://schemas.microsoft.com/office/drawing/2014/main" id="{A41D675D-ECC2-7030-4381-1E47010DC0BD}"/>
              </a:ext>
            </a:extLst>
          </p:cNvPr>
          <p:cNvSpPr>
            <a:spLocks noGrp="1"/>
          </p:cNvSpPr>
          <p:nvPr>
            <p:ph idx="1"/>
          </p:nvPr>
        </p:nvSpPr>
        <p:spPr/>
        <p:txBody>
          <a:bodyPr>
            <a:normAutofit/>
          </a:bodyPr>
          <a:lstStyle/>
          <a:p>
            <a:r>
              <a:rPr lang="en-GB" noProof="0" dirty="0"/>
              <a:t>You may have used the following keywords to find these answers:</a:t>
            </a:r>
          </a:p>
          <a:p>
            <a:pPr marL="893763" indent="-441325">
              <a:buFont typeface="Arial" panose="020B0604020202020204" pitchFamily="34" charset="0"/>
              <a:buChar char="•"/>
            </a:pPr>
            <a:r>
              <a:rPr lang="en-GB" noProof="0" dirty="0">
                <a:solidFill>
                  <a:srgbClr val="C00000"/>
                </a:solidFill>
              </a:rPr>
              <a:t>“train a dog to fetch”</a:t>
            </a:r>
          </a:p>
          <a:p>
            <a:pPr marL="893763" indent="-441325">
              <a:buFont typeface="Arial" panose="020B0604020202020204" pitchFamily="34" charset="0"/>
              <a:buChar char="•"/>
            </a:pPr>
            <a:r>
              <a:rPr lang="en-GB" noProof="0" dirty="0">
                <a:solidFill>
                  <a:srgbClr val="C00000"/>
                </a:solidFill>
              </a:rPr>
              <a:t>mars -chocolate</a:t>
            </a:r>
          </a:p>
          <a:p>
            <a:pPr marL="893763" indent="-441325">
              <a:buFont typeface="Arial" panose="020B0604020202020204" pitchFamily="34" charset="0"/>
              <a:buChar char="•"/>
            </a:pPr>
            <a:r>
              <a:rPr lang="en-GB" noProof="0" dirty="0">
                <a:solidFill>
                  <a:srgbClr val="C00000"/>
                </a:solidFill>
              </a:rPr>
              <a:t>space exploration </a:t>
            </a:r>
            <a:r>
              <a:rPr lang="en-GB" noProof="0" dirty="0" err="1">
                <a:solidFill>
                  <a:srgbClr val="C00000"/>
                </a:solidFill>
              </a:rPr>
              <a:t>site:nasa.gov</a:t>
            </a:r>
            <a:endParaRPr lang="en-GB" noProof="0" dirty="0">
              <a:solidFill>
                <a:srgbClr val="C00000"/>
              </a:solidFill>
            </a:endParaRPr>
          </a:p>
        </p:txBody>
      </p:sp>
    </p:spTree>
    <p:extLst>
      <p:ext uri="{BB962C8B-B14F-4D97-AF65-F5344CB8AC3E}">
        <p14:creationId xmlns:p14="http://schemas.microsoft.com/office/powerpoint/2010/main" val="2772610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F9A76-D906-FD78-BFCB-115F38B26B5B}"/>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DBEC4595-6521-2431-E346-4A215735C4F6}"/>
              </a:ext>
            </a:extLst>
          </p:cNvPr>
          <p:cNvSpPr/>
          <p:nvPr/>
        </p:nvSpPr>
        <p:spPr>
          <a:xfrm>
            <a:off x="413992" y="3098584"/>
            <a:ext cx="11364016" cy="763571"/>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
        <p:nvSpPr>
          <p:cNvPr id="2" name="Title 1">
            <a:extLst>
              <a:ext uri="{FF2B5EF4-FFF2-40B4-BE49-F238E27FC236}">
                <a16:creationId xmlns:a16="http://schemas.microsoft.com/office/drawing/2014/main" id="{4D8C0F26-789D-8202-4CCE-D05D121D88BB}"/>
              </a:ext>
            </a:extLst>
          </p:cNvPr>
          <p:cNvSpPr>
            <a:spLocks noGrp="1"/>
          </p:cNvSpPr>
          <p:nvPr>
            <p:ph type="title"/>
          </p:nvPr>
        </p:nvSpPr>
        <p:spPr/>
        <p:txBody>
          <a:bodyPr/>
          <a:lstStyle/>
          <a:p>
            <a:r>
              <a:rPr lang="en-GB" noProof="0" dirty="0"/>
              <a:t>Steps to success</a:t>
            </a:r>
          </a:p>
        </p:txBody>
      </p:sp>
      <p:sp>
        <p:nvSpPr>
          <p:cNvPr id="3" name="Content Placeholder 2">
            <a:extLst>
              <a:ext uri="{FF2B5EF4-FFF2-40B4-BE49-F238E27FC236}">
                <a16:creationId xmlns:a16="http://schemas.microsoft.com/office/drawing/2014/main" id="{56776DF8-D0A2-1BCA-DC04-CAED091A4AC5}"/>
              </a:ext>
            </a:extLst>
          </p:cNvPr>
          <p:cNvSpPr>
            <a:spLocks noGrp="1"/>
          </p:cNvSpPr>
          <p:nvPr>
            <p:ph idx="1"/>
          </p:nvPr>
        </p:nvSpPr>
        <p:spPr>
          <a:xfrm>
            <a:off x="413992" y="1581149"/>
            <a:ext cx="10749308" cy="4685481"/>
          </a:xfrm>
        </p:spPr>
        <p:txBody>
          <a:bodyPr/>
          <a:lstStyle/>
          <a:p>
            <a:pPr marL="809625" indent="-723900">
              <a:buClr>
                <a:srgbClr val="C00000"/>
              </a:buClr>
              <a:buSzPct val="107000"/>
              <a:buFont typeface="+mj-lt"/>
              <a:buAutoNum type="arabicPeriod"/>
            </a:pPr>
            <a:r>
              <a:rPr lang="en-GB" sz="3600" noProof="0" dirty="0"/>
              <a:t>Search engines</a:t>
            </a:r>
          </a:p>
          <a:p>
            <a:pPr marL="809625" indent="-723900">
              <a:buClr>
                <a:srgbClr val="C00000"/>
              </a:buClr>
              <a:buSzPct val="107000"/>
              <a:buFont typeface="+mj-lt"/>
              <a:buAutoNum type="arabicPeriod"/>
            </a:pPr>
            <a:r>
              <a:rPr lang="en-GB" sz="3600" noProof="0" dirty="0"/>
              <a:t>Advanced search</a:t>
            </a:r>
          </a:p>
          <a:p>
            <a:pPr marL="809625" indent="-723900">
              <a:buClr>
                <a:srgbClr val="C00000"/>
              </a:buClr>
              <a:buSzPct val="107000"/>
              <a:buFont typeface="+mj-lt"/>
              <a:buAutoNum type="arabicPeriod"/>
            </a:pPr>
            <a:r>
              <a:rPr lang="en-GB" sz="3600" noProof="0" dirty="0"/>
              <a:t>Safe searching</a:t>
            </a:r>
          </a:p>
          <a:p>
            <a:endParaRPr lang="en-GB" noProof="0" dirty="0"/>
          </a:p>
        </p:txBody>
      </p:sp>
    </p:spTree>
    <p:extLst>
      <p:ext uri="{BB962C8B-B14F-4D97-AF65-F5344CB8AC3E}">
        <p14:creationId xmlns:p14="http://schemas.microsoft.com/office/powerpoint/2010/main" val="87815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C82DD73-6605-0ABB-06FE-E11915FB1D9B}"/>
              </a:ext>
            </a:extLst>
          </p:cNvPr>
          <p:cNvSpPr>
            <a:spLocks noGrp="1"/>
          </p:cNvSpPr>
          <p:nvPr>
            <p:ph type="title"/>
          </p:nvPr>
        </p:nvSpPr>
        <p:spPr/>
        <p:txBody>
          <a:bodyPr/>
          <a:lstStyle/>
          <a:p>
            <a:r>
              <a:rPr lang="en-GB" noProof="0" dirty="0"/>
              <a:t>Safe searching</a:t>
            </a:r>
          </a:p>
        </p:txBody>
      </p:sp>
      <p:sp>
        <p:nvSpPr>
          <p:cNvPr id="5" name="Content Placeholder 4">
            <a:extLst>
              <a:ext uri="{FF2B5EF4-FFF2-40B4-BE49-F238E27FC236}">
                <a16:creationId xmlns:a16="http://schemas.microsoft.com/office/drawing/2014/main" id="{BBC16C29-CE86-8F2F-A1F5-EE5A8ECABF67}"/>
              </a:ext>
            </a:extLst>
          </p:cNvPr>
          <p:cNvSpPr>
            <a:spLocks noGrp="1"/>
          </p:cNvSpPr>
          <p:nvPr>
            <p:ph idx="1"/>
          </p:nvPr>
        </p:nvSpPr>
        <p:spPr/>
        <p:txBody>
          <a:bodyPr/>
          <a:lstStyle/>
          <a:p>
            <a:r>
              <a:rPr lang="en-GB" noProof="0" dirty="0"/>
              <a:t>Some websites contain </a:t>
            </a:r>
            <a:r>
              <a:rPr lang="en-GB" b="1" noProof="0" dirty="0">
                <a:solidFill>
                  <a:srgbClr val="C00000"/>
                </a:solidFill>
              </a:rPr>
              <a:t>inappropriate</a:t>
            </a:r>
            <a:r>
              <a:rPr lang="en-GB" noProof="0" dirty="0"/>
              <a:t> or harmful content.</a:t>
            </a:r>
          </a:p>
          <a:p>
            <a:r>
              <a:rPr lang="en-GB" noProof="0" dirty="0"/>
              <a:t>Seeing violent or graphic content can be upsetting, cause stress or make you feel unsafe. It is important to avoid websites that show shocking or disturbing images or videos.</a:t>
            </a:r>
          </a:p>
        </p:txBody>
      </p:sp>
    </p:spTree>
    <p:extLst>
      <p:ext uri="{BB962C8B-B14F-4D97-AF65-F5344CB8AC3E}">
        <p14:creationId xmlns:p14="http://schemas.microsoft.com/office/powerpoint/2010/main" val="1010768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9254C-533D-25D2-9240-B93A60C31C3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BC1C92B-D262-51CB-69E2-4B17E4FA014B}"/>
              </a:ext>
            </a:extLst>
          </p:cNvPr>
          <p:cNvSpPr>
            <a:spLocks noGrp="1"/>
          </p:cNvSpPr>
          <p:nvPr>
            <p:ph type="title"/>
          </p:nvPr>
        </p:nvSpPr>
        <p:spPr/>
        <p:txBody>
          <a:bodyPr/>
          <a:lstStyle/>
          <a:p>
            <a:r>
              <a:rPr lang="en-GB" noProof="0" dirty="0"/>
              <a:t>Safe searching</a:t>
            </a:r>
          </a:p>
        </p:txBody>
      </p:sp>
      <p:sp>
        <p:nvSpPr>
          <p:cNvPr id="5" name="Content Placeholder 4">
            <a:extLst>
              <a:ext uri="{FF2B5EF4-FFF2-40B4-BE49-F238E27FC236}">
                <a16:creationId xmlns:a16="http://schemas.microsoft.com/office/drawing/2014/main" id="{E6088E8F-6110-4F47-179D-9CE232FC79D5}"/>
              </a:ext>
            </a:extLst>
          </p:cNvPr>
          <p:cNvSpPr>
            <a:spLocks noGrp="1"/>
          </p:cNvSpPr>
          <p:nvPr>
            <p:ph idx="1"/>
          </p:nvPr>
        </p:nvSpPr>
        <p:spPr/>
        <p:txBody>
          <a:bodyPr>
            <a:normAutofit/>
          </a:bodyPr>
          <a:lstStyle/>
          <a:p>
            <a:r>
              <a:rPr lang="en-GB" noProof="0" dirty="0"/>
              <a:t>Some websites might ask for details like your name, address or phone number. Sharing this information can put your privacy and safety at risk, as it might be used by scammers or hackers.</a:t>
            </a:r>
          </a:p>
          <a:p>
            <a:r>
              <a:rPr lang="en-GB" noProof="0" dirty="0"/>
              <a:t>Reading false information can lead to misunderstandings or spread confusion. For example, fake health advice can be dangerous if people believe it.</a:t>
            </a:r>
          </a:p>
        </p:txBody>
      </p:sp>
    </p:spTree>
    <p:extLst>
      <p:ext uri="{BB962C8B-B14F-4D97-AF65-F5344CB8AC3E}">
        <p14:creationId xmlns:p14="http://schemas.microsoft.com/office/powerpoint/2010/main" val="3644164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E746D-2A88-01AC-94B9-77FC2A41F252}"/>
              </a:ext>
            </a:extLst>
          </p:cNvPr>
          <p:cNvSpPr>
            <a:spLocks noGrp="1"/>
          </p:cNvSpPr>
          <p:nvPr>
            <p:ph type="title"/>
          </p:nvPr>
        </p:nvSpPr>
        <p:spPr/>
        <p:txBody>
          <a:bodyPr/>
          <a:lstStyle/>
          <a:p>
            <a:r>
              <a:rPr lang="en-GB" noProof="0" dirty="0"/>
              <a:t>Safe searching</a:t>
            </a:r>
          </a:p>
        </p:txBody>
      </p:sp>
      <p:sp>
        <p:nvSpPr>
          <p:cNvPr id="3" name="Content Placeholder 2">
            <a:extLst>
              <a:ext uri="{FF2B5EF4-FFF2-40B4-BE49-F238E27FC236}">
                <a16:creationId xmlns:a16="http://schemas.microsoft.com/office/drawing/2014/main" id="{032FA2DA-A1C5-D4C1-B28D-B5D7F0B61D2A}"/>
              </a:ext>
            </a:extLst>
          </p:cNvPr>
          <p:cNvSpPr>
            <a:spLocks noGrp="1"/>
          </p:cNvSpPr>
          <p:nvPr>
            <p:ph idx="1"/>
          </p:nvPr>
        </p:nvSpPr>
        <p:spPr/>
        <p:txBody>
          <a:bodyPr/>
          <a:lstStyle/>
          <a:p>
            <a:r>
              <a:rPr lang="en-GB" noProof="0" dirty="0"/>
              <a:t>Websites with rude or offensive language or content that isn’t age-appropriate can make you uncomfortable or expose you to ideas you’re not ready for.</a:t>
            </a:r>
          </a:p>
          <a:p>
            <a:r>
              <a:rPr lang="en-GB" noProof="0" dirty="0"/>
              <a:t>Websites filled with pop-up ads or fake offers can trick you into clicking harmful links, downloading viruses or spending money on scams.</a:t>
            </a:r>
          </a:p>
        </p:txBody>
      </p:sp>
    </p:spTree>
    <p:extLst>
      <p:ext uri="{BB962C8B-B14F-4D97-AF65-F5344CB8AC3E}">
        <p14:creationId xmlns:p14="http://schemas.microsoft.com/office/powerpoint/2010/main" val="3213637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4CAE5CB-54B9-F3F8-F991-B585FC62C638}"/>
              </a:ext>
            </a:extLst>
          </p:cNvPr>
          <p:cNvSpPr>
            <a:spLocks noGrp="1"/>
          </p:cNvSpPr>
          <p:nvPr>
            <p:ph type="title"/>
          </p:nvPr>
        </p:nvSpPr>
        <p:spPr/>
        <p:txBody>
          <a:bodyPr/>
          <a:lstStyle/>
          <a:p>
            <a:r>
              <a:rPr lang="en-GB" noProof="0" dirty="0"/>
              <a:t>Safe searching</a:t>
            </a:r>
          </a:p>
        </p:txBody>
      </p:sp>
      <p:sp>
        <p:nvSpPr>
          <p:cNvPr id="5" name="Content Placeholder 4">
            <a:extLst>
              <a:ext uri="{FF2B5EF4-FFF2-40B4-BE49-F238E27FC236}">
                <a16:creationId xmlns:a16="http://schemas.microsoft.com/office/drawing/2014/main" id="{7E1E2FFC-20A6-3AEE-20D4-C34E894E3B61}"/>
              </a:ext>
            </a:extLst>
          </p:cNvPr>
          <p:cNvSpPr>
            <a:spLocks noGrp="1"/>
          </p:cNvSpPr>
          <p:nvPr>
            <p:ph idx="1"/>
          </p:nvPr>
        </p:nvSpPr>
        <p:spPr/>
        <p:txBody>
          <a:bodyPr>
            <a:normAutofit fontScale="92500" lnSpcReduction="10000"/>
          </a:bodyPr>
          <a:lstStyle/>
          <a:p>
            <a:r>
              <a:rPr lang="en-GB" noProof="0" dirty="0"/>
              <a:t>Radicalisation is when someone starts to believe extreme ideas or views that are often harmful or dangerous. These ideas might lead them to act in ways that hurt others or break the law.</a:t>
            </a:r>
          </a:p>
          <a:p>
            <a:r>
              <a:rPr lang="en-GB" noProof="0" dirty="0"/>
              <a:t>Imagine someone spends a lot of time watching videos or chatting with people online who say negative things about a certain group of people. Over time, they might start to believe those ideas and think it is okay to act badly towards that group.</a:t>
            </a:r>
          </a:p>
        </p:txBody>
      </p:sp>
    </p:spTree>
    <p:extLst>
      <p:ext uri="{BB962C8B-B14F-4D97-AF65-F5344CB8AC3E}">
        <p14:creationId xmlns:p14="http://schemas.microsoft.com/office/powerpoint/2010/main" val="32052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8CF87-B41B-17CB-080A-CDCDB87F78D9}"/>
              </a:ext>
            </a:extLst>
          </p:cNvPr>
          <p:cNvSpPr>
            <a:spLocks noGrp="1"/>
          </p:cNvSpPr>
          <p:nvPr>
            <p:ph type="title"/>
          </p:nvPr>
        </p:nvSpPr>
        <p:spPr/>
        <p:txBody>
          <a:bodyPr/>
          <a:lstStyle/>
          <a:p>
            <a:r>
              <a:rPr lang="en-GB" noProof="0" dirty="0"/>
              <a:t>Safe searching</a:t>
            </a:r>
          </a:p>
        </p:txBody>
      </p:sp>
      <p:sp>
        <p:nvSpPr>
          <p:cNvPr id="3" name="Content Placeholder 2">
            <a:extLst>
              <a:ext uri="{FF2B5EF4-FFF2-40B4-BE49-F238E27FC236}">
                <a16:creationId xmlns:a16="http://schemas.microsoft.com/office/drawing/2014/main" id="{3E03C04C-7A6C-C2D8-9570-75A10F54AB83}"/>
              </a:ext>
            </a:extLst>
          </p:cNvPr>
          <p:cNvSpPr>
            <a:spLocks noGrp="1"/>
          </p:cNvSpPr>
          <p:nvPr>
            <p:ph idx="1"/>
          </p:nvPr>
        </p:nvSpPr>
        <p:spPr/>
        <p:txBody>
          <a:bodyPr>
            <a:normAutofit fontScale="92500"/>
          </a:bodyPr>
          <a:lstStyle/>
          <a:p>
            <a:r>
              <a:rPr lang="en-GB" noProof="0" dirty="0"/>
              <a:t>If a group of friends starts convincing someone that breaking the law is a good way to solve problems, that person might be radicalised into thinking violence or bad behaviour is acceptable.</a:t>
            </a:r>
          </a:p>
          <a:p>
            <a:r>
              <a:rPr lang="en-GB" noProof="0" dirty="0"/>
              <a:t>Radicalisation is dangerous because it can lead people to hurt others, spread hate or even break the law. It is important to think critically about what you see, hear or read and to talk to a trusted adult if something doesn’t feel right.</a:t>
            </a:r>
          </a:p>
        </p:txBody>
      </p:sp>
    </p:spTree>
    <p:extLst>
      <p:ext uri="{BB962C8B-B14F-4D97-AF65-F5344CB8AC3E}">
        <p14:creationId xmlns:p14="http://schemas.microsoft.com/office/powerpoint/2010/main" val="3675399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3F6C6630-3A61-A0D7-AF43-919A24D0FC0A}"/>
              </a:ext>
            </a:extLst>
          </p:cNvPr>
          <p:cNvSpPr>
            <a:spLocks noGrp="1"/>
          </p:cNvSpPr>
          <p:nvPr>
            <p:ph idx="1"/>
          </p:nvPr>
        </p:nvSpPr>
        <p:spPr/>
        <p:txBody>
          <a:bodyPr/>
          <a:lstStyle/>
          <a:p>
            <a:r>
              <a:rPr lang="en-GB" noProof="0" dirty="0"/>
              <a:t>Why do you think it’s important to check if a website is safe before using it?</a:t>
            </a:r>
          </a:p>
          <a:p>
            <a:r>
              <a:rPr lang="en-GB" b="1" noProof="0" dirty="0">
                <a:solidFill>
                  <a:srgbClr val="C00000"/>
                </a:solidFill>
              </a:rPr>
              <a:t>It is important to check if a website is safe because unsafe websites can show harmful or upsetting content, give you false information or even try to steal your personal details. By making sure a website is safe, you can protect yourself and find trustworthy information.</a:t>
            </a:r>
          </a:p>
        </p:txBody>
      </p:sp>
      <p:sp>
        <p:nvSpPr>
          <p:cNvPr id="2" name="Title 1">
            <a:extLst>
              <a:ext uri="{FF2B5EF4-FFF2-40B4-BE49-F238E27FC236}">
                <a16:creationId xmlns:a16="http://schemas.microsoft.com/office/drawing/2014/main" id="{E455953A-CF7F-829D-09FF-7A7AA0D1CC34}"/>
              </a:ext>
            </a:extLst>
          </p:cNvPr>
          <p:cNvSpPr>
            <a:spLocks noGrp="1"/>
          </p:cNvSpPr>
          <p:nvPr>
            <p:ph type="title"/>
          </p:nvPr>
        </p:nvSpPr>
        <p:spPr/>
        <p:txBody>
          <a:bodyPr/>
          <a:lstStyle/>
          <a:p>
            <a:r>
              <a:rPr lang="en-GB" noProof="0" dirty="0"/>
              <a:t>Safe searching </a:t>
            </a:r>
          </a:p>
        </p:txBody>
      </p:sp>
    </p:spTree>
    <p:extLst>
      <p:ext uri="{BB962C8B-B14F-4D97-AF65-F5344CB8AC3E}">
        <p14:creationId xmlns:p14="http://schemas.microsoft.com/office/powerpoint/2010/main" val="7444693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57C78-1DD6-3BCB-3054-5F44C116DA53}"/>
              </a:ext>
            </a:extLst>
          </p:cNvPr>
          <p:cNvSpPr>
            <a:spLocks noGrp="1"/>
          </p:cNvSpPr>
          <p:nvPr>
            <p:ph type="title"/>
          </p:nvPr>
        </p:nvSpPr>
        <p:spPr/>
        <p:txBody>
          <a:bodyPr/>
          <a:lstStyle/>
          <a:p>
            <a:r>
              <a:rPr lang="en-GB" noProof="0" dirty="0"/>
              <a:t>Safe searching</a:t>
            </a:r>
          </a:p>
        </p:txBody>
      </p:sp>
      <p:sp>
        <p:nvSpPr>
          <p:cNvPr id="3" name="Content Placeholder 2">
            <a:extLst>
              <a:ext uri="{FF2B5EF4-FFF2-40B4-BE49-F238E27FC236}">
                <a16:creationId xmlns:a16="http://schemas.microsoft.com/office/drawing/2014/main" id="{EB25A9C8-A569-64D9-72F8-246D3AE8264B}"/>
              </a:ext>
            </a:extLst>
          </p:cNvPr>
          <p:cNvSpPr>
            <a:spLocks noGrp="1"/>
          </p:cNvSpPr>
          <p:nvPr>
            <p:ph idx="1"/>
          </p:nvPr>
        </p:nvSpPr>
        <p:spPr/>
        <p:txBody>
          <a:bodyPr>
            <a:normAutofit lnSpcReduction="10000"/>
          </a:bodyPr>
          <a:lstStyle/>
          <a:p>
            <a:r>
              <a:rPr lang="en-GB" noProof="0" dirty="0"/>
              <a:t>There are ways to protect yourself from inappropriate content.</a:t>
            </a:r>
          </a:p>
          <a:p>
            <a:r>
              <a:rPr lang="en-GB" noProof="0" dirty="0" err="1"/>
              <a:t>SafeSearch</a:t>
            </a:r>
            <a:r>
              <a:rPr lang="en-GB" noProof="0" dirty="0"/>
              <a:t> is a tool that filters out inappropriate or harmful content.</a:t>
            </a:r>
          </a:p>
          <a:p>
            <a:r>
              <a:rPr lang="en-GB" noProof="0" dirty="0"/>
              <a:t>Most search engines (such as Google) let you turn it on in the settings.</a:t>
            </a:r>
          </a:p>
          <a:p>
            <a:r>
              <a:rPr lang="en-GB" noProof="0" dirty="0"/>
              <a:t>Always check that </a:t>
            </a:r>
            <a:r>
              <a:rPr lang="en-GB" noProof="0" dirty="0" err="1"/>
              <a:t>SafeSearch</a:t>
            </a:r>
            <a:r>
              <a:rPr lang="en-GB" noProof="0" dirty="0"/>
              <a:t> is enabled before you start searching.</a:t>
            </a:r>
          </a:p>
        </p:txBody>
      </p:sp>
    </p:spTree>
    <p:extLst>
      <p:ext uri="{BB962C8B-B14F-4D97-AF65-F5344CB8AC3E}">
        <p14:creationId xmlns:p14="http://schemas.microsoft.com/office/powerpoint/2010/main" val="3811962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F127B-5D33-F83D-53D3-3C7BA77911D6}"/>
              </a:ext>
            </a:extLst>
          </p:cNvPr>
          <p:cNvSpPr>
            <a:spLocks noGrp="1"/>
          </p:cNvSpPr>
          <p:nvPr>
            <p:ph type="title"/>
          </p:nvPr>
        </p:nvSpPr>
        <p:spPr/>
        <p:txBody>
          <a:bodyPr/>
          <a:lstStyle/>
          <a:p>
            <a:r>
              <a:rPr lang="en-GB" noProof="0" dirty="0"/>
              <a:t>Safe searching</a:t>
            </a:r>
          </a:p>
        </p:txBody>
      </p:sp>
      <p:sp>
        <p:nvSpPr>
          <p:cNvPr id="3" name="Content Placeholder 2">
            <a:extLst>
              <a:ext uri="{FF2B5EF4-FFF2-40B4-BE49-F238E27FC236}">
                <a16:creationId xmlns:a16="http://schemas.microsoft.com/office/drawing/2014/main" id="{9DB5D03C-EABA-619A-7748-7429B7CD3460}"/>
              </a:ext>
            </a:extLst>
          </p:cNvPr>
          <p:cNvSpPr>
            <a:spLocks noGrp="1"/>
          </p:cNvSpPr>
          <p:nvPr>
            <p:ph idx="1"/>
          </p:nvPr>
        </p:nvSpPr>
        <p:spPr/>
        <p:txBody>
          <a:bodyPr>
            <a:normAutofit/>
          </a:bodyPr>
          <a:lstStyle/>
          <a:p>
            <a:r>
              <a:rPr lang="en-GB" noProof="0" dirty="0"/>
              <a:t>Look for clues that a website is trustworthy:</a:t>
            </a:r>
          </a:p>
          <a:p>
            <a:r>
              <a:rPr lang="en-GB" noProof="0"/>
              <a:t>Is </a:t>
            </a:r>
            <a:r>
              <a:rPr lang="en-GB" noProof="0" dirty="0"/>
              <a:t>the information written by a reliable source, such as a government or educational site?</a:t>
            </a:r>
          </a:p>
          <a:p>
            <a:r>
              <a:rPr lang="en-GB" noProof="0" dirty="0"/>
              <a:t>Avoid websites with lots of pop-ups or spelling mistakes.</a:t>
            </a:r>
          </a:p>
        </p:txBody>
      </p:sp>
    </p:spTree>
    <p:extLst>
      <p:ext uri="{BB962C8B-B14F-4D97-AF65-F5344CB8AC3E}">
        <p14:creationId xmlns:p14="http://schemas.microsoft.com/office/powerpoint/2010/main" val="2802190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DBF5B-9326-93BE-C591-0296019C308F}"/>
              </a:ext>
            </a:extLst>
          </p:cNvPr>
          <p:cNvSpPr>
            <a:spLocks noGrp="1"/>
          </p:cNvSpPr>
          <p:nvPr>
            <p:ph type="title"/>
          </p:nvPr>
        </p:nvSpPr>
        <p:spPr/>
        <p:txBody>
          <a:bodyPr/>
          <a:lstStyle/>
          <a:p>
            <a:r>
              <a:rPr lang="en-GB" noProof="0" dirty="0"/>
              <a:t>Safe searching</a:t>
            </a:r>
          </a:p>
        </p:txBody>
      </p:sp>
      <p:sp>
        <p:nvSpPr>
          <p:cNvPr id="3" name="Content Placeholder 2">
            <a:extLst>
              <a:ext uri="{FF2B5EF4-FFF2-40B4-BE49-F238E27FC236}">
                <a16:creationId xmlns:a16="http://schemas.microsoft.com/office/drawing/2014/main" id="{644B949A-C880-A570-10E3-C764F40CA893}"/>
              </a:ext>
            </a:extLst>
          </p:cNvPr>
          <p:cNvSpPr>
            <a:spLocks noGrp="1"/>
          </p:cNvSpPr>
          <p:nvPr>
            <p:ph idx="1"/>
          </p:nvPr>
        </p:nvSpPr>
        <p:spPr/>
        <p:txBody>
          <a:bodyPr/>
          <a:lstStyle/>
          <a:p>
            <a:r>
              <a:rPr lang="en-GB" noProof="0" dirty="0"/>
              <a:t>Be cautious if a website:</a:t>
            </a:r>
          </a:p>
          <a:p>
            <a:pPr marL="893763" indent="-441325">
              <a:buFont typeface="Arial" panose="020B0604020202020204" pitchFamily="34" charset="0"/>
              <a:buChar char="•"/>
            </a:pPr>
            <a:r>
              <a:rPr lang="en-GB" noProof="0" dirty="0"/>
              <a:t>Asks for personal information, such as your address or phone number.</a:t>
            </a:r>
          </a:p>
          <a:p>
            <a:pPr marL="893763" indent="-441325">
              <a:buFont typeface="Arial" panose="020B0604020202020204" pitchFamily="34" charset="0"/>
              <a:buChar char="•"/>
            </a:pPr>
            <a:r>
              <a:rPr lang="en-GB" noProof="0" dirty="0"/>
              <a:t>Shows lots of adverts or strange links.</a:t>
            </a:r>
          </a:p>
          <a:p>
            <a:pPr marL="893763" indent="-441325">
              <a:buFont typeface="Arial" panose="020B0604020202020204" pitchFamily="34" charset="0"/>
              <a:buChar char="•"/>
            </a:pPr>
            <a:r>
              <a:rPr lang="en-GB" noProof="0" dirty="0"/>
              <a:t>Contains shocking or upsetting images.</a:t>
            </a:r>
          </a:p>
        </p:txBody>
      </p:sp>
    </p:spTree>
    <p:extLst>
      <p:ext uri="{BB962C8B-B14F-4D97-AF65-F5344CB8AC3E}">
        <p14:creationId xmlns:p14="http://schemas.microsoft.com/office/powerpoint/2010/main" val="3482689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BE847A-905A-8972-4B58-B85C8729D62D}"/>
              </a:ext>
            </a:extLst>
          </p:cNvPr>
          <p:cNvSpPr>
            <a:spLocks noGrp="1"/>
          </p:cNvSpPr>
          <p:nvPr>
            <p:ph idx="1"/>
          </p:nvPr>
        </p:nvSpPr>
        <p:spPr/>
        <p:txBody>
          <a:bodyPr>
            <a:normAutofit/>
          </a:bodyPr>
          <a:lstStyle/>
          <a:p>
            <a:r>
              <a:rPr lang="en-GB" noProof="0" dirty="0"/>
              <a:t>Why is it important to check if a website is trustworthy?</a:t>
            </a:r>
          </a:p>
          <a:p>
            <a:r>
              <a:rPr lang="en-GB" b="1" noProof="0" dirty="0">
                <a:solidFill>
                  <a:srgbClr val="C00000"/>
                </a:solidFill>
              </a:rPr>
              <a:t>It is important because trustworthy websites provide accurate information and help you stay safe online, while untrustworthy ones might display harmful content or false information.</a:t>
            </a:r>
          </a:p>
        </p:txBody>
      </p:sp>
      <p:sp>
        <p:nvSpPr>
          <p:cNvPr id="2" name="Title 1">
            <a:extLst>
              <a:ext uri="{FF2B5EF4-FFF2-40B4-BE49-F238E27FC236}">
                <a16:creationId xmlns:a16="http://schemas.microsoft.com/office/drawing/2014/main" id="{C8ACEB70-9E35-CF83-F6A9-2D2F403306E7}"/>
              </a:ext>
            </a:extLst>
          </p:cNvPr>
          <p:cNvSpPr>
            <a:spLocks noGrp="1"/>
          </p:cNvSpPr>
          <p:nvPr>
            <p:ph type="title"/>
          </p:nvPr>
        </p:nvSpPr>
        <p:spPr/>
        <p:txBody>
          <a:bodyPr/>
          <a:lstStyle/>
          <a:p>
            <a:r>
              <a:rPr lang="en-GB" noProof="0" dirty="0"/>
              <a:t>Safe searching</a:t>
            </a:r>
          </a:p>
        </p:txBody>
      </p:sp>
    </p:spTree>
    <p:extLst>
      <p:ext uri="{BB962C8B-B14F-4D97-AF65-F5344CB8AC3E}">
        <p14:creationId xmlns:p14="http://schemas.microsoft.com/office/powerpoint/2010/main" val="347067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C46EE-7402-7703-2C47-4ED276E34F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A33CBA-5E05-82B4-2A40-A895665A948A}"/>
              </a:ext>
            </a:extLst>
          </p:cNvPr>
          <p:cNvSpPr>
            <a:spLocks noGrp="1"/>
          </p:cNvSpPr>
          <p:nvPr>
            <p:ph idx="1"/>
          </p:nvPr>
        </p:nvSpPr>
        <p:spPr/>
        <p:txBody>
          <a:bodyPr>
            <a:normAutofit fontScale="92500" lnSpcReduction="10000"/>
          </a:bodyPr>
          <a:lstStyle/>
          <a:p>
            <a:r>
              <a:rPr lang="en-GB" noProof="0" dirty="0"/>
              <a:t>What is </a:t>
            </a:r>
            <a:r>
              <a:rPr lang="en-GB" noProof="0" dirty="0" err="1"/>
              <a:t>SafeSearch</a:t>
            </a:r>
            <a:r>
              <a:rPr lang="en-GB" noProof="0" dirty="0"/>
              <a:t> used for?</a:t>
            </a:r>
          </a:p>
          <a:p>
            <a:r>
              <a:rPr lang="en-GB" b="1" noProof="0" dirty="0" err="1">
                <a:solidFill>
                  <a:srgbClr val="C00000"/>
                </a:solidFill>
              </a:rPr>
              <a:t>SafeSearch</a:t>
            </a:r>
            <a:r>
              <a:rPr lang="en-GB" b="1" noProof="0" dirty="0">
                <a:solidFill>
                  <a:srgbClr val="C00000"/>
                </a:solidFill>
              </a:rPr>
              <a:t> is used to filter out inappropriate or harmful content from search results.</a:t>
            </a:r>
          </a:p>
          <a:p>
            <a:r>
              <a:rPr lang="en-GB" noProof="0" dirty="0"/>
              <a:t>Which of these are signs of a credible website: a clear author, lots of adverts or a secure padlock symbol?</a:t>
            </a:r>
          </a:p>
          <a:p>
            <a:r>
              <a:rPr lang="en-GB" b="1" noProof="0" dirty="0">
                <a:solidFill>
                  <a:srgbClr val="C00000"/>
                </a:solidFill>
              </a:rPr>
              <a:t>Clear author and a secure padlock symbol are signs of a credible website. Lots of adverts are usually a warning sign.</a:t>
            </a:r>
          </a:p>
        </p:txBody>
      </p:sp>
      <p:sp>
        <p:nvSpPr>
          <p:cNvPr id="2" name="Title 1">
            <a:extLst>
              <a:ext uri="{FF2B5EF4-FFF2-40B4-BE49-F238E27FC236}">
                <a16:creationId xmlns:a16="http://schemas.microsoft.com/office/drawing/2014/main" id="{1FF80BC4-3EDF-1033-0736-5A128644031D}"/>
              </a:ext>
            </a:extLst>
          </p:cNvPr>
          <p:cNvSpPr>
            <a:spLocks noGrp="1"/>
          </p:cNvSpPr>
          <p:nvPr>
            <p:ph type="title"/>
          </p:nvPr>
        </p:nvSpPr>
        <p:spPr/>
        <p:txBody>
          <a:bodyPr/>
          <a:lstStyle/>
          <a:p>
            <a:r>
              <a:rPr lang="en-GB" noProof="0" dirty="0"/>
              <a:t>Safe searching</a:t>
            </a:r>
          </a:p>
        </p:txBody>
      </p:sp>
    </p:spTree>
    <p:extLst>
      <p:ext uri="{BB962C8B-B14F-4D97-AF65-F5344CB8AC3E}">
        <p14:creationId xmlns:p14="http://schemas.microsoft.com/office/powerpoint/2010/main" val="1769632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2F90A2-F2B9-2F68-046B-EF3638A9ED05}"/>
              </a:ext>
            </a:extLst>
          </p:cNvPr>
          <p:cNvSpPr>
            <a:spLocks noGrp="1"/>
          </p:cNvSpPr>
          <p:nvPr>
            <p:ph type="title"/>
          </p:nvPr>
        </p:nvSpPr>
        <p:spPr/>
        <p:txBody>
          <a:bodyPr/>
          <a:lstStyle/>
          <a:p>
            <a:r>
              <a:rPr lang="en-GB" noProof="0" dirty="0"/>
              <a:t>Safe searching</a:t>
            </a:r>
          </a:p>
        </p:txBody>
      </p:sp>
      <p:sp>
        <p:nvSpPr>
          <p:cNvPr id="5" name="Content Placeholder 4">
            <a:extLst>
              <a:ext uri="{FF2B5EF4-FFF2-40B4-BE49-F238E27FC236}">
                <a16:creationId xmlns:a16="http://schemas.microsoft.com/office/drawing/2014/main" id="{56D1B3BA-7BB6-260F-9ACA-F0804234ED89}"/>
              </a:ext>
            </a:extLst>
          </p:cNvPr>
          <p:cNvSpPr>
            <a:spLocks noGrp="1"/>
          </p:cNvSpPr>
          <p:nvPr>
            <p:ph idx="1"/>
          </p:nvPr>
        </p:nvSpPr>
        <p:spPr/>
        <p:txBody>
          <a:bodyPr/>
          <a:lstStyle/>
          <a:p>
            <a:r>
              <a:rPr lang="en-GB" noProof="0" dirty="0"/>
              <a:t>DuckDuckGo is another search engine that doesn’t track your searches or collect personal data, making it a safer option for pupils.</a:t>
            </a:r>
          </a:p>
          <a:p>
            <a:r>
              <a:rPr lang="en-GB" noProof="0" dirty="0"/>
              <a:t>It is easy to use and provides relevant results without being cluttered with ads or personalised tracking.</a:t>
            </a:r>
          </a:p>
        </p:txBody>
      </p:sp>
    </p:spTree>
    <p:extLst>
      <p:ext uri="{BB962C8B-B14F-4D97-AF65-F5344CB8AC3E}">
        <p14:creationId xmlns:p14="http://schemas.microsoft.com/office/powerpoint/2010/main" val="3589379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66B76-DA5D-E66B-7855-BF0F2DC1D081}"/>
              </a:ext>
            </a:extLst>
          </p:cNvPr>
          <p:cNvSpPr>
            <a:spLocks noGrp="1"/>
          </p:cNvSpPr>
          <p:nvPr>
            <p:ph type="title"/>
          </p:nvPr>
        </p:nvSpPr>
        <p:spPr/>
        <p:txBody>
          <a:bodyPr/>
          <a:lstStyle/>
          <a:p>
            <a:r>
              <a:rPr lang="en-GB" noProof="0" dirty="0"/>
              <a:t>5: Safe searching</a:t>
            </a:r>
          </a:p>
        </p:txBody>
      </p:sp>
      <p:sp>
        <p:nvSpPr>
          <p:cNvPr id="3" name="Content Placeholder 2">
            <a:extLst>
              <a:ext uri="{FF2B5EF4-FFF2-40B4-BE49-F238E27FC236}">
                <a16:creationId xmlns:a16="http://schemas.microsoft.com/office/drawing/2014/main" id="{6380A4C4-9AC0-7C96-2D7A-8CDA5402C411}"/>
              </a:ext>
            </a:extLst>
          </p:cNvPr>
          <p:cNvSpPr>
            <a:spLocks noGrp="1"/>
          </p:cNvSpPr>
          <p:nvPr>
            <p:ph idx="1"/>
          </p:nvPr>
        </p:nvSpPr>
        <p:spPr/>
        <p:txBody>
          <a:bodyPr/>
          <a:lstStyle/>
          <a:p>
            <a:r>
              <a:rPr lang="en-GB" noProof="0" dirty="0"/>
              <a:t>Open the search engine DuckDuckGo and search for the keyword...</a:t>
            </a:r>
          </a:p>
          <a:p>
            <a:endParaRPr lang="en-GB" noProof="0" dirty="0"/>
          </a:p>
          <a:p>
            <a:endParaRPr lang="en-GB" noProof="0" dirty="0"/>
          </a:p>
          <a:p>
            <a:r>
              <a:rPr lang="en-GB" noProof="0" dirty="0"/>
              <a:t>How can you change the safe search settings?</a:t>
            </a:r>
          </a:p>
          <a:p>
            <a:endParaRPr lang="en-GB" noProof="0" dirty="0"/>
          </a:p>
        </p:txBody>
      </p:sp>
      <p:sp>
        <p:nvSpPr>
          <p:cNvPr id="4" name="Rectangle: Rounded Corners 3">
            <a:extLst>
              <a:ext uri="{FF2B5EF4-FFF2-40B4-BE49-F238E27FC236}">
                <a16:creationId xmlns:a16="http://schemas.microsoft.com/office/drawing/2014/main" id="{F50DA393-0572-7497-FDCD-E8DFE3965BB9}"/>
              </a:ext>
            </a:extLst>
          </p:cNvPr>
          <p:cNvSpPr/>
          <p:nvPr/>
        </p:nvSpPr>
        <p:spPr>
          <a:xfrm>
            <a:off x="1469204" y="2783396"/>
            <a:ext cx="9092629" cy="1006867"/>
          </a:xfrm>
          <a:prstGeom prst="roundRect">
            <a:avLst>
              <a:gd name="adj" fmla="val 50000"/>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4400" noProof="0" dirty="0">
                <a:solidFill>
                  <a:sysClr val="windowText" lastClr="000000"/>
                </a:solidFill>
              </a:rPr>
              <a:t>space exploration</a:t>
            </a:r>
          </a:p>
        </p:txBody>
      </p:sp>
    </p:spTree>
    <p:extLst>
      <p:ext uri="{BB962C8B-B14F-4D97-AF65-F5344CB8AC3E}">
        <p14:creationId xmlns:p14="http://schemas.microsoft.com/office/powerpoint/2010/main" val="103252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62E21-0EDD-0254-1172-EEA0DDA09666}"/>
              </a:ext>
            </a:extLst>
          </p:cNvPr>
          <p:cNvSpPr>
            <a:spLocks noGrp="1"/>
          </p:cNvSpPr>
          <p:nvPr>
            <p:ph type="title"/>
          </p:nvPr>
        </p:nvSpPr>
        <p:spPr/>
        <p:txBody>
          <a:bodyPr/>
          <a:lstStyle/>
          <a:p>
            <a:r>
              <a:rPr lang="en-GB" noProof="0" dirty="0"/>
              <a:t>5: Safe searching </a:t>
            </a:r>
            <a:r>
              <a:rPr lang="en-GB" noProof="0" dirty="0">
                <a:solidFill>
                  <a:srgbClr val="C00000"/>
                </a:solidFill>
              </a:rPr>
              <a:t>ANSWER</a:t>
            </a:r>
          </a:p>
        </p:txBody>
      </p:sp>
      <p:pic>
        <p:nvPicPr>
          <p:cNvPr id="5" name="Content Placeholder 4" descr="Screenshot of DuckDuckGo search engine showing Safe Search option highlighted">
            <a:extLst>
              <a:ext uri="{FF2B5EF4-FFF2-40B4-BE49-F238E27FC236}">
                <a16:creationId xmlns:a16="http://schemas.microsoft.com/office/drawing/2014/main" id="{C8643A1D-7A66-8907-11D5-9F455CF02F7F}"/>
              </a:ext>
            </a:extLst>
          </p:cNvPr>
          <p:cNvPicPr>
            <a:picLocks noGrp="1" noChangeAspect="1"/>
          </p:cNvPicPr>
          <p:nvPr>
            <p:ph idx="1"/>
          </p:nvPr>
        </p:nvPicPr>
        <p:blipFill>
          <a:blip r:embed="rId2"/>
          <a:stretch>
            <a:fillRect/>
          </a:stretch>
        </p:blipFill>
        <p:spPr>
          <a:xfrm>
            <a:off x="740371" y="1951587"/>
            <a:ext cx="10711258" cy="1703444"/>
          </a:xfrm>
        </p:spPr>
      </p:pic>
      <p:sp>
        <p:nvSpPr>
          <p:cNvPr id="6" name="Rectangle: Rounded Corners 5">
            <a:extLst>
              <a:ext uri="{FF2B5EF4-FFF2-40B4-BE49-F238E27FC236}">
                <a16:creationId xmlns:a16="http://schemas.microsoft.com/office/drawing/2014/main" id="{65178D94-99EC-5736-9B58-A1C6FCDEBCD8}"/>
              </a:ext>
              <a:ext uri="{C183D7F6-B498-43B3-948B-1728B52AA6E4}">
                <adec:decorative xmlns:adec="http://schemas.microsoft.com/office/drawing/2017/decorative" val="1"/>
              </a:ext>
            </a:extLst>
          </p:cNvPr>
          <p:cNvSpPr/>
          <p:nvPr/>
        </p:nvSpPr>
        <p:spPr>
          <a:xfrm>
            <a:off x="6514671" y="3198072"/>
            <a:ext cx="2351928" cy="461855"/>
          </a:xfrm>
          <a:prstGeom prst="roundRect">
            <a:avLst/>
          </a:prstGeom>
          <a:solidFill>
            <a:srgbClr val="C00000">
              <a:alpha val="1411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spTree>
    <p:extLst>
      <p:ext uri="{BB962C8B-B14F-4D97-AF65-F5344CB8AC3E}">
        <p14:creationId xmlns:p14="http://schemas.microsoft.com/office/powerpoint/2010/main" val="2909160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DBC52D1-E277-6BEF-D62D-3AB7F9400BC8}"/>
              </a:ext>
            </a:extLst>
          </p:cNvPr>
          <p:cNvSpPr>
            <a:spLocks noGrp="1"/>
          </p:cNvSpPr>
          <p:nvPr>
            <p:ph type="title"/>
          </p:nvPr>
        </p:nvSpPr>
        <p:spPr/>
        <p:txBody>
          <a:bodyPr/>
          <a:lstStyle/>
          <a:p>
            <a:r>
              <a:rPr lang="en-GB" noProof="0" dirty="0"/>
              <a:t>6: Safe searching</a:t>
            </a:r>
          </a:p>
        </p:txBody>
      </p:sp>
      <p:sp>
        <p:nvSpPr>
          <p:cNvPr id="5" name="Content Placeholder 4">
            <a:extLst>
              <a:ext uri="{FF2B5EF4-FFF2-40B4-BE49-F238E27FC236}">
                <a16:creationId xmlns:a16="http://schemas.microsoft.com/office/drawing/2014/main" id="{D7FFB573-8083-7870-E55C-4C39031B01EF}"/>
              </a:ext>
            </a:extLst>
          </p:cNvPr>
          <p:cNvSpPr>
            <a:spLocks noGrp="1"/>
          </p:cNvSpPr>
          <p:nvPr>
            <p:ph idx="1"/>
          </p:nvPr>
        </p:nvSpPr>
        <p:spPr/>
        <p:txBody>
          <a:bodyPr>
            <a:normAutofit fontScale="70000" lnSpcReduction="20000"/>
          </a:bodyPr>
          <a:lstStyle/>
          <a:p>
            <a:r>
              <a:rPr lang="en-GB" b="1" noProof="0" dirty="0"/>
              <a:t>Website 1: </a:t>
            </a:r>
            <a:r>
              <a:rPr lang="en-GB" noProof="0" dirty="0"/>
              <a:t>https://kids.nationalgeographic.com/</a:t>
            </a:r>
          </a:p>
          <a:p>
            <a:r>
              <a:rPr lang="en-GB" b="1" noProof="0" dirty="0"/>
              <a:t>Website 2: </a:t>
            </a:r>
            <a:r>
              <a:rPr lang="en-GB" noProof="0" dirty="0"/>
              <a:t>https://scienceblog.com/</a:t>
            </a:r>
          </a:p>
          <a:p>
            <a:r>
              <a:rPr lang="en-GB" noProof="0" dirty="0"/>
              <a:t>Can you find the named author behind each article?</a:t>
            </a:r>
          </a:p>
          <a:p>
            <a:r>
              <a:rPr lang="en-GB" noProof="0" dirty="0"/>
              <a:t>Are the facts supported by sources or links to reliable information?</a:t>
            </a:r>
          </a:p>
          <a:p>
            <a:r>
              <a:rPr lang="en-GB" noProof="0" dirty="0"/>
              <a:t>Does the website have lots of adverts or pop-ups for items unrelated to the website?</a:t>
            </a:r>
          </a:p>
          <a:p>
            <a:r>
              <a:rPr lang="en-GB" noProof="0" dirty="0"/>
              <a:t>Is the website free from spelling mistakes and poor grammar?</a:t>
            </a:r>
          </a:p>
          <a:p>
            <a:r>
              <a:rPr lang="en-GB" noProof="0" dirty="0"/>
              <a:t>Do you think the website is trustworthy?</a:t>
            </a:r>
          </a:p>
          <a:p>
            <a:endParaRPr lang="en-GB" noProof="0" dirty="0"/>
          </a:p>
        </p:txBody>
      </p:sp>
    </p:spTree>
    <p:extLst>
      <p:ext uri="{BB962C8B-B14F-4D97-AF65-F5344CB8AC3E}">
        <p14:creationId xmlns:p14="http://schemas.microsoft.com/office/powerpoint/2010/main" val="9061847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147F0-921C-98CC-71B8-4A42D45216CB}"/>
              </a:ext>
            </a:extLst>
          </p:cNvPr>
          <p:cNvSpPr>
            <a:spLocks noGrp="1"/>
          </p:cNvSpPr>
          <p:nvPr>
            <p:ph type="title"/>
          </p:nvPr>
        </p:nvSpPr>
        <p:spPr/>
        <p:txBody>
          <a:bodyPr/>
          <a:lstStyle/>
          <a:p>
            <a:r>
              <a:rPr lang="en-GB" noProof="0" dirty="0"/>
              <a:t>6: Safe searching </a:t>
            </a:r>
            <a:r>
              <a:rPr lang="en-GB" noProof="0" dirty="0">
                <a:solidFill>
                  <a:srgbClr val="C00000"/>
                </a:solidFill>
              </a:rPr>
              <a:t>ANSWERS</a:t>
            </a:r>
          </a:p>
        </p:txBody>
      </p:sp>
      <p:sp>
        <p:nvSpPr>
          <p:cNvPr id="3" name="Content Placeholder 2">
            <a:extLst>
              <a:ext uri="{FF2B5EF4-FFF2-40B4-BE49-F238E27FC236}">
                <a16:creationId xmlns:a16="http://schemas.microsoft.com/office/drawing/2014/main" id="{DBDBC455-6E81-04E3-5FDB-77DD693F9BCD}"/>
              </a:ext>
            </a:extLst>
          </p:cNvPr>
          <p:cNvSpPr>
            <a:spLocks noGrp="1"/>
          </p:cNvSpPr>
          <p:nvPr>
            <p:ph idx="1"/>
          </p:nvPr>
        </p:nvSpPr>
        <p:spPr/>
        <p:txBody>
          <a:bodyPr>
            <a:normAutofit fontScale="70000" lnSpcReduction="20000"/>
          </a:bodyPr>
          <a:lstStyle/>
          <a:p>
            <a:pPr>
              <a:spcAft>
                <a:spcPts val="600"/>
              </a:spcAft>
            </a:pPr>
            <a:r>
              <a:rPr lang="en-GB" noProof="0" dirty="0"/>
              <a:t>National Geographic Kids (https://kids.nationalgeographic.com) is a trusted and reliable website. Here's why:</a:t>
            </a:r>
          </a:p>
          <a:p>
            <a:pPr>
              <a:spcAft>
                <a:spcPts val="600"/>
              </a:spcAft>
            </a:pPr>
            <a:r>
              <a:rPr lang="en-GB" b="1" noProof="0" dirty="0">
                <a:solidFill>
                  <a:srgbClr val="C00000"/>
                </a:solidFill>
              </a:rPr>
              <a:t>Reputable Organisation: It is part of National Geographic, a well-known organisation recognised for its high-quality and accurate content.</a:t>
            </a:r>
          </a:p>
          <a:p>
            <a:pPr>
              <a:spcAft>
                <a:spcPts val="600"/>
              </a:spcAft>
            </a:pPr>
            <a:r>
              <a:rPr lang="en-GB" b="1" noProof="0" dirty="0">
                <a:solidFill>
                  <a:srgbClr val="C00000"/>
                </a:solidFill>
              </a:rPr>
              <a:t>Educational Focus: The website is specifically designed for children, providing age-appropriate, engaging and factual information on topics such as animals, science and geography.</a:t>
            </a:r>
          </a:p>
          <a:p>
            <a:pPr>
              <a:spcAft>
                <a:spcPts val="600"/>
              </a:spcAft>
            </a:pPr>
            <a:r>
              <a:rPr lang="en-GB" b="1" noProof="0" dirty="0">
                <a:solidFill>
                  <a:srgbClr val="C00000"/>
                </a:solidFill>
              </a:rPr>
              <a:t>Expert Content: Articles and resources are created or reviewed by experts, ensuring the information is accurate and trustworthy.</a:t>
            </a:r>
          </a:p>
          <a:p>
            <a:pPr>
              <a:spcAft>
                <a:spcPts val="600"/>
              </a:spcAft>
            </a:pPr>
            <a:r>
              <a:rPr lang="en-GB" b="1" noProof="0" dirty="0">
                <a:solidFill>
                  <a:srgbClr val="C00000"/>
                </a:solidFill>
              </a:rPr>
              <a:t>Safe for Pupils: The site is child-friendly, with no harmful content, making it suitable for use in classrooms or at home.</a:t>
            </a:r>
          </a:p>
          <a:p>
            <a:pPr>
              <a:spcAft>
                <a:spcPts val="600"/>
              </a:spcAft>
            </a:pPr>
            <a:r>
              <a:rPr lang="en-GB" b="1" noProof="0" dirty="0">
                <a:solidFill>
                  <a:srgbClr val="C00000"/>
                </a:solidFill>
              </a:rPr>
              <a:t>It is an excellent resource for pupils to explore and learn safely.</a:t>
            </a:r>
          </a:p>
        </p:txBody>
      </p:sp>
    </p:spTree>
    <p:extLst>
      <p:ext uri="{BB962C8B-B14F-4D97-AF65-F5344CB8AC3E}">
        <p14:creationId xmlns:p14="http://schemas.microsoft.com/office/powerpoint/2010/main" val="240747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CBED4-DBAC-8788-917F-3D925FCFD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5AA123-2943-F886-03EE-E1096D473E91}"/>
              </a:ext>
            </a:extLst>
          </p:cNvPr>
          <p:cNvSpPr>
            <a:spLocks noGrp="1"/>
          </p:cNvSpPr>
          <p:nvPr>
            <p:ph type="title"/>
          </p:nvPr>
        </p:nvSpPr>
        <p:spPr/>
        <p:txBody>
          <a:bodyPr/>
          <a:lstStyle/>
          <a:p>
            <a:r>
              <a:rPr lang="en-GB" noProof="0" dirty="0"/>
              <a:t>6: Safe searching </a:t>
            </a:r>
            <a:r>
              <a:rPr lang="en-GB" noProof="0" dirty="0">
                <a:solidFill>
                  <a:srgbClr val="C00000"/>
                </a:solidFill>
              </a:rPr>
              <a:t>ANSWERS</a:t>
            </a:r>
            <a:endParaRPr lang="en-GB" noProof="0" dirty="0"/>
          </a:p>
        </p:txBody>
      </p:sp>
      <p:sp>
        <p:nvSpPr>
          <p:cNvPr id="3" name="Content Placeholder 2">
            <a:extLst>
              <a:ext uri="{FF2B5EF4-FFF2-40B4-BE49-F238E27FC236}">
                <a16:creationId xmlns:a16="http://schemas.microsoft.com/office/drawing/2014/main" id="{19060A77-567C-99DC-94B1-66B2532E9A6D}"/>
              </a:ext>
            </a:extLst>
          </p:cNvPr>
          <p:cNvSpPr>
            <a:spLocks noGrp="1"/>
          </p:cNvSpPr>
          <p:nvPr>
            <p:ph idx="1"/>
          </p:nvPr>
        </p:nvSpPr>
        <p:spPr/>
        <p:txBody>
          <a:bodyPr>
            <a:normAutofit fontScale="70000" lnSpcReduction="20000"/>
          </a:bodyPr>
          <a:lstStyle/>
          <a:p>
            <a:pPr>
              <a:spcAft>
                <a:spcPts val="600"/>
              </a:spcAft>
            </a:pPr>
            <a:r>
              <a:rPr lang="en-GB" noProof="0" dirty="0"/>
              <a:t>Science Blog (https://scienceblog.com) is not generally considered a highly trusted or authoritative source for scientific information. Here's why:</a:t>
            </a:r>
          </a:p>
          <a:p>
            <a:pPr>
              <a:spcAft>
                <a:spcPts val="600"/>
              </a:spcAft>
            </a:pPr>
            <a:r>
              <a:rPr lang="en-GB" b="1" noProof="0" dirty="0">
                <a:solidFill>
                  <a:srgbClr val="C00000"/>
                </a:solidFill>
              </a:rPr>
              <a:t>Lack of Clear Authors: Many articles on Science Blog do not clearly state the qualifications or credentials of the authors, making it hard to verify their expertise.</a:t>
            </a:r>
          </a:p>
          <a:p>
            <a:pPr>
              <a:spcAft>
                <a:spcPts val="600"/>
              </a:spcAft>
            </a:pPr>
            <a:r>
              <a:rPr lang="en-GB" b="1" noProof="0" dirty="0">
                <a:solidFill>
                  <a:srgbClr val="C00000"/>
                </a:solidFill>
              </a:rPr>
              <a:t>Advertisements: The website contains a noticeable number of adverts, which can affect its credibility.</a:t>
            </a:r>
          </a:p>
          <a:p>
            <a:pPr>
              <a:spcAft>
                <a:spcPts val="600"/>
              </a:spcAft>
            </a:pPr>
            <a:r>
              <a:rPr lang="en-GB" b="1" noProof="0" dirty="0">
                <a:solidFill>
                  <a:srgbClr val="C00000"/>
                </a:solidFill>
              </a:rPr>
              <a:t>Not Peer-Reviewed: Unlike academic journals or trusted science organisations, the content is not peer-reviewed, meaning it may not always be accurate or reliable.</a:t>
            </a:r>
          </a:p>
          <a:p>
            <a:pPr>
              <a:spcAft>
                <a:spcPts val="600"/>
              </a:spcAft>
            </a:pPr>
            <a:r>
              <a:rPr lang="en-GB" b="1" noProof="0" dirty="0">
                <a:solidFill>
                  <a:srgbClr val="C00000"/>
                </a:solidFill>
              </a:rPr>
              <a:t>Conclusion: While it may contain interesting articles, it is better to cross-check information from Science Blog with more credible sources such as BBC Science, NASA or National Geographic.</a:t>
            </a:r>
          </a:p>
        </p:txBody>
      </p:sp>
    </p:spTree>
    <p:extLst>
      <p:ext uri="{BB962C8B-B14F-4D97-AF65-F5344CB8AC3E}">
        <p14:creationId xmlns:p14="http://schemas.microsoft.com/office/powerpoint/2010/main" val="3050129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220DD-1B34-3F6E-ECDA-C3BBC48CDD02}"/>
              </a:ext>
            </a:extLst>
          </p:cNvPr>
          <p:cNvSpPr>
            <a:spLocks noGrp="1"/>
          </p:cNvSpPr>
          <p:nvPr>
            <p:ph type="title"/>
          </p:nvPr>
        </p:nvSpPr>
        <p:spPr/>
        <p:txBody>
          <a:bodyPr/>
          <a:lstStyle/>
          <a:p>
            <a:r>
              <a:rPr lang="en-GB" noProof="0" dirty="0"/>
              <a:t>Summary of lesson</a:t>
            </a:r>
          </a:p>
        </p:txBody>
      </p:sp>
      <p:sp>
        <p:nvSpPr>
          <p:cNvPr id="3" name="Content Placeholder 2">
            <a:extLst>
              <a:ext uri="{FF2B5EF4-FFF2-40B4-BE49-F238E27FC236}">
                <a16:creationId xmlns:a16="http://schemas.microsoft.com/office/drawing/2014/main" id="{C7B2BC8E-D2E8-90F7-8C7A-DFC54C6F6B13}"/>
              </a:ext>
            </a:extLst>
          </p:cNvPr>
          <p:cNvSpPr>
            <a:spLocks noGrp="1"/>
          </p:cNvSpPr>
          <p:nvPr>
            <p:ph idx="1"/>
          </p:nvPr>
        </p:nvSpPr>
        <p:spPr/>
        <p:txBody>
          <a:bodyPr>
            <a:normAutofit fontScale="70000" lnSpcReduction="20000"/>
          </a:bodyPr>
          <a:lstStyle/>
          <a:p>
            <a:pPr>
              <a:lnSpc>
                <a:spcPct val="110000"/>
              </a:lnSpc>
              <a:spcAft>
                <a:spcPts val="600"/>
              </a:spcAft>
            </a:pPr>
            <a:r>
              <a:rPr lang="en-GB" sz="4100" noProof="0" dirty="0"/>
              <a:t>Search engines use algorithms to find and rank information.</a:t>
            </a:r>
          </a:p>
          <a:p>
            <a:pPr>
              <a:lnSpc>
                <a:spcPct val="110000"/>
              </a:lnSpc>
              <a:spcAft>
                <a:spcPts val="600"/>
              </a:spcAft>
            </a:pPr>
            <a:r>
              <a:rPr lang="en-GB" sz="4100" noProof="0" dirty="0"/>
              <a:t>Advanced search operators improve your results.</a:t>
            </a:r>
          </a:p>
          <a:p>
            <a:pPr>
              <a:lnSpc>
                <a:spcPct val="110000"/>
              </a:lnSpc>
              <a:spcAft>
                <a:spcPts val="600"/>
              </a:spcAft>
            </a:pPr>
            <a:r>
              <a:rPr lang="en-GB" sz="4100" noProof="0" dirty="0" err="1"/>
              <a:t>SafeSearch</a:t>
            </a:r>
            <a:r>
              <a:rPr lang="en-GB" sz="4100" noProof="0" dirty="0"/>
              <a:t> and credibility checks protect you from harmful content.</a:t>
            </a:r>
          </a:p>
          <a:p>
            <a:pPr>
              <a:lnSpc>
                <a:spcPct val="110000"/>
              </a:lnSpc>
              <a:spcAft>
                <a:spcPts val="600"/>
              </a:spcAft>
            </a:pPr>
            <a:r>
              <a:rPr lang="en-GB" sz="4100" noProof="0" dirty="0"/>
              <a:t>In this lesson, you developed </a:t>
            </a:r>
            <a:r>
              <a:rPr lang="en-GB" sz="4100" b="1" noProof="0" dirty="0"/>
              <a:t>creative thinking </a:t>
            </a:r>
            <a:r>
              <a:rPr lang="en-GB" sz="4100" noProof="0" dirty="0"/>
              <a:t>by designing a checklist, </a:t>
            </a:r>
            <a:r>
              <a:rPr lang="en-GB" sz="4100" b="1" noProof="0" dirty="0"/>
              <a:t>analytical thinking </a:t>
            </a:r>
            <a:r>
              <a:rPr lang="en-GB" sz="4100" noProof="0" dirty="0"/>
              <a:t>by comparing search engines and evaluating websites and </a:t>
            </a:r>
            <a:r>
              <a:rPr lang="en-GB" sz="4100" b="1" noProof="0" dirty="0"/>
              <a:t>curiosity</a:t>
            </a:r>
            <a:r>
              <a:rPr lang="en-GB" sz="4100" noProof="0" dirty="0"/>
              <a:t> and </a:t>
            </a:r>
            <a:r>
              <a:rPr lang="en-GB" sz="4100" b="1" noProof="0" dirty="0"/>
              <a:t>lifelong learning </a:t>
            </a:r>
            <a:r>
              <a:rPr lang="en-GB" sz="4100" noProof="0" dirty="0"/>
              <a:t>by exploring advanced search techniques and </a:t>
            </a:r>
            <a:r>
              <a:rPr lang="en-GB" sz="4100" noProof="0"/>
              <a:t>questioning what you see.</a:t>
            </a:r>
            <a:endParaRPr lang="en-GB" sz="4100" noProof="0" dirty="0"/>
          </a:p>
        </p:txBody>
      </p:sp>
    </p:spTree>
    <p:extLst>
      <p:ext uri="{BB962C8B-B14F-4D97-AF65-F5344CB8AC3E}">
        <p14:creationId xmlns:p14="http://schemas.microsoft.com/office/powerpoint/2010/main" val="275711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9F27A30-74F1-B68F-DB4C-1E52B13E6B0A}"/>
              </a:ext>
            </a:extLst>
          </p:cNvPr>
          <p:cNvSpPr>
            <a:spLocks noGrp="1"/>
          </p:cNvSpPr>
          <p:nvPr>
            <p:ph type="body" sz="quarter" idx="10"/>
          </p:nvPr>
        </p:nvSpPr>
        <p:spPr/>
        <p:txBody>
          <a:bodyPr>
            <a:normAutofit/>
          </a:bodyPr>
          <a:lstStyle/>
          <a:p>
            <a:r>
              <a:rPr lang="en-GB" sz="2800" noProof="0" dirty="0">
                <a:solidFill>
                  <a:srgbClr val="C00000"/>
                </a:solidFill>
                <a:hlinkClick r:id="rId2">
                  <a:extLst>
                    <a:ext uri="{A12FA001-AC4F-418D-AE19-62706E023703}">
                      <ahyp:hlinkClr xmlns:ahyp="http://schemas.microsoft.com/office/drawing/2018/hyperlinkcolor" val="tx"/>
                    </a:ext>
                  </a:extLst>
                </a:hlinkClick>
              </a:rPr>
              <a:t>https://www.nicholawilkin.com/terms</a:t>
            </a:r>
            <a:r>
              <a:rPr lang="en-GB" sz="2800" noProof="0" dirty="0">
                <a:solidFill>
                  <a:srgbClr val="C00000"/>
                </a:solidFill>
              </a:rPr>
              <a:t> </a:t>
            </a:r>
          </a:p>
        </p:txBody>
      </p:sp>
      <p:sp>
        <p:nvSpPr>
          <p:cNvPr id="8" name="Title 7">
            <a:extLst>
              <a:ext uri="{FF2B5EF4-FFF2-40B4-BE49-F238E27FC236}">
                <a16:creationId xmlns:a16="http://schemas.microsoft.com/office/drawing/2014/main" id="{AD801862-38A1-2E92-3A46-84D475AF4FD0}"/>
              </a:ext>
            </a:extLst>
          </p:cNvPr>
          <p:cNvSpPr>
            <a:spLocks noGrp="1"/>
          </p:cNvSpPr>
          <p:nvPr>
            <p:ph type="title"/>
          </p:nvPr>
        </p:nvSpPr>
        <p:spPr/>
        <p:txBody>
          <a:bodyPr/>
          <a:lstStyle/>
          <a:p>
            <a:r>
              <a:rPr lang="en-GB" noProof="0" dirty="0"/>
              <a:t>© 2025 Nichola Wilkin Ltd</a:t>
            </a:r>
          </a:p>
        </p:txBody>
      </p:sp>
    </p:spTree>
    <p:extLst>
      <p:ext uri="{BB962C8B-B14F-4D97-AF65-F5344CB8AC3E}">
        <p14:creationId xmlns:p14="http://schemas.microsoft.com/office/powerpoint/2010/main" val="5496283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9546B4CD-A1D5-4DFE-B56F-C863773A2EAD}" vid="{EAACDE77-F2E5-4310-8C19-1E4AFB9A93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NEW Example Lesson 2</Template>
  <TotalTime>420</TotalTime>
  <Words>2826</Words>
  <Application>Microsoft Office PowerPoint</Application>
  <PresentationFormat>Widescreen</PresentationFormat>
  <Paragraphs>238</Paragraphs>
  <Slides>54</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54</vt:i4>
      </vt:variant>
    </vt:vector>
  </HeadingPairs>
  <TitlesOfParts>
    <vt:vector size="58" baseType="lpstr">
      <vt:lpstr>Aptos</vt:lpstr>
      <vt:lpstr>OpenDyslexicAlta</vt:lpstr>
      <vt:lpstr>Arial</vt:lpstr>
      <vt:lpstr>Office Theme</vt:lpstr>
      <vt:lpstr>Safe searching online</vt:lpstr>
      <vt:lpstr>Objective</vt:lpstr>
      <vt:lpstr>Keywords</vt:lpstr>
      <vt:lpstr>What do you already know?</vt:lpstr>
      <vt:lpstr>Steps to success</vt:lpstr>
      <vt:lpstr>1: Search engines</vt:lpstr>
      <vt:lpstr>1: Search engines</vt:lpstr>
      <vt:lpstr>1: Search engines ANSWERS</vt:lpstr>
      <vt:lpstr>1: Search engines ANSWERS</vt:lpstr>
      <vt:lpstr>1: Search engines</vt:lpstr>
      <vt:lpstr>1: Search engines</vt:lpstr>
      <vt:lpstr>Search engines</vt:lpstr>
      <vt:lpstr>Search engines</vt:lpstr>
      <vt:lpstr>Search engines</vt:lpstr>
      <vt:lpstr>Search engines</vt:lpstr>
      <vt:lpstr>Search engines</vt:lpstr>
      <vt:lpstr>Search engines</vt:lpstr>
      <vt:lpstr>2: Search engines</vt:lpstr>
      <vt:lpstr>2: Search engines</vt:lpstr>
      <vt:lpstr>2: Search engines</vt:lpstr>
      <vt:lpstr>3: Search engines</vt:lpstr>
      <vt:lpstr>3: Search engines ANSWER</vt:lpstr>
      <vt:lpstr>Steps to success</vt:lpstr>
      <vt:lpstr>Advanced search</vt:lpstr>
      <vt:lpstr>Advanced search</vt:lpstr>
      <vt:lpstr>Advanced search</vt:lpstr>
      <vt:lpstr>Advanced search</vt:lpstr>
      <vt:lpstr>Advanced search</vt:lpstr>
      <vt:lpstr>Advanced search</vt:lpstr>
      <vt:lpstr>Advanced search</vt:lpstr>
      <vt:lpstr>Advanced search</vt:lpstr>
      <vt:lpstr>Advanced search</vt:lpstr>
      <vt:lpstr>4: Advanced search</vt:lpstr>
      <vt:lpstr>4: Advanced search ANSWERS</vt:lpstr>
      <vt:lpstr>Steps to success</vt:lpstr>
      <vt:lpstr>Safe searching</vt:lpstr>
      <vt:lpstr>Safe searching</vt:lpstr>
      <vt:lpstr>Safe searching</vt:lpstr>
      <vt:lpstr>Safe searching</vt:lpstr>
      <vt:lpstr>Safe searching</vt:lpstr>
      <vt:lpstr>Safe searching </vt:lpstr>
      <vt:lpstr>Safe searching</vt:lpstr>
      <vt:lpstr>Safe searching</vt:lpstr>
      <vt:lpstr>Safe searching</vt:lpstr>
      <vt:lpstr>Safe searching</vt:lpstr>
      <vt:lpstr>Safe searching</vt:lpstr>
      <vt:lpstr>Safe searching</vt:lpstr>
      <vt:lpstr>5: Safe searching</vt:lpstr>
      <vt:lpstr>5: Safe searching ANSWER</vt:lpstr>
      <vt:lpstr>6: Safe searching</vt:lpstr>
      <vt:lpstr>6: Safe searching ANSWERS</vt:lpstr>
      <vt:lpstr>6: Safe searching ANSWERS</vt:lpstr>
      <vt:lpstr>Summary of lesson</vt:lpstr>
      <vt:lpstr>© 2025 Nichola Wilkin Ltd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Nicky Lacey</dc:creator>
  <dc:description>© 2025 Nichola Wilkin Ltd</dc:description>
  <cp:lastModifiedBy>Nicky Lacey</cp:lastModifiedBy>
  <cp:revision>20</cp:revision>
  <dcterms:created xsi:type="dcterms:W3CDTF">2025-04-28T06:36:25Z</dcterms:created>
  <dcterms:modified xsi:type="dcterms:W3CDTF">2025-06-18T09:13:46Z</dcterms:modified>
  <cp:category>© 2025 Nichola Wilkin Ltd</cp:category>
</cp:coreProperties>
</file>