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30EFBE-F97B-490D-B572-C1ADB27A78DB}" type="datetimeFigureOut">
              <a:rPr lang="en-IE" smtClean="0"/>
              <a:t>16/09/2025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D2527-3D16-4B6F-BA96-06268629D0A7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3747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9D2527-3D16-4B6F-BA96-06268629D0A7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664516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9433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278060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281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8694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93013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9975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14317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4592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2337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11432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61158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517200" y="610700"/>
            <a:ext cx="11157600" cy="9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517200" y="1986432"/>
            <a:ext cx="11157600" cy="4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7649D6D-8BCC-4893-8DC7-DB6634D2583A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98482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logo for a college&#10;&#10;AI-generated content may be incorrect.">
            <a:extLst>
              <a:ext uri="{FF2B5EF4-FFF2-40B4-BE49-F238E27FC236}">
                <a16:creationId xmlns:a16="http://schemas.microsoft.com/office/drawing/2014/main" id="{1C360B2B-5A98-7E0F-8727-8E4EBE3EB668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19" t="10376" r="14368" b="17519"/>
          <a:stretch/>
        </p:blipFill>
        <p:spPr>
          <a:xfrm>
            <a:off x="10557166" y="185739"/>
            <a:ext cx="1378527" cy="137262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>
              <a:buNone/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IE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9C88E78-AA00-4B73-B005-A5F753C873EF}" type="slidenum">
              <a:rPr lang="en-IE" sz="1200" b="0" strike="noStrike" spc="-1" smtClean="0">
                <a:solidFill>
                  <a:schemeClr val="dk1">
                    <a:tint val="82000"/>
                  </a:schemeClr>
                </a:solidFill>
                <a:latin typeface="Franklin Gothic Book"/>
              </a:rPr>
              <a:t>‹#›</a:t>
            </a:fld>
            <a:endParaRPr lang="en-IE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77249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4DDD9-3755-0C92-59C0-83ECEB48A9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Lesson 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AA6DD7-8BA3-019E-5869-EBC0FE7D69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Inputs and Strings</a:t>
            </a:r>
          </a:p>
        </p:txBody>
      </p:sp>
    </p:spTree>
    <p:extLst>
      <p:ext uri="{BB962C8B-B14F-4D97-AF65-F5344CB8AC3E}">
        <p14:creationId xmlns:p14="http://schemas.microsoft.com/office/powerpoint/2010/main" val="4165349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1BDE4B0-7B2F-6621-2C7D-3D416CEBC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Part 01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EA536C-C2ED-5FD3-36C1-6018A30BD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Inputs</a:t>
            </a:r>
          </a:p>
        </p:txBody>
      </p:sp>
    </p:spTree>
    <p:extLst>
      <p:ext uri="{BB962C8B-B14F-4D97-AF65-F5344CB8AC3E}">
        <p14:creationId xmlns:p14="http://schemas.microsoft.com/office/powerpoint/2010/main" val="3892132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0551A42-871D-FE3C-3F77-38657953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Taking user Input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64FA579-9698-0A85-3084-BC72F6379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Up to now we have been using hardcoded Variables</a:t>
            </a:r>
          </a:p>
          <a:p>
            <a:r>
              <a:rPr lang="en-IE" dirty="0"/>
              <a:t>To make a program dynamic we must take values from the user</a:t>
            </a:r>
          </a:p>
          <a:p>
            <a:r>
              <a:rPr lang="en-IE" dirty="0"/>
              <a:t>Python has an input Stream and an output stream</a:t>
            </a:r>
          </a:p>
          <a:p>
            <a:r>
              <a:rPr lang="en-IE" dirty="0"/>
              <a:t>We have used the output stream (print(“Hello Worls”)</a:t>
            </a:r>
          </a:p>
          <a:p>
            <a:r>
              <a:rPr lang="en-IE" dirty="0"/>
              <a:t>Now we will use the input stream (input())</a:t>
            </a:r>
          </a:p>
        </p:txBody>
      </p:sp>
    </p:spTree>
    <p:extLst>
      <p:ext uri="{BB962C8B-B14F-4D97-AF65-F5344CB8AC3E}">
        <p14:creationId xmlns:p14="http://schemas.microsoft.com/office/powerpoint/2010/main" val="4190395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2678A-47B3-5ECB-860A-058AE538F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Taking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DF17D1-0F49-86A4-A351-0B2DF7091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want to collect the users name and pass it to a variable</a:t>
            </a:r>
          </a:p>
          <a:p>
            <a:r>
              <a:rPr lang="en-IE" dirty="0"/>
              <a:t>name = input()</a:t>
            </a:r>
          </a:p>
          <a:p>
            <a:r>
              <a:rPr lang="en-IE" dirty="0"/>
              <a:t>print(“</a:t>
            </a:r>
            <a:r>
              <a:rPr lang="en-IE" dirty="0" err="1"/>
              <a:t>Hello”,name</a:t>
            </a:r>
            <a:r>
              <a:rPr lang="en-IE" dirty="0"/>
              <a:t>)</a:t>
            </a:r>
          </a:p>
          <a:p>
            <a:r>
              <a:rPr lang="en-IE" dirty="0"/>
              <a:t>The input function takes input from the user</a:t>
            </a:r>
          </a:p>
        </p:txBody>
      </p:sp>
    </p:spTree>
    <p:extLst>
      <p:ext uri="{BB962C8B-B14F-4D97-AF65-F5344CB8AC3E}">
        <p14:creationId xmlns:p14="http://schemas.microsoft.com/office/powerpoint/2010/main" val="118609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2C459-F987-2781-C207-DA1CC5A23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05DCC-0B14-5B32-31CB-88942CAB2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There is a small problem with name = input()</a:t>
            </a:r>
          </a:p>
          <a:p>
            <a:r>
              <a:rPr lang="en-IE" dirty="0"/>
              <a:t>Code						Output</a:t>
            </a:r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Generally you should prompt the user</a:t>
            </a:r>
          </a:p>
        </p:txBody>
      </p:sp>
      <p:pic>
        <p:nvPicPr>
          <p:cNvPr id="4" name="Google Shape;204;p6" descr="A screenshot of a cell phone">
            <a:extLst>
              <a:ext uri="{FF2B5EF4-FFF2-40B4-BE49-F238E27FC236}">
                <a16:creationId xmlns:a16="http://schemas.microsoft.com/office/drawing/2014/main" id="{91802723-9B5D-738C-85CD-D67BCF40611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38200" y="2968183"/>
            <a:ext cx="3048425" cy="7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05;p6" descr="A picture containing computer, computer&#10;&#10;Description automatically generated">
            <a:extLst>
              <a:ext uri="{FF2B5EF4-FFF2-40B4-BE49-F238E27FC236}">
                <a16:creationId xmlns:a16="http://schemas.microsoft.com/office/drawing/2014/main" id="{6C935E86-5E6F-B729-E5E0-B39440A6EA6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5334" y="3009831"/>
            <a:ext cx="3515216" cy="49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210;p6" descr="A picture containing table">
            <a:extLst>
              <a:ext uri="{FF2B5EF4-FFF2-40B4-BE49-F238E27FC236}">
                <a16:creationId xmlns:a16="http://schemas.microsoft.com/office/drawing/2014/main" id="{22FBC595-7E67-36B8-893E-E2DC0BEAC5E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200" y="4553521"/>
            <a:ext cx="5973009" cy="752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211;p6">
            <a:extLst>
              <a:ext uri="{FF2B5EF4-FFF2-40B4-BE49-F238E27FC236}">
                <a16:creationId xmlns:a16="http://schemas.microsoft.com/office/drawing/2014/main" id="{6FE283B2-69F2-D7A7-35AD-70013490742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0097" y="4608122"/>
            <a:ext cx="3924848" cy="38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212;p6" descr="A picture containing clock&#10;&#10;Description automatically generated">
            <a:extLst>
              <a:ext uri="{FF2B5EF4-FFF2-40B4-BE49-F238E27FC236}">
                <a16:creationId xmlns:a16="http://schemas.microsoft.com/office/drawing/2014/main" id="{0ED8FDFE-0FDF-89C6-AE1B-76C946A7BD0A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45334" y="5426708"/>
            <a:ext cx="4344006" cy="5906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638706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DF8D-33F8-96D5-3AF0-A16CDD3C8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Taking User input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D738B-D048-8F34-114C-B033DE52D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have taken in a string</a:t>
            </a:r>
          </a:p>
          <a:p>
            <a:r>
              <a:rPr lang="en-IE" dirty="0"/>
              <a:t>By default input takes in anything typed as a string</a:t>
            </a:r>
          </a:p>
          <a:p>
            <a:r>
              <a:rPr lang="en-IE" dirty="0"/>
              <a:t>What if we want a number</a:t>
            </a:r>
          </a:p>
          <a:p>
            <a:r>
              <a:rPr lang="en-IE" dirty="0"/>
              <a:t>We need to convert the input to an integer using the integer </a:t>
            </a:r>
            <a:r>
              <a:rPr lang="en-IE" dirty="0" err="1"/>
              <a:t>fuction</a:t>
            </a:r>
            <a:endParaRPr lang="en-IE" dirty="0"/>
          </a:p>
          <a:p>
            <a:r>
              <a:rPr lang="en-IE" dirty="0"/>
              <a:t>We wrap the input in this function</a:t>
            </a:r>
          </a:p>
          <a:p>
            <a:r>
              <a:rPr lang="en-IE" dirty="0"/>
              <a:t>Age = input(“Please enter your age”) – Becomes</a:t>
            </a:r>
          </a:p>
          <a:p>
            <a:r>
              <a:rPr lang="en-IE" dirty="0"/>
              <a:t>Age = int(input(“Please enter your age”)) – Note the brackets</a:t>
            </a:r>
          </a:p>
          <a:p>
            <a:r>
              <a:rPr lang="en-IE" dirty="0"/>
              <a:t>For a decimal number we use float() instead of int()</a:t>
            </a:r>
          </a:p>
        </p:txBody>
      </p:sp>
    </p:spTree>
    <p:extLst>
      <p:ext uri="{BB962C8B-B14F-4D97-AF65-F5344CB8AC3E}">
        <p14:creationId xmlns:p14="http://schemas.microsoft.com/office/powerpoint/2010/main" val="31420567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E6B3BC-70BC-BB7A-DD04-621B251A0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Part 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81628F-D2CD-6F43-2B66-CC34FDBE3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Strings</a:t>
            </a:r>
          </a:p>
        </p:txBody>
      </p:sp>
    </p:spTree>
    <p:extLst>
      <p:ext uri="{BB962C8B-B14F-4D97-AF65-F5344CB8AC3E}">
        <p14:creationId xmlns:p14="http://schemas.microsoft.com/office/powerpoint/2010/main" val="2939290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465EA69-46DD-C6E1-6FCE-F5ECCB37E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Strings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D4A1C74-0C83-CCD3-1228-E5922037A0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Strings in python are immutable</a:t>
            </a:r>
          </a:p>
          <a:p>
            <a:r>
              <a:rPr lang="en-IE" dirty="0"/>
              <a:t>This means they cannot change</a:t>
            </a:r>
          </a:p>
          <a:p>
            <a:r>
              <a:rPr lang="en-IE" dirty="0"/>
              <a:t>However there are many things can be done to string</a:t>
            </a:r>
          </a:p>
        </p:txBody>
      </p:sp>
      <p:sp>
        <p:nvSpPr>
          <p:cNvPr id="6" name="Google Shape;240;p10">
            <a:extLst>
              <a:ext uri="{FF2B5EF4-FFF2-40B4-BE49-F238E27FC236}">
                <a16:creationId xmlns:a16="http://schemas.microsoft.com/office/drawing/2014/main" id="{838DD7A2-D2B0-1116-09A2-E1DAFE555969}"/>
              </a:ext>
            </a:extLst>
          </p:cNvPr>
          <p:cNvSpPr txBox="1"/>
          <p:nvPr/>
        </p:nvSpPr>
        <p:spPr>
          <a:xfrm>
            <a:off x="838200" y="3668216"/>
            <a:ext cx="4038451" cy="318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Char char="•"/>
            </a:pPr>
            <a:r>
              <a:rPr lang="en-GB" sz="2000" b="1" dirty="0">
                <a:latin typeface="Lustria"/>
                <a:ea typeface="Lustria"/>
                <a:cs typeface="Lustria"/>
                <a:sym typeface="Lustria"/>
              </a:rPr>
              <a:t>We can add strings together:</a:t>
            </a:r>
            <a:endParaRPr sz="2000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string1 = “hello”</a:t>
            </a:r>
            <a:endParaRPr sz="18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string2 = “world”</a:t>
            </a:r>
            <a:endParaRPr sz="18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string3 = string1 + “ ” + string2 </a:t>
            </a:r>
            <a:endParaRPr sz="18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print(string3)</a:t>
            </a:r>
            <a:endParaRPr dirty="0"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Char char="•"/>
            </a:pPr>
            <a:r>
              <a:rPr lang="en-GB" sz="1800" dirty="0">
                <a:latin typeface="Lustria"/>
                <a:ea typeface="Lustria"/>
                <a:cs typeface="Lustria"/>
                <a:sym typeface="Lustria"/>
              </a:rPr>
              <a:t>Output:</a:t>
            </a:r>
            <a:endParaRPr sz="1800" dirty="0"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None/>
            </a:pPr>
            <a:r>
              <a:rPr lang="en-GB" sz="1800" dirty="0">
                <a:latin typeface="Lustria"/>
                <a:ea typeface="Lustria"/>
                <a:cs typeface="Lustria"/>
                <a:sym typeface="Lustria"/>
              </a:rPr>
              <a:t>	hello world</a:t>
            </a:r>
            <a:endParaRPr sz="1800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endParaRPr sz="18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7" name="Google Shape;241;p10">
            <a:extLst>
              <a:ext uri="{FF2B5EF4-FFF2-40B4-BE49-F238E27FC236}">
                <a16:creationId xmlns:a16="http://schemas.microsoft.com/office/drawing/2014/main" id="{CE5ED068-523B-7A1B-BF85-40A4C06623EE}"/>
              </a:ext>
            </a:extLst>
          </p:cNvPr>
          <p:cNvSpPr txBox="1"/>
          <p:nvPr/>
        </p:nvSpPr>
        <p:spPr>
          <a:xfrm>
            <a:off x="6998315" y="3668216"/>
            <a:ext cx="3901264" cy="24006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400" b="1" dirty="0">
                <a:latin typeface="Lustria"/>
                <a:ea typeface="Lustria"/>
                <a:cs typeface="Lustria"/>
                <a:sym typeface="Lustria"/>
              </a:rPr>
              <a:t>We can multiply strings</a:t>
            </a:r>
            <a:endParaRPr sz="2000"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string1 = “hello”</a:t>
            </a:r>
            <a:endParaRPr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string2 = string1 * 3</a:t>
            </a:r>
            <a:endParaRPr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print(string2)</a:t>
            </a:r>
            <a:endParaRPr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None/>
            </a:pPr>
            <a:endParaRPr sz="2400" dirty="0">
              <a:latin typeface="Lustria"/>
              <a:ea typeface="Lustria"/>
              <a:cs typeface="Lustria"/>
              <a:sym typeface="Lustria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400" dirty="0">
                <a:latin typeface="Lustria"/>
                <a:ea typeface="Lustria"/>
                <a:cs typeface="Lustria"/>
                <a:sym typeface="Lustria"/>
              </a:rPr>
              <a:t>Output:</a:t>
            </a:r>
            <a:endParaRPr sz="2400" dirty="0"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None/>
            </a:pPr>
            <a:r>
              <a:rPr lang="en-GB" sz="2400" dirty="0">
                <a:latin typeface="Lustria"/>
                <a:ea typeface="Lustria"/>
                <a:cs typeface="Lustria"/>
                <a:sym typeface="Lustria"/>
              </a:rPr>
              <a:t>	</a:t>
            </a:r>
            <a:r>
              <a:rPr lang="en-GB" sz="2400" dirty="0" err="1">
                <a:latin typeface="Lustria"/>
                <a:ea typeface="Lustria"/>
                <a:cs typeface="Lustria"/>
                <a:sym typeface="Lustria"/>
              </a:rPr>
              <a:t>hellohellohello</a:t>
            </a:r>
            <a:endParaRPr sz="2400" dirty="0">
              <a:latin typeface="Lustria"/>
              <a:ea typeface="Lustria"/>
              <a:cs typeface="Lustria"/>
              <a:sym typeface="Lustria"/>
            </a:endParaRPr>
          </a:p>
        </p:txBody>
      </p:sp>
    </p:spTree>
    <p:extLst>
      <p:ext uri="{BB962C8B-B14F-4D97-AF65-F5344CB8AC3E}">
        <p14:creationId xmlns:p14="http://schemas.microsoft.com/office/powerpoint/2010/main" val="37681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0F220-2C4D-92F8-CCC3-1E9485AC3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1617F-1338-1DF4-8303-269B95E89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There are functions you can use on strings</a:t>
            </a:r>
          </a:p>
        </p:txBody>
      </p:sp>
      <p:sp>
        <p:nvSpPr>
          <p:cNvPr id="4" name="Google Shape;247;p11">
            <a:extLst>
              <a:ext uri="{FF2B5EF4-FFF2-40B4-BE49-F238E27FC236}">
                <a16:creationId xmlns:a16="http://schemas.microsoft.com/office/drawing/2014/main" id="{1897A3EF-70D5-3B57-3ECE-6CF4D4BA64B8}"/>
              </a:ext>
            </a:extLst>
          </p:cNvPr>
          <p:cNvSpPr txBox="1"/>
          <p:nvPr/>
        </p:nvSpPr>
        <p:spPr>
          <a:xfrm>
            <a:off x="838200" y="2630975"/>
            <a:ext cx="3473741" cy="354598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-GB" sz="2000" b="1" dirty="0">
                <a:latin typeface="Lustria"/>
                <a:ea typeface="Lustria"/>
                <a:cs typeface="Lustria"/>
                <a:sym typeface="Lustria"/>
              </a:rPr>
              <a:t>Make the string upper case</a:t>
            </a:r>
            <a:endParaRPr sz="2000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None/>
            </a:pP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 = “hello”</a:t>
            </a:r>
            <a:endParaRPr sz="18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None/>
            </a:pP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 = </a:t>
            </a: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my_string.upper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()</a:t>
            </a:r>
            <a:endParaRPr sz="1600" b="1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None/>
            </a:pP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print(</a:t>
            </a: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)</a:t>
            </a:r>
            <a:endParaRPr sz="18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-GB" sz="1600" dirty="0">
                <a:latin typeface="Lustria"/>
                <a:ea typeface="Lustria"/>
                <a:cs typeface="Lustria"/>
                <a:sym typeface="Lustria"/>
              </a:rPr>
              <a:t>Output: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r>
              <a:rPr lang="en-GB" sz="1600" dirty="0">
                <a:latin typeface="Lustria"/>
                <a:ea typeface="Lustria"/>
                <a:cs typeface="Lustria"/>
                <a:sym typeface="Lustria"/>
              </a:rPr>
              <a:t>	HELLO</a:t>
            </a:r>
            <a:endParaRPr dirty="0"/>
          </a:p>
          <a:p>
            <a:pPr marL="228600" marR="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dirty="0"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5" name="Google Shape;248;p11">
            <a:extLst>
              <a:ext uri="{FF2B5EF4-FFF2-40B4-BE49-F238E27FC236}">
                <a16:creationId xmlns:a16="http://schemas.microsoft.com/office/drawing/2014/main" id="{6F7C5D77-00F2-37EA-CF3E-86CBB942153D}"/>
              </a:ext>
            </a:extLst>
          </p:cNvPr>
          <p:cNvSpPr txBox="1"/>
          <p:nvPr/>
        </p:nvSpPr>
        <p:spPr>
          <a:xfrm>
            <a:off x="4311941" y="2630974"/>
            <a:ext cx="3473741" cy="354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b="1" dirty="0">
                <a:latin typeface="Lustria"/>
                <a:ea typeface="Lustria"/>
                <a:cs typeface="Lustria"/>
                <a:sym typeface="Lustria"/>
              </a:rPr>
              <a:t>Make the string lower case</a:t>
            </a:r>
            <a:endParaRPr sz="2000" b="1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 = “HELLO”</a:t>
            </a:r>
            <a:endParaRPr sz="16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 = </a:t>
            </a: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my_string.lower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()</a:t>
            </a:r>
            <a:endParaRPr sz="16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print(</a:t>
            </a: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)</a:t>
            </a:r>
            <a:endParaRPr sz="16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600" dirty="0"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1600" dirty="0">
                <a:latin typeface="Lustria"/>
                <a:ea typeface="Lustria"/>
                <a:cs typeface="Lustria"/>
                <a:sym typeface="Lustria"/>
              </a:rPr>
              <a:t>Output:</a:t>
            </a:r>
            <a:endParaRPr sz="1600" dirty="0"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1600" dirty="0">
                <a:latin typeface="Lustria"/>
                <a:ea typeface="Lustria"/>
                <a:cs typeface="Lustria"/>
                <a:sym typeface="Lustria"/>
              </a:rPr>
              <a:t>	hello</a:t>
            </a:r>
            <a:endParaRPr sz="1600" dirty="0"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6" name="Google Shape;249;p11">
            <a:extLst>
              <a:ext uri="{FF2B5EF4-FFF2-40B4-BE49-F238E27FC236}">
                <a16:creationId xmlns:a16="http://schemas.microsoft.com/office/drawing/2014/main" id="{445A7792-1AEB-1405-6272-A7320B5A35D0}"/>
              </a:ext>
            </a:extLst>
          </p:cNvPr>
          <p:cNvSpPr txBox="1"/>
          <p:nvPr/>
        </p:nvSpPr>
        <p:spPr>
          <a:xfrm>
            <a:off x="7880061" y="2630974"/>
            <a:ext cx="4034299" cy="3092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b="1" dirty="0">
                <a:latin typeface="Lustria"/>
                <a:ea typeface="Lustria"/>
                <a:cs typeface="Lustria"/>
                <a:sym typeface="Lustria"/>
              </a:rPr>
              <a:t>Count the length of a string</a:t>
            </a:r>
            <a:endParaRPr sz="2000" b="1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 = “elephant”</a:t>
            </a:r>
            <a:endParaRPr sz="16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length_of_string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 = </a:t>
            </a: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len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(</a:t>
            </a: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)</a:t>
            </a:r>
            <a:endParaRPr sz="16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print(</a:t>
            </a:r>
            <a:r>
              <a:rPr lang="en-GB" sz="1600" b="0" i="0" u="none" strike="noStrike" cap="none" dirty="0" err="1">
                <a:latin typeface="Lustria"/>
                <a:ea typeface="Lustria"/>
                <a:cs typeface="Lustria"/>
                <a:sym typeface="Lustria"/>
              </a:rPr>
              <a:t>length_of_string</a:t>
            </a:r>
            <a:r>
              <a:rPr lang="en-GB" sz="1600" b="0" i="0" u="none" strike="noStrike" cap="none" dirty="0">
                <a:latin typeface="Lustria"/>
                <a:ea typeface="Lustria"/>
                <a:cs typeface="Lustria"/>
                <a:sym typeface="Lustria"/>
              </a:rPr>
              <a:t>)</a:t>
            </a:r>
            <a:endParaRPr sz="1600" b="0" i="0" u="none" strike="noStrike" cap="none" dirty="0"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28600" marR="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600" dirty="0"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1600" dirty="0">
                <a:latin typeface="Lustria"/>
                <a:ea typeface="Lustria"/>
                <a:cs typeface="Lustria"/>
                <a:sym typeface="Lustria"/>
              </a:rPr>
              <a:t>Output:</a:t>
            </a:r>
            <a:endParaRPr sz="1600" dirty="0"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1600" dirty="0">
                <a:latin typeface="Lustria"/>
                <a:ea typeface="Lustria"/>
                <a:cs typeface="Lustria"/>
                <a:sym typeface="Lustria"/>
              </a:rPr>
              <a:t>	8</a:t>
            </a:r>
            <a:endParaRPr sz="1600" dirty="0"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  <p:extLst>
      <p:ext uri="{BB962C8B-B14F-4D97-AF65-F5344CB8AC3E}">
        <p14:creationId xmlns:p14="http://schemas.microsoft.com/office/powerpoint/2010/main" val="738390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8354D-00D6-26D1-9E0E-FA08FBCFF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Printing formatted strings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96105-A879-1520-479A-345D7FEC68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Concatenation (adding stings together)</a:t>
            </a:r>
          </a:p>
          <a:p>
            <a:r>
              <a:rPr lang="en-IE" dirty="0"/>
              <a:t>name = “Alan”</a:t>
            </a:r>
            <a:br>
              <a:rPr lang="en-IE" dirty="0"/>
            </a:br>
            <a:r>
              <a:rPr lang="en-IE" dirty="0"/>
              <a:t>age = 31</a:t>
            </a:r>
            <a:br>
              <a:rPr lang="en-IE" dirty="0"/>
            </a:br>
            <a:r>
              <a:rPr lang="en-IE" dirty="0"/>
              <a:t>output = “Hello” + name + “you are” + str(age) + “years old.”</a:t>
            </a:r>
            <a:br>
              <a:rPr lang="en-IE" dirty="0"/>
            </a:br>
            <a:r>
              <a:rPr lang="en-IE" dirty="0"/>
              <a:t>print(output)</a:t>
            </a:r>
          </a:p>
          <a:p>
            <a:endParaRPr lang="en-IE" dirty="0"/>
          </a:p>
          <a:p>
            <a:r>
              <a:rPr lang="en-IE" dirty="0"/>
              <a:t>Why do we wrap the age variable in str()</a:t>
            </a:r>
          </a:p>
          <a:p>
            <a:endParaRPr lang="en-IE" dirty="0"/>
          </a:p>
          <a:p>
            <a:r>
              <a:rPr lang="en-IE" dirty="0"/>
              <a:t>Age is an integer and needs to be converted to a string</a:t>
            </a:r>
          </a:p>
        </p:txBody>
      </p:sp>
    </p:spTree>
    <p:extLst>
      <p:ext uri="{BB962C8B-B14F-4D97-AF65-F5344CB8AC3E}">
        <p14:creationId xmlns:p14="http://schemas.microsoft.com/office/powerpoint/2010/main" val="14394176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471A0-3110-9194-C78F-AC5CA0FF3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Indexing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14A8B4-76DA-F791-8848-6843F0890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E" dirty="0"/>
              <a:t>Strings have an index where each character is assigned a number starting from 0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/>
              <a:t>String indexes always start at 0</a:t>
            </a:r>
          </a:p>
          <a:p>
            <a:r>
              <a:rPr lang="en-IE" dirty="0"/>
              <a:t>If we want to print the character at index 3</a:t>
            </a:r>
            <a:br>
              <a:rPr lang="en-IE" dirty="0"/>
            </a:br>
            <a:r>
              <a:rPr lang="en-IE" dirty="0" err="1"/>
              <a:t>myString</a:t>
            </a:r>
            <a:r>
              <a:rPr lang="en-IE" dirty="0"/>
              <a:t> = “Python”</a:t>
            </a:r>
            <a:br>
              <a:rPr lang="en-IE" dirty="0"/>
            </a:br>
            <a:r>
              <a:rPr lang="en-IE" dirty="0"/>
              <a:t>print(</a:t>
            </a:r>
            <a:r>
              <a:rPr lang="en-IE" dirty="0" err="1"/>
              <a:t>myString</a:t>
            </a:r>
            <a:r>
              <a:rPr lang="en-IE" dirty="0"/>
              <a:t>[3])</a:t>
            </a:r>
          </a:p>
          <a:p>
            <a:r>
              <a:rPr lang="en-IE" dirty="0"/>
              <a:t>What letter will be printed</a:t>
            </a:r>
          </a:p>
        </p:txBody>
      </p:sp>
      <p:pic>
        <p:nvPicPr>
          <p:cNvPr id="4" name="Google Shape;271;p14">
            <a:extLst>
              <a:ext uri="{FF2B5EF4-FFF2-40B4-BE49-F238E27FC236}">
                <a16:creationId xmlns:a16="http://schemas.microsoft.com/office/drawing/2014/main" id="{F7D5B97F-6489-81E8-A1BE-0933F9B3750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90291" y="2349702"/>
            <a:ext cx="4351587" cy="1651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33026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9AA69-6D91-8B0A-49B7-2D791575E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Slicing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1CC27A-F342-519C-9906-773CF93C4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E" dirty="0"/>
              <a:t>We can use slicing to cut a string into smaller parts</a:t>
            </a:r>
          </a:p>
          <a:p>
            <a:endParaRPr lang="en-IE" dirty="0"/>
          </a:p>
          <a:p>
            <a:endParaRPr lang="en-IE" dirty="0"/>
          </a:p>
          <a:p>
            <a:endParaRPr lang="en-IE" dirty="0"/>
          </a:p>
          <a:p>
            <a:r>
              <a:rPr lang="en-IE" dirty="0" err="1"/>
              <a:t>myString</a:t>
            </a:r>
            <a:r>
              <a:rPr lang="en-IE" dirty="0"/>
              <a:t>=“Python”</a:t>
            </a:r>
            <a:br>
              <a:rPr lang="en-IE" dirty="0"/>
            </a:br>
            <a:r>
              <a:rPr lang="en-IE" dirty="0"/>
              <a:t>print(</a:t>
            </a:r>
            <a:r>
              <a:rPr lang="en-IE" dirty="0" err="1"/>
              <a:t>mystring</a:t>
            </a:r>
            <a:r>
              <a:rPr lang="en-IE" dirty="0"/>
              <a:t>[0:2]</a:t>
            </a:r>
          </a:p>
          <a:p>
            <a:endParaRPr lang="en-IE" dirty="0"/>
          </a:p>
          <a:p>
            <a:r>
              <a:rPr lang="en-IE" dirty="0"/>
              <a:t>Output: Py</a:t>
            </a:r>
          </a:p>
          <a:p>
            <a:r>
              <a:rPr lang="en-IE" dirty="0"/>
              <a:t>Why do you think only the first 2 characters printed?</a:t>
            </a:r>
          </a:p>
          <a:p>
            <a:r>
              <a:rPr lang="en-IE" dirty="0"/>
              <a:t>Try other slicing options to figure it out</a:t>
            </a:r>
          </a:p>
        </p:txBody>
      </p:sp>
      <p:pic>
        <p:nvPicPr>
          <p:cNvPr id="4" name="Google Shape;271;p14">
            <a:extLst>
              <a:ext uri="{FF2B5EF4-FFF2-40B4-BE49-F238E27FC236}">
                <a16:creationId xmlns:a16="http://schemas.microsoft.com/office/drawing/2014/main" id="{742767B6-1EC7-1DE5-535C-4B0691F458F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1345" y="2349702"/>
            <a:ext cx="4351587" cy="16515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7898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DC637-D85B-C5C6-142D-176F223D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63F10E-3678-C194-F5D9-C2013CA4A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We wanted to print out the characters from index 0 to 2 </a:t>
            </a:r>
            <a:r>
              <a:rPr lang="en-IE" dirty="0" err="1"/>
              <a:t>whu</a:t>
            </a:r>
            <a:r>
              <a:rPr lang="en-IE" dirty="0"/>
              <a:t> did it only print out the first 2</a:t>
            </a:r>
          </a:p>
          <a:p>
            <a:r>
              <a:rPr lang="en-IE" dirty="0"/>
              <a:t>When you slice a string you print out up to but not including the last index</a:t>
            </a:r>
          </a:p>
          <a:p>
            <a:r>
              <a:rPr lang="en-IE" dirty="0"/>
              <a:t>If you want the first 3 then you should </a:t>
            </a:r>
            <a:br>
              <a:rPr lang="en-IE" dirty="0"/>
            </a:br>
            <a:r>
              <a:rPr lang="en-IE" dirty="0"/>
              <a:t>print(</a:t>
            </a:r>
            <a:r>
              <a:rPr lang="en-IE" dirty="0" err="1"/>
              <a:t>myString</a:t>
            </a:r>
            <a:r>
              <a:rPr lang="en-IE" dirty="0"/>
              <a:t>[0:3])</a:t>
            </a:r>
          </a:p>
        </p:txBody>
      </p:sp>
    </p:spTree>
    <p:extLst>
      <p:ext uri="{BB962C8B-B14F-4D97-AF65-F5344CB8AC3E}">
        <p14:creationId xmlns:p14="http://schemas.microsoft.com/office/powerpoint/2010/main" val="3561194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E022-E8AF-9BBE-8E11-757601F5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B376F-7159-B387-10C1-362C6FA43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Today you learned</a:t>
            </a:r>
          </a:p>
          <a:p>
            <a:pPr lvl="1"/>
            <a:r>
              <a:rPr lang="en-IE" dirty="0"/>
              <a:t>How to take input from a user</a:t>
            </a:r>
          </a:p>
          <a:p>
            <a:pPr lvl="1"/>
            <a:r>
              <a:rPr lang="en-IE" dirty="0"/>
              <a:t>Adding strings together using Concatenation</a:t>
            </a:r>
          </a:p>
          <a:p>
            <a:pPr lvl="1"/>
            <a:r>
              <a:rPr lang="en-IE" dirty="0"/>
              <a:t>You can multiply strings using *</a:t>
            </a:r>
          </a:p>
          <a:p>
            <a:pPr lvl="1"/>
            <a:r>
              <a:rPr lang="en-IE" dirty="0"/>
              <a:t>That strings have indexes that refer to each character</a:t>
            </a:r>
          </a:p>
          <a:p>
            <a:pPr lvl="1"/>
            <a:r>
              <a:rPr lang="en-IE" dirty="0"/>
              <a:t>That you can extract parts of a string by referring to </a:t>
            </a:r>
            <a:r>
              <a:rPr lang="en-IE"/>
              <a:t>these index numbers</a:t>
            </a:r>
          </a:p>
        </p:txBody>
      </p:sp>
    </p:spTree>
    <p:extLst>
      <p:ext uri="{BB962C8B-B14F-4D97-AF65-F5344CB8AC3E}">
        <p14:creationId xmlns:p14="http://schemas.microsoft.com/office/powerpoint/2010/main" val="2337137897"/>
      </p:ext>
    </p:extLst>
  </p:cSld>
  <p:clrMapOvr>
    <a:masterClrMapping/>
  </p:clrMapOvr>
</p:sld>
</file>

<file path=ppt/theme/theme1.xml><?xml version="1.0" encoding="utf-8"?>
<a:theme xmlns:a="http://schemas.openxmlformats.org/drawingml/2006/main" name="ACC Theme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nded Edge">
      <a:fillStyleLst>
        <a:solidFill>
          <a:schemeClr val="phClr"/>
        </a:solidFill>
        <a:solidFill>
          <a:schemeClr val="phClr">
            <a:tint val="5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7779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ACC Theme" id="{5315FB66-9AB4-496F-8BD7-119135D3DC10}" vid="{A8CBE559-2296-4199-8F36-6EE5C83118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ÀCC Presentation</Template>
  <TotalTime>70</TotalTime>
  <Words>654</Words>
  <Application>Microsoft Office PowerPoint</Application>
  <PresentationFormat>Widescreen</PresentationFormat>
  <Paragraphs>109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Aptos</vt:lpstr>
      <vt:lpstr>Arial</vt:lpstr>
      <vt:lpstr>Franklin Gothic Book</vt:lpstr>
      <vt:lpstr>Franklin Gothic Medium</vt:lpstr>
      <vt:lpstr>Lustria</vt:lpstr>
      <vt:lpstr>Noto Sans Symbols</vt:lpstr>
      <vt:lpstr>Times New Roman</vt:lpstr>
      <vt:lpstr>Twentieth Century</vt:lpstr>
      <vt:lpstr>ACC Theme</vt:lpstr>
      <vt:lpstr>Lesson 03</vt:lpstr>
      <vt:lpstr>Part 01</vt:lpstr>
      <vt:lpstr>Taking user Input</vt:lpstr>
      <vt:lpstr>Taking user input</vt:lpstr>
      <vt:lpstr>PowerPoint Presentation</vt:lpstr>
      <vt:lpstr>Taking User input</vt:lpstr>
      <vt:lpstr>Part 2</vt:lpstr>
      <vt:lpstr>Strings</vt:lpstr>
      <vt:lpstr>PowerPoint Presentation</vt:lpstr>
      <vt:lpstr>Printing formatted strings</vt:lpstr>
      <vt:lpstr>Indexing</vt:lpstr>
      <vt:lpstr>Slicing 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Jim Finn</dc:creator>
  <dc:description/>
  <cp:lastModifiedBy>Jim Finn (Adamstown CC)</cp:lastModifiedBy>
  <cp:revision>6</cp:revision>
  <dcterms:created xsi:type="dcterms:W3CDTF">2025-05-14T11:16:38Z</dcterms:created>
  <dcterms:modified xsi:type="dcterms:W3CDTF">2025-09-16T06:44:22Z</dcterms:modified>
  <dc:language>en-IE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13</vt:i4>
  </property>
  <property fmtid="{D5CDD505-2E9C-101B-9397-08002B2CF9AE}" pid="4" name="MSIP_Label_bb170d26-a298-4fcb-93e8-f72c55c78d0a_Enabled">
    <vt:lpwstr>true</vt:lpwstr>
  </property>
  <property fmtid="{D5CDD505-2E9C-101B-9397-08002B2CF9AE}" pid="5" name="MSIP_Label_bb170d26-a298-4fcb-93e8-f72c55c78d0a_SetDate">
    <vt:lpwstr>2025-08-28T06:27:01Z</vt:lpwstr>
  </property>
  <property fmtid="{D5CDD505-2E9C-101B-9397-08002B2CF9AE}" pid="6" name="MSIP_Label_bb170d26-a298-4fcb-93e8-f72c55c78d0a_Method">
    <vt:lpwstr>Standard</vt:lpwstr>
  </property>
  <property fmtid="{D5CDD505-2E9C-101B-9397-08002B2CF9AE}" pid="7" name="MSIP_Label_bb170d26-a298-4fcb-93e8-f72c55c78d0a_Name">
    <vt:lpwstr>defa4170-0d19-0005-0004-bc88714345d2</vt:lpwstr>
  </property>
  <property fmtid="{D5CDD505-2E9C-101B-9397-08002B2CF9AE}" pid="8" name="MSIP_Label_bb170d26-a298-4fcb-93e8-f72c55c78d0a_SiteId">
    <vt:lpwstr>3ed6c8f5-4c16-44ad-9eed-60f851834a84</vt:lpwstr>
  </property>
  <property fmtid="{D5CDD505-2E9C-101B-9397-08002B2CF9AE}" pid="9" name="MSIP_Label_bb170d26-a298-4fcb-93e8-f72c55c78d0a_ActionId">
    <vt:lpwstr>abf108b7-51c6-46df-803a-db799a25055a</vt:lpwstr>
  </property>
  <property fmtid="{D5CDD505-2E9C-101B-9397-08002B2CF9AE}" pid="10" name="MSIP_Label_bb170d26-a298-4fcb-93e8-f72c55c78d0a_ContentBits">
    <vt:lpwstr>0</vt:lpwstr>
  </property>
  <property fmtid="{D5CDD505-2E9C-101B-9397-08002B2CF9AE}" pid="11" name="MSIP_Label_bb170d26-a298-4fcb-93e8-f72c55c78d0a_Tag">
    <vt:lpwstr>10, 3, 0, 1</vt:lpwstr>
  </property>
</Properties>
</file>