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Libre Franklin" pitchFamily="2" charset="0"/>
      <p:regular r:id="rId14"/>
      <p:bold r:id="rId15"/>
      <p:italic r:id="rId16"/>
      <p:boldItalic r:id="rId17"/>
    </p:embeddedFont>
    <p:embeddedFont>
      <p:font typeface="Libre Franklin Medium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rQ4HF0+9J4+/Q5GUBcWB80Obp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954" autoAdjust="0"/>
  </p:normalViewPr>
  <p:slideViewPr>
    <p:cSldViewPr snapToGrid="0">
      <p:cViewPr varScale="1">
        <p:scale>
          <a:sx n="65" d="100"/>
          <a:sy n="65" d="100"/>
        </p:scale>
        <p:origin x="133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Frame the session: AI as a learning aid, not a shortcut.- Today’s goals: understand, prompt well, verify accuracy.</a:t>
            </a:r>
            <a:endParaRPr dirty="0"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Example (1–2 lines): “Finish-the-sentence” demo: The capital of France is…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5699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example uses do not need to be personal but can be form other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2197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IE" dirty="0"/>
              <a:t>Prompt ingredients checklist: </a:t>
            </a:r>
          </a:p>
          <a:p>
            <a:pPr lvl="1">
              <a:buFontTx/>
              <a:buChar char="-"/>
            </a:pPr>
            <a:r>
              <a:rPr lang="en-IE" dirty="0"/>
              <a:t>Audience level</a:t>
            </a:r>
          </a:p>
          <a:p>
            <a:pPr lvl="1">
              <a:buFontTx/>
              <a:buChar char="-"/>
            </a:pPr>
            <a:r>
              <a:rPr lang="en-IE" dirty="0"/>
              <a:t>Format and length</a:t>
            </a:r>
          </a:p>
          <a:p>
            <a:pPr lvl="1">
              <a:buFontTx/>
              <a:buChar char="-"/>
            </a:pPr>
            <a:r>
              <a:rPr lang="en-IE" dirty="0"/>
              <a:t>Examples/misconceptions</a:t>
            </a:r>
          </a:p>
          <a:p>
            <a:pPr lvl="1">
              <a:buFontTx/>
              <a:buChar char="-"/>
            </a:pPr>
            <a:r>
              <a:rPr lang="en-IE" dirty="0"/>
              <a:t>Constraints (no jargon, include dates/sources)</a:t>
            </a:r>
          </a:p>
          <a:p>
            <a:pPr lvl="1">
              <a:buFontTx/>
              <a:buChar char="-"/>
            </a:pPr>
            <a:endParaRPr lang="en-IE" dirty="0"/>
          </a:p>
          <a:p>
            <a:pPr marL="685800" lvl="1" indent="0">
              <a:buFontTx/>
              <a:buNone/>
            </a:pPr>
            <a:r>
              <a:rPr lang="en-IE" dirty="0"/>
              <a:t>Task: In Pairs rewrite a weak prompt on the worksheet into a strong prompt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4506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In AI Terms a Hallucination is when the AI starts fabricating data to satisfy the prompt. Often happens the longer the “Conversation” continues</a:t>
            </a:r>
          </a:p>
          <a:p>
            <a:endParaRPr lang="en-IE" dirty="0"/>
          </a:p>
          <a:p>
            <a:r>
              <a:rPr lang="en-GB" dirty="0"/>
              <a:t>Reiterate: confidence does not equal correctness. Show one fake-citation example if possible.</a:t>
            </a:r>
          </a:p>
          <a:p>
            <a:endParaRPr lang="en-GB" dirty="0"/>
          </a:p>
          <a:p>
            <a:r>
              <a:rPr lang="en-GB" dirty="0"/>
              <a:t>Always verify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3709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Teacher notes:</a:t>
            </a:r>
          </a:p>
          <a:p>
            <a:endParaRPr lang="en-GB" dirty="0"/>
          </a:p>
          <a:p>
            <a:r>
              <a:rPr lang="en-GB" dirty="0"/>
              <a:t>Model one quick verification: click a link, skim title/date, confirm one claim.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1911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Teacher notes:</a:t>
            </a:r>
          </a:p>
          <a:p>
            <a:endParaRPr lang="en-GB" dirty="0"/>
          </a:p>
          <a:p>
            <a:r>
              <a:rPr lang="en-GB" dirty="0"/>
              <a:t>Pair/group students. Set a visible timer (12–15 min total for Parts E.2–E.5).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4735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Mini-Debrief</a:t>
            </a:r>
          </a:p>
          <a:p>
            <a:r>
              <a:rPr lang="en-GB" dirty="0"/>
              <a:t>Quick share-out (3–4 groups): </a:t>
            </a:r>
          </a:p>
          <a:p>
            <a:r>
              <a:rPr lang="en-GB" dirty="0"/>
              <a:t>	One verified claim + source </a:t>
            </a:r>
          </a:p>
          <a:p>
            <a:r>
              <a:rPr lang="en-GB" dirty="0"/>
              <a:t>	One error or uncertainty and how it was resolved</a:t>
            </a:r>
          </a:p>
          <a:p>
            <a:r>
              <a:rPr lang="en-GB" dirty="0"/>
              <a:t>	Takeaways (bullets): </a:t>
            </a:r>
          </a:p>
          <a:p>
            <a:r>
              <a:rPr lang="en-GB" dirty="0"/>
              <a:t>		Specific prompts produce checkable answers </a:t>
            </a:r>
          </a:p>
          <a:p>
            <a:r>
              <a:rPr lang="en-GB" dirty="0"/>
              <a:t>		Verification catches hidden errors  </a:t>
            </a:r>
          </a:p>
          <a:p>
            <a:r>
              <a:rPr lang="en-GB" dirty="0"/>
              <a:t>		Cite AI assistance and sources</a:t>
            </a:r>
          </a:p>
          <a:p>
            <a:endParaRPr lang="en-GB" dirty="0"/>
          </a:p>
          <a:p>
            <a:r>
              <a:rPr lang="en-GB" dirty="0"/>
              <a:t>Teacher notes:- If time is tight, collect via hands; post examples on board.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224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 Medium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4" descr="A logo for a college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 l="13218" t="10376" r="14368" b="17519"/>
          <a:stretch/>
        </p:blipFill>
        <p:spPr>
          <a:xfrm>
            <a:off x="10557164" y="185738"/>
            <a:ext cx="1378527" cy="137262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</a:pPr>
            <a:r>
              <a:rPr lang="en-GB" dirty="0"/>
              <a:t>Lesson 04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dirty="0"/>
              <a:t>Using AI Wisely in Schools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GB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dirty="0"/>
              <a:t>Understanding, Prompt Generation and Verification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3EFB-7D17-1983-660F-96B23ECF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Lesson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4F7BE-98F1-2FDD-4230-587204EB3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IE" dirty="0"/>
              <a:t>By the end of this lesson you will be able to:</a:t>
            </a:r>
          </a:p>
          <a:p>
            <a:pPr lvl="1"/>
            <a:r>
              <a:rPr lang="en-IE" dirty="0"/>
              <a:t>Explain what AI/LLM is using plain language</a:t>
            </a:r>
          </a:p>
          <a:p>
            <a:pPr lvl="1"/>
            <a:r>
              <a:rPr lang="en-IE" dirty="0"/>
              <a:t>Identify advantages and problems in an Education Context</a:t>
            </a:r>
          </a:p>
          <a:p>
            <a:pPr lvl="1"/>
            <a:r>
              <a:rPr lang="en-IE" dirty="0"/>
              <a:t>Create strong prompts</a:t>
            </a:r>
          </a:p>
          <a:p>
            <a:pPr lvl="1"/>
            <a:r>
              <a:rPr lang="en-IE" dirty="0"/>
              <a:t>Spot Errors / Hallucinations and verifying Claims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1B54B-FB4D-48C2-8DCD-6AA831551732}"/>
              </a:ext>
            </a:extLst>
          </p:cNvPr>
          <p:cNvSpPr txBox="1"/>
          <p:nvPr/>
        </p:nvSpPr>
        <p:spPr>
          <a:xfrm>
            <a:off x="1130710" y="5535561"/>
            <a:ext cx="4227439" cy="707886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E" sz="2000" dirty="0"/>
              <a:t>Show of hands:</a:t>
            </a:r>
          </a:p>
          <a:p>
            <a:r>
              <a:rPr lang="en-IE" sz="2000" dirty="0"/>
              <a:t>Who has used AI in the last month?</a:t>
            </a:r>
          </a:p>
        </p:txBody>
      </p:sp>
    </p:spTree>
    <p:extLst>
      <p:ext uri="{BB962C8B-B14F-4D97-AF65-F5344CB8AC3E}">
        <p14:creationId xmlns:p14="http://schemas.microsoft.com/office/powerpoint/2010/main" val="109039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513ED-A169-8285-9EF0-4DEF2B82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AI and What is an LLM?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42F21-45B1-939E-676C-F2A105179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AI: systems that learn patterns from data to make predictions/generate outputs</a:t>
            </a:r>
          </a:p>
          <a:p>
            <a:r>
              <a:rPr lang="en-GB" dirty="0"/>
              <a:t>LLMs: predict the next likely words given context </a:t>
            </a:r>
          </a:p>
          <a:p>
            <a:r>
              <a:rPr lang="en-GB" dirty="0"/>
              <a:t>Powerful at language tasks but can make confident mistakes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5822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7C4E-FADA-5A16-776C-77E12DD2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Where do we see AI?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C1AD3-9333-477E-0F34-12B65687B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E" dirty="0"/>
              <a:t>Where have you come across AI in your daily life?</a:t>
            </a:r>
          </a:p>
          <a:p>
            <a:endParaRPr lang="en-IE" dirty="0"/>
          </a:p>
          <a:p>
            <a:r>
              <a:rPr lang="en-GB" dirty="0"/>
              <a:t> Study help, translation, summaries </a:t>
            </a:r>
          </a:p>
          <a:p>
            <a:r>
              <a:rPr lang="en-GB" dirty="0"/>
              <a:t>Recommendations (music/video), autocorrect, image filters</a:t>
            </a: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9FC67-1A75-55BC-64C1-B74120B4EBA0}"/>
              </a:ext>
            </a:extLst>
          </p:cNvPr>
          <p:cNvSpPr txBox="1"/>
          <p:nvPr/>
        </p:nvSpPr>
        <p:spPr>
          <a:xfrm>
            <a:off x="1130710" y="5535561"/>
            <a:ext cx="5396029" cy="1015663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E" sz="2000" dirty="0"/>
              <a:t>Question: Hands Up. </a:t>
            </a:r>
          </a:p>
          <a:p>
            <a:r>
              <a:rPr lang="en-IE" sz="2000" dirty="0"/>
              <a:t>Give me one positive use you have seen of AI</a:t>
            </a:r>
          </a:p>
          <a:p>
            <a:r>
              <a:rPr lang="en-IE" sz="2000" dirty="0"/>
              <a:t>Give me one risky use you have seen of AI</a:t>
            </a:r>
          </a:p>
        </p:txBody>
      </p:sp>
    </p:spTree>
    <p:extLst>
      <p:ext uri="{BB962C8B-B14F-4D97-AF65-F5344CB8AC3E}">
        <p14:creationId xmlns:p14="http://schemas.microsoft.com/office/powerpoint/2010/main" val="346855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C704D-BD62-C1C2-1910-CE64376C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Advantages and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3D9D3-3410-0876-9F30-8AB3BCBA4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Advantages</a:t>
            </a:r>
          </a:p>
          <a:p>
            <a:pPr lvl="1"/>
            <a:r>
              <a:rPr lang="en-IE" dirty="0"/>
              <a:t>Fast Idea Generation</a:t>
            </a:r>
          </a:p>
          <a:p>
            <a:pPr lvl="1"/>
            <a:r>
              <a:rPr lang="en-IE" dirty="0"/>
              <a:t>Personalised Explanations</a:t>
            </a:r>
          </a:p>
          <a:p>
            <a:pPr lvl="1"/>
            <a:r>
              <a:rPr lang="en-IE" dirty="0"/>
              <a:t>Create Draft Structures for projects</a:t>
            </a:r>
          </a:p>
          <a:p>
            <a:pPr lvl="1"/>
            <a:r>
              <a:rPr lang="en-IE" dirty="0"/>
              <a:t>Error Checking of 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CEACD-CF65-B504-BC95-8438F6F60FD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E" dirty="0"/>
              <a:t>Problems</a:t>
            </a:r>
          </a:p>
          <a:p>
            <a:pPr lvl="1"/>
            <a:r>
              <a:rPr lang="en-IE" dirty="0"/>
              <a:t>Can be wrong or biased</a:t>
            </a:r>
          </a:p>
          <a:p>
            <a:pPr lvl="1"/>
            <a:r>
              <a:rPr lang="en-IE" dirty="0"/>
              <a:t>Privacy risks (Where does your data go?)</a:t>
            </a:r>
          </a:p>
          <a:p>
            <a:pPr lvl="1"/>
            <a:r>
              <a:rPr lang="en-IE" dirty="0"/>
              <a:t>Over-reliance on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CD96F-795A-BAE7-C1F0-579412A5E8FB}"/>
              </a:ext>
            </a:extLst>
          </p:cNvPr>
          <p:cNvSpPr txBox="1"/>
          <p:nvPr/>
        </p:nvSpPr>
        <p:spPr>
          <a:xfrm>
            <a:off x="1002891" y="5683044"/>
            <a:ext cx="7915950" cy="40011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E" sz="2000" dirty="0"/>
              <a:t>Give me one more Advantage and one more problem not listed here</a:t>
            </a:r>
          </a:p>
        </p:txBody>
      </p:sp>
    </p:spTree>
    <p:extLst>
      <p:ext uri="{BB962C8B-B14F-4D97-AF65-F5344CB8AC3E}">
        <p14:creationId xmlns:p14="http://schemas.microsoft.com/office/powerpoint/2010/main" val="119588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3B8F-3EA3-A976-7D7E-C940C605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Prompts / Weak vs Strong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407AC-9277-E873-AC0B-B147DD565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E" dirty="0"/>
              <a:t>Weak Prompt</a:t>
            </a:r>
          </a:p>
          <a:p>
            <a:pPr lvl="1"/>
            <a:r>
              <a:rPr lang="en-IE" dirty="0"/>
              <a:t>Tell me about photosynthesis</a:t>
            </a:r>
          </a:p>
          <a:p>
            <a:r>
              <a:rPr lang="en-IE" dirty="0"/>
              <a:t>Strong Prompt</a:t>
            </a:r>
          </a:p>
          <a:p>
            <a:pPr lvl="1"/>
            <a:r>
              <a:rPr lang="en-GB" dirty="0"/>
              <a:t> “Explain photosynthesis for a 15-year-old in ≤120 words, include 1 analogy, 2 everyday examples, and 1 common misconception. Use bullet points.”</a:t>
            </a:r>
          </a:p>
          <a:p>
            <a:r>
              <a:rPr lang="en-GB" dirty="0"/>
              <a:t>What makes a prompt strong?</a:t>
            </a:r>
          </a:p>
          <a:p>
            <a:r>
              <a:rPr lang="en-GB" dirty="0"/>
              <a:t>Can a weak prompt be made strong?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7008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B875-16F0-1718-B72E-37DD98DC4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Hallucinations and Red Flags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B24B2-56BF-BE49-6A5A-8D15EA205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IE" dirty="0"/>
              <a:t>Overconfident tone, no sources</a:t>
            </a:r>
          </a:p>
          <a:p>
            <a:r>
              <a:rPr lang="en-IE" dirty="0"/>
              <a:t>Fake citations or broken links </a:t>
            </a:r>
          </a:p>
          <a:p>
            <a:r>
              <a:rPr lang="en-IE" dirty="0"/>
              <a:t>Specific stats with no references </a:t>
            </a:r>
          </a:p>
          <a:p>
            <a:r>
              <a:rPr lang="en-IE" dirty="0"/>
              <a:t>Misattributed quotes </a:t>
            </a:r>
          </a:p>
          <a:p>
            <a:r>
              <a:rPr lang="en-IE" dirty="0"/>
              <a:t>Mixing similar concepts (e.g., correlation vs causation)</a:t>
            </a:r>
          </a:p>
          <a:p>
            <a:r>
              <a:rPr lang="en-IE" dirty="0"/>
              <a:t>Example (fabricated citation):  - “Smith, 2017, Journal of Global Studies” — but link 404 or journal doesn’t exist</a:t>
            </a:r>
          </a:p>
        </p:txBody>
      </p:sp>
    </p:spTree>
    <p:extLst>
      <p:ext uri="{BB962C8B-B14F-4D97-AF65-F5344CB8AC3E}">
        <p14:creationId xmlns:p14="http://schemas.microsoft.com/office/powerpoint/2010/main" val="221652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C27A-D0F2-7C09-9C0B-E3D011CB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Trust but Verify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A0040-C969-F548-5A13-E3E237488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GB" dirty="0"/>
              <a:t>Methods:</a:t>
            </a:r>
          </a:p>
          <a:p>
            <a:pPr lvl="1"/>
            <a:r>
              <a:rPr lang="en-GB" dirty="0"/>
              <a:t>Require sources with titles, authors, dates, working links </a:t>
            </a:r>
          </a:p>
          <a:p>
            <a:pPr lvl="1"/>
            <a:r>
              <a:rPr lang="en-GB" dirty="0"/>
              <a:t>Cross-check with a trusted reference (gov/</a:t>
            </a:r>
            <a:r>
              <a:rPr lang="en-GB" dirty="0" err="1"/>
              <a:t>edu</a:t>
            </a:r>
            <a:r>
              <a:rPr lang="en-GB" dirty="0"/>
              <a:t>/org), textbook, or database </a:t>
            </a:r>
          </a:p>
          <a:p>
            <a:pPr lvl="1"/>
            <a:r>
              <a:rPr lang="en-GB" dirty="0"/>
              <a:t>Use site search on known domains (e.g., who.int, nasa.gov) </a:t>
            </a:r>
          </a:p>
          <a:p>
            <a:pPr lvl="1"/>
            <a:r>
              <a:rPr lang="en-GB" dirty="0"/>
              <a:t>Ask the AI to self-check and list uncertainties</a:t>
            </a:r>
          </a:p>
          <a:p>
            <a:pPr lvl="1"/>
            <a:r>
              <a:rPr lang="en-GB" dirty="0"/>
              <a:t>Verification prompt example:  </a:t>
            </a:r>
          </a:p>
          <a:p>
            <a:pPr lvl="2"/>
            <a:r>
              <a:rPr lang="en-GB" dirty="0"/>
              <a:t>“List sources with working links, author names, and publication dates. Explain how each source supports claim X. Note any uncertainties.”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160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B8A97-B9A4-A27C-3121-559C8C12B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Information Accuracy 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FA925-B5FB-9767-7157-D9A9B4B9F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322169" cy="4351338"/>
          </a:xfrm>
        </p:spPr>
        <p:txBody>
          <a:bodyPr/>
          <a:lstStyle/>
          <a:p>
            <a:r>
              <a:rPr lang="en-GB" dirty="0"/>
              <a:t>Instructions:</a:t>
            </a:r>
          </a:p>
          <a:p>
            <a:pPr lvl="1"/>
            <a:r>
              <a:rPr lang="en-GB" dirty="0"/>
              <a:t>Choose a focused question (specific, checkable) Base it on a topic already covered in a class that you are familiar with</a:t>
            </a:r>
          </a:p>
          <a:p>
            <a:pPr lvl="1"/>
            <a:r>
              <a:rPr lang="en-GB" dirty="0"/>
              <a:t>Prompt the AI for 3–5 bullet claims with sources and dates </a:t>
            </a:r>
          </a:p>
          <a:p>
            <a:pPr lvl="1"/>
            <a:r>
              <a:rPr lang="en-GB" dirty="0"/>
              <a:t>Record claims and sources</a:t>
            </a:r>
          </a:p>
          <a:p>
            <a:pPr lvl="1"/>
            <a:r>
              <a:rPr lang="en-GB" dirty="0"/>
              <a:t>Verify each claim using at least two methods</a:t>
            </a:r>
          </a:p>
          <a:p>
            <a:pPr lvl="1"/>
            <a:r>
              <a:rPr lang="en-GB" dirty="0"/>
              <a:t>Examples of focused questions:</a:t>
            </a:r>
          </a:p>
          <a:p>
            <a:pPr lvl="2"/>
            <a:r>
              <a:rPr lang="en-GB" dirty="0"/>
              <a:t>“List three main terms of the 1919 Treaty of Versailles with primary sources.” </a:t>
            </a:r>
          </a:p>
          <a:p>
            <a:pPr lvl="2"/>
            <a:r>
              <a:rPr lang="en-GB" dirty="0"/>
              <a:t>“Summarize two health impacts of teen vaping with 2022–2024 studies.”</a:t>
            </a:r>
          </a:p>
        </p:txBody>
      </p:sp>
    </p:spTree>
    <p:extLst>
      <p:ext uri="{BB962C8B-B14F-4D97-AF65-F5344CB8AC3E}">
        <p14:creationId xmlns:p14="http://schemas.microsoft.com/office/powerpoint/2010/main" val="3221589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8B92-B66D-D083-9F1F-E22E47AE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During the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E9EEF-3847-B805-4464-A4149AE44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GB" dirty="0"/>
              <a:t>Capture on worksheet:</a:t>
            </a:r>
          </a:p>
          <a:p>
            <a:pPr lvl="1"/>
            <a:r>
              <a:rPr lang="en-GB" dirty="0"/>
              <a:t>The exact prompt you used </a:t>
            </a:r>
          </a:p>
          <a:p>
            <a:pPr lvl="1"/>
            <a:r>
              <a:rPr lang="en-GB" dirty="0"/>
              <a:t>3–5 key claims + sources (titles/links/dates) </a:t>
            </a:r>
          </a:p>
          <a:p>
            <a:pPr lvl="1"/>
            <a:r>
              <a:rPr lang="en-GB" dirty="0"/>
              <a:t>Verification outcome (Yes/No) + evidence source </a:t>
            </a:r>
          </a:p>
          <a:p>
            <a:pPr lvl="1"/>
            <a:r>
              <a:rPr lang="en-GB" dirty="0"/>
              <a:t>Any corrections and your follow-up prompt</a:t>
            </a:r>
          </a:p>
          <a:p>
            <a:pPr lvl="1"/>
            <a:r>
              <a:rPr lang="en-GB" dirty="0"/>
              <a:t>Success criteria: </a:t>
            </a:r>
          </a:p>
          <a:p>
            <a:pPr lvl="2"/>
            <a:r>
              <a:rPr lang="en-GB" dirty="0"/>
              <a:t>Sources open and work </a:t>
            </a:r>
          </a:p>
          <a:p>
            <a:pPr lvl="2"/>
            <a:r>
              <a:rPr lang="en-GB" dirty="0"/>
              <a:t>At least one correction or uncertainty identified (if any) </a:t>
            </a:r>
          </a:p>
          <a:p>
            <a:pPr lvl="2"/>
            <a:r>
              <a:rPr lang="en-GB" dirty="0"/>
              <a:t>Clear final 3–4 sentence summary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86700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5CA3-F768-B3D9-4270-0A63BA7F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Responsible use in Education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4AFA2-933D-1FE4-2A06-2F2BCF6A4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E" dirty="0"/>
              <a:t>Not saying don’t use AI but use it well</a:t>
            </a:r>
          </a:p>
          <a:p>
            <a:r>
              <a:rPr lang="en-IE" dirty="0"/>
              <a:t>Department of Education has guidelines</a:t>
            </a:r>
          </a:p>
          <a:p>
            <a:r>
              <a:rPr lang="en-GB" dirty="0"/>
              <a:t>Be transparent: cite when AI helped</a:t>
            </a:r>
          </a:p>
          <a:p>
            <a:r>
              <a:rPr lang="en-GB" dirty="0"/>
              <a:t>Verify: check facts and links </a:t>
            </a:r>
          </a:p>
          <a:p>
            <a:r>
              <a:rPr lang="en-GB" dirty="0"/>
              <a:t>Learn first: try yourself before asking </a:t>
            </a:r>
          </a:p>
          <a:p>
            <a:r>
              <a:rPr lang="en-GB" dirty="0"/>
              <a:t>Privacy: no personal or sensitive data</a:t>
            </a:r>
          </a:p>
          <a:p>
            <a:r>
              <a:rPr lang="en-GB" dirty="0"/>
              <a:t>Originality: your understanding, your work</a:t>
            </a:r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3DC52-F58B-106D-CA2B-06472FC7BFED}"/>
              </a:ext>
            </a:extLst>
          </p:cNvPr>
          <p:cNvSpPr txBox="1"/>
          <p:nvPr/>
        </p:nvSpPr>
        <p:spPr>
          <a:xfrm>
            <a:off x="1916723" y="5657671"/>
            <a:ext cx="8610600" cy="120032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 Task:</a:t>
            </a:r>
          </a:p>
          <a:p>
            <a:r>
              <a:rPr lang="en-IE" sz="2400" dirty="0"/>
              <a:t>One effective prompt you’ll use next time </a:t>
            </a:r>
          </a:p>
          <a:p>
            <a:r>
              <a:rPr lang="en-IE" sz="2400" dirty="0"/>
              <a:t>One thing you corrected or improved today</a:t>
            </a:r>
          </a:p>
        </p:txBody>
      </p:sp>
    </p:spTree>
    <p:extLst>
      <p:ext uri="{BB962C8B-B14F-4D97-AF65-F5344CB8AC3E}">
        <p14:creationId xmlns:p14="http://schemas.microsoft.com/office/powerpoint/2010/main" val="715660590"/>
      </p:ext>
    </p:extLst>
  </p:cSld>
  <p:clrMapOvr>
    <a:masterClrMapping/>
  </p:clrMapOvr>
</p:sld>
</file>

<file path=ppt/theme/theme1.xml><?xml version="1.0" encoding="utf-8"?>
<a:theme xmlns:a="http://schemas.openxmlformats.org/drawingml/2006/main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b170d26-a298-4fcb-93e8-f72c55c78d0a}" enabled="1" method="Standard" siteId="{3ed6c8f5-4c16-44ad-9eed-60f851834a8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893</Words>
  <Application>Microsoft Office PowerPoint</Application>
  <PresentationFormat>Widescreen</PresentationFormat>
  <Paragraphs>125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Libre Franklin</vt:lpstr>
      <vt:lpstr>Arial</vt:lpstr>
      <vt:lpstr>Calibri</vt:lpstr>
      <vt:lpstr>Libre Franklin Medium</vt:lpstr>
      <vt:lpstr>ÀCC Presentation</vt:lpstr>
      <vt:lpstr>Lesson 04</vt:lpstr>
      <vt:lpstr>Lesson Objectives</vt:lpstr>
      <vt:lpstr>What is AI and What is an LLM?</vt:lpstr>
      <vt:lpstr>Where do we see AI?</vt:lpstr>
      <vt:lpstr>Advantages and Problems</vt:lpstr>
      <vt:lpstr>Creating Prompts / Weak vs Strong</vt:lpstr>
      <vt:lpstr>Common Hallucinations and Red Flags</vt:lpstr>
      <vt:lpstr>Trust but Verify</vt:lpstr>
      <vt:lpstr>Information Accuracy Challenge</vt:lpstr>
      <vt:lpstr>During the Exercise</vt:lpstr>
      <vt:lpstr>Responsible use in Education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Jim Finn</dc:creator>
  <cp:lastModifiedBy>Jim Finn (Adamstown CC)</cp:lastModifiedBy>
  <cp:revision>4</cp:revision>
  <dcterms:created xsi:type="dcterms:W3CDTF">2023-05-05T08:23:56Z</dcterms:created>
  <dcterms:modified xsi:type="dcterms:W3CDTF">2026-09-01T06:50:24Z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b170d26-a298-4fcb-93e8-f72c55c78d0a_Enabled">
    <vt:lpwstr>true</vt:lpwstr>
  </property>
  <property fmtid="{D5CDD505-2E9C-101B-9397-08002B2CF9AE}" pid="3" name="MSIP_Label_bb170d26-a298-4fcb-93e8-f72c55c78d0a_SetDate">
    <vt:lpwstr>2025-10-08T07:50:06Z</vt:lpwstr>
  </property>
  <property fmtid="{D5CDD505-2E9C-101B-9397-08002B2CF9AE}" pid="4" name="MSIP_Label_bb170d26-a298-4fcb-93e8-f72c55c78d0a_Method">
    <vt:lpwstr>Standard</vt:lpwstr>
  </property>
  <property fmtid="{D5CDD505-2E9C-101B-9397-08002B2CF9AE}" pid="5" name="MSIP_Label_bb170d26-a298-4fcb-93e8-f72c55c78d0a_Name">
    <vt:lpwstr>defa4170-0d19-0005-0004-bc88714345d2</vt:lpwstr>
  </property>
  <property fmtid="{D5CDD505-2E9C-101B-9397-08002B2CF9AE}" pid="6" name="MSIP_Label_bb170d26-a298-4fcb-93e8-f72c55c78d0a_SiteId">
    <vt:lpwstr>3ed6c8f5-4c16-44ad-9eed-60f851834a84</vt:lpwstr>
  </property>
  <property fmtid="{D5CDD505-2E9C-101B-9397-08002B2CF9AE}" pid="7" name="MSIP_Label_bb170d26-a298-4fcb-93e8-f72c55c78d0a_ActionId">
    <vt:lpwstr>0a246ad4-2f34-471d-b121-f556a2018053</vt:lpwstr>
  </property>
  <property fmtid="{D5CDD505-2E9C-101B-9397-08002B2CF9AE}" pid="8" name="MSIP_Label_bb170d26-a298-4fcb-93e8-f72c55c78d0a_ContentBits">
    <vt:lpwstr>0</vt:lpwstr>
  </property>
  <property fmtid="{D5CDD505-2E9C-101B-9397-08002B2CF9AE}" pid="9" name="MSIP_Label_bb170d26-a298-4fcb-93e8-f72c55c78d0a_Tag">
    <vt:lpwstr>10, 3, 0, 1</vt:lpwstr>
  </property>
</Properties>
</file>