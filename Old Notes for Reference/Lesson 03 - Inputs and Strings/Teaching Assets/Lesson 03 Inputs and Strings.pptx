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</p:sldIdLst>
  <p:sldSz cx="12192000" cy="6858000"/>
  <p:notesSz cx="6858000" cy="9144000"/>
  <p:embeddedFontLst>
    <p:embeddedFont>
      <p:font typeface="Lustria" panose="020B0604020202020204" charset="0"/>
      <p:regular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22" roundtripDataSignature="AMtx7mgJFyh2S5/t3gSHS2EOLNkxkGMMP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749085B-9591-4419-9920-690AFBD1D87E}" v="1" dt="2025-01-10T09:19:30.9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48" d="100"/>
          <a:sy n="48" d="100"/>
        </p:scale>
        <p:origin x="53" y="7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customschemas.google.com/relationships/presentationmetadata" Target="meta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m Finn" userId="fcf7da85b79b963a" providerId="LiveId" clId="{5749085B-9591-4419-9920-690AFBD1D87E}"/>
    <pc:docChg chg="custSel addSld modSld">
      <pc:chgData name="Jim Finn" userId="fcf7da85b79b963a" providerId="LiveId" clId="{5749085B-9591-4419-9920-690AFBD1D87E}" dt="2025-01-10T09:20:20.495" v="96" actId="20577"/>
      <pc:docMkLst>
        <pc:docMk/>
      </pc:docMkLst>
      <pc:sldChg chg="modSp mod">
        <pc:chgData name="Jim Finn" userId="fcf7da85b79b963a" providerId="LiveId" clId="{5749085B-9591-4419-9920-690AFBD1D87E}" dt="2025-01-10T09:18:08.337" v="0" actId="33524"/>
        <pc:sldMkLst>
          <pc:docMk/>
          <pc:sldMk cId="0" sldId="261"/>
        </pc:sldMkLst>
        <pc:spChg chg="mod">
          <ac:chgData name="Jim Finn" userId="fcf7da85b79b963a" providerId="LiveId" clId="{5749085B-9591-4419-9920-690AFBD1D87E}" dt="2025-01-10T09:18:08.337" v="0" actId="33524"/>
          <ac:spMkLst>
            <pc:docMk/>
            <pc:sldMk cId="0" sldId="261"/>
            <ac:spMk id="209" creationId="{00000000-0000-0000-0000-000000000000}"/>
          </ac:spMkLst>
        </pc:spChg>
      </pc:sldChg>
      <pc:sldChg chg="modSp mod">
        <pc:chgData name="Jim Finn" userId="fcf7da85b79b963a" providerId="LiveId" clId="{5749085B-9591-4419-9920-690AFBD1D87E}" dt="2025-01-10T09:19:31.537" v="21" actId="27636"/>
        <pc:sldMkLst>
          <pc:docMk/>
          <pc:sldMk cId="0" sldId="269"/>
        </pc:sldMkLst>
        <pc:spChg chg="mod">
          <ac:chgData name="Jim Finn" userId="fcf7da85b79b963a" providerId="LiveId" clId="{5749085B-9591-4419-9920-690AFBD1D87E}" dt="2025-01-10T09:19:31.537" v="21" actId="27636"/>
          <ac:spMkLst>
            <pc:docMk/>
            <pc:sldMk cId="0" sldId="269"/>
            <ac:spMk id="270" creationId="{00000000-0000-0000-0000-000000000000}"/>
          </ac:spMkLst>
        </pc:spChg>
      </pc:sldChg>
      <pc:sldChg chg="modSp mod">
        <pc:chgData name="Jim Finn" userId="fcf7da85b79b963a" providerId="LiveId" clId="{5749085B-9591-4419-9920-690AFBD1D87E}" dt="2025-01-10T09:20:20.495" v="96" actId="20577"/>
        <pc:sldMkLst>
          <pc:docMk/>
          <pc:sldMk cId="0" sldId="270"/>
        </pc:sldMkLst>
        <pc:spChg chg="mod">
          <ac:chgData name="Jim Finn" userId="fcf7da85b79b963a" providerId="LiveId" clId="{5749085B-9591-4419-9920-690AFBD1D87E}" dt="2025-01-10T09:20:20.495" v="96" actId="20577"/>
          <ac:spMkLst>
            <pc:docMk/>
            <pc:sldMk cId="0" sldId="270"/>
            <ac:spMk id="280" creationId="{00000000-0000-0000-0000-000000000000}"/>
          </ac:spMkLst>
        </pc:spChg>
      </pc:sldChg>
      <pc:sldChg chg="modSp mod">
        <pc:chgData name="Jim Finn" userId="fcf7da85b79b963a" providerId="LiveId" clId="{5749085B-9591-4419-9920-690AFBD1D87E}" dt="2025-01-10T09:19:31.173" v="20" actId="27636"/>
        <pc:sldMkLst>
          <pc:docMk/>
          <pc:sldMk cId="0" sldId="271"/>
        </pc:sldMkLst>
        <pc:spChg chg="mod">
          <ac:chgData name="Jim Finn" userId="fcf7da85b79b963a" providerId="LiveId" clId="{5749085B-9591-4419-9920-690AFBD1D87E}" dt="2025-01-10T09:19:31.173" v="20" actId="27636"/>
          <ac:spMkLst>
            <pc:docMk/>
            <pc:sldMk cId="0" sldId="271"/>
            <ac:spMk id="286" creationId="{00000000-0000-0000-0000-000000000000}"/>
          </ac:spMkLst>
        </pc:spChg>
      </pc:sldChg>
      <pc:sldChg chg="addSp modSp new mod">
        <pc:chgData name="Jim Finn" userId="fcf7da85b79b963a" providerId="LiveId" clId="{5749085B-9591-4419-9920-690AFBD1D87E}" dt="2025-01-10T09:19:48.423" v="27" actId="27636"/>
        <pc:sldMkLst>
          <pc:docMk/>
          <pc:sldMk cId="2164697995" sldId="272"/>
        </pc:sldMkLst>
        <pc:spChg chg="mod">
          <ac:chgData name="Jim Finn" userId="fcf7da85b79b963a" providerId="LiveId" clId="{5749085B-9591-4419-9920-690AFBD1D87E}" dt="2025-01-10T09:19:24.652" v="18" actId="20577"/>
          <ac:spMkLst>
            <pc:docMk/>
            <pc:sldMk cId="2164697995" sldId="272"/>
            <ac:spMk id="2" creationId="{8E6B2C8C-AF18-2EEE-464B-5A430DADD487}"/>
          </ac:spMkLst>
        </pc:spChg>
        <pc:spChg chg="mod">
          <ac:chgData name="Jim Finn" userId="fcf7da85b79b963a" providerId="LiveId" clId="{5749085B-9591-4419-9920-690AFBD1D87E}" dt="2025-01-10T09:19:48.423" v="27" actId="27636"/>
          <ac:spMkLst>
            <pc:docMk/>
            <pc:sldMk cId="2164697995" sldId="272"/>
            <ac:spMk id="3" creationId="{5670EB33-C213-DA41-1659-1A9C2A639071}"/>
          </ac:spMkLst>
        </pc:spChg>
        <pc:picChg chg="add mod">
          <ac:chgData name="Jim Finn" userId="fcf7da85b79b963a" providerId="LiveId" clId="{5749085B-9591-4419-9920-690AFBD1D87E}" dt="2025-01-10T09:19:32.771" v="22" actId="1076"/>
          <ac:picMkLst>
            <pc:docMk/>
            <pc:sldMk cId="2164697995" sldId="272"/>
            <ac:picMk id="4" creationId="{98169D25-66C5-413C-1692-A8952E27C791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8"/>
          <p:cNvSpPr txBox="1"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  <a:defRPr sz="54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8"/>
          <p:cNvSpPr txBox="1"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400"/>
              </a:spcBef>
              <a:spcAft>
                <a:spcPts val="0"/>
              </a:spcAft>
              <a:buSzPts val="1400"/>
              <a:buNone/>
              <a:defRPr>
                <a:solidFill>
                  <a:schemeClr val="lt1"/>
                </a:solidFill>
              </a:defRPr>
            </a:lvl1pPr>
            <a:lvl2pPr lvl="1" algn="ctr">
              <a:spcBef>
                <a:spcPts val="600"/>
              </a:spcBef>
              <a:spcAft>
                <a:spcPts val="0"/>
              </a:spcAft>
              <a:buSzPts val="1260"/>
              <a:buNone/>
              <a:defRPr>
                <a:solidFill>
                  <a:schemeClr val="lt1"/>
                </a:solidFill>
              </a:defRPr>
            </a:lvl2pPr>
            <a:lvl3pPr lvl="2" algn="ctr">
              <a:spcBef>
                <a:spcPts val="600"/>
              </a:spcBef>
              <a:spcAft>
                <a:spcPts val="0"/>
              </a:spcAft>
              <a:buSzPts val="1120"/>
              <a:buNone/>
              <a:defRPr>
                <a:solidFill>
                  <a:schemeClr val="lt1"/>
                </a:solidFill>
              </a:defRPr>
            </a:lvl3pPr>
            <a:lvl4pPr lvl="3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4pPr>
            <a:lvl5pPr lvl="4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5pPr>
            <a:lvl6pPr lvl="5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6pPr>
            <a:lvl7pPr lvl="6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7pPr>
            <a:lvl8pPr lvl="7" algn="ctr">
              <a:spcBef>
                <a:spcPts val="600"/>
              </a:spcBef>
              <a:spcAft>
                <a:spcPts val="0"/>
              </a:spcAft>
              <a:buSzPts val="980"/>
              <a:buNone/>
              <a:defRPr>
                <a:solidFill>
                  <a:schemeClr val="lt1"/>
                </a:solidFill>
              </a:defRPr>
            </a:lvl8pPr>
            <a:lvl9pPr lvl="8" algn="ctr">
              <a:spcBef>
                <a:spcPts val="600"/>
              </a:spcBef>
              <a:spcAft>
                <a:spcPts val="600"/>
              </a:spcAft>
              <a:buSzPts val="980"/>
              <a:buNone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18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8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1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9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9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24" name="Google Shape;24;p19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9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1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0"/>
          <p:cNvSpPr txBox="1"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sz="4000" b="0" cap="none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20"/>
          <p:cNvSpPr txBox="1"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>
                <a:solidFill>
                  <a:schemeClr val="lt1"/>
                </a:solidFill>
              </a:defRPr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>
                <a:solidFill>
                  <a:schemeClr val="lt1"/>
                </a:solidFill>
              </a:defRPr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>
                <a:solidFill>
                  <a:schemeClr val="lt1"/>
                </a:solidFill>
              </a:defRPr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980"/>
              <a:buNone/>
              <a:defRPr sz="14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20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20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0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21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5060497" cy="40587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6" name="Google Shape;36;p21"/>
          <p:cNvSpPr txBox="1">
            <a:spLocks noGrp="1"/>
          </p:cNvSpPr>
          <p:nvPr>
            <p:ph type="body" idx="2"/>
          </p:nvPr>
        </p:nvSpPr>
        <p:spPr>
          <a:xfrm>
            <a:off x="6202892" y="1732449"/>
            <a:ext cx="5064665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37" name="Google Shape;37;p21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1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2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22" descr="Slate-V2-H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91379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42" name="Google Shape;42;p22" descr="Slate-V2-HD-comp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6178485" y="1734506"/>
            <a:ext cx="5089072" cy="4148769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2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2"/>
          <p:cNvSpPr txBox="1"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22"/>
          <p:cNvSpPr txBox="1">
            <a:spLocks noGrp="1"/>
          </p:cNvSpPr>
          <p:nvPr>
            <p:ph type="body" idx="2"/>
          </p:nvPr>
        </p:nvSpPr>
        <p:spPr>
          <a:xfrm>
            <a:off x="1005872" y="2380137"/>
            <a:ext cx="4876344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marL="914400" lvl="1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marL="1371600" lvl="2" indent="-29083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marL="1828800" lvl="3" indent="-281939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marL="2286000" lvl="4" indent="-281939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46" name="Google Shape;46;p22"/>
          <p:cNvSpPr txBox="1">
            <a:spLocks noGrp="1"/>
          </p:cNvSpPr>
          <p:nvPr>
            <p:ph type="body" idx="3"/>
          </p:nvPr>
        </p:nvSpPr>
        <p:spPr>
          <a:xfrm>
            <a:off x="6294967" y="1835254"/>
            <a:ext cx="4895330" cy="54488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47" name="Google Shape;47;p22"/>
          <p:cNvSpPr txBox="1">
            <a:spLocks noGrp="1"/>
          </p:cNvSpPr>
          <p:nvPr>
            <p:ph type="body" idx="4"/>
          </p:nvPr>
        </p:nvSpPr>
        <p:spPr>
          <a:xfrm>
            <a:off x="6294967" y="2380137"/>
            <a:ext cx="4895330" cy="341106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 sz="1800"/>
            </a:lvl1pPr>
            <a:lvl2pPr marL="914400" lvl="1" indent="-299719" algn="l">
              <a:spcBef>
                <a:spcPts val="600"/>
              </a:spcBef>
              <a:spcAft>
                <a:spcPts val="0"/>
              </a:spcAft>
              <a:buSzPts val="1120"/>
              <a:buChar char="🞚"/>
              <a:defRPr sz="1600"/>
            </a:lvl2pPr>
            <a:lvl3pPr marL="1371600" lvl="2" indent="-290830" algn="l">
              <a:spcBef>
                <a:spcPts val="600"/>
              </a:spcBef>
              <a:spcAft>
                <a:spcPts val="0"/>
              </a:spcAft>
              <a:buSzPts val="980"/>
              <a:buChar char="◈"/>
              <a:defRPr sz="1400"/>
            </a:lvl3pPr>
            <a:lvl4pPr marL="1828800" lvl="3" indent="-281939" algn="l">
              <a:spcBef>
                <a:spcPts val="600"/>
              </a:spcBef>
              <a:spcAft>
                <a:spcPts val="0"/>
              </a:spcAft>
              <a:buSzPts val="840"/>
              <a:buChar char="🞚"/>
              <a:defRPr sz="1200"/>
            </a:lvl4pPr>
            <a:lvl5pPr marL="2286000" lvl="4" indent="-281939" algn="l">
              <a:spcBef>
                <a:spcPts val="600"/>
              </a:spcBef>
              <a:spcAft>
                <a:spcPts val="0"/>
              </a:spcAft>
              <a:buSzPts val="840"/>
              <a:buChar char="◈"/>
              <a:defRPr sz="1200"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48" name="Google Shape;48;p22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2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3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3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3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2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4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4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5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400"/>
              <a:buFont typeface="Lustria"/>
              <a:buNone/>
              <a:defRPr sz="24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25"/>
          <p:cNvSpPr txBox="1">
            <a:spLocks noGrp="1"/>
          </p:cNvSpPr>
          <p:nvPr>
            <p:ph type="body" idx="1"/>
          </p:nvPr>
        </p:nvSpPr>
        <p:spPr>
          <a:xfrm>
            <a:off x="4855633" y="609600"/>
            <a:ext cx="6411924" cy="51816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63" name="Google Shape;63;p25"/>
          <p:cNvSpPr txBox="1">
            <a:spLocks noGrp="1"/>
          </p:cNvSpPr>
          <p:nvPr>
            <p:ph type="body" idx="2"/>
          </p:nvPr>
        </p:nvSpPr>
        <p:spPr>
          <a:xfrm>
            <a:off x="913795" y="2431518"/>
            <a:ext cx="3706889" cy="335968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64" name="Google Shape;64;p25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5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5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Google Shape;68;p26" descr="Slate-V2-HD-vert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293665" y="609600"/>
            <a:ext cx="3584166" cy="5204832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26"/>
          <p:cNvSpPr txBox="1"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 b="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6"/>
          <p:cNvSpPr>
            <a:spLocks noGrp="1"/>
          </p:cNvSpPr>
          <p:nvPr>
            <p:ph type="pic" idx="2"/>
          </p:nvPr>
        </p:nvSpPr>
        <p:spPr>
          <a:xfrm>
            <a:off x="7442551" y="763702"/>
            <a:ext cx="3275751" cy="4912822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71" name="Google Shape;71;p26"/>
          <p:cNvSpPr txBox="1">
            <a:spLocks noGrp="1"/>
          </p:cNvSpPr>
          <p:nvPr>
            <p:ph type="body" idx="1"/>
          </p:nvPr>
        </p:nvSpPr>
        <p:spPr>
          <a:xfrm>
            <a:off x="913795" y="2439261"/>
            <a:ext cx="5934949" cy="337613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72" name="Google Shape;72;p26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6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6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anoramic Picture with Caption">
  <p:cSld name="Panoramic Picture with Caption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27" descr="Slate-V2-HD-pano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13883" y="547807"/>
            <a:ext cx="10141799" cy="3816806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27"/>
          <p:cNvSpPr txBox="1"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Lustria"/>
              <a:buNone/>
              <a:defRPr sz="28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7"/>
          <p:cNvSpPr>
            <a:spLocks noGrp="1"/>
          </p:cNvSpPr>
          <p:nvPr>
            <p:ph type="pic" idx="2"/>
          </p:nvPr>
        </p:nvSpPr>
        <p:spPr>
          <a:xfrm>
            <a:off x="1169349" y="695009"/>
            <a:ext cx="9845346" cy="3525671"/>
          </a:xfrm>
          <a:prstGeom prst="rect">
            <a:avLst/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79" name="Google Shape;79;p27"/>
          <p:cNvSpPr txBox="1">
            <a:spLocks noGrp="1"/>
          </p:cNvSpPr>
          <p:nvPr>
            <p:ph type="body" idx="1"/>
          </p:nvPr>
        </p:nvSpPr>
        <p:spPr>
          <a:xfrm>
            <a:off x="913795" y="5108728"/>
            <a:ext cx="10353762" cy="6824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80" name="Google Shape;80;p27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27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2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aption">
  <p:cSld name="Title and Caption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8"/>
          <p:cNvSpPr txBox="1"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28"/>
          <p:cNvSpPr txBox="1">
            <a:spLocks noGrp="1"/>
          </p:cNvSpPr>
          <p:nvPr>
            <p:ph type="body" idx="1"/>
          </p:nvPr>
        </p:nvSpPr>
        <p:spPr>
          <a:xfrm>
            <a:off x="913794" y="4295180"/>
            <a:ext cx="10353763" cy="150182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86" name="Google Shape;86;p28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28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28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with Caption">
  <p:cSld name="Quote with Caption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9"/>
          <p:cNvSpPr txBox="1"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29"/>
          <p:cNvSpPr txBox="1">
            <a:spLocks noGrp="1"/>
          </p:cNvSpPr>
          <p:nvPr>
            <p:ph type="body" idx="1"/>
          </p:nvPr>
        </p:nvSpPr>
        <p:spPr>
          <a:xfrm>
            <a:off x="1720644" y="3610032"/>
            <a:ext cx="8752299" cy="53274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92" name="Google Shape;92;p29"/>
          <p:cNvSpPr txBox="1">
            <a:spLocks noGrp="1"/>
          </p:cNvSpPr>
          <p:nvPr>
            <p:ph type="body" idx="2"/>
          </p:nvPr>
        </p:nvSpPr>
        <p:spPr>
          <a:xfrm>
            <a:off x="913794" y="4304353"/>
            <a:ext cx="10353763" cy="148949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93" name="Google Shape;93;p29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29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29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6" name="Google Shape;96;p29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lang="en-GB" sz="8000" b="0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“</a:t>
            </a:r>
            <a:endParaRPr/>
          </a:p>
        </p:txBody>
      </p:sp>
      <p:sp>
        <p:nvSpPr>
          <p:cNvPr id="97" name="Google Shape;97;p29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Font typeface="Lustria"/>
              <a:buNone/>
            </a:pPr>
            <a:r>
              <a:rPr lang="en-GB" sz="8000" b="0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me Card">
  <p:cSld name="Name Card"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0"/>
          <p:cNvSpPr txBox="1"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200"/>
              <a:buFont typeface="Lustria"/>
              <a:buNone/>
              <a:defRPr sz="3200"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30"/>
          <p:cNvSpPr txBox="1">
            <a:spLocks noGrp="1"/>
          </p:cNvSpPr>
          <p:nvPr>
            <p:ph type="body" idx="1"/>
          </p:nvPr>
        </p:nvSpPr>
        <p:spPr>
          <a:xfrm>
            <a:off x="913784" y="4650556"/>
            <a:ext cx="10352199" cy="1140644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320"/>
              </a:spcBef>
              <a:spcAft>
                <a:spcPts val="0"/>
              </a:spcAft>
              <a:buSzPts val="1120"/>
              <a:buNone/>
              <a:defRPr sz="16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980"/>
              <a:buNone/>
              <a:defRPr sz="14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700"/>
              <a:buNone/>
              <a:defRPr sz="1000"/>
            </a:lvl9pPr>
          </a:lstStyle>
          <a:p>
            <a:endParaRPr/>
          </a:p>
        </p:txBody>
      </p:sp>
      <p:sp>
        <p:nvSpPr>
          <p:cNvPr id="101" name="Google Shape;101;p30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30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30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Column">
  <p:cSld name="3 Column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31"/>
          <p:cNvSpPr txBox="1"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07" name="Google Shape;107;p31"/>
          <p:cNvSpPr txBox="1">
            <a:spLocks noGrp="1"/>
          </p:cNvSpPr>
          <p:nvPr>
            <p:ph type="body" idx="2"/>
          </p:nvPr>
        </p:nvSpPr>
        <p:spPr>
          <a:xfrm>
            <a:off x="91379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08" name="Google Shape;108;p31"/>
          <p:cNvSpPr txBox="1">
            <a:spLocks noGrp="1"/>
          </p:cNvSpPr>
          <p:nvPr>
            <p:ph type="body" idx="3"/>
          </p:nvPr>
        </p:nvSpPr>
        <p:spPr>
          <a:xfrm>
            <a:off x="4446711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09" name="Google Shape;109;p31"/>
          <p:cNvSpPr txBox="1">
            <a:spLocks noGrp="1"/>
          </p:cNvSpPr>
          <p:nvPr>
            <p:ph type="body" idx="4"/>
          </p:nvPr>
        </p:nvSpPr>
        <p:spPr>
          <a:xfrm>
            <a:off x="4441435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10" name="Google Shape;110;p31"/>
          <p:cNvSpPr txBox="1">
            <a:spLocks noGrp="1"/>
          </p:cNvSpPr>
          <p:nvPr>
            <p:ph type="body" idx="5"/>
          </p:nvPr>
        </p:nvSpPr>
        <p:spPr>
          <a:xfrm>
            <a:off x="7966572" y="1885950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80"/>
              </a:spcBef>
              <a:spcAft>
                <a:spcPts val="0"/>
              </a:spcAft>
              <a:buSzPts val="1680"/>
              <a:buNone/>
              <a:defRPr sz="24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11" name="Google Shape;111;p31"/>
          <p:cNvSpPr txBox="1">
            <a:spLocks noGrp="1"/>
          </p:cNvSpPr>
          <p:nvPr>
            <p:ph type="body" idx="6"/>
          </p:nvPr>
        </p:nvSpPr>
        <p:spPr>
          <a:xfrm>
            <a:off x="7966572" y="2571750"/>
            <a:ext cx="3300984" cy="3219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12" name="Google Shape;112;p31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31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4" name="Google Shape;114;p31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 Picture Column">
  <p:cSld name="3 Picture Column"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oogle Shape;116;p32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897962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32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403800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32" descr="Slate-V2-HD-3colPhotoInset.png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7936051" y="1818214"/>
            <a:ext cx="3339972" cy="1847851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32"/>
          <p:cNvSpPr txBox="1"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32"/>
          <p:cNvSpPr txBox="1"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21" name="Google Shape;121;p32"/>
          <p:cNvSpPr>
            <a:spLocks noGrp="1"/>
          </p:cNvSpPr>
          <p:nvPr>
            <p:ph type="pic" idx="2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122" name="Google Shape;122;p32"/>
          <p:cNvSpPr txBox="1">
            <a:spLocks noGrp="1"/>
          </p:cNvSpPr>
          <p:nvPr>
            <p:ph type="body" idx="3"/>
          </p:nvPr>
        </p:nvSpPr>
        <p:spPr>
          <a:xfrm>
            <a:off x="913795" y="4480368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23" name="Google Shape;123;p32"/>
          <p:cNvSpPr txBox="1">
            <a:spLocks noGrp="1"/>
          </p:cNvSpPr>
          <p:nvPr>
            <p:ph type="body" idx="4"/>
          </p:nvPr>
        </p:nvSpPr>
        <p:spPr>
          <a:xfrm>
            <a:off x="4442788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24" name="Google Shape;124;p32"/>
          <p:cNvSpPr>
            <a:spLocks noGrp="1"/>
          </p:cNvSpPr>
          <p:nvPr>
            <p:ph type="pic" idx="5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125" name="Google Shape;125;p32"/>
          <p:cNvSpPr txBox="1">
            <a:spLocks noGrp="1"/>
          </p:cNvSpPr>
          <p:nvPr>
            <p:ph type="body" idx="6"/>
          </p:nvPr>
        </p:nvSpPr>
        <p:spPr>
          <a:xfrm>
            <a:off x="4441435" y="4480367"/>
            <a:ext cx="3300984" cy="131083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26" name="Google Shape;126;p32"/>
          <p:cNvSpPr txBox="1">
            <a:spLocks noGrp="1"/>
          </p:cNvSpPr>
          <p:nvPr>
            <p:ph type="body" idx="7"/>
          </p:nvPr>
        </p:nvSpPr>
        <p:spPr>
          <a:xfrm>
            <a:off x="7966697" y="3904106"/>
            <a:ext cx="3300984" cy="5762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Autofit/>
          </a:bodyPr>
          <a:lstStyle>
            <a:lvl1pPr marL="457200" lvl="0" indent="-228600" algn="ctr">
              <a:spcBef>
                <a:spcPts val="400"/>
              </a:spcBef>
              <a:spcAft>
                <a:spcPts val="0"/>
              </a:spcAft>
              <a:buSzPts val="1400"/>
              <a:buNone/>
              <a:defRPr sz="20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1400"/>
              <a:buNone/>
              <a:defRPr sz="2000" b="1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1260"/>
              <a:buNone/>
              <a:defRPr sz="1800" b="1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1120"/>
              <a:buNone/>
              <a:defRPr sz="1600" b="1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1120"/>
              <a:buNone/>
              <a:defRPr sz="1600" b="1"/>
            </a:lvl9pPr>
          </a:lstStyle>
          <a:p>
            <a:endParaRPr/>
          </a:p>
        </p:txBody>
      </p:sp>
      <p:sp>
        <p:nvSpPr>
          <p:cNvPr id="127" name="Google Shape;127;p32"/>
          <p:cNvSpPr>
            <a:spLocks noGrp="1"/>
          </p:cNvSpPr>
          <p:nvPr>
            <p:ph type="pic" idx="8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noFill/>
          <a:ln>
            <a:noFill/>
          </a:ln>
          <a:effectLst>
            <a:outerShdw blurRad="38100" dist="25400" dir="4440000">
              <a:srgbClr val="000000">
                <a:alpha val="35686"/>
              </a:srgbClr>
            </a:outerShdw>
          </a:effectLst>
        </p:spPr>
      </p:sp>
      <p:sp>
        <p:nvSpPr>
          <p:cNvPr id="128" name="Google Shape;128;p32"/>
          <p:cNvSpPr txBox="1">
            <a:spLocks noGrp="1"/>
          </p:cNvSpPr>
          <p:nvPr>
            <p:ph type="body" idx="9"/>
          </p:nvPr>
        </p:nvSpPr>
        <p:spPr>
          <a:xfrm>
            <a:off x="7966572" y="4480365"/>
            <a:ext cx="3300984" cy="131083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ctr">
              <a:spcBef>
                <a:spcPts val="280"/>
              </a:spcBef>
              <a:spcAft>
                <a:spcPts val="0"/>
              </a:spcAft>
              <a:buSzPts val="980"/>
              <a:buNone/>
              <a:defRPr sz="1400"/>
            </a:lvl1pPr>
            <a:lvl2pPr marL="914400" lvl="1" indent="-228600" algn="l">
              <a:spcBef>
                <a:spcPts val="600"/>
              </a:spcBef>
              <a:spcAft>
                <a:spcPts val="0"/>
              </a:spcAft>
              <a:buSzPts val="840"/>
              <a:buNone/>
              <a:defRPr sz="1200"/>
            </a:lvl2pPr>
            <a:lvl3pPr marL="1371600" lvl="2" indent="-228600" algn="l">
              <a:spcBef>
                <a:spcPts val="600"/>
              </a:spcBef>
              <a:spcAft>
                <a:spcPts val="0"/>
              </a:spcAft>
              <a:buSzPts val="700"/>
              <a:buNone/>
              <a:defRPr sz="1000"/>
            </a:lvl3pPr>
            <a:lvl4pPr marL="1828800" lvl="3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4pPr>
            <a:lvl5pPr marL="2286000" lvl="4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5pPr>
            <a:lvl6pPr marL="2743200" lvl="5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6pPr>
            <a:lvl7pPr marL="3200400" lvl="6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7pPr>
            <a:lvl8pPr marL="3657600" lvl="7" indent="-228600" algn="l">
              <a:spcBef>
                <a:spcPts val="600"/>
              </a:spcBef>
              <a:spcAft>
                <a:spcPts val="0"/>
              </a:spcAft>
              <a:buSzPts val="630"/>
              <a:buNone/>
              <a:defRPr sz="900"/>
            </a:lvl8pPr>
            <a:lvl9pPr marL="4114800" lvl="8" indent="-228600" algn="l">
              <a:spcBef>
                <a:spcPts val="600"/>
              </a:spcBef>
              <a:spcAft>
                <a:spcPts val="600"/>
              </a:spcAft>
              <a:buSzPts val="630"/>
              <a:buNone/>
              <a:defRPr sz="900"/>
            </a:lvl9pPr>
          </a:lstStyle>
          <a:p>
            <a:endParaRPr/>
          </a:p>
        </p:txBody>
      </p:sp>
      <p:sp>
        <p:nvSpPr>
          <p:cNvPr id="129" name="Google Shape;129;p32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32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32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3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33"/>
          <p:cNvSpPr txBox="1">
            <a:spLocks noGrp="1"/>
          </p:cNvSpPr>
          <p:nvPr>
            <p:ph type="body" idx="1"/>
          </p:nvPr>
        </p:nvSpPr>
        <p:spPr>
          <a:xfrm rot="5400000">
            <a:off x="4061301" y="-1415056"/>
            <a:ext cx="4058751" cy="1035376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135" name="Google Shape;135;p33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33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33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4"/>
          <p:cNvSpPr txBox="1">
            <a:spLocks noGrp="1"/>
          </p:cNvSpPr>
          <p:nvPr>
            <p:ph type="title"/>
          </p:nvPr>
        </p:nvSpPr>
        <p:spPr>
          <a:xfrm rot="5400000">
            <a:off x="7534511" y="2058156"/>
            <a:ext cx="5181601" cy="228448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34"/>
          <p:cNvSpPr txBox="1">
            <a:spLocks noGrp="1"/>
          </p:cNvSpPr>
          <p:nvPr>
            <p:ph type="body" idx="1"/>
          </p:nvPr>
        </p:nvSpPr>
        <p:spPr>
          <a:xfrm rot="5400000">
            <a:off x="2281431" y="-758036"/>
            <a:ext cx="5181601" cy="791687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08610" algn="l">
              <a:spcBef>
                <a:spcPts val="360"/>
              </a:spcBef>
              <a:spcAft>
                <a:spcPts val="0"/>
              </a:spcAft>
              <a:buSzPts val="1260"/>
              <a:buChar char="◈"/>
              <a:defRPr/>
            </a:lvl1pPr>
            <a:lvl2pPr marL="914400" lvl="1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2pPr>
            <a:lvl3pPr marL="1371600" lvl="2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3pPr>
            <a:lvl4pPr marL="1828800" lvl="3" indent="-308610" algn="l">
              <a:spcBef>
                <a:spcPts val="600"/>
              </a:spcBef>
              <a:spcAft>
                <a:spcPts val="0"/>
              </a:spcAft>
              <a:buSzPts val="1260"/>
              <a:buChar char="🞚"/>
              <a:defRPr/>
            </a:lvl4pPr>
            <a:lvl5pPr marL="2286000" lvl="4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5pPr>
            <a:lvl6pPr marL="2743200" lvl="5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6pPr>
            <a:lvl7pPr marL="3200400" lvl="6" indent="-308610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7pPr>
            <a:lvl8pPr marL="3657600" lvl="7" indent="-308609" algn="l">
              <a:spcBef>
                <a:spcPts val="600"/>
              </a:spcBef>
              <a:spcAft>
                <a:spcPts val="0"/>
              </a:spcAft>
              <a:buSzPts val="1260"/>
              <a:buChar char="◈"/>
              <a:defRPr/>
            </a:lvl8pPr>
            <a:lvl9pPr marL="4114800" lvl="8" indent="-308609" algn="l">
              <a:spcBef>
                <a:spcPts val="600"/>
              </a:spcBef>
              <a:spcAft>
                <a:spcPts val="600"/>
              </a:spcAft>
              <a:buSzPts val="1260"/>
              <a:buChar char="◈"/>
              <a:defRPr/>
            </a:lvl9pPr>
          </a:lstStyle>
          <a:p>
            <a:endParaRPr/>
          </a:p>
        </p:txBody>
      </p:sp>
      <p:sp>
        <p:nvSpPr>
          <p:cNvPr id="141" name="Google Shape;141;p34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34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34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19">
            <a:alphaModFix/>
          </a:blip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7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  <a:defRPr sz="4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p17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17500" algn="l" rtl="0">
              <a:spcBef>
                <a:spcPts val="4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Noto Sans Symbols"/>
              <a:buChar char="◈"/>
              <a:defRPr sz="2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914400" marR="0" lvl="1" indent="-308610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260"/>
              <a:buFont typeface="Noto Sans Symbols"/>
              <a:buChar char="🞚"/>
              <a:defRPr sz="18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1371600" marR="0" lvl="2" indent="-29971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1120"/>
              <a:buFont typeface="Noto Sans Symbols"/>
              <a:buChar char="◈"/>
              <a:defRPr sz="16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1828800" marR="0" lvl="3" indent="-290830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🞚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2286000" marR="0" lvl="4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2743200" marR="0" lvl="5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3200400" marR="0" lvl="6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3657600" marR="0" lvl="7" indent="-290829" algn="l" rtl="0">
              <a:spcBef>
                <a:spcPts val="600"/>
              </a:spcBef>
              <a:spcAft>
                <a:spcPts val="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4114800" marR="0" lvl="8" indent="-290829" algn="l" rtl="0">
              <a:spcBef>
                <a:spcPts val="600"/>
              </a:spcBef>
              <a:spcAft>
                <a:spcPts val="600"/>
              </a:spcAft>
              <a:buClr>
                <a:schemeClr val="lt2"/>
              </a:buClr>
              <a:buSzPts val="980"/>
              <a:buFont typeface="Noto Sans Symbols"/>
              <a:buChar char="◈"/>
              <a:defRPr sz="14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12" name="Google Shape;12;p17"/>
          <p:cNvSpPr txBox="1">
            <a:spLocks noGrp="1"/>
          </p:cNvSpPr>
          <p:nvPr>
            <p:ph type="dt" idx="10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13" name="Google Shape;13;p17"/>
          <p:cNvSpPr txBox="1">
            <a:spLocks noGrp="1"/>
          </p:cNvSpPr>
          <p:nvPr>
            <p:ph type="ftr" idx="11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endParaRPr/>
          </a:p>
        </p:txBody>
      </p:sp>
      <p:sp>
        <p:nvSpPr>
          <p:cNvPr id="14" name="Google Shape;14;p17"/>
          <p:cNvSpPr txBox="1">
            <a:spLocks noGrp="1"/>
          </p:cNvSpPr>
          <p:nvPr>
            <p:ph type="sldNum" idx="12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1pPr>
            <a:lvl2pPr marL="0" marR="0" lvl="1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2pPr>
            <a:lvl3pPr marL="0" marR="0" lvl="2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3pPr>
            <a:lvl4pPr marL="0" marR="0" lvl="3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4pPr>
            <a:lvl5pPr marL="0" marR="0" lvl="4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5pPr>
            <a:lvl6pPr marL="0" marR="0" lvl="5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6pPr>
            <a:lvl7pPr marL="0" marR="0" lvl="6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7pPr>
            <a:lvl8pPr marL="0" marR="0" lvl="7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8pPr>
            <a:lvl9pPr marL="0" marR="0" lvl="8" indent="0" algn="r" rtl="0">
              <a:spcBef>
                <a:spcPts val="0"/>
              </a:spcBef>
              <a:buNone/>
              <a:defRPr sz="1000" b="0" i="0" u="none" strike="noStrike" cap="none">
                <a:solidFill>
                  <a:srgbClr val="F2F2F2"/>
                </a:solidFill>
                <a:latin typeface="Lustria"/>
                <a:ea typeface="Lustria"/>
                <a:cs typeface="Lustria"/>
                <a:sym typeface="Lustri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9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15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" name="Google Shape;148;p1" descr="A colorful light bulb with business icons"/>
          <p:cNvPicPr preferRelativeResize="0"/>
          <p:nvPr/>
        </p:nvPicPr>
        <p:blipFill rotWithShape="1">
          <a:blip r:embed="rId4">
            <a:alphaModFix amt="35000"/>
          </a:blip>
          <a:srcRect t="12757" b="6884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"/>
          <p:cNvSpPr txBox="1"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5400"/>
              <a:buFont typeface="Lustria"/>
              <a:buNone/>
            </a:pPr>
            <a:r>
              <a:rPr lang="en-GB"/>
              <a:t>TY Coding</a:t>
            </a:r>
            <a:endParaRPr/>
          </a:p>
        </p:txBody>
      </p:sp>
      <p:sp>
        <p:nvSpPr>
          <p:cNvPr id="150" name="Google Shape;150;p1"/>
          <p:cNvSpPr txBox="1"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GB"/>
              <a:t>Lesson 03 – Inputs and Strings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5" name="Google Shape;155;p2" descr="A hand using a computer mouse and keyboard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 t="14737" b="993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2"/>
          <p:cNvSpPr/>
          <p:nvPr/>
        </p:nvSpPr>
        <p:spPr>
          <a:xfrm rot="-5400000" flipH="1">
            <a:off x="7426885" y="445383"/>
            <a:ext cx="1995577" cy="7534653"/>
          </a:xfrm>
          <a:prstGeom prst="round2SameRect">
            <a:avLst>
              <a:gd name="adj1" fmla="val 9679"/>
              <a:gd name="adj2" fmla="val 400"/>
            </a:avLst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50800" dist="381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157" name="Google Shape;157;p2"/>
          <p:cNvSpPr txBox="1">
            <a:spLocks noGrp="1"/>
          </p:cNvSpPr>
          <p:nvPr>
            <p:ph type="title"/>
          </p:nvPr>
        </p:nvSpPr>
        <p:spPr>
          <a:xfrm>
            <a:off x="5461682" y="3496574"/>
            <a:ext cx="6436104" cy="1138686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400"/>
              <a:buFont typeface="Lustria"/>
              <a:buNone/>
            </a:pPr>
            <a:r>
              <a:rPr lang="en-GB" sz="4400"/>
              <a:t>Part 01 Inputs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"/>
          <p:cNvSpPr txBox="1">
            <a:spLocks noGrp="1"/>
          </p:cNvSpPr>
          <p:nvPr>
            <p:ph type="title"/>
          </p:nvPr>
        </p:nvSpPr>
        <p:spPr>
          <a:xfrm>
            <a:off x="633743" y="609599"/>
            <a:ext cx="3413156" cy="527367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Taking User Input</a:t>
            </a:r>
            <a:endParaRPr/>
          </a:p>
        </p:txBody>
      </p:sp>
      <p:pic>
        <p:nvPicPr>
          <p:cNvPr id="163" name="Google Shape;163;p3"/>
          <p:cNvPicPr preferRelativeResize="0"/>
          <p:nvPr/>
        </p:nvPicPr>
        <p:blipFill rotWithShape="1">
          <a:blip r:embed="rId4">
            <a:alphaModFix/>
          </a:blip>
          <a:srcRect t="964" r="2806" b="1446"/>
          <a:stretch/>
        </p:blipFill>
        <p:spPr>
          <a:xfrm>
            <a:off x="4639056" y="2"/>
            <a:ext cx="7552944" cy="6857998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64" name="Google Shape;164;p3"/>
          <p:cNvGrpSpPr/>
          <p:nvPr/>
        </p:nvGrpSpPr>
        <p:grpSpPr>
          <a:xfrm>
            <a:off x="5282521" y="712075"/>
            <a:ext cx="6266011" cy="4894762"/>
            <a:chOff x="0" y="2392"/>
            <a:chExt cx="6266011" cy="4894762"/>
          </a:xfrm>
        </p:grpSpPr>
        <p:cxnSp>
          <p:nvCxnSpPr>
            <p:cNvPr id="165" name="Google Shape;165;p3"/>
            <p:cNvCxnSpPr/>
            <p:nvPr/>
          </p:nvCxnSpPr>
          <p:spPr>
            <a:xfrm>
              <a:off x="0" y="2392"/>
              <a:ext cx="6266011" cy="0"/>
            </a:xfrm>
            <a:prstGeom prst="straightConnector1">
              <a:avLst/>
            </a:prstGeom>
            <a:gradFill>
              <a:gsLst>
                <a:gs pos="0">
                  <a:srgbClr val="D7C07A"/>
                </a:gs>
                <a:gs pos="100000">
                  <a:srgbClr val="C0A44A"/>
                </a:gs>
              </a:gsLst>
              <a:lin ang="5400000" scaled="0"/>
            </a:gradFill>
            <a:ln w="9525" cap="rnd" cmpd="sng">
              <a:solidFill>
                <a:srgbClr val="D2B966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25400" dir="5400000" rotWithShape="0">
                <a:srgbClr val="000000">
                  <a:alpha val="60000"/>
                </a:srgbClr>
              </a:outerShdw>
            </a:effectLst>
          </p:spPr>
        </p:cxnSp>
        <p:sp>
          <p:nvSpPr>
            <p:cNvPr id="166" name="Google Shape;166;p3"/>
            <p:cNvSpPr/>
            <p:nvPr/>
          </p:nvSpPr>
          <p:spPr>
            <a:xfrm>
              <a:off x="0" y="2392"/>
              <a:ext cx="6266011" cy="1631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3"/>
            <p:cNvSpPr txBox="1"/>
            <p:nvPr/>
          </p:nvSpPr>
          <p:spPr>
            <a:xfrm>
              <a:off x="0" y="2392"/>
              <a:ext cx="6266011" cy="1631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Lustria"/>
                <a:buNone/>
              </a:pPr>
              <a:r>
                <a:rPr lang="en-GB" sz="2700" dirty="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Up until now, we have been doing calculations using variables that have been “hard coded”.</a:t>
              </a:r>
              <a:endParaRPr sz="27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68" name="Google Shape;168;p3"/>
            <p:cNvCxnSpPr/>
            <p:nvPr/>
          </p:nvCxnSpPr>
          <p:spPr>
            <a:xfrm>
              <a:off x="0" y="1633979"/>
              <a:ext cx="6266011" cy="0"/>
            </a:xfrm>
            <a:prstGeom prst="straightConnector1">
              <a:avLst/>
            </a:prstGeom>
            <a:gradFill>
              <a:gsLst>
                <a:gs pos="0">
                  <a:srgbClr val="CCAA68"/>
                </a:gs>
                <a:gs pos="100000">
                  <a:srgbClr val="AE8A40"/>
                </a:gs>
              </a:gsLst>
              <a:lin ang="5400000" scaled="0"/>
            </a:gradFill>
            <a:ln w="9525" cap="rnd" cmpd="sng">
              <a:solidFill>
                <a:srgbClr val="C7A05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25400" dir="5400000" rotWithShape="0">
                <a:srgbClr val="000000">
                  <a:alpha val="60000"/>
                </a:srgbClr>
              </a:outerShdw>
            </a:effectLst>
          </p:spPr>
        </p:cxnSp>
        <p:sp>
          <p:nvSpPr>
            <p:cNvPr id="169" name="Google Shape;169;p3"/>
            <p:cNvSpPr/>
            <p:nvPr/>
          </p:nvSpPr>
          <p:spPr>
            <a:xfrm>
              <a:off x="0" y="1633979"/>
              <a:ext cx="6266011" cy="1631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0" name="Google Shape;170;p3"/>
            <p:cNvSpPr txBox="1"/>
            <p:nvPr/>
          </p:nvSpPr>
          <p:spPr>
            <a:xfrm>
              <a:off x="0" y="1633979"/>
              <a:ext cx="6266011" cy="1631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Lustria"/>
                <a:buNone/>
              </a:pPr>
              <a:r>
                <a:rPr lang="en-GB" sz="27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These programs would be more dynamic, if they could take in values from a user, rather than always using values we specify before run time.</a:t>
              </a:r>
              <a:endParaRPr sz="27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cxnSp>
          <p:nvCxnSpPr>
            <p:cNvPr id="171" name="Google Shape;171;p3"/>
            <p:cNvCxnSpPr/>
            <p:nvPr/>
          </p:nvCxnSpPr>
          <p:spPr>
            <a:xfrm>
              <a:off x="0" y="3265567"/>
              <a:ext cx="6266011" cy="0"/>
            </a:xfrm>
            <a:prstGeom prst="straightConnector1">
              <a:avLst/>
            </a:prstGeom>
            <a:gradFill>
              <a:gsLst>
                <a:gs pos="0">
                  <a:srgbClr val="BE915B"/>
                </a:gs>
                <a:gs pos="100000">
                  <a:srgbClr val="9D7036"/>
                </a:gs>
              </a:gsLst>
              <a:lin ang="5400000" scaled="0"/>
            </a:gradFill>
            <a:ln w="9525" cap="rnd" cmpd="sng">
              <a:solidFill>
                <a:srgbClr val="B88440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63500" dist="25400" dir="5400000" rotWithShape="0">
                <a:srgbClr val="000000">
                  <a:alpha val="60000"/>
                </a:srgbClr>
              </a:outerShdw>
            </a:effectLst>
          </p:spPr>
        </p:cxnSp>
        <p:sp>
          <p:nvSpPr>
            <p:cNvPr id="172" name="Google Shape;172;p3"/>
            <p:cNvSpPr/>
            <p:nvPr/>
          </p:nvSpPr>
          <p:spPr>
            <a:xfrm>
              <a:off x="0" y="3265567"/>
              <a:ext cx="6266011" cy="1631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3" name="Google Shape;173;p3"/>
            <p:cNvSpPr txBox="1"/>
            <p:nvPr/>
          </p:nvSpPr>
          <p:spPr>
            <a:xfrm>
              <a:off x="0" y="3265567"/>
              <a:ext cx="6266011" cy="163158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2850" tIns="102850" rIns="102850" bIns="102850" anchor="t" anchorCtr="0">
              <a:noAutofit/>
            </a:bodyPr>
            <a:lstStyle/>
            <a:p>
              <a:pPr marL="0" marR="0" lvl="0" indent="0" algn="l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700"/>
                <a:buFont typeface="Lustria"/>
                <a:buNone/>
              </a:pPr>
              <a:r>
                <a:rPr lang="en-GB" sz="2700">
                  <a:solidFill>
                    <a:schemeClr val="lt1"/>
                  </a:solidFill>
                  <a:latin typeface="Lustria"/>
                  <a:ea typeface="Lustria"/>
                  <a:cs typeface="Lustria"/>
                  <a:sym typeface="Lustria"/>
                </a:rPr>
                <a:t>Often in programs, we will want to take an input from a user.</a:t>
              </a:r>
              <a:endParaRPr sz="270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4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endParaRPr/>
          </a:p>
        </p:txBody>
      </p:sp>
      <p:grpSp>
        <p:nvGrpSpPr>
          <p:cNvPr id="179" name="Google Shape;179;p4"/>
          <p:cNvGrpSpPr/>
          <p:nvPr/>
        </p:nvGrpSpPr>
        <p:grpSpPr>
          <a:xfrm>
            <a:off x="913795" y="2683577"/>
            <a:ext cx="10353761" cy="2156494"/>
            <a:chOff x="0" y="951128"/>
            <a:chExt cx="10353761" cy="2156494"/>
          </a:xfrm>
        </p:grpSpPr>
        <p:sp>
          <p:nvSpPr>
            <p:cNvPr id="180" name="Google Shape;180;p4"/>
            <p:cNvSpPr/>
            <p:nvPr/>
          </p:nvSpPr>
          <p:spPr>
            <a:xfrm>
              <a:off x="0" y="951128"/>
              <a:ext cx="2911995" cy="1849117"/>
            </a:xfrm>
            <a:prstGeom prst="roundRect">
              <a:avLst>
                <a:gd name="adj" fmla="val 10000"/>
              </a:avLst>
            </a:prstGeom>
            <a:solidFill>
              <a:srgbClr val="BC4418"/>
            </a:solidFill>
            <a:ln w="158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" name="Google Shape;181;p4"/>
            <p:cNvSpPr/>
            <p:nvPr/>
          </p:nvSpPr>
          <p:spPr>
            <a:xfrm>
              <a:off x="323555" y="1258505"/>
              <a:ext cx="2911995" cy="1849117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5875" cap="rnd" cmpd="sng">
              <a:solidFill>
                <a:srgbClr val="BC44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" name="Google Shape;182;p4"/>
            <p:cNvSpPr txBox="1"/>
            <p:nvPr/>
          </p:nvSpPr>
          <p:spPr>
            <a:xfrm>
              <a:off x="377714" y="1312664"/>
              <a:ext cx="2803677" cy="1740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Lustria"/>
                <a:buNone/>
              </a:pPr>
              <a:r>
                <a:rPr lang="en-GB" sz="2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Python has an input stream and an output stream.</a:t>
              </a:r>
              <a:endParaRPr sz="2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83" name="Google Shape;183;p4"/>
            <p:cNvSpPr/>
            <p:nvPr/>
          </p:nvSpPr>
          <p:spPr>
            <a:xfrm>
              <a:off x="3559105" y="951128"/>
              <a:ext cx="2911995" cy="1849117"/>
            </a:xfrm>
            <a:prstGeom prst="roundRect">
              <a:avLst>
                <a:gd name="adj" fmla="val 10000"/>
              </a:avLst>
            </a:prstGeom>
            <a:solidFill>
              <a:srgbClr val="BC4418"/>
            </a:solidFill>
            <a:ln w="158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" name="Google Shape;184;p4"/>
            <p:cNvSpPr/>
            <p:nvPr/>
          </p:nvSpPr>
          <p:spPr>
            <a:xfrm>
              <a:off x="3882660" y="1258505"/>
              <a:ext cx="2911995" cy="1849117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5875" cap="rnd" cmpd="sng">
              <a:solidFill>
                <a:srgbClr val="BC44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" name="Google Shape;185;p4"/>
            <p:cNvSpPr txBox="1"/>
            <p:nvPr/>
          </p:nvSpPr>
          <p:spPr>
            <a:xfrm>
              <a:off x="3936819" y="1312664"/>
              <a:ext cx="2803677" cy="1740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Lustria"/>
                <a:buNone/>
              </a:pPr>
              <a:r>
                <a:rPr lang="en-GB" sz="2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We have already used the output stream.</a:t>
              </a:r>
              <a:endParaRPr sz="2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  <p:sp>
          <p:nvSpPr>
            <p:cNvPr id="186" name="Google Shape;186;p4"/>
            <p:cNvSpPr/>
            <p:nvPr/>
          </p:nvSpPr>
          <p:spPr>
            <a:xfrm>
              <a:off x="7118211" y="951128"/>
              <a:ext cx="2911995" cy="1849117"/>
            </a:xfrm>
            <a:prstGeom prst="roundRect">
              <a:avLst>
                <a:gd name="adj" fmla="val 10000"/>
              </a:avLst>
            </a:prstGeom>
            <a:solidFill>
              <a:srgbClr val="BC4418"/>
            </a:solidFill>
            <a:ln w="15875" cap="rnd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4"/>
            <p:cNvSpPr/>
            <p:nvPr/>
          </p:nvSpPr>
          <p:spPr>
            <a:xfrm>
              <a:off x="7441766" y="1258505"/>
              <a:ext cx="2911995" cy="1849117"/>
            </a:xfrm>
            <a:prstGeom prst="roundRect">
              <a:avLst>
                <a:gd name="adj" fmla="val 10000"/>
              </a:avLst>
            </a:prstGeom>
            <a:solidFill>
              <a:schemeClr val="lt1">
                <a:alpha val="89803"/>
              </a:schemeClr>
            </a:solidFill>
            <a:ln w="15875" cap="rnd" cmpd="sng">
              <a:solidFill>
                <a:srgbClr val="BC441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4"/>
            <p:cNvSpPr txBox="1"/>
            <p:nvPr/>
          </p:nvSpPr>
          <p:spPr>
            <a:xfrm>
              <a:off x="7495925" y="1312664"/>
              <a:ext cx="2803677" cy="174079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106675" tIns="106675" rIns="106675" bIns="106675" anchor="ctr" anchorCtr="0">
              <a:noAutofit/>
            </a:bodyPr>
            <a:lstStyle/>
            <a:p>
              <a:pPr marL="0" marR="0" lvl="0" indent="0" algn="ctr" rtl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2800"/>
                <a:buFont typeface="Lustria"/>
                <a:buNone/>
              </a:pPr>
              <a:r>
                <a:rPr lang="en-GB" sz="2800">
                  <a:solidFill>
                    <a:schemeClr val="dk1"/>
                  </a:solidFill>
                  <a:latin typeface="Lustria"/>
                  <a:ea typeface="Lustria"/>
                  <a:cs typeface="Lustria"/>
                  <a:sym typeface="Lustria"/>
                </a:rPr>
                <a:t>Today we will be looking at the input stream.</a:t>
              </a:r>
              <a:endParaRPr sz="2800">
                <a:solidFill>
                  <a:schemeClr val="dk1"/>
                </a:solidFill>
                <a:latin typeface="Lustria"/>
                <a:ea typeface="Lustria"/>
                <a:cs typeface="Lustria"/>
                <a:sym typeface="Lustria"/>
              </a:endParaRPr>
            </a:p>
          </p:txBody>
        </p:sp>
      </p:grpSp>
      <p:sp>
        <p:nvSpPr>
          <p:cNvPr id="189" name="Google Shape;189;p4"/>
          <p:cNvSpPr txBox="1"/>
          <p:nvPr/>
        </p:nvSpPr>
        <p:spPr>
          <a:xfrm>
            <a:off x="8665436" y="4974527"/>
            <a:ext cx="1726250" cy="816673"/>
          </a:xfrm>
          <a:prstGeom prst="rect">
            <a:avLst/>
          </a:prstGeom>
          <a:solidFill>
            <a:srgbClr val="FFFFFF">
              <a:alpha val="89803"/>
            </a:srgbClr>
          </a:solidFill>
          <a:ln w="15875" cap="rnd" cmpd="sng">
            <a:solidFill>
              <a:srgbClr val="BC44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675" tIns="106675" rIns="106675" bIns="1066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input()</a:t>
            </a:r>
            <a:endParaRPr/>
          </a:p>
        </p:txBody>
      </p:sp>
      <p:sp>
        <p:nvSpPr>
          <p:cNvPr id="190" name="Google Shape;190;p4"/>
          <p:cNvSpPr txBox="1"/>
          <p:nvPr/>
        </p:nvSpPr>
        <p:spPr>
          <a:xfrm>
            <a:off x="5137315" y="4974527"/>
            <a:ext cx="2169339" cy="816674"/>
          </a:xfrm>
          <a:prstGeom prst="rect">
            <a:avLst/>
          </a:prstGeom>
          <a:solidFill>
            <a:srgbClr val="FFFFFF">
              <a:alpha val="89803"/>
            </a:srgbClr>
          </a:solidFill>
          <a:ln w="15875" cap="rnd" cmpd="sng">
            <a:solidFill>
              <a:srgbClr val="BC441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06675" tIns="106675" rIns="106675" bIns="106675" anchor="ctr" anchorCtr="0">
            <a:no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print(“Hello world”)</a:t>
            </a:r>
            <a:endParaRPr sz="1800" b="1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5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597807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 b="1"/>
              <a:t>Taking User Input</a:t>
            </a:r>
            <a:endParaRPr/>
          </a:p>
        </p:txBody>
      </p:sp>
      <p:sp>
        <p:nvSpPr>
          <p:cNvPr id="196" name="Google Shape;196;p5"/>
          <p:cNvSpPr txBox="1">
            <a:spLocks noGrp="1"/>
          </p:cNvSpPr>
          <p:nvPr>
            <p:ph type="body" idx="1"/>
          </p:nvPr>
        </p:nvSpPr>
        <p:spPr>
          <a:xfrm>
            <a:off x="913795" y="1505527"/>
            <a:ext cx="5978072" cy="4189322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D39200"/>
              </a:buClr>
              <a:buSzPts val="1600"/>
              <a:buChar char="•"/>
            </a:pPr>
            <a:r>
              <a:rPr lang="en-GB" dirty="0"/>
              <a:t>We want to take in a user's name, store it in a variable called name and then print it back to them.</a:t>
            </a:r>
            <a:endParaRPr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D39200"/>
              </a:buClr>
              <a:buSzPts val="1600"/>
              <a:buChar char="•"/>
            </a:pPr>
            <a:r>
              <a:rPr lang="en-GB" dirty="0"/>
              <a:t>How do we do this?</a:t>
            </a:r>
            <a:endParaRPr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D39200"/>
              </a:buClr>
              <a:buSzPts val="1600"/>
              <a:buChar char="•"/>
            </a:pPr>
            <a:r>
              <a:rPr lang="en-GB" b="1" dirty="0"/>
              <a:t>Name = input()</a:t>
            </a:r>
            <a:endParaRPr dirty="0"/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D39200"/>
              </a:buClr>
              <a:buSzPts val="1600"/>
              <a:buChar char="•"/>
            </a:pPr>
            <a:r>
              <a:rPr lang="en-GB" b="1" dirty="0"/>
              <a:t>Print(“hello”, name)</a:t>
            </a:r>
            <a:endParaRPr dirty="0"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rgbClr val="D39200"/>
              </a:buClr>
              <a:buSzPts val="1600"/>
              <a:buChar char="•"/>
            </a:pPr>
            <a:r>
              <a:rPr lang="en-GB" dirty="0"/>
              <a:t>Do you remember what the brackets at the end of input mean?</a:t>
            </a:r>
            <a:endParaRPr dirty="0"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rgbClr val="D39200"/>
              </a:buClr>
              <a:buSzPts val="1600"/>
              <a:buChar char="•"/>
            </a:pPr>
            <a:r>
              <a:rPr lang="en-GB" dirty="0"/>
              <a:t>It means that input() is a function or reusable piece of code that does a task for us.</a:t>
            </a:r>
            <a:endParaRPr dirty="0"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rgbClr val="D39200"/>
              </a:buClr>
              <a:buSzPts val="1600"/>
              <a:buChar char="•"/>
            </a:pPr>
            <a:r>
              <a:rPr lang="en-GB" dirty="0"/>
              <a:t>The input function is used to take input from the user.</a:t>
            </a:r>
            <a:endParaRPr dirty="0"/>
          </a:p>
          <a:p>
            <a:pPr marL="342900" lvl="0" indent="-217100" algn="l" rtl="0">
              <a:spcBef>
                <a:spcPts val="400"/>
              </a:spcBef>
              <a:spcAft>
                <a:spcPts val="0"/>
              </a:spcAft>
              <a:buClr>
                <a:srgbClr val="D39200"/>
              </a:buClr>
              <a:buSzPts val="1400"/>
              <a:buNone/>
            </a:pPr>
            <a:endParaRPr dirty="0"/>
          </a:p>
        </p:txBody>
      </p:sp>
      <p:pic>
        <p:nvPicPr>
          <p:cNvPr id="197" name="Google Shape;197;p5" descr="Pencil and answer-sheet"/>
          <p:cNvPicPr preferRelativeResize="0"/>
          <p:nvPr/>
        </p:nvPicPr>
        <p:blipFill rotWithShape="1">
          <a:blip r:embed="rId4">
            <a:alphaModFix/>
          </a:blip>
          <a:srcRect l="61167" r="1002" b="-1"/>
          <a:stretch/>
        </p:blipFill>
        <p:spPr>
          <a:xfrm>
            <a:off x="7620351" y="10"/>
            <a:ext cx="4571649" cy="685799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5"/>
          <p:cNvPicPr preferRelativeResize="0"/>
          <p:nvPr/>
        </p:nvPicPr>
        <p:blipFill rotWithShape="1">
          <a:blip r:embed="rId5">
            <a:alphaModFix/>
          </a:blip>
          <a:srcRect t="964" r="2806" b="1446"/>
          <a:stretch/>
        </p:blipFill>
        <p:spPr>
          <a:xfrm>
            <a:off x="7501468" y="1"/>
            <a:ext cx="46905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6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 b="1"/>
              <a:t>Taking user input</a:t>
            </a:r>
            <a:endParaRPr/>
          </a:p>
        </p:txBody>
      </p:sp>
      <p:pic>
        <p:nvPicPr>
          <p:cNvPr id="204" name="Google Shape;204;p6" descr="A screenshot of a cell pho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13795" y="2610947"/>
            <a:ext cx="3048425" cy="7144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5" name="Google Shape;205;p6" descr="A picture containing computer, computer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405755" y="2598041"/>
            <a:ext cx="3515216" cy="49536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6"/>
          <p:cNvSpPr txBox="1"/>
          <p:nvPr/>
        </p:nvSpPr>
        <p:spPr>
          <a:xfrm>
            <a:off x="3041922" y="1500528"/>
            <a:ext cx="6097508" cy="3966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stria"/>
              <a:buNone/>
            </a:pPr>
            <a:r>
              <a:rPr lang="en-GB" sz="1800" b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There is a problem with: name = input()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07" name="Google Shape;207;p6"/>
          <p:cNvSpPr txBox="1"/>
          <p:nvPr/>
        </p:nvSpPr>
        <p:spPr>
          <a:xfrm>
            <a:off x="913795" y="2109156"/>
            <a:ext cx="98003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CODE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08" name="Google Shape;208;p6"/>
          <p:cNvSpPr txBox="1"/>
          <p:nvPr/>
        </p:nvSpPr>
        <p:spPr>
          <a:xfrm>
            <a:off x="7405755" y="2040164"/>
            <a:ext cx="1233534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OUTPUT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09" name="Google Shape;209;p6"/>
          <p:cNvSpPr txBox="1"/>
          <p:nvPr/>
        </p:nvSpPr>
        <p:spPr>
          <a:xfrm>
            <a:off x="3041922" y="3621764"/>
            <a:ext cx="6097508" cy="424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stria"/>
              <a:buNone/>
            </a:pPr>
            <a:r>
              <a:rPr lang="en-GB" sz="1800" b="1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Generally, you must “prompt the user”</a:t>
            </a:r>
            <a:endParaRPr sz="18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pic>
        <p:nvPicPr>
          <p:cNvPr id="210" name="Google Shape;210;p6" descr="A picture containing tabl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3753" y="4673721"/>
            <a:ext cx="5973009" cy="752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6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410518" y="4629098"/>
            <a:ext cx="3924848" cy="3810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p6" descr="A picture containing clock&#10;&#10;Description automatically generated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05755" y="5447684"/>
            <a:ext cx="4344006" cy="5906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7"/>
          <p:cNvSpPr txBox="1">
            <a:spLocks noGrp="1"/>
          </p:cNvSpPr>
          <p:nvPr>
            <p:ph type="title"/>
          </p:nvPr>
        </p:nvSpPr>
        <p:spPr>
          <a:xfrm>
            <a:off x="5146160" y="609600"/>
            <a:ext cx="597807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Taking User Input</a:t>
            </a:r>
            <a:endParaRPr/>
          </a:p>
        </p:txBody>
      </p:sp>
      <p:pic>
        <p:nvPicPr>
          <p:cNvPr id="218" name="Google Shape;218;p7"/>
          <p:cNvPicPr preferRelativeResize="0"/>
          <p:nvPr/>
        </p:nvPicPr>
        <p:blipFill rotWithShape="1">
          <a:blip r:embed="rId4">
            <a:alphaModFix/>
          </a:blip>
          <a:srcRect l="14047" r="48456"/>
          <a:stretch/>
        </p:blipFill>
        <p:spPr>
          <a:xfrm>
            <a:off x="-10649" y="1"/>
            <a:ext cx="4571649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7"/>
          <p:cNvSpPr txBox="1">
            <a:spLocks noGrp="1"/>
          </p:cNvSpPr>
          <p:nvPr>
            <p:ph type="body" idx="1"/>
          </p:nvPr>
        </p:nvSpPr>
        <p:spPr>
          <a:xfrm>
            <a:off x="5146160" y="1828801"/>
            <a:ext cx="5978072" cy="386604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Clr>
                <a:srgbClr val="059B28"/>
              </a:buClr>
              <a:buSzPts val="2000"/>
              <a:buChar char="•"/>
            </a:pPr>
            <a:r>
              <a:rPr lang="en-GB"/>
              <a:t>We have taken in a </a:t>
            </a:r>
            <a:r>
              <a:rPr lang="en-GB" b="1"/>
              <a:t>string</a:t>
            </a:r>
            <a:r>
              <a:rPr lang="en-GB"/>
              <a:t> from the user.</a:t>
            </a:r>
            <a:endParaRPr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rgbClr val="059B28"/>
              </a:buClr>
              <a:buSzPts val="2000"/>
              <a:buChar char="•"/>
            </a:pPr>
            <a:r>
              <a:rPr lang="en-GB"/>
              <a:t>The input function </a:t>
            </a:r>
            <a:r>
              <a:rPr lang="en-GB" b="1"/>
              <a:t>by default, takes in a string</a:t>
            </a:r>
            <a:r>
              <a:rPr lang="en-GB"/>
              <a:t>.</a:t>
            </a:r>
            <a:endParaRPr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rgbClr val="059B28"/>
              </a:buClr>
              <a:buSzPts val="2000"/>
              <a:buChar char="•"/>
            </a:pPr>
            <a:r>
              <a:rPr lang="en-GB"/>
              <a:t>What if we want to take in a number? Such as an age.</a:t>
            </a:r>
            <a:endParaRPr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rgbClr val="059B28"/>
              </a:buClr>
              <a:buSzPts val="2000"/>
              <a:buChar char="•"/>
            </a:pPr>
            <a:r>
              <a:rPr lang="en-GB"/>
              <a:t>We need to use the </a:t>
            </a:r>
            <a:r>
              <a:rPr lang="en-GB" b="1"/>
              <a:t>integer function </a:t>
            </a:r>
            <a:r>
              <a:rPr lang="en-GB"/>
              <a:t>to convert the user input from a string to an integer number.</a:t>
            </a:r>
            <a:endParaRPr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Clr>
                <a:srgbClr val="059B28"/>
              </a:buClr>
              <a:buSzPts val="2000"/>
              <a:buChar char="•"/>
            </a:pPr>
            <a:r>
              <a:rPr lang="en-GB"/>
              <a:t>Don’t worry, it is not that much different that taking in a normal user input.</a:t>
            </a:r>
            <a:endParaRPr/>
          </a:p>
        </p:txBody>
      </p:sp>
      <p:pic>
        <p:nvPicPr>
          <p:cNvPr id="220" name="Google Shape;220;p7"/>
          <p:cNvPicPr preferRelativeResize="0"/>
          <p:nvPr/>
        </p:nvPicPr>
        <p:blipFill rotWithShape="1">
          <a:blip r:embed="rId5">
            <a:alphaModFix/>
          </a:blip>
          <a:srcRect t="964" r="2806" b="1446"/>
          <a:stretch/>
        </p:blipFill>
        <p:spPr>
          <a:xfrm>
            <a:off x="-10649" y="1"/>
            <a:ext cx="4690532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" name="Google Shape;225;p8" descr="Close-up of a calculator keypad"/>
          <p:cNvPicPr preferRelativeResize="0"/>
          <p:nvPr/>
        </p:nvPicPr>
        <p:blipFill rotWithShape="1">
          <a:blip r:embed="rId4">
            <a:alphaModFix/>
          </a:blip>
          <a:srcRect b="15094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8"/>
          <p:cNvSpPr/>
          <p:nvPr/>
        </p:nvSpPr>
        <p:spPr>
          <a:xfrm>
            <a:off x="711874" y="586660"/>
            <a:ext cx="10777950" cy="5679835"/>
          </a:xfrm>
          <a:custGeom>
            <a:avLst/>
            <a:gdLst/>
            <a:ahLst/>
            <a:cxnLst/>
            <a:rect l="l" t="t" r="r" b="b"/>
            <a:pathLst>
              <a:path w="2250" h="1185" extrusionOk="0">
                <a:moveTo>
                  <a:pt x="2209" y="0"/>
                </a:moveTo>
                <a:cubicBezTo>
                  <a:pt x="1419" y="0"/>
                  <a:pt x="1419" y="0"/>
                  <a:pt x="1419" y="0"/>
                </a:cubicBezTo>
                <a:cubicBezTo>
                  <a:pt x="830" y="0"/>
                  <a:pt x="830" y="0"/>
                  <a:pt x="830" y="0"/>
                </a:cubicBezTo>
                <a:cubicBezTo>
                  <a:pt x="40" y="0"/>
                  <a:pt x="40" y="0"/>
                  <a:pt x="40" y="0"/>
                </a:cubicBezTo>
                <a:cubicBezTo>
                  <a:pt x="18" y="0"/>
                  <a:pt x="0" y="20"/>
                  <a:pt x="0" y="46"/>
                </a:cubicBezTo>
                <a:cubicBezTo>
                  <a:pt x="0" y="1140"/>
                  <a:pt x="0" y="1140"/>
                  <a:pt x="0" y="1140"/>
                </a:cubicBezTo>
                <a:cubicBezTo>
                  <a:pt x="0" y="1165"/>
                  <a:pt x="18" y="1185"/>
                  <a:pt x="40" y="1185"/>
                </a:cubicBezTo>
                <a:cubicBezTo>
                  <a:pt x="830" y="1185"/>
                  <a:pt x="830" y="1185"/>
                  <a:pt x="830" y="1185"/>
                </a:cubicBezTo>
                <a:cubicBezTo>
                  <a:pt x="1419" y="1185"/>
                  <a:pt x="1419" y="1185"/>
                  <a:pt x="1419" y="1185"/>
                </a:cubicBezTo>
                <a:cubicBezTo>
                  <a:pt x="2209" y="1185"/>
                  <a:pt x="2209" y="1185"/>
                  <a:pt x="2209" y="1185"/>
                </a:cubicBezTo>
                <a:cubicBezTo>
                  <a:pt x="2232" y="1185"/>
                  <a:pt x="2250" y="1165"/>
                  <a:pt x="2250" y="1140"/>
                </a:cubicBezTo>
                <a:cubicBezTo>
                  <a:pt x="2250" y="46"/>
                  <a:pt x="2250" y="46"/>
                  <a:pt x="2250" y="46"/>
                </a:cubicBezTo>
                <a:cubicBezTo>
                  <a:pt x="2250" y="20"/>
                  <a:pt x="2232" y="0"/>
                  <a:pt x="2209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  <a:effectLst>
            <a:outerShdw blurRad="50800" dist="38100" dir="5400000" algn="tl" rotWithShape="0">
              <a:srgbClr val="000000">
                <a:alpha val="42745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27" name="Google Shape;227;p8"/>
          <p:cNvSpPr txBox="1">
            <a:spLocks noGrp="1"/>
          </p:cNvSpPr>
          <p:nvPr>
            <p:ph type="body" idx="1"/>
          </p:nvPr>
        </p:nvSpPr>
        <p:spPr>
          <a:xfrm>
            <a:off x="1041400" y="1981200"/>
            <a:ext cx="10098552" cy="381000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-GB" sz="2800"/>
              <a:t>We “wrap” the input function in the integer function like so:</a:t>
            </a:r>
            <a:endParaRPr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GB" sz="2800" b="1"/>
              <a:t>Age = input(“please enter your age: ”) </a:t>
            </a:r>
            <a:r>
              <a:rPr lang="en-GB" sz="2800"/>
              <a:t>becomes:</a:t>
            </a:r>
            <a:endParaRPr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GB" sz="2800" b="1"/>
              <a:t>Age = int(input(“please enter your age: ”))</a:t>
            </a:r>
            <a:endParaRPr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GB" sz="2800"/>
              <a:t>Now, the variable age is an integer variable.</a:t>
            </a:r>
            <a:endParaRPr/>
          </a:p>
          <a:p>
            <a:pPr marL="228600" lvl="0" indent="-228600" algn="l" rtl="0">
              <a:spcBef>
                <a:spcPts val="1000"/>
              </a:spcBef>
              <a:spcAft>
                <a:spcPts val="0"/>
              </a:spcAft>
              <a:buSzPts val="2800"/>
              <a:buChar char="•"/>
            </a:pPr>
            <a:r>
              <a:rPr lang="en-GB" sz="2800"/>
              <a:t>And we can do this with decimal numbers too, using the float function: float()</a:t>
            </a:r>
            <a:endParaRPr/>
          </a:p>
          <a:p>
            <a:pPr marL="342900" lvl="0" indent="-217100" algn="l" rtl="0">
              <a:spcBef>
                <a:spcPts val="4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9"/>
          <p:cNvSpPr txBox="1">
            <a:spLocks noGrp="1"/>
          </p:cNvSpPr>
          <p:nvPr>
            <p:ph type="title"/>
          </p:nvPr>
        </p:nvSpPr>
        <p:spPr>
          <a:xfrm>
            <a:off x="1370693" y="4477814"/>
            <a:ext cx="9440034" cy="101705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800"/>
              <a:buFont typeface="Lustria"/>
              <a:buNone/>
            </a:pPr>
            <a:r>
              <a:rPr lang="en-GB" sz="4800"/>
              <a:t>Part 2 - Strings</a:t>
            </a:r>
            <a:endParaRPr/>
          </a:p>
        </p:txBody>
      </p:sp>
      <p:pic>
        <p:nvPicPr>
          <p:cNvPr id="233" name="Google Shape;23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418735" y="1064806"/>
            <a:ext cx="7332094" cy="2782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0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Strings</a:t>
            </a:r>
            <a:endParaRPr/>
          </a:p>
        </p:txBody>
      </p:sp>
      <p:sp>
        <p:nvSpPr>
          <p:cNvPr id="239" name="Google Shape;239;p10"/>
          <p:cNvSpPr txBox="1">
            <a:spLocks noGrp="1"/>
          </p:cNvSpPr>
          <p:nvPr>
            <p:ph type="body" idx="1"/>
          </p:nvPr>
        </p:nvSpPr>
        <p:spPr>
          <a:xfrm>
            <a:off x="913795" y="1732450"/>
            <a:ext cx="10353762" cy="1581118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Strings in python are “immutable”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All this means is that they </a:t>
            </a:r>
            <a:r>
              <a:rPr lang="en-GB" sz="2000" b="1"/>
              <a:t>cannot change</a:t>
            </a:r>
            <a:r>
              <a:rPr lang="en-GB" sz="2000"/>
              <a:t>.</a:t>
            </a:r>
            <a:endParaRPr/>
          </a:p>
          <a:p>
            <a:pPr marL="22860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GB" sz="2000"/>
              <a:t>There are many operations and functions that can be used with strings.</a:t>
            </a:r>
            <a:endParaRPr/>
          </a:p>
          <a:p>
            <a:pPr marL="36900" lvl="0" indent="0" algn="l" rtl="0">
              <a:spcBef>
                <a:spcPts val="4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40" name="Google Shape;240;p10"/>
          <p:cNvSpPr txBox="1"/>
          <p:nvPr/>
        </p:nvSpPr>
        <p:spPr>
          <a:xfrm>
            <a:off x="913795" y="3218009"/>
            <a:ext cx="4038451" cy="31897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stria"/>
              <a:buChar char="•"/>
            </a:pPr>
            <a:r>
              <a:rPr lang="en-GB" sz="2000" b="1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We can add strings together:</a:t>
            </a:r>
            <a:endParaRPr sz="20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sz="1600" b="0" i="0" u="none" strike="noStrike" cap="none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string1 = “hello”</a:t>
            </a:r>
            <a:endParaRPr sz="1800" b="0" i="0" u="none" strike="noStrike" cap="none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sz="1600" b="0" i="0" u="none" strike="noStrike" cap="none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string2 = “world”</a:t>
            </a:r>
            <a:endParaRPr sz="1800" b="0" i="0" u="none" strike="noStrike" cap="none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sz="1600" b="0" i="0" u="none" strike="noStrike" cap="none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string3 = string1 + “ ” + string2 </a:t>
            </a:r>
            <a:endParaRPr sz="1800" b="0" i="0" u="none" strike="noStrike" cap="none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sz="1600" b="0" i="0" u="none" strike="noStrike" cap="none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print(string3)</a:t>
            </a:r>
            <a:endParaRPr dirty="0"/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stria"/>
              <a:buChar char="•"/>
            </a:pPr>
            <a:r>
              <a:rPr lang="en-GB"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Output:</a:t>
            </a:r>
            <a:endParaRPr sz="18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stria"/>
              <a:buNone/>
            </a:pPr>
            <a:r>
              <a:rPr lang="en-GB" sz="18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	hello world</a:t>
            </a:r>
            <a:endParaRPr sz="18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endParaRPr sz="1800" b="0" i="0" u="none" strike="noStrike" cap="none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41" name="Google Shape;241;p10"/>
          <p:cNvSpPr txBox="1"/>
          <p:nvPr/>
        </p:nvSpPr>
        <p:spPr>
          <a:xfrm>
            <a:off x="7062483" y="3218009"/>
            <a:ext cx="3901264" cy="20621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lang="en-GB" sz="2000" b="1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We can multiply strings</a:t>
            </a:r>
            <a:endParaRPr dirty="0"/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sz="1600" b="0" i="0" u="none" strike="noStrike" cap="none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string1 = “hello”</a:t>
            </a:r>
            <a:endParaRPr sz="1600" b="0" i="0" u="none" strike="noStrike" cap="none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sz="1600" b="0" i="0" u="none" strike="noStrike" cap="none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string2 = string1 * 3</a:t>
            </a:r>
            <a:endParaRPr sz="1600" b="0" i="0" u="none" strike="noStrike" cap="none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Lustria"/>
              <a:buNone/>
            </a:pPr>
            <a:r>
              <a:rPr lang="en-GB" sz="1600" b="0" i="0" u="none" strike="noStrike" cap="none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print(string2)</a:t>
            </a:r>
            <a:endParaRPr sz="1600" b="0" i="0" u="none" strike="noStrike" cap="none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stria"/>
              <a:buNone/>
            </a:pPr>
            <a:endParaRPr sz="20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85750" marR="0" lvl="0" indent="-28575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Output:</a:t>
            </a:r>
            <a:endParaRPr sz="20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Lustria"/>
              <a:buNone/>
            </a:pPr>
            <a:r>
              <a:rPr lang="en-GB" sz="2000" dirty="0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	</a:t>
            </a:r>
            <a:r>
              <a:rPr lang="en-GB" sz="2000" dirty="0" err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hellohellohello</a:t>
            </a:r>
            <a:endParaRPr sz="2000" dirty="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1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Strings</a:t>
            </a:r>
            <a:endParaRPr/>
          </a:p>
        </p:txBody>
      </p:sp>
      <p:sp>
        <p:nvSpPr>
          <p:cNvPr id="247" name="Google Shape;247;p11"/>
          <p:cNvSpPr txBox="1"/>
          <p:nvPr/>
        </p:nvSpPr>
        <p:spPr>
          <a:xfrm>
            <a:off x="838198" y="2197085"/>
            <a:ext cx="3473741" cy="3545989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●"/>
            </a:pPr>
            <a:r>
              <a:rPr lang="en-GB" sz="2000" b="1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Make the string upper case</a:t>
            </a:r>
            <a:endParaRPr sz="20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None/>
            </a:pPr>
            <a:r>
              <a:rPr lang="en-GB" sz="16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= “hello”</a:t>
            </a:r>
            <a:endParaRPr sz="18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None/>
            </a:pPr>
            <a:r>
              <a:rPr lang="en-GB" sz="16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= </a:t>
            </a:r>
            <a:r>
              <a:rPr lang="en-GB" sz="16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my_string.upper</a:t>
            </a: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()</a:t>
            </a:r>
            <a:endParaRPr sz="1600" b="1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None/>
            </a:pP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print(</a:t>
            </a:r>
            <a:r>
              <a:rPr lang="en-GB" sz="16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)</a:t>
            </a:r>
            <a:endParaRPr sz="18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lt2"/>
              </a:buClr>
              <a:buSzPts val="1600"/>
              <a:buFont typeface="Noto Sans Symbols"/>
              <a:buNone/>
            </a:pPr>
            <a:endParaRPr sz="16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228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Char char="●"/>
            </a:pPr>
            <a:r>
              <a:rPr lang="en-GB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Output:</a:t>
            </a:r>
            <a:endParaRPr dirty="0"/>
          </a:p>
          <a:p>
            <a:pPr marL="0" marR="0" lvl="0" indent="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r>
              <a:rPr lang="en-GB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	HELLO</a:t>
            </a:r>
            <a:endParaRPr dirty="0"/>
          </a:p>
          <a:p>
            <a:pPr marL="228600" marR="0" lvl="0" indent="-1016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lt2"/>
              </a:buClr>
              <a:buSzPts val="2000"/>
              <a:buFont typeface="Noto Sans Symbols"/>
              <a:buNone/>
            </a:pPr>
            <a:endParaRPr sz="20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  <p:sp>
        <p:nvSpPr>
          <p:cNvPr id="248" name="Google Shape;248;p11"/>
          <p:cNvSpPr txBox="1"/>
          <p:nvPr/>
        </p:nvSpPr>
        <p:spPr>
          <a:xfrm>
            <a:off x="4311939" y="2197085"/>
            <a:ext cx="3473741" cy="35459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b="1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Make the string lower case</a:t>
            </a:r>
            <a:endParaRPr sz="2000" b="1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= “HELLO”</a:t>
            </a:r>
            <a:endParaRPr sz="16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= </a:t>
            </a:r>
            <a:r>
              <a:rPr lang="en-GB" sz="16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my_string.lower</a:t>
            </a: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()</a:t>
            </a:r>
            <a:endParaRPr sz="16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print(</a:t>
            </a:r>
            <a:r>
              <a:rPr lang="en-GB" sz="16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)</a:t>
            </a:r>
            <a:endParaRPr sz="16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6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Output:</a:t>
            </a:r>
            <a:endParaRPr sz="16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	hello</a:t>
            </a:r>
            <a:endParaRPr sz="16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49" name="Google Shape;249;p11"/>
          <p:cNvSpPr txBox="1"/>
          <p:nvPr/>
        </p:nvSpPr>
        <p:spPr>
          <a:xfrm>
            <a:off x="7880061" y="2185124"/>
            <a:ext cx="4034299" cy="309282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85750" marR="0" lvl="0" indent="-2857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b="1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Count the length of a string</a:t>
            </a:r>
            <a:endParaRPr sz="2000" b="1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= “elephant”</a:t>
            </a:r>
            <a:endParaRPr sz="16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length_of_string</a:t>
            </a: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= </a:t>
            </a:r>
            <a:r>
              <a:rPr lang="en-GB" sz="16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len</a:t>
            </a: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(</a:t>
            </a:r>
            <a:r>
              <a:rPr lang="en-GB" sz="16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)</a:t>
            </a:r>
            <a:endParaRPr sz="16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print(</a:t>
            </a:r>
            <a:r>
              <a:rPr lang="en-GB" sz="16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length_of_string</a:t>
            </a:r>
            <a:r>
              <a:rPr lang="en-GB" sz="1600" b="0" i="0" u="none" strike="noStrike" cap="none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)</a:t>
            </a:r>
            <a:endParaRPr sz="16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1600" b="0" i="0" u="none" strike="noStrike" cap="none" dirty="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228600" marR="0" lvl="0" indent="-101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endParaRPr sz="16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Output:</a:t>
            </a:r>
            <a:endParaRPr sz="16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GB" sz="16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	8</a:t>
            </a:r>
            <a:endParaRPr sz="16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50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sz="2800" dirty="0">
              <a:solidFill>
                <a:schemeClr val="dk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</p:txBody>
      </p:sp>
      <p:sp>
        <p:nvSpPr>
          <p:cNvPr id="250" name="Google Shape;250;p11"/>
          <p:cNvSpPr txBox="1"/>
          <p:nvPr/>
        </p:nvSpPr>
        <p:spPr>
          <a:xfrm>
            <a:off x="827550" y="1580050"/>
            <a:ext cx="1044000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We can use functions on strings, for example, we can: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2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Printing Formatted Strings</a:t>
            </a:r>
            <a:endParaRPr/>
          </a:p>
        </p:txBody>
      </p:sp>
      <p:sp>
        <p:nvSpPr>
          <p:cNvPr id="256" name="Google Shape;256;p12"/>
          <p:cNvSpPr txBox="1">
            <a:spLocks noGrp="1"/>
          </p:cNvSpPr>
          <p:nvPr>
            <p:ph type="body" idx="1"/>
          </p:nvPr>
        </p:nvSpPr>
        <p:spPr>
          <a:xfrm>
            <a:off x="1429154" y="1731963"/>
            <a:ext cx="9099321" cy="3171825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2523"/>
              <a:buNone/>
            </a:pPr>
            <a:r>
              <a:rPr lang="en-GB" sz="2523" b="1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Concatenation</a:t>
            </a:r>
            <a:r>
              <a:rPr lang="en-GB" sz="174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</a:t>
            </a:r>
            <a:r>
              <a:rPr lang="en-GB" sz="2436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(adding strings together)</a:t>
            </a:r>
            <a:endParaRPr sz="174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lvl="0" indent="0" algn="l" rtl="0">
              <a:lnSpc>
                <a:spcPct val="120000"/>
              </a:lnSpc>
              <a:spcBef>
                <a:spcPts val="870"/>
              </a:spcBef>
              <a:spcAft>
                <a:spcPts val="0"/>
              </a:spcAft>
              <a:buSzPts val="1740"/>
              <a:buNone/>
            </a:pPr>
            <a:r>
              <a:rPr lang="en-GB" sz="174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name = “Alan”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870"/>
              </a:spcBef>
              <a:spcAft>
                <a:spcPts val="0"/>
              </a:spcAft>
              <a:buSzPts val="1740"/>
              <a:buNone/>
            </a:pPr>
            <a:r>
              <a:rPr lang="en-GB" sz="174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age = 31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870"/>
              </a:spcBef>
              <a:spcAft>
                <a:spcPts val="0"/>
              </a:spcAft>
              <a:buSzPts val="1740"/>
              <a:buNone/>
            </a:pPr>
            <a:r>
              <a:rPr lang="en-GB" sz="174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output = “Hello ” + name + “ you are + str(age) + “ years old.”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870"/>
              </a:spcBef>
              <a:spcAft>
                <a:spcPts val="0"/>
              </a:spcAft>
              <a:buSzPts val="1740"/>
              <a:buNone/>
            </a:pPr>
            <a:r>
              <a:rPr lang="en-GB" sz="174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print(output)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870"/>
              </a:spcBef>
              <a:spcAft>
                <a:spcPts val="0"/>
              </a:spcAft>
              <a:buSzPts val="1740"/>
              <a:buNone/>
            </a:pPr>
            <a:r>
              <a:rPr lang="en-GB" sz="174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Output:</a:t>
            </a:r>
            <a:endParaRPr dirty="0"/>
          </a:p>
          <a:p>
            <a:pPr marL="0" lvl="0" indent="0" algn="l" rtl="0">
              <a:lnSpc>
                <a:spcPct val="120000"/>
              </a:lnSpc>
              <a:spcBef>
                <a:spcPts val="870"/>
              </a:spcBef>
              <a:spcAft>
                <a:spcPts val="0"/>
              </a:spcAft>
              <a:buSzPts val="1740"/>
              <a:buNone/>
            </a:pPr>
            <a:r>
              <a:rPr lang="en-GB" sz="174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Hello Alan you are 31 years old.</a:t>
            </a:r>
            <a:endParaRPr dirty="0"/>
          </a:p>
        </p:txBody>
      </p:sp>
      <p:sp>
        <p:nvSpPr>
          <p:cNvPr id="257" name="Google Shape;257;p12"/>
          <p:cNvSpPr txBox="1"/>
          <p:nvPr/>
        </p:nvSpPr>
        <p:spPr>
          <a:xfrm>
            <a:off x="1133302" y="5037724"/>
            <a:ext cx="9915870" cy="7617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66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We</a:t>
            </a:r>
            <a:r>
              <a:rPr lang="en-GB" sz="1566" b="1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 need to wrap the </a:t>
            </a:r>
            <a:r>
              <a:rPr lang="en-GB" sz="1566" b="1">
                <a:solidFill>
                  <a:srgbClr val="00B050"/>
                </a:solidFill>
                <a:latin typeface="Lustria"/>
                <a:ea typeface="Lustria"/>
                <a:cs typeface="Lustria"/>
                <a:sym typeface="Lustria"/>
              </a:rPr>
              <a:t>age variable</a:t>
            </a:r>
            <a:r>
              <a:rPr lang="en-GB" sz="1566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(which is an integer) in the </a:t>
            </a:r>
            <a:r>
              <a:rPr lang="en-GB" sz="1566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string function</a:t>
            </a:r>
            <a:r>
              <a:rPr lang="en-GB" sz="1566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: </a:t>
            </a:r>
            <a:r>
              <a:rPr lang="en-GB" sz="1566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str(</a:t>
            </a:r>
            <a:r>
              <a:rPr lang="en-GB" sz="1566">
                <a:solidFill>
                  <a:srgbClr val="00B050"/>
                </a:solidFill>
                <a:latin typeface="Lustria"/>
                <a:ea typeface="Lustria"/>
                <a:cs typeface="Lustria"/>
                <a:sym typeface="Lustria"/>
              </a:rPr>
              <a:t>age</a:t>
            </a:r>
            <a:r>
              <a:rPr lang="en-GB" sz="1566">
                <a:solidFill>
                  <a:srgbClr val="FF0000"/>
                </a:solidFill>
                <a:latin typeface="Lustria"/>
                <a:ea typeface="Lustria"/>
                <a:cs typeface="Lustria"/>
                <a:sym typeface="Lustria"/>
              </a:rPr>
              <a:t>) </a:t>
            </a:r>
            <a:r>
              <a:rPr lang="en-GB" sz="1566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because:</a:t>
            </a:r>
            <a:endParaRPr/>
          </a:p>
          <a:p>
            <a:pPr marL="0" marR="0" lvl="0" indent="0" algn="l" rtl="0">
              <a:lnSpc>
                <a:spcPct val="120000"/>
              </a:lnSpc>
              <a:spcBef>
                <a:spcPts val="870"/>
              </a:spcBef>
              <a:spcAft>
                <a:spcPts val="0"/>
              </a:spcAft>
              <a:buNone/>
            </a:pPr>
            <a:r>
              <a:rPr lang="en-GB" sz="1566">
                <a:solidFill>
                  <a:schemeClr val="lt1"/>
                </a:solidFill>
                <a:latin typeface="Lustria"/>
                <a:ea typeface="Lustria"/>
                <a:cs typeface="Lustria"/>
                <a:sym typeface="Lustria"/>
              </a:rPr>
              <a:t>When concatenating we can only add strings together, therefore we must convert the age variable into a string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3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Formatting</a:t>
            </a:r>
            <a:endParaRPr/>
          </a:p>
        </p:txBody>
      </p:sp>
      <p:sp>
        <p:nvSpPr>
          <p:cNvPr id="263" name="Google Shape;263;p13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10353762" cy="300251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GB" sz="36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Formatting</a:t>
            </a:r>
            <a:r>
              <a:rPr lang="en-GB" sz="36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 </a:t>
            </a:r>
            <a:r>
              <a:rPr lang="en-GB" sz="2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(using the format function)</a:t>
            </a:r>
            <a:endParaRPr sz="36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n</a:t>
            </a:r>
            <a:r>
              <a:rPr lang="en-GB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ame = “</a:t>
            </a:r>
            <a:r>
              <a:rPr lang="en-GB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</a:t>
            </a:r>
            <a:r>
              <a:rPr lang="en-GB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lan”</a:t>
            </a:r>
            <a:endParaRPr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</a:t>
            </a:r>
            <a:r>
              <a:rPr lang="en-GB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ge = 31</a:t>
            </a:r>
            <a:endParaRPr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Output = “hello {0} you are {1} years old”.format(name,  age)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Print(output)</a:t>
            </a:r>
            <a:endParaRPr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Output:</a:t>
            </a:r>
            <a:endParaRPr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	Hello </a:t>
            </a:r>
            <a:r>
              <a:rPr lang="en-GB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</a:t>
            </a:r>
            <a:r>
              <a:rPr lang="en-GB" sz="20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lan you are 31 years old.</a:t>
            </a:r>
            <a:endParaRPr>
              <a:solidFill>
                <a:schemeClr val="lt1"/>
              </a:solidFill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endParaRPr sz="2000">
              <a:solidFill>
                <a:schemeClr val="lt1"/>
              </a:solidFill>
              <a:latin typeface="Twentieth Century"/>
              <a:ea typeface="Twentieth Century"/>
              <a:cs typeface="Twentieth Century"/>
              <a:sym typeface="Twentieth Century"/>
            </a:endParaRPr>
          </a:p>
          <a:p>
            <a:pPr marL="342900" lvl="0" indent="-217100" algn="l" rtl="0">
              <a:spcBef>
                <a:spcPts val="4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64" name="Google Shape;264;p13"/>
          <p:cNvSpPr txBox="1"/>
          <p:nvPr/>
        </p:nvSpPr>
        <p:spPr>
          <a:xfrm>
            <a:off x="282543" y="4887361"/>
            <a:ext cx="11626913" cy="18446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We can use the format function to create formatted strings. We use the {0} and {1} </a:t>
            </a:r>
            <a:r>
              <a:rPr lang="en-GB" sz="18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“place holders” </a:t>
            </a:r>
            <a:r>
              <a:rPr lang="en-GB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to say where we want to place the variables in the string. Notice the place holder numbers start at 0!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Then we place those variables inside the brackets of the format function, </a:t>
            </a:r>
            <a:r>
              <a:rPr lang="en-GB" sz="1800" b="1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in order </a:t>
            </a:r>
            <a:r>
              <a:rPr lang="en-GB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as they appear in the string, separated by commas.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GB" sz="1800">
                <a:solidFill>
                  <a:schemeClr val="lt1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Here the variables name and age are used for the {0} and {1} place holders but this can be done as many times as you need.</a:t>
            </a:r>
            <a:endParaRPr sz="1800">
              <a:solidFill>
                <a:schemeClr val="lt1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4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Indexing</a:t>
            </a:r>
            <a:endParaRPr/>
          </a:p>
        </p:txBody>
      </p:sp>
      <p:sp>
        <p:nvSpPr>
          <p:cNvPr id="270" name="Google Shape;270;p14"/>
          <p:cNvSpPr txBox="1">
            <a:spLocks noGrp="1"/>
          </p:cNvSpPr>
          <p:nvPr>
            <p:ph type="body" idx="1"/>
          </p:nvPr>
        </p:nvSpPr>
        <p:spPr>
          <a:xfrm>
            <a:off x="913795" y="1525194"/>
            <a:ext cx="10353762" cy="46754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85000" lnSpcReduction="10000"/>
          </a:bodyPr>
          <a:lstStyle/>
          <a:p>
            <a:pPr marL="342900" lvl="0" indent="-306000" algn="l" rtl="0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en-GB" sz="2000"/>
              <a:t>Strings have indexes, which are numbers that correspond to a certain character in a string.</a:t>
            </a:r>
            <a:endParaRPr/>
          </a:p>
          <a:p>
            <a:pPr marL="36900" lvl="0" indent="0" algn="l" rtl="0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271" name="Google Shape;27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14882" y="1890021"/>
            <a:ext cx="4351587" cy="1651592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14"/>
          <p:cNvSpPr txBox="1"/>
          <p:nvPr/>
        </p:nvSpPr>
        <p:spPr>
          <a:xfrm>
            <a:off x="554399" y="3608784"/>
            <a:ext cx="11271600" cy="32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In the above picture, we can see that the first character of the string “Python” has the index of 0.</a:t>
            </a:r>
            <a:endParaRPr sz="20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That is because in Python, indexes always begin at 0.</a:t>
            </a:r>
            <a:endParaRPr sz="20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If we wanted to print out the character that resides at the index of 3 for example, we can do this:</a:t>
            </a:r>
            <a:endParaRPr sz="20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 = “Python”</a:t>
            </a:r>
            <a:endParaRPr sz="20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print(my_string[3])</a:t>
            </a:r>
            <a:endParaRPr sz="20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Output:</a:t>
            </a:r>
            <a:endParaRPr sz="200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GB" sz="2000" b="0" i="0" u="none" strike="noStrike" cap="none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h</a:t>
            </a:r>
            <a:endParaRPr sz="2000" b="0" i="0" u="none" strike="noStrike" cap="none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5"/>
          <p:cNvSpPr txBox="1">
            <a:spLocks noGrp="1"/>
          </p:cNvSpPr>
          <p:nvPr>
            <p:ph type="title"/>
          </p:nvPr>
        </p:nvSpPr>
        <p:spPr>
          <a:xfrm>
            <a:off x="913795" y="368498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Slicing</a:t>
            </a:r>
            <a:endParaRPr/>
          </a:p>
        </p:txBody>
      </p:sp>
      <p:sp>
        <p:nvSpPr>
          <p:cNvPr id="278" name="Google Shape;278;p15"/>
          <p:cNvSpPr txBox="1">
            <a:spLocks noGrp="1"/>
          </p:cNvSpPr>
          <p:nvPr>
            <p:ph type="body" idx="1"/>
          </p:nvPr>
        </p:nvSpPr>
        <p:spPr>
          <a:xfrm>
            <a:off x="913795" y="1258761"/>
            <a:ext cx="10353762" cy="494703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900" lvl="0" indent="-306000" algn="l" rtl="0">
              <a:spcBef>
                <a:spcPts val="0"/>
              </a:spcBef>
              <a:spcAft>
                <a:spcPts val="0"/>
              </a:spcAft>
              <a:buSzPts val="1400"/>
              <a:buChar char="◈"/>
            </a:pPr>
            <a:r>
              <a:rPr lang="en-GB" sz="2000"/>
              <a:t>We can use string slicing to cut a string into smaller strings.</a:t>
            </a:r>
            <a:endParaRPr/>
          </a:p>
          <a:p>
            <a:pPr marL="342900" lvl="0" indent="-217100" algn="l" rtl="0">
              <a:spcBef>
                <a:spcPts val="100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pic>
        <p:nvPicPr>
          <p:cNvPr id="279" name="Google Shape;279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92634" y="1753464"/>
            <a:ext cx="4019683" cy="1324714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15"/>
          <p:cNvSpPr txBox="1"/>
          <p:nvPr/>
        </p:nvSpPr>
        <p:spPr>
          <a:xfrm>
            <a:off x="548487" y="3429000"/>
            <a:ext cx="10976573" cy="30605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20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20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 = “Python”</a:t>
            </a:r>
            <a:endParaRPr sz="20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20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print(</a:t>
            </a:r>
            <a:r>
              <a:rPr lang="en-GB" sz="20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20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[0:2])</a:t>
            </a:r>
            <a:endParaRPr sz="20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20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Output:</a:t>
            </a:r>
            <a:endParaRPr sz="20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6858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2000" b="0" i="0" u="none" strike="noStrike" cap="none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Py</a:t>
            </a:r>
            <a:endParaRPr lang="en-GB" sz="20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pPr marL="685800" indent="-228600">
              <a:lnSpc>
                <a:spcPct val="90000"/>
              </a:lnSpc>
              <a:spcBef>
                <a:spcPts val="500"/>
              </a:spcBef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20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Why do you think only the first 2 characters printed out?</a:t>
            </a:r>
            <a:endParaRPr sz="2000" b="0" i="0" u="none" strike="noStrike" cap="none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6B2C8C-AF18-2EEE-464B-5A430DADD4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Slicing Continued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70EB33-C213-DA41-1659-1A9C2A6390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13795" y="2930013"/>
            <a:ext cx="10353762" cy="2861187"/>
          </a:xfrm>
        </p:spPr>
        <p:txBody>
          <a:bodyPr>
            <a:normAutofit fontScale="92500" lnSpcReduction="10000"/>
          </a:bodyPr>
          <a:lstStyle/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20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But wait! We wanted to print out the characters at the indexes from 0 up to 2. Why did only the characters at indexes 0 and 1 print out?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20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Because when using string slicing, we slice the string up to but not including the last index.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20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If we wanted to slice the string to include the first three characters, we would do: print(</a:t>
            </a:r>
            <a:r>
              <a:rPr lang="en-GB" sz="20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my_string</a:t>
            </a:r>
            <a:r>
              <a:rPr lang="en-GB" sz="20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[0:3])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20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This prints the characters at the indexes 0, 1 and 2 (the characters from index 0, up to but not including the index 3)</a:t>
            </a:r>
          </a:p>
          <a:p>
            <a:pPr marL="2286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-GB" sz="2000" dirty="0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Output: </a:t>
            </a:r>
            <a:r>
              <a:rPr lang="en-GB" sz="2000" dirty="0" err="1">
                <a:solidFill>
                  <a:schemeClr val="lt2"/>
                </a:solidFill>
                <a:latin typeface="Lustria"/>
                <a:ea typeface="Lustria"/>
                <a:cs typeface="Lustria"/>
                <a:sym typeface="Lustria"/>
              </a:rPr>
              <a:t>Pyt</a:t>
            </a:r>
            <a:endParaRPr lang="en-GB" sz="2000" dirty="0">
              <a:solidFill>
                <a:schemeClr val="lt2"/>
              </a:solidFill>
              <a:latin typeface="Lustria"/>
              <a:ea typeface="Lustria"/>
              <a:cs typeface="Lustria"/>
              <a:sym typeface="Lustria"/>
            </a:endParaRPr>
          </a:p>
          <a:p>
            <a:endParaRPr lang="en-IE" dirty="0"/>
          </a:p>
        </p:txBody>
      </p:sp>
      <p:pic>
        <p:nvPicPr>
          <p:cNvPr id="4" name="Google Shape;279;p15">
            <a:extLst>
              <a:ext uri="{FF2B5EF4-FFF2-40B4-BE49-F238E27FC236}">
                <a16:creationId xmlns:a16="http://schemas.microsoft.com/office/drawing/2014/main" id="{98169D25-66C5-413C-1692-A8952E27C791}"/>
              </a:ext>
            </a:extLst>
          </p:cNvPr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080834" y="1487993"/>
            <a:ext cx="4019683" cy="132471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46979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16"/>
          <p:cNvSpPr txBox="1"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000"/>
              <a:buFont typeface="Lustria"/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286" name="Google Shape;286;p16"/>
          <p:cNvSpPr txBox="1"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noFill/>
          <a:ln>
            <a:noFill/>
          </a:ln>
          <a:effectLst>
            <a:outerShdw blurRad="25400">
              <a:srgbClr val="000000">
                <a:alpha val="45882"/>
              </a:srgbClr>
            </a:outerShdw>
          </a:effectLst>
        </p:spPr>
        <p:txBody>
          <a:bodyPr spcFirstLastPara="1" wrap="square" lIns="91425" tIns="45700" rIns="91425" bIns="45700" anchor="t" anchorCtr="0">
            <a:normAutofit fontScale="70000" lnSpcReduction="20000"/>
          </a:bodyPr>
          <a:lstStyle/>
          <a:p>
            <a:pPr marL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GB" sz="2900" b="1"/>
              <a:t>Today you learned about:</a:t>
            </a:r>
            <a:endParaRPr sz="2900"/>
          </a:p>
          <a:p>
            <a:pPr marL="34290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✔"/>
            </a:pPr>
            <a:r>
              <a:rPr lang="en-GB" sz="2400"/>
              <a:t>How to take input from a user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Noto Sans Symbols"/>
              <a:buChar char="✔"/>
            </a:pPr>
            <a:r>
              <a:rPr lang="en-GB" sz="2000"/>
              <a:t>The input() function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Noto Sans Symbols"/>
              <a:buChar char="✔"/>
            </a:pPr>
            <a:r>
              <a:rPr lang="en-GB" sz="2000"/>
              <a:t>That we need to convert to float and int if we want to take in whole or decimal numbers.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✔"/>
            </a:pPr>
            <a:r>
              <a:rPr lang="en-GB" sz="2400"/>
              <a:t>That we can add strings together using concatenation.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✔"/>
            </a:pPr>
            <a:r>
              <a:rPr lang="en-GB" sz="2400"/>
              <a:t>That we can multiply strings using the * operator.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✔"/>
            </a:pPr>
            <a:r>
              <a:rPr lang="en-GB" sz="2400"/>
              <a:t>That we can use the format() function to create formatted strings.</a:t>
            </a:r>
            <a:endParaRPr/>
          </a:p>
          <a:p>
            <a:pPr marL="342900" lvl="0" indent="-342900" algn="l" rtl="0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ct val="100000"/>
              <a:buFont typeface="Noto Sans Symbols"/>
              <a:buChar char="✔"/>
            </a:pPr>
            <a:r>
              <a:rPr lang="en-GB" sz="2400"/>
              <a:t>That strings have indexes that refer to each character.</a:t>
            </a:r>
            <a:endParaRPr sz="2000"/>
          </a:p>
          <a:p>
            <a:pPr marL="80010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Noto Sans Symbols"/>
              <a:buChar char="✔"/>
            </a:pPr>
            <a:r>
              <a:rPr lang="en-GB" sz="2000"/>
              <a:t>We can print any character by choosing it’s index my_string[3]</a:t>
            </a:r>
            <a:endParaRPr/>
          </a:p>
          <a:p>
            <a:pPr marL="800100" lvl="1" indent="-3429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Noto Sans Symbols"/>
              <a:buChar char="✔"/>
            </a:pPr>
            <a:r>
              <a:rPr lang="en-GB" sz="2000"/>
              <a:t>We can choose to take a slice of a string by using string slicing my_string[0:3]</a:t>
            </a:r>
            <a:endParaRPr sz="1600"/>
          </a:p>
          <a:p>
            <a:pPr marL="800100" lvl="1" indent="-342931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ct val="100000"/>
              <a:buFont typeface="Noto Sans Symbols"/>
              <a:buChar char="✔"/>
            </a:pPr>
            <a:r>
              <a:rPr lang="en-GB" sz="2100"/>
              <a:t>When using string slicing, we go from the first index chosen, up to by not including the last index chosen.</a:t>
            </a:r>
            <a:endParaRPr/>
          </a:p>
          <a:p>
            <a:pPr marL="342900" lvl="0" indent="-237102" algn="l" rtl="0">
              <a:spcBef>
                <a:spcPts val="310"/>
              </a:spcBef>
              <a:spcAft>
                <a:spcPts val="0"/>
              </a:spcAft>
              <a:buSzPct val="70000"/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late">
  <a:themeElements>
    <a:clrScheme name="Slate">
      <a:dk1>
        <a:srgbClr val="000000"/>
      </a:dk1>
      <a:lt1>
        <a:srgbClr val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1204</Words>
  <Application>Microsoft Office PowerPoint</Application>
  <PresentationFormat>Widescreen</PresentationFormat>
  <Paragraphs>135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3" baseType="lpstr">
      <vt:lpstr>Calibri</vt:lpstr>
      <vt:lpstr>Arial</vt:lpstr>
      <vt:lpstr>Twentieth Century</vt:lpstr>
      <vt:lpstr>Noto Sans Symbols</vt:lpstr>
      <vt:lpstr>Lustria</vt:lpstr>
      <vt:lpstr>Slate</vt:lpstr>
      <vt:lpstr>TY Coding</vt:lpstr>
      <vt:lpstr>Part 01 Inputs</vt:lpstr>
      <vt:lpstr>Taking User Input</vt:lpstr>
      <vt:lpstr>PowerPoint Presentation</vt:lpstr>
      <vt:lpstr>Taking User Input</vt:lpstr>
      <vt:lpstr>Taking user input</vt:lpstr>
      <vt:lpstr>Taking User Input</vt:lpstr>
      <vt:lpstr>PowerPoint Presentation</vt:lpstr>
      <vt:lpstr>Part 2 - Strings</vt:lpstr>
      <vt:lpstr>Strings</vt:lpstr>
      <vt:lpstr>Strings</vt:lpstr>
      <vt:lpstr>Printing Formatted Strings</vt:lpstr>
      <vt:lpstr>Formatting</vt:lpstr>
      <vt:lpstr>Indexing</vt:lpstr>
      <vt:lpstr>Slicing</vt:lpstr>
      <vt:lpstr>Slicing Continued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Jim Finn</dc:creator>
  <cp:lastModifiedBy>Jim Finn (Adamstown CC)</cp:lastModifiedBy>
  <cp:revision>2</cp:revision>
  <dcterms:created xsi:type="dcterms:W3CDTF">2023-05-05T08:23:56Z</dcterms:created>
  <dcterms:modified xsi:type="dcterms:W3CDTF">2025-09-16T06:44:15Z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b170d26-a298-4fcb-93e8-f72c55c78d0a_Enabled">
    <vt:lpwstr>true</vt:lpwstr>
  </property>
  <property fmtid="{D5CDD505-2E9C-101B-9397-08002B2CF9AE}" pid="3" name="MSIP_Label_bb170d26-a298-4fcb-93e8-f72c55c78d0a_SetDate">
    <vt:lpwstr>2025-09-16T06:44:11Z</vt:lpwstr>
  </property>
  <property fmtid="{D5CDD505-2E9C-101B-9397-08002B2CF9AE}" pid="4" name="MSIP_Label_bb170d26-a298-4fcb-93e8-f72c55c78d0a_Method">
    <vt:lpwstr>Standard</vt:lpwstr>
  </property>
  <property fmtid="{D5CDD505-2E9C-101B-9397-08002B2CF9AE}" pid="5" name="MSIP_Label_bb170d26-a298-4fcb-93e8-f72c55c78d0a_Name">
    <vt:lpwstr>defa4170-0d19-0005-0004-bc88714345d2</vt:lpwstr>
  </property>
  <property fmtid="{D5CDD505-2E9C-101B-9397-08002B2CF9AE}" pid="6" name="MSIP_Label_bb170d26-a298-4fcb-93e8-f72c55c78d0a_SiteId">
    <vt:lpwstr>3ed6c8f5-4c16-44ad-9eed-60f851834a84</vt:lpwstr>
  </property>
  <property fmtid="{D5CDD505-2E9C-101B-9397-08002B2CF9AE}" pid="7" name="MSIP_Label_bb170d26-a298-4fcb-93e8-f72c55c78d0a_ActionId">
    <vt:lpwstr>242fcb74-0c22-4f70-a8a0-1f4089b9e0f7</vt:lpwstr>
  </property>
  <property fmtid="{D5CDD505-2E9C-101B-9397-08002B2CF9AE}" pid="8" name="MSIP_Label_bb170d26-a298-4fcb-93e8-f72c55c78d0a_ContentBits">
    <vt:lpwstr>0</vt:lpwstr>
  </property>
  <property fmtid="{D5CDD505-2E9C-101B-9397-08002B2CF9AE}" pid="9" name="MSIP_Label_bb170d26-a298-4fcb-93e8-f72c55c78d0a_Tag">
    <vt:lpwstr>10, 3, 0, 1</vt:lpwstr>
  </property>
</Properties>
</file>