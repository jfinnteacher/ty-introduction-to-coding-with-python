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F23FA-E75B-4F18-9A09-F084BC85E0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41A028-B522-4585-AD81-492E93CCE5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0B4B06A-05BB-461A-B97F-31900F5A2D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9A77681-B96E-4435-AA82-3B4EC5231C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B68450-85AE-4C95-A01E-B86F8AE6EE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82443AD-C394-457E-937D-5650E418D6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FBCA46B-B1F6-48E6-AC74-972348C8AD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6A5F177-E8E8-475F-A434-467C61CF18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F6F9FBB-839C-4137-B533-036EA1C608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5F675A2-CBA0-4CEB-B5F0-3B2A877E7A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7DD1384-82AC-481B-969F-A94EFF889D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 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21793F-1ACC-453A-8AAB-20610EEEBBDD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13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57CCF7-997B-4AD3-879C-A728A330C2E8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6AF8E5-8F15-4809-BF14-66BECEE69F5E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3AC3B9-80EA-4EEB-8E47-27A228E6CF01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408C6C-24A5-4241-8201-0E9CDC3BD7E2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AB33E5-51DC-4F73-9DD3-499CFAEBBE9E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48C35C-D7CF-4B0E-8DE4-2ED775B59969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3B9F46-5A71-4141-919B-C235B28BE8A9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B69662-46FC-4D1C-865E-C4322B856A53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Franklin Gothic Book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Franklin Gothic Book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Franklin Gothic Book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BAC7E8-47EF-4CE4-8ED7-4B201AE4FB20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" descr="A logo for a college&#10;&#10;AI-generated content may be incorrect."/>
          <p:cNvPicPr/>
          <p:nvPr/>
        </p:nvPicPr>
        <p:blipFill>
          <a:blip r:embed="rId2"/>
          <a:srcRect l="13218" t="10374" r="14363" b="17513"/>
          <a:stretch/>
        </p:blipFill>
        <p:spPr>
          <a:xfrm>
            <a:off x="10557000" y="185760"/>
            <a:ext cx="1378080" cy="137232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Franklin Gothic Medium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Franklin Gothic Book"/>
              </a:rPr>
              <a:t>Click icon to add picture</a:t>
            </a:r>
            <a:endParaRPr b="0" lang="en-US" sz="32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Franklin Gothic Book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&lt;date/time&gt;</a:t>
            </a:r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D31AE5-1712-4741-A00D-D1EB074F25EA}" type="slidenum">
              <a:rPr b="0" lang="en-IE" sz="1200" spc="-1" strike="noStrike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thonny.org/" TargetMode="External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IE" sz="6000" spc="-1" strike="noStrike">
                <a:solidFill>
                  <a:schemeClr val="dk1"/>
                </a:solidFill>
                <a:latin typeface="Franklin Gothic Medium"/>
              </a:rPr>
              <a:t>TY Coding</a:t>
            </a:r>
            <a:endParaRPr b="0" lang="en-US" sz="60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Introduction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Learning Outcomes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Understand what Python is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Understand some key terms associated with Coding Python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Create a simple python program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Output text to the screen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Setup and use an IDE (Thonny)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Where is Python Used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942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600" spc="-1" strike="noStrike">
                <a:solidFill>
                  <a:schemeClr val="dk1"/>
                </a:solidFill>
                <a:latin typeface="Franklin Gothic Book"/>
              </a:rPr>
              <a:t>Web Development</a:t>
            </a:r>
            <a:endParaRPr b="0" lang="en-US" sz="26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9514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200" spc="-1" strike="noStrike">
                <a:solidFill>
                  <a:schemeClr val="dk1"/>
                </a:solidFill>
                <a:latin typeface="Franklin Gothic Book"/>
              </a:rPr>
              <a:t>Spotify, 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9514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200" spc="-1" strike="noStrike">
                <a:solidFill>
                  <a:schemeClr val="dk1"/>
                </a:solidFill>
                <a:latin typeface="Franklin Gothic Book"/>
              </a:rPr>
              <a:t>YouTube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marL="4942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600" spc="-1" strike="noStrike">
                <a:solidFill>
                  <a:schemeClr val="dk1"/>
                </a:solidFill>
                <a:latin typeface="Franklin Gothic Book"/>
              </a:rPr>
              <a:t>Artificial Intelligence</a:t>
            </a:r>
            <a:endParaRPr b="0" lang="en-US" sz="26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9514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200" spc="-1" strike="noStrike">
                <a:solidFill>
                  <a:schemeClr val="dk1"/>
                </a:solidFill>
                <a:latin typeface="Franklin Gothic Book"/>
              </a:rPr>
              <a:t>Hear – Detecting Gunshots and location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9514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200" spc="-1" strike="noStrike">
                <a:solidFill>
                  <a:schemeClr val="dk1"/>
                </a:solidFill>
                <a:latin typeface="Franklin Gothic Book"/>
              </a:rPr>
              <a:t>Smell – Detecting Illness by smelling breath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9514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200" spc="-1" strike="noStrike">
                <a:solidFill>
                  <a:schemeClr val="dk1"/>
                </a:solidFill>
                <a:latin typeface="Franklin Gothic Book"/>
              </a:rPr>
              <a:t>See – Machine Vision in Self Driving Cars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9514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200" spc="-1" strike="noStrike">
                <a:solidFill>
                  <a:schemeClr val="dk1"/>
                </a:solidFill>
                <a:latin typeface="Franklin Gothic Book"/>
              </a:rPr>
              <a:t>Write – The NY Times uses AI to assist in writing articles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marL="4942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600" spc="-1" strike="noStrike">
                <a:solidFill>
                  <a:schemeClr val="dk1"/>
                </a:solidFill>
                <a:latin typeface="Franklin Gothic Book"/>
              </a:rPr>
              <a:t>Scripting</a:t>
            </a:r>
            <a:endParaRPr b="0" lang="en-US" sz="26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951480" indent="-457200" defTabSz="914400">
              <a:lnSpc>
                <a:spcPct val="90000"/>
              </a:lnSpc>
              <a:buClr>
                <a:srgbClr val="04d3ee"/>
              </a:buClr>
              <a:buFont typeface="Arial"/>
              <a:buChar char="•"/>
            </a:pPr>
            <a:r>
              <a:rPr b="0" lang="en-GB" sz="2200" spc="-1" strike="noStrike">
                <a:solidFill>
                  <a:schemeClr val="dk1"/>
                </a:solidFill>
                <a:latin typeface="Franklin Gothic Book"/>
              </a:rPr>
              <a:t>A script is a small piece of code that can automate a computer Function</a:t>
            </a:r>
            <a:endParaRPr b="0" lang="en-US" sz="22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Why is python popular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Readability: Python's syntax (the rules for writing code) is very clean and uses indentation to define structure, making it look a bit like plain English. 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Versatility: (Transition to the next section) It can be used for a huge variety of tasks.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Large Standard Library: Python comes with a vast collection of pre-written code modules that perform common tasks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Huge Community: Because it's so popular, there are tons of resources, tutorials, forums, and people willing to help if you get stuck.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Open Source: Python is free to use and distribute, even for commercial purposes.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Examples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print("Hello, World!")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print is the command and tells python to place text on the screen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( ) What is to be printed goes in here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“ “ </a:t>
            </a: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Tells python that that it is text that is to be printed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print(10 + 5)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Python will carry out the sum and print the answer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Creating Code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There are a number of ways but the most common is to use an IDE (Integrated Development Environment)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This is an application that allows you to create code and then run it. 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Can be online or offline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Online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Replit, Codepad.app, trinket.io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Offline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Visual Studio Code, Thonny 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Advantages and Disadvantages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Terms to Know (Printing)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Character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Any individual letter, number or symbol e.g. a, 4, €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String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A group of 2 or more characters e.g. PYTHON is made up of Characters P Y T H O N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Function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Another name for a command that python recognises e.g. print( )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Using Thonny</a:t>
            </a: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	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Thonny is a free IDE that runs on your computer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Can be found at - </a:t>
            </a:r>
            <a:r>
              <a:rPr b="0" lang="en-IE" sz="2800" spc="-1" strike="noStrike" u="sng">
                <a:solidFill>
                  <a:schemeClr val="dk1"/>
                </a:solidFill>
                <a:uFillTx/>
                <a:latin typeface="Franklin Gothic Book"/>
                <a:hlinkClick r:id="rId1"/>
              </a:rPr>
              <a:t>https://thonny.org/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Can be installed or run from a portable folder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Comes with common Python libraries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More can be installed as needed.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Franklin Gothic Medium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Print a string to the screen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We use the print() command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We put what we want to print in brackets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String must have “ “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print(“Hello World”)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6595920" y="3544920"/>
            <a:ext cx="4590720" cy="1855080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algn="ctr" blurRad="44280" dir="5400000" dist="28080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dir="t" rig="balanced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E" sz="1800" spc="-1" strike="noStrike">
              <a:solidFill>
                <a:schemeClr val="lt1"/>
              </a:solidFill>
              <a:latin typeface="Franklin Gothic Book"/>
            </a:endParaRPr>
          </a:p>
        </p:txBody>
      </p:sp>
      <p:sp>
        <p:nvSpPr>
          <p:cNvPr id="96" name="Google Shape;204;p7"/>
          <p:cNvSpPr/>
          <p:nvPr/>
        </p:nvSpPr>
        <p:spPr>
          <a:xfrm>
            <a:off x="6668280" y="3810960"/>
            <a:ext cx="45907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lt1"/>
                </a:solidFill>
                <a:latin typeface="Lustria"/>
                <a:ea typeface="Lustria"/>
              </a:rPr>
              <a:t>Note: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lt1"/>
                </a:solidFill>
                <a:latin typeface="Lustria"/>
                <a:ea typeface="Lustria"/>
              </a:rPr>
              <a:t>Functions in Python are case sensitive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lt1"/>
                </a:solidFill>
                <a:latin typeface="Lustria"/>
                <a:ea typeface="Lustria"/>
              </a:rPr>
              <a:t>print is the function to output to the screen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lt1"/>
                </a:solidFill>
                <a:latin typeface="Lustria"/>
                <a:ea typeface="Lustria"/>
              </a:rPr>
              <a:t>Print will give an error message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Franklin Gothic Medium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Create a file system in your shared drive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Folder for Coding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Create a folder called Lesson 01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400" spc="-1" strike="noStrike">
                <a:solidFill>
                  <a:schemeClr val="dk1"/>
                </a:solidFill>
                <a:latin typeface="Franklin Gothic Book"/>
              </a:rPr>
              <a:t>This will contain all the files for this lesson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Open Thonny and create a new file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Save the file to a folder for Coding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E" sz="2800" spc="-1" strike="noStrike">
                <a:solidFill>
                  <a:schemeClr val="dk1"/>
                </a:solidFill>
                <a:latin typeface="Franklin Gothic Book"/>
              </a:rPr>
              <a:t>Call the file Lesson 01 printing.py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Franklin Gothic Medium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94280" indent="-457200" defTabSz="9144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Print the following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I’m learning to code</a:t>
            </a: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	</a:t>
            </a:r>
            <a:br>
              <a:rPr sz="2400"/>
            </a:b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I’m using python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49428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This needs 2 lines of code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print(“I’m learning to code”)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print(“I’m using Python”)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marL="49428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Alternative is to use a special command for a new line </a:t>
            </a:r>
            <a:r>
              <a:rPr b="1" lang="en-GB" sz="2800" spc="-1" strike="noStrike">
                <a:solidFill>
                  <a:schemeClr val="dk1"/>
                </a:solidFill>
                <a:latin typeface="Franklin Gothic Book"/>
              </a:rPr>
              <a:t>\n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49428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print(“I’m learning to code </a:t>
            </a:r>
            <a:r>
              <a:rPr b="1" lang="en-GB" sz="2800" spc="-1" strike="noStrike">
                <a:solidFill>
                  <a:schemeClr val="dk1"/>
                </a:solidFill>
                <a:latin typeface="Franklin Gothic Book"/>
              </a:rPr>
              <a:t>\n</a:t>
            </a: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I’m using Python”)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Franklin Gothic Medium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06000" defTabSz="914400">
              <a:lnSpc>
                <a:spcPct val="90000"/>
              </a:lnSpc>
              <a:buClr>
                <a:srgbClr val="000000"/>
              </a:buClr>
              <a:buFont typeface="Arial"/>
              <a:buChar char="◈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Print the following Using the print command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343080" indent="-30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◈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*</a:t>
            </a: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	</a:t>
            </a: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There are Spaces on the Screen</a:t>
            </a: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	</a:t>
            </a: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*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343080" indent="-30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◈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You can use \t to add in a tab space which is the same as 3-5 spaces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343080" indent="-30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◈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Use the following command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marL="343080" indent="-30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◈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print(“*\tThere are Spaces on the Screen\t*”)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400" spc="-1" strike="noStrike">
                <a:solidFill>
                  <a:schemeClr val="dk1"/>
                </a:solidFill>
                <a:latin typeface="Franklin Gothic Medium"/>
              </a:rPr>
              <a:t>Summary</a:t>
            </a:r>
            <a:endParaRPr b="0" lang="en-US" sz="4400" spc="-1" strike="noStrike">
              <a:solidFill>
                <a:schemeClr val="dk1"/>
              </a:solidFill>
              <a:latin typeface="Franklin Gothic Book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94280" indent="-457200" defTabSz="9144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chemeClr val="dk1"/>
                </a:solidFill>
                <a:latin typeface="Franklin Gothic Book"/>
              </a:rPr>
              <a:t>This lesson covered</a:t>
            </a: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Characters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Strings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Functions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Introducing Thonny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How to use the print function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lvl="1" marL="793080" indent="-343080" defTabSz="91440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chemeClr val="dk1"/>
                </a:solidFill>
                <a:latin typeface="Franklin Gothic Book"/>
              </a:rPr>
              <a:t>Some special characters</a:t>
            </a:r>
            <a:endParaRPr b="0" lang="en-US" sz="2400" spc="-1" strike="noStrike">
              <a:solidFill>
                <a:schemeClr val="dk1"/>
              </a:solidFill>
              <a:latin typeface="Franklin Gothic Book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 pitchFamily="0" charset="1"/>
        <a:ea typeface=""/>
        <a:cs typeface=""/>
      </a:majorFont>
      <a:minorFont>
        <a:latin typeface="Franklin Gothic Book" panose="020B05030201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0000"/>
          </a:schemeClr>
        </a:solidFill>
        <a:gradFill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0000" cap="flat" cmpd="sng" algn="ctr">
          <a:prstDash val="solid"/>
        </a:ln>
        <a:ln w="19050" cap="flat" cmpd="sng" algn="ctr">
          <a:prstDash val="solid"/>
        </a:ln>
        <a:ln w="53975" cap="flat" cmpd="dbl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ÀCC Presentation</Template>
  <TotalTime>38</TotalTime>
  <Application>LibreOffice/24.2.7.2$Linux_X86_64 LibreOffice_project/420$Build-2</Application>
  <AppVersion>15.0000</AppVersion>
  <Words>665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2025-05-14T11:16:38Z</dcterms:created>
  <dc:creator>Jim Finn</dc:creator>
  <dc:description/>
  <dc:language>en-IE</dc:language>
  <cp:lastModifiedBy/>
  <dcterms:modified xsi:type="dcterms:W3CDTF">2025-07-22T20:24:30Z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