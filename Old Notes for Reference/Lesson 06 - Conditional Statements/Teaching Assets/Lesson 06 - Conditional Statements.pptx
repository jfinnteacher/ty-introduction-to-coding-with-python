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Libre Franklin"/>
      <p:regular r:id="rId20"/>
      <p:bold r:id="rId21"/>
      <p:italic r:id="rId22"/>
      <p:boldItalic r:id="rId23"/>
    </p:embeddedFont>
    <p:embeddedFont>
      <p:font typeface="Libre Franklin Medium"/>
      <p:regular r:id="rId24"/>
      <p:bold r:id="rId25"/>
      <p:italic r:id="rId26"/>
      <p:boldItalic r:id="rId27"/>
    </p:embeddedFont>
    <p:embeddedFont>
      <p:font typeface="Lustria"/>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C8DDED-480E-42B1-A0F6-F581573596CC}">
  <a:tblStyle styleId="{08C8DDED-480E-42B1-A0F6-F581573596C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ibreFranklin-regular.fntdata"/><Relationship Id="rId22" Type="http://schemas.openxmlformats.org/officeDocument/2006/relationships/font" Target="fonts/LibreFranklin-italic.fntdata"/><Relationship Id="rId21" Type="http://schemas.openxmlformats.org/officeDocument/2006/relationships/font" Target="fonts/LibreFranklin-bold.fntdata"/><Relationship Id="rId24" Type="http://schemas.openxmlformats.org/officeDocument/2006/relationships/font" Target="fonts/LibreFranklinMedium-regular.fntdata"/><Relationship Id="rId23" Type="http://schemas.openxmlformats.org/officeDocument/2006/relationships/font" Target="fonts/LibreFranklin-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FranklinMedium-italic.fntdata"/><Relationship Id="rId25" Type="http://schemas.openxmlformats.org/officeDocument/2006/relationships/font" Target="fonts/LibreFranklinMedium-bold.fntdata"/><Relationship Id="rId28" Type="http://schemas.openxmlformats.org/officeDocument/2006/relationships/font" Target="fonts/Lustria-regular.fntdata"/><Relationship Id="rId27" Type="http://schemas.openxmlformats.org/officeDocument/2006/relationships/font" Target="fonts/LibreFranklin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Libre Franklin Medium"/>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 name="Shape 22"/>
        <p:cNvGrpSpPr/>
        <p:nvPr/>
      </p:nvGrpSpPr>
      <p:grpSpPr>
        <a:xfrm>
          <a:off x="0" y="0"/>
          <a:ext cx="0" cy="0"/>
          <a:chOff x="0" y="0"/>
          <a:chExt cx="0" cy="0"/>
        </a:xfrm>
      </p:grpSpPr>
      <p:sp>
        <p:nvSpPr>
          <p:cNvPr id="23" name="Google Shape;23;p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Libre Franklin Medium"/>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p:nvPr>
            <p:ph idx="2" type="pic"/>
          </p:nvPr>
        </p:nvSpPr>
        <p:spPr>
          <a:xfrm>
            <a:off x="5183188" y="987425"/>
            <a:ext cx="6172200" cy="4873625"/>
          </a:xfrm>
          <a:prstGeom prst="rect">
            <a:avLst/>
          </a:prstGeom>
          <a:noFill/>
          <a:ln>
            <a:noFill/>
          </a:ln>
        </p:spPr>
      </p:sp>
      <p:sp>
        <p:nvSpPr>
          <p:cNvPr id="25" name="Google Shape;25;p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Libre Franklin Medium"/>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5" name="Shape 35"/>
        <p:cNvGrpSpPr/>
        <p:nvPr/>
      </p:nvGrpSpPr>
      <p:grpSpPr>
        <a:xfrm>
          <a:off x="0" y="0"/>
          <a:ext cx="0" cy="0"/>
          <a:chOff x="0" y="0"/>
          <a:chExt cx="0" cy="0"/>
        </a:xfrm>
      </p:grpSpPr>
      <p:sp>
        <p:nvSpPr>
          <p:cNvPr id="36" name="Google Shape;3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1" name="Shape 41"/>
        <p:cNvGrpSpPr/>
        <p:nvPr/>
      </p:nvGrpSpPr>
      <p:grpSpPr>
        <a:xfrm>
          <a:off x="0" y="0"/>
          <a:ext cx="0" cy="0"/>
          <a:chOff x="0" y="0"/>
          <a:chExt cx="0" cy="0"/>
        </a:xfrm>
      </p:grpSpPr>
      <p:sp>
        <p:nvSpPr>
          <p:cNvPr id="42" name="Google Shape;42;p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Libre Franklin Medium"/>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4" name="Google Shape;44;p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5" name="Google Shape;4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A logo for a college&#10;&#10;AI-generated content may be incorrect." id="10" name="Google Shape;10;p1"/>
          <p:cNvPicPr preferRelativeResize="0"/>
          <p:nvPr/>
        </p:nvPicPr>
        <p:blipFill rotWithShape="1">
          <a:blip r:embed="rId1">
            <a:alphaModFix/>
          </a:blip>
          <a:srcRect b="17519" l="13218" r="14368" t="10376"/>
          <a:stretch/>
        </p:blipFill>
        <p:spPr>
          <a:xfrm>
            <a:off x="10557164" y="185738"/>
            <a:ext cx="1378527" cy="1372629"/>
          </a:xfrm>
          <a:prstGeom prst="rect">
            <a:avLst/>
          </a:prstGeom>
          <a:noFill/>
          <a:ln>
            <a:noFill/>
          </a:ln>
        </p:spPr>
      </p:pic>
      <p:sp>
        <p:nvSpPr>
          <p:cNvPr id="11" name="Google Shape;11;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Libre Franklin Medium"/>
              <a:buNone/>
              <a:defRPr b="0" i="0" sz="4400" u="none" cap="none" strike="noStrike">
                <a:solidFill>
                  <a:schemeClr val="dk1"/>
                </a:solidFill>
                <a:latin typeface="Libre Franklin Medium"/>
                <a:ea typeface="Libre Franklin Medium"/>
                <a:cs typeface="Libre Franklin Medium"/>
                <a:sym typeface="Libre Frankli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ibre Franklin"/>
                <a:ea typeface="Libre Franklin"/>
                <a:cs typeface="Libre Franklin"/>
                <a:sym typeface="Libre Frankli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ibre Franklin"/>
                <a:ea typeface="Libre Franklin"/>
                <a:cs typeface="Libre Franklin"/>
                <a:sym typeface="Libre Frankli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ibre Franklin"/>
                <a:ea typeface="Libre Franklin"/>
                <a:cs typeface="Libre Franklin"/>
                <a:sym typeface="Libre Frankli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 name="Google Shape;14;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 name="Google Shape;15;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Libre Franklin Medium"/>
              <a:buNone/>
            </a:pPr>
            <a:r>
              <a:rPr lang="en-GB"/>
              <a:t>TY Coding</a:t>
            </a:r>
            <a:endParaRPr/>
          </a:p>
        </p:txBody>
      </p:sp>
      <p:sp>
        <p:nvSpPr>
          <p:cNvPr id="90" name="Google Shape;90;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GB"/>
              <a:t>Conditional Statements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Libre Franklin Medium"/>
              <a:buNone/>
            </a:pPr>
            <a:r>
              <a:rPr lang="en-GB"/>
              <a:t>Equality Operators</a:t>
            </a:r>
            <a:endParaRPr/>
          </a:p>
        </p:txBody>
      </p:sp>
      <p:sp>
        <p:nvSpPr>
          <p:cNvPr id="96" name="Google Shape;96;p14"/>
          <p:cNvSpPr/>
          <p:nvPr>
            <p:ph idx="2" type="pic"/>
          </p:nvPr>
        </p:nvSpPr>
        <p:spPr>
          <a:xfrm>
            <a:off x="5183188" y="987425"/>
            <a:ext cx="6172200" cy="4873625"/>
          </a:xfrm>
          <a:prstGeom prst="rect">
            <a:avLst/>
          </a:prstGeom>
          <a:noFill/>
          <a:ln>
            <a:noFill/>
          </a:ln>
        </p:spPr>
      </p:sp>
      <p:sp>
        <p:nvSpPr>
          <p:cNvPr id="97" name="Google Shape;97;p1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600"/>
              <a:buChar char="◈"/>
            </a:pPr>
            <a:r>
              <a:rPr lang="en-GB" sz="2000"/>
              <a:t>We will be using equality operators to ask questions in our programs.</a:t>
            </a:r>
            <a:endParaRPr sz="2800"/>
          </a:p>
          <a:p>
            <a:pPr indent="-342900" lvl="0" marL="342900" rtl="0" algn="l">
              <a:lnSpc>
                <a:spcPct val="100000"/>
              </a:lnSpc>
              <a:spcBef>
                <a:spcPts val="1000"/>
              </a:spcBef>
              <a:spcAft>
                <a:spcPts val="0"/>
              </a:spcAft>
              <a:buClr>
                <a:schemeClr val="dk1"/>
              </a:buClr>
              <a:buSzPts val="1600"/>
              <a:buChar char="◈"/>
            </a:pPr>
            <a:r>
              <a:rPr lang="en-GB" sz="2000"/>
              <a:t>If something is true, do this, else if something is false then do this instead.</a:t>
            </a:r>
            <a:endParaRPr sz="2800"/>
          </a:p>
          <a:p>
            <a:pPr indent="-342900" lvl="0" marL="342900" rtl="0" algn="l">
              <a:lnSpc>
                <a:spcPct val="100000"/>
              </a:lnSpc>
              <a:spcBef>
                <a:spcPts val="1000"/>
              </a:spcBef>
              <a:spcAft>
                <a:spcPts val="0"/>
              </a:spcAft>
              <a:buClr>
                <a:schemeClr val="dk1"/>
              </a:buClr>
              <a:buSzPts val="1600"/>
              <a:buChar char="◈"/>
            </a:pPr>
            <a:r>
              <a:rPr lang="en-GB" sz="2000"/>
              <a:t>So, let's have a look at the equality operators we should know.</a:t>
            </a:r>
            <a:endParaRPr sz="2800"/>
          </a:p>
          <a:p>
            <a:pPr indent="0" lvl="0" marL="0" rtl="0" algn="l">
              <a:lnSpc>
                <a:spcPct val="90000"/>
              </a:lnSpc>
              <a:spcBef>
                <a:spcPts val="1000"/>
              </a:spcBef>
              <a:spcAft>
                <a:spcPts val="0"/>
              </a:spcAft>
              <a:buClr>
                <a:schemeClr val="dk1"/>
              </a:buClr>
              <a:buSzPts val="1600"/>
              <a:buNone/>
            </a:pPr>
            <a:r>
              <a:t/>
            </a:r>
            <a:endParaRPr/>
          </a:p>
        </p:txBody>
      </p:sp>
      <p:graphicFrame>
        <p:nvGraphicFramePr>
          <p:cNvPr id="98" name="Google Shape;98;p14"/>
          <p:cNvGraphicFramePr/>
          <p:nvPr/>
        </p:nvGraphicFramePr>
        <p:xfrm>
          <a:off x="5183188" y="1658112"/>
          <a:ext cx="3000000" cy="3000000"/>
        </p:xfrm>
        <a:graphic>
          <a:graphicData uri="http://schemas.openxmlformats.org/drawingml/2006/table">
            <a:tbl>
              <a:tblPr>
                <a:noFill/>
                <a:tableStyleId>{08C8DDED-480E-42B1-A0F6-F581573596CC}</a:tableStyleId>
              </a:tblPr>
              <a:tblGrid>
                <a:gridCol w="1013375"/>
                <a:gridCol w="1552850"/>
                <a:gridCol w="1013375"/>
                <a:gridCol w="2589450"/>
              </a:tblGrid>
              <a:tr h="364200">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Operator</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Meaning</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Example</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In words</a:t>
                      </a:r>
                      <a:endParaRPr sz="1400" u="none" cap="none" strike="noStrike"/>
                    </a:p>
                  </a:txBody>
                  <a:tcPr marT="35050" marB="35050" marR="70075" marL="70075"/>
                </a:tc>
              </a:tr>
              <a:tr h="446975">
                <a:tc>
                  <a:txBody>
                    <a:bodyPr/>
                    <a:lstStyle/>
                    <a:p>
                      <a:pPr indent="0" lvl="0" marL="0" marR="0" rtl="0" algn="ctr">
                        <a:lnSpc>
                          <a:spcPct val="100000"/>
                        </a:lnSpc>
                        <a:spcBef>
                          <a:spcPts val="0"/>
                        </a:spcBef>
                        <a:spcAft>
                          <a:spcPts val="0"/>
                        </a:spcAft>
                        <a:buClr>
                          <a:schemeClr val="dk1"/>
                        </a:buClr>
                        <a:buSzPts val="1800"/>
                        <a:buFont typeface="Lustria"/>
                        <a:buNone/>
                      </a:pPr>
                      <a:r>
                        <a:rPr lang="en-GB" sz="1800" u="none" cap="none" strike="noStrike"/>
                        <a:t>&gt;</a:t>
                      </a:r>
                      <a:endParaRPr b="1" sz="18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Greater than</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8 &gt; 6</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8 is greater than 6</a:t>
                      </a:r>
                      <a:endParaRPr sz="1400" u="none" cap="none" strike="noStrike"/>
                    </a:p>
                  </a:txBody>
                  <a:tcPr marT="35050" marB="35050" marR="70075" marL="70075"/>
                </a:tc>
              </a:tr>
              <a:tr h="446975">
                <a:tc>
                  <a:txBody>
                    <a:bodyPr/>
                    <a:lstStyle/>
                    <a:p>
                      <a:pPr indent="0" lvl="0" marL="0" marR="0" rtl="0" algn="ctr">
                        <a:lnSpc>
                          <a:spcPct val="100000"/>
                        </a:lnSpc>
                        <a:spcBef>
                          <a:spcPts val="0"/>
                        </a:spcBef>
                        <a:spcAft>
                          <a:spcPts val="0"/>
                        </a:spcAft>
                        <a:buClr>
                          <a:schemeClr val="dk1"/>
                        </a:buClr>
                        <a:buSzPts val="1800"/>
                        <a:buFont typeface="Lustria"/>
                        <a:buNone/>
                      </a:pPr>
                      <a:r>
                        <a:rPr lang="en-GB" sz="1800" u="none" cap="none" strike="noStrike"/>
                        <a:t>&lt;</a:t>
                      </a:r>
                      <a:endParaRPr b="1" sz="18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Less than</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4 &lt; 9</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4 is less than 9</a:t>
                      </a:r>
                      <a:endParaRPr sz="1400" u="none" cap="none" strike="noStrike"/>
                    </a:p>
                  </a:txBody>
                  <a:tcPr marT="35050" marB="35050" marR="70075" marL="70075"/>
                </a:tc>
              </a:tr>
              <a:tr h="446975">
                <a:tc>
                  <a:txBody>
                    <a:bodyPr/>
                    <a:lstStyle/>
                    <a:p>
                      <a:pPr indent="0" lvl="0" marL="0" marR="0" rtl="0" algn="ctr">
                        <a:lnSpc>
                          <a:spcPct val="100000"/>
                        </a:lnSpc>
                        <a:spcBef>
                          <a:spcPts val="0"/>
                        </a:spcBef>
                        <a:spcAft>
                          <a:spcPts val="0"/>
                        </a:spcAft>
                        <a:buClr>
                          <a:schemeClr val="dk1"/>
                        </a:buClr>
                        <a:buSzPts val="1800"/>
                        <a:buFont typeface="Lustria"/>
                        <a:buNone/>
                      </a:pPr>
                      <a:r>
                        <a:rPr lang="en-GB" sz="1800" u="none" cap="none" strike="noStrike"/>
                        <a:t>==</a:t>
                      </a:r>
                      <a:endParaRPr b="1" sz="18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Equal to</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10 == 10</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10 is equal to 10</a:t>
                      </a:r>
                      <a:endParaRPr sz="1400" u="none" cap="none" strike="noStrike"/>
                    </a:p>
                  </a:txBody>
                  <a:tcPr marT="35050" marB="35050" marR="70075" marL="70075"/>
                </a:tc>
              </a:tr>
              <a:tr h="612525">
                <a:tc>
                  <a:txBody>
                    <a:bodyPr/>
                    <a:lstStyle/>
                    <a:p>
                      <a:pPr indent="0" lvl="0" marL="0" marR="0" rtl="0" algn="ctr">
                        <a:lnSpc>
                          <a:spcPct val="100000"/>
                        </a:lnSpc>
                        <a:spcBef>
                          <a:spcPts val="0"/>
                        </a:spcBef>
                        <a:spcAft>
                          <a:spcPts val="0"/>
                        </a:spcAft>
                        <a:buClr>
                          <a:schemeClr val="dk1"/>
                        </a:buClr>
                        <a:buSzPts val="1800"/>
                        <a:buFont typeface="Lustria"/>
                        <a:buNone/>
                      </a:pPr>
                      <a:r>
                        <a:rPr lang="en-GB" sz="1800" u="none" cap="none" strike="noStrike"/>
                        <a:t>&lt;=</a:t>
                      </a:r>
                      <a:endParaRPr b="1" sz="18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Less than or equal to</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3 &lt;= 4</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3 is less than or equal to 4</a:t>
                      </a:r>
                      <a:endParaRPr sz="1400" u="none" cap="none" strike="noStrike"/>
                    </a:p>
                  </a:txBody>
                  <a:tcPr marT="35050" marB="35050" marR="70075" marL="70075"/>
                </a:tc>
              </a:tr>
              <a:tr h="612525">
                <a:tc>
                  <a:txBody>
                    <a:bodyPr/>
                    <a:lstStyle/>
                    <a:p>
                      <a:pPr indent="0" lvl="0" marL="0" marR="0" rtl="0" algn="ctr">
                        <a:lnSpc>
                          <a:spcPct val="100000"/>
                        </a:lnSpc>
                        <a:spcBef>
                          <a:spcPts val="0"/>
                        </a:spcBef>
                        <a:spcAft>
                          <a:spcPts val="0"/>
                        </a:spcAft>
                        <a:buClr>
                          <a:schemeClr val="dk1"/>
                        </a:buClr>
                        <a:buSzPts val="1800"/>
                        <a:buFont typeface="Lustria"/>
                        <a:buNone/>
                      </a:pPr>
                      <a:r>
                        <a:rPr lang="en-GB" sz="1800" u="none" cap="none" strike="noStrike"/>
                        <a:t>&gt;=</a:t>
                      </a:r>
                      <a:endParaRPr b="1" sz="18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Greater than or equal to</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7 &gt;= 7</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7 is greater than or equal to 7</a:t>
                      </a:r>
                      <a:endParaRPr sz="1400" u="none" cap="none" strike="noStrike"/>
                    </a:p>
                  </a:txBody>
                  <a:tcPr marT="35050" marB="35050" marR="70075" marL="70075"/>
                </a:tc>
              </a:tr>
              <a:tr h="446975">
                <a:tc>
                  <a:txBody>
                    <a:bodyPr/>
                    <a:lstStyle/>
                    <a:p>
                      <a:pPr indent="0" lvl="0" marL="0" marR="0" rtl="0" algn="ctr">
                        <a:lnSpc>
                          <a:spcPct val="100000"/>
                        </a:lnSpc>
                        <a:spcBef>
                          <a:spcPts val="0"/>
                        </a:spcBef>
                        <a:spcAft>
                          <a:spcPts val="0"/>
                        </a:spcAft>
                        <a:buClr>
                          <a:schemeClr val="dk1"/>
                        </a:buClr>
                        <a:buSzPts val="1800"/>
                        <a:buFont typeface="Lustria"/>
                        <a:buNone/>
                      </a:pPr>
                      <a:r>
                        <a:rPr lang="en-GB" sz="1800" u="none" cap="none" strike="noStrike"/>
                        <a:t>!=</a:t>
                      </a:r>
                      <a:endParaRPr b="1" sz="18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Not equal to</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11 != 4</a:t>
                      </a:r>
                      <a:endParaRPr sz="1400" u="none" cap="none" strike="noStrike"/>
                    </a:p>
                  </a:txBody>
                  <a:tcPr marT="35050" marB="35050" marR="70075" marL="70075"/>
                </a:tc>
                <a:tc>
                  <a:txBody>
                    <a:bodyPr/>
                    <a:lstStyle/>
                    <a:p>
                      <a:pPr indent="0" lvl="0" marL="0" marR="0" rtl="0" algn="ctr">
                        <a:lnSpc>
                          <a:spcPct val="100000"/>
                        </a:lnSpc>
                        <a:spcBef>
                          <a:spcPts val="0"/>
                        </a:spcBef>
                        <a:spcAft>
                          <a:spcPts val="0"/>
                        </a:spcAft>
                        <a:buClr>
                          <a:schemeClr val="dk1"/>
                        </a:buClr>
                        <a:buSzPts val="1400"/>
                        <a:buFont typeface="Lustria"/>
                        <a:buNone/>
                      </a:pPr>
                      <a:r>
                        <a:rPr lang="en-GB" sz="1400" u="none" cap="none" strike="noStrike"/>
                        <a:t>11 is not equal to 4</a:t>
                      </a:r>
                      <a:endParaRPr sz="1400" u="none" cap="none" strike="noStrike"/>
                    </a:p>
                  </a:txBody>
                  <a:tcPr marT="35050" marB="35050" marR="70075" marL="7007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Libre Franklin Medium"/>
              <a:buNone/>
            </a:pPr>
            <a:r>
              <a:rPr lang="en-GB"/>
              <a:t>The IF Statement</a:t>
            </a:r>
            <a:endParaRPr/>
          </a:p>
        </p:txBody>
      </p:sp>
      <p:sp>
        <p:nvSpPr>
          <p:cNvPr id="104" name="Google Shape;104;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Libre Franklin Medium"/>
              <a:buNone/>
            </a:pPr>
            <a:r>
              <a:rPr lang="en-GB"/>
              <a:t>The IF Statement</a:t>
            </a:r>
            <a:endParaRPr/>
          </a:p>
        </p:txBody>
      </p:sp>
      <p:sp>
        <p:nvSpPr>
          <p:cNvPr id="110" name="Google Shape;110;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700"/>
              <a:buChar char="◈"/>
            </a:pPr>
            <a:r>
              <a:rPr lang="en-GB"/>
              <a:t>We have learned how to take in data from the user and how to perform mathematical and string operations.</a:t>
            </a:r>
            <a:endParaRPr/>
          </a:p>
          <a:p>
            <a:pPr indent="-342900" lvl="0" marL="342900" rtl="0" algn="l">
              <a:lnSpc>
                <a:spcPct val="100000"/>
              </a:lnSpc>
              <a:spcBef>
                <a:spcPts val="1000"/>
              </a:spcBef>
              <a:spcAft>
                <a:spcPts val="0"/>
              </a:spcAft>
              <a:buClr>
                <a:schemeClr val="dk1"/>
              </a:buClr>
              <a:buSzPts val="1700"/>
              <a:buChar char="◈"/>
            </a:pPr>
            <a:r>
              <a:rPr lang="en-GB"/>
              <a:t>These skills are important in programming but now it is time to take the next step!</a:t>
            </a:r>
            <a:endParaRPr/>
          </a:p>
          <a:p>
            <a:pPr indent="-342900" lvl="0" marL="342900" rtl="0" algn="l">
              <a:lnSpc>
                <a:spcPct val="100000"/>
              </a:lnSpc>
              <a:spcBef>
                <a:spcPts val="1000"/>
              </a:spcBef>
              <a:spcAft>
                <a:spcPts val="0"/>
              </a:spcAft>
              <a:buClr>
                <a:schemeClr val="dk1"/>
              </a:buClr>
              <a:buSzPts val="1700"/>
              <a:buChar char="◈"/>
            </a:pPr>
            <a:r>
              <a:rPr lang="en-GB"/>
              <a:t>We are going to ask our programs questions and depending on the answers, our programs will perform a certain task.</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06000" lvl="0" marL="342900" rtl="0" algn="l">
              <a:lnSpc>
                <a:spcPct val="100000"/>
              </a:lnSpc>
              <a:spcBef>
                <a:spcPts val="0"/>
              </a:spcBef>
              <a:spcAft>
                <a:spcPts val="0"/>
              </a:spcAft>
              <a:buClr>
                <a:srgbClr val="FA6E52"/>
              </a:buClr>
              <a:buSzPts val="1400"/>
              <a:buChar char="◈"/>
            </a:pPr>
            <a:r>
              <a:rPr lang="en-GB"/>
              <a:t>Let's build a program that determines whether a person can drive based on their age.</a:t>
            </a:r>
            <a:endParaRPr/>
          </a:p>
          <a:p>
            <a:pPr indent="-306000" lvl="0" marL="342900" rtl="0" algn="l">
              <a:lnSpc>
                <a:spcPct val="100000"/>
              </a:lnSpc>
              <a:spcBef>
                <a:spcPts val="1000"/>
              </a:spcBef>
              <a:spcAft>
                <a:spcPts val="0"/>
              </a:spcAft>
              <a:buClr>
                <a:srgbClr val="FA6E52"/>
              </a:buClr>
              <a:buSzPts val="1400"/>
              <a:buChar char="◈"/>
            </a:pPr>
            <a:r>
              <a:rPr lang="en-GB"/>
              <a:t>So, what inputs will our program need?</a:t>
            </a:r>
            <a:endParaRPr/>
          </a:p>
          <a:p>
            <a:pPr indent="-306000" lvl="0" marL="342900" rtl="0" algn="l">
              <a:lnSpc>
                <a:spcPct val="100000"/>
              </a:lnSpc>
              <a:spcBef>
                <a:spcPts val="1000"/>
              </a:spcBef>
              <a:spcAft>
                <a:spcPts val="0"/>
              </a:spcAft>
              <a:buClr>
                <a:srgbClr val="FA6E52"/>
              </a:buClr>
              <a:buSzPts val="1400"/>
              <a:buChar char="◈"/>
            </a:pPr>
            <a:r>
              <a:rPr lang="en-GB"/>
              <a:t>Inputs: age</a:t>
            </a:r>
            <a:endParaRPr/>
          </a:p>
          <a:p>
            <a:pPr indent="-306000" lvl="0" marL="342900" rtl="0" algn="l">
              <a:lnSpc>
                <a:spcPct val="100000"/>
              </a:lnSpc>
              <a:spcBef>
                <a:spcPts val="1000"/>
              </a:spcBef>
              <a:spcAft>
                <a:spcPts val="0"/>
              </a:spcAft>
              <a:buClr>
                <a:srgbClr val="FA6E52"/>
              </a:buClr>
              <a:buSzPts val="1400"/>
              <a:buChar char="◈"/>
            </a:pPr>
            <a:r>
              <a:rPr lang="en-GB"/>
              <a:t>In Ireland people need to be 17 years old to drive, so based on this and the data taken in from the user, our program will tell people if they can drive or not.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Libre Franklin Medium"/>
              <a:buNone/>
            </a:pPr>
            <a:r>
              <a:rPr lang="en-GB"/>
              <a:t>Algorithm</a:t>
            </a:r>
            <a:endParaRPr/>
          </a:p>
        </p:txBody>
      </p:sp>
      <p:pic>
        <p:nvPicPr>
          <p:cNvPr descr="A diagram of a diagram&#10;&#10;AI-generated content may be incorrect." id="121" name="Google Shape;121;p18"/>
          <p:cNvPicPr preferRelativeResize="0"/>
          <p:nvPr>
            <p:ph idx="1" type="body"/>
          </p:nvPr>
        </p:nvPicPr>
        <p:blipFill rotWithShape="1">
          <a:blip r:embed="rId3">
            <a:alphaModFix/>
          </a:blip>
          <a:srcRect b="0" l="0" r="0" t="0"/>
          <a:stretch/>
        </p:blipFill>
        <p:spPr>
          <a:xfrm>
            <a:off x="5370275" y="457200"/>
            <a:ext cx="5287714" cy="5411788"/>
          </a:xfrm>
          <a:prstGeom prst="rect">
            <a:avLst/>
          </a:prstGeom>
          <a:noFill/>
          <a:ln>
            <a:noFill/>
          </a:ln>
        </p:spPr>
      </p:pic>
      <p:sp>
        <p:nvSpPr>
          <p:cNvPr id="122" name="Google Shape;122;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p>
            <a:pPr indent="-306000" lvl="0" marL="342900" rtl="0" algn="l">
              <a:lnSpc>
                <a:spcPct val="100000"/>
              </a:lnSpc>
              <a:spcBef>
                <a:spcPts val="0"/>
              </a:spcBef>
              <a:spcAft>
                <a:spcPts val="0"/>
              </a:spcAft>
              <a:buClr>
                <a:schemeClr val="dk1"/>
              </a:buClr>
              <a:buSzPts val="1400"/>
              <a:buChar char="◈"/>
            </a:pPr>
            <a:r>
              <a:rPr lang="en-GB" sz="2400"/>
              <a:t>An algorithm is a set of steps to be followed to solve a problem.</a:t>
            </a:r>
            <a:endParaRPr/>
          </a:p>
          <a:p>
            <a:pPr indent="-306000" lvl="0" marL="342900" rtl="0" algn="l">
              <a:lnSpc>
                <a:spcPct val="100000"/>
              </a:lnSpc>
              <a:spcBef>
                <a:spcPts val="1000"/>
              </a:spcBef>
              <a:spcAft>
                <a:spcPts val="0"/>
              </a:spcAft>
              <a:buClr>
                <a:schemeClr val="dk1"/>
              </a:buClr>
              <a:buSzPts val="1400"/>
              <a:buChar char="◈"/>
            </a:pPr>
            <a:r>
              <a:rPr lang="en-GB" sz="2400"/>
              <a:t>This is what the algorithm for our program would look like</a:t>
            </a:r>
            <a:endParaRPr/>
          </a:p>
          <a:p>
            <a:pPr indent="0" lvl="0" marL="0" rtl="0" algn="l">
              <a:lnSpc>
                <a:spcPct val="90000"/>
              </a:lnSpc>
              <a:spcBef>
                <a:spcPts val="1000"/>
              </a:spcBef>
              <a:spcAft>
                <a:spcPts val="0"/>
              </a:spcAft>
              <a:buClr>
                <a:schemeClr val="dk1"/>
              </a:buClr>
              <a:buSzPts val="16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Libre Franklin Medium"/>
              <a:buNone/>
            </a:pPr>
            <a:r>
              <a:t/>
            </a:r>
            <a:endParaRPr/>
          </a:p>
        </p:txBody>
      </p:sp>
      <p:sp>
        <p:nvSpPr>
          <p:cNvPr id="128" name="Google Shape;128;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GB"/>
              <a:t>What does this look like in our code</a:t>
            </a:r>
            <a:endParaRPr/>
          </a:p>
          <a:p>
            <a:pPr indent="-50800" lvl="0" marL="228600" rtl="0" algn="l">
              <a:lnSpc>
                <a:spcPct val="90000"/>
              </a:lnSpc>
              <a:spcBef>
                <a:spcPts val="1000"/>
              </a:spcBef>
              <a:spcAft>
                <a:spcPts val="0"/>
              </a:spcAft>
              <a:buClr>
                <a:schemeClr val="dk1"/>
              </a:buClr>
              <a:buSzPts val="2800"/>
              <a:buNone/>
            </a:pPr>
            <a:r>
              <a:t/>
            </a:r>
            <a:endParaRPr/>
          </a:p>
          <a:p>
            <a:pPr indent="0" lvl="0" marL="0" marR="0" rtl="0" algn="l">
              <a:lnSpc>
                <a:spcPct val="100000"/>
              </a:lnSpc>
              <a:spcBef>
                <a:spcPts val="0"/>
              </a:spcBef>
              <a:spcAft>
                <a:spcPts val="0"/>
              </a:spcAft>
              <a:buClr>
                <a:srgbClr val="000000"/>
              </a:buClr>
              <a:buSzPts val="1782"/>
              <a:buFont typeface="Arial"/>
              <a:buNone/>
            </a:pPr>
            <a:r>
              <a:rPr b="0" i="0" lang="en-GB" sz="2800" u="none" cap="none" strike="noStrike">
                <a:latin typeface="Lustria"/>
                <a:ea typeface="Lustria"/>
                <a:cs typeface="Lustria"/>
                <a:sym typeface="Lustria"/>
              </a:rPr>
              <a:t>age = int(input("Please enter your age? "))</a:t>
            </a:r>
            <a:endParaRPr b="0" i="0" sz="2000" u="none" cap="none" strike="noStrike">
              <a:latin typeface="Arial"/>
              <a:ea typeface="Arial"/>
              <a:cs typeface="Arial"/>
              <a:sym typeface="Arial"/>
            </a:endParaRPr>
          </a:p>
          <a:p>
            <a:pPr indent="0" lvl="0" marL="0" marR="0" rtl="0" algn="l">
              <a:lnSpc>
                <a:spcPct val="100000"/>
              </a:lnSpc>
              <a:spcBef>
                <a:spcPts val="600"/>
              </a:spcBef>
              <a:spcAft>
                <a:spcPts val="0"/>
              </a:spcAft>
              <a:buClr>
                <a:srgbClr val="000000"/>
              </a:buClr>
              <a:buSzPts val="1782"/>
              <a:buFont typeface="Arial"/>
              <a:buNone/>
            </a:pPr>
            <a:r>
              <a:t/>
            </a:r>
            <a:endParaRPr b="0" i="0" sz="2800" u="none" cap="none" strike="noStrike">
              <a:latin typeface="Lustria"/>
              <a:ea typeface="Lustria"/>
              <a:cs typeface="Lustria"/>
              <a:sym typeface="Lustria"/>
            </a:endParaRPr>
          </a:p>
          <a:p>
            <a:pPr indent="0" lvl="0" marL="0" marR="0" rtl="0" algn="l">
              <a:lnSpc>
                <a:spcPct val="100000"/>
              </a:lnSpc>
              <a:spcBef>
                <a:spcPts val="600"/>
              </a:spcBef>
              <a:spcAft>
                <a:spcPts val="0"/>
              </a:spcAft>
              <a:buClr>
                <a:srgbClr val="000000"/>
              </a:buClr>
              <a:buSzPts val="1782"/>
              <a:buFont typeface="Arial"/>
              <a:buNone/>
            </a:pPr>
            <a:r>
              <a:rPr b="0" i="0" lang="en-GB" sz="2800" u="none" cap="none" strike="noStrike">
                <a:latin typeface="Lustria"/>
                <a:ea typeface="Lustria"/>
                <a:cs typeface="Lustria"/>
                <a:sym typeface="Lustria"/>
              </a:rPr>
              <a:t>if age &gt;= 17:</a:t>
            </a:r>
            <a:endParaRPr b="0" i="0" sz="2000" u="none" cap="none" strike="noStrike">
              <a:latin typeface="Arial"/>
              <a:ea typeface="Arial"/>
              <a:cs typeface="Arial"/>
              <a:sym typeface="Arial"/>
            </a:endParaRPr>
          </a:p>
          <a:p>
            <a:pPr indent="0" lvl="0" marL="0" marR="0" rtl="0" algn="l">
              <a:lnSpc>
                <a:spcPct val="100000"/>
              </a:lnSpc>
              <a:spcBef>
                <a:spcPts val="600"/>
              </a:spcBef>
              <a:spcAft>
                <a:spcPts val="0"/>
              </a:spcAft>
              <a:buClr>
                <a:srgbClr val="000000"/>
              </a:buClr>
              <a:buSzPts val="1782"/>
              <a:buFont typeface="Arial"/>
              <a:buNone/>
            </a:pPr>
            <a:r>
              <a:rPr b="0" i="0" lang="en-GB" sz="2800" u="none" cap="none" strike="noStrike">
                <a:latin typeface="Lustria"/>
                <a:ea typeface="Lustria"/>
                <a:cs typeface="Lustria"/>
                <a:sym typeface="Lustria"/>
              </a:rPr>
              <a:t>  	print("You are eligible to apply for a driver's licence.")</a:t>
            </a:r>
            <a:endParaRPr b="0" i="0" sz="2000" u="none" cap="none" strike="noStrike">
              <a:latin typeface="Arial"/>
              <a:ea typeface="Arial"/>
              <a:cs typeface="Arial"/>
              <a:sym typeface="Arial"/>
            </a:endParaRPr>
          </a:p>
          <a:p>
            <a:pPr indent="0" lvl="0" marL="0" marR="0" rtl="0" algn="l">
              <a:lnSpc>
                <a:spcPct val="100000"/>
              </a:lnSpc>
              <a:spcBef>
                <a:spcPts val="600"/>
              </a:spcBef>
              <a:spcAft>
                <a:spcPts val="0"/>
              </a:spcAft>
              <a:buClr>
                <a:srgbClr val="000000"/>
              </a:buClr>
              <a:buSzPts val="1782"/>
              <a:buFont typeface="Arial"/>
              <a:buNone/>
            </a:pPr>
            <a:r>
              <a:rPr b="0" i="0" lang="en-GB" sz="2800" u="none" cap="none" strike="noStrike">
                <a:latin typeface="Lustria"/>
                <a:ea typeface="Lustria"/>
                <a:cs typeface="Lustria"/>
                <a:sym typeface="Lustria"/>
              </a:rPr>
              <a:t>if age &lt; 17:</a:t>
            </a:r>
            <a:endParaRPr b="0" i="0" sz="2000" u="none" cap="none" strike="noStrike">
              <a:latin typeface="Arial"/>
              <a:ea typeface="Arial"/>
              <a:cs typeface="Arial"/>
              <a:sym typeface="Arial"/>
            </a:endParaRPr>
          </a:p>
          <a:p>
            <a:pPr indent="0" lvl="0" marL="0" marR="0" rtl="0" algn="l">
              <a:lnSpc>
                <a:spcPct val="100000"/>
              </a:lnSpc>
              <a:spcBef>
                <a:spcPts val="600"/>
              </a:spcBef>
              <a:spcAft>
                <a:spcPts val="0"/>
              </a:spcAft>
              <a:buClr>
                <a:srgbClr val="000000"/>
              </a:buClr>
              <a:buSzPts val="1782"/>
              <a:buFont typeface="Arial"/>
              <a:buNone/>
            </a:pPr>
            <a:r>
              <a:rPr b="0" i="0" lang="en-GB" sz="2800" u="none" cap="none" strike="noStrike">
                <a:latin typeface="Lustria"/>
                <a:ea typeface="Lustria"/>
                <a:cs typeface="Lustria"/>
                <a:sym typeface="Lustria"/>
              </a:rPr>
              <a:t>  	print("Sorry you cannot drive yet.")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Libre Franklin Medium"/>
              <a:buNone/>
            </a:pPr>
            <a:r>
              <a:t/>
            </a:r>
            <a:endParaRPr/>
          </a:p>
        </p:txBody>
      </p:sp>
      <p:sp>
        <p:nvSpPr>
          <p:cNvPr id="134" name="Google Shape;13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p>
            <a:pPr indent="-306000" lvl="0" marL="342900" rtl="0" algn="l">
              <a:lnSpc>
                <a:spcPct val="100000"/>
              </a:lnSpc>
              <a:spcBef>
                <a:spcPts val="0"/>
              </a:spcBef>
              <a:spcAft>
                <a:spcPts val="0"/>
              </a:spcAft>
              <a:buClr>
                <a:schemeClr val="dk1"/>
              </a:buClr>
              <a:buSzPts val="1680"/>
              <a:buChar char="◈"/>
            </a:pPr>
            <a:r>
              <a:rPr lang="en-GB" sz="2800"/>
              <a:t>The Indentation tells python that this block of Code belongs to the statement above it.</a:t>
            </a:r>
            <a:endParaRPr/>
          </a:p>
          <a:p>
            <a:pPr indent="-306000" lvl="0" marL="342900" rtl="0" algn="l">
              <a:lnSpc>
                <a:spcPct val="100000"/>
              </a:lnSpc>
              <a:spcBef>
                <a:spcPts val="1080"/>
              </a:spcBef>
              <a:spcAft>
                <a:spcPts val="0"/>
              </a:spcAft>
              <a:buClr>
                <a:schemeClr val="dk1"/>
              </a:buClr>
              <a:buSzPts val="1680"/>
              <a:buChar char="◈"/>
            </a:pPr>
            <a:r>
              <a:rPr lang="en-GB" sz="2800"/>
              <a:t>Indentation is key to how python works with statements</a:t>
            </a:r>
            <a:endParaRPr/>
          </a:p>
          <a:p>
            <a:pPr indent="0" lvl="0" marL="0" rtl="0" algn="l">
              <a:lnSpc>
                <a:spcPct val="90000"/>
              </a:lnSpc>
              <a:spcBef>
                <a:spcPts val="1000"/>
              </a:spcBef>
              <a:spcAft>
                <a:spcPts val="0"/>
              </a:spcAft>
              <a:buClr>
                <a:schemeClr val="dk1"/>
              </a:buClr>
              <a:buSzPts val="2800"/>
              <a:buNone/>
            </a:pPr>
            <a:r>
              <a:t/>
            </a:r>
            <a:endParaRPr sz="2800"/>
          </a:p>
        </p:txBody>
      </p:sp>
      <p:pic>
        <p:nvPicPr>
          <p:cNvPr id="135" name="Google Shape;135;p20"/>
          <p:cNvPicPr preferRelativeResize="0"/>
          <p:nvPr/>
        </p:nvPicPr>
        <p:blipFill rotWithShape="1">
          <a:blip r:embed="rId3">
            <a:alphaModFix/>
          </a:blip>
          <a:srcRect b="0" l="0" r="0" t="0"/>
          <a:stretch/>
        </p:blipFill>
        <p:spPr>
          <a:xfrm>
            <a:off x="4969566" y="1404730"/>
            <a:ext cx="6855816" cy="42272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Libre Franklin Medium"/>
              <a:buNone/>
            </a:pPr>
            <a:r>
              <a:rPr lang="en-GB"/>
              <a:t>What is Happening</a:t>
            </a:r>
            <a:endParaRPr/>
          </a:p>
        </p:txBody>
      </p:sp>
      <p:sp>
        <p:nvSpPr>
          <p:cNvPr id="141" name="Google Shape;14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00000"/>
              </a:lnSpc>
              <a:spcBef>
                <a:spcPts val="0"/>
              </a:spcBef>
              <a:spcAft>
                <a:spcPts val="0"/>
              </a:spcAft>
              <a:buClr>
                <a:schemeClr val="dk1"/>
              </a:buClr>
              <a:buSzPct val="77220"/>
              <a:buChar char="◈"/>
            </a:pPr>
            <a:r>
              <a:rPr lang="en-GB"/>
              <a:t>The program will run as normal until it comes to the if statement.</a:t>
            </a:r>
            <a:endParaRPr/>
          </a:p>
          <a:p>
            <a:pPr indent="-342900" lvl="0" marL="342900" rtl="0" algn="l">
              <a:lnSpc>
                <a:spcPct val="100000"/>
              </a:lnSpc>
              <a:spcBef>
                <a:spcPts val="1000"/>
              </a:spcBef>
              <a:spcAft>
                <a:spcPts val="0"/>
              </a:spcAft>
              <a:buClr>
                <a:schemeClr val="dk1"/>
              </a:buClr>
              <a:buSzPct val="77220"/>
              <a:buChar char="◈"/>
            </a:pPr>
            <a:r>
              <a:rPr lang="en-GB"/>
              <a:t>It will evaluate if the statement is true or false.</a:t>
            </a:r>
            <a:endParaRPr/>
          </a:p>
          <a:p>
            <a:pPr indent="-342900" lvl="0" marL="342900" rtl="0" algn="l">
              <a:lnSpc>
                <a:spcPct val="100000"/>
              </a:lnSpc>
              <a:spcBef>
                <a:spcPts val="1000"/>
              </a:spcBef>
              <a:spcAft>
                <a:spcPts val="0"/>
              </a:spcAft>
              <a:buClr>
                <a:schemeClr val="dk1"/>
              </a:buClr>
              <a:buSzPct val="77220"/>
              <a:buChar char="◈"/>
            </a:pPr>
            <a:r>
              <a:rPr lang="en-GB"/>
              <a:t>If the statement is true, the program will execute the indented code block</a:t>
            </a:r>
            <a:endParaRPr/>
          </a:p>
          <a:p>
            <a:pPr indent="-306000" lvl="0" marL="342900" rtl="0" algn="l">
              <a:lnSpc>
                <a:spcPct val="100000"/>
              </a:lnSpc>
              <a:spcBef>
                <a:spcPts val="400"/>
              </a:spcBef>
              <a:spcAft>
                <a:spcPts val="0"/>
              </a:spcAft>
              <a:buClr>
                <a:schemeClr val="dk1"/>
              </a:buClr>
              <a:buSzPct val="54054"/>
              <a:buChar char="◈"/>
            </a:pPr>
            <a:r>
              <a:rPr lang="en-GB">
                <a:latin typeface="Lustria"/>
                <a:ea typeface="Lustria"/>
                <a:cs typeface="Lustria"/>
                <a:sym typeface="Lustria"/>
              </a:rPr>
              <a:t>if age &gt;= 17: </a:t>
            </a:r>
            <a:r>
              <a:rPr lang="en-GB">
                <a:solidFill>
                  <a:srgbClr val="E88663"/>
                </a:solidFill>
                <a:latin typeface="Lustria"/>
                <a:ea typeface="Lustria"/>
                <a:cs typeface="Lustria"/>
                <a:sym typeface="Lustria"/>
              </a:rPr>
              <a:t>(Conditional If Statement)</a:t>
            </a:r>
            <a:endParaRPr/>
          </a:p>
          <a:p>
            <a:pPr indent="-306000" lvl="0" marL="342900" rtl="0" algn="l">
              <a:lnSpc>
                <a:spcPct val="100000"/>
              </a:lnSpc>
              <a:spcBef>
                <a:spcPts val="1000"/>
              </a:spcBef>
              <a:spcAft>
                <a:spcPts val="0"/>
              </a:spcAft>
              <a:buClr>
                <a:schemeClr val="dk1"/>
              </a:buClr>
              <a:buSzPct val="54054"/>
              <a:buChar char="◈"/>
            </a:pPr>
            <a:r>
              <a:rPr lang="en-GB">
                <a:latin typeface="Lustria"/>
                <a:ea typeface="Lustria"/>
                <a:cs typeface="Lustria"/>
                <a:sym typeface="Lustria"/>
              </a:rPr>
              <a:t>  	print("You are eligible to apply for a driver's licence.") </a:t>
            </a:r>
            <a:r>
              <a:rPr lang="en-GB">
                <a:solidFill>
                  <a:srgbClr val="92D050"/>
                </a:solidFill>
                <a:latin typeface="Lustria"/>
                <a:ea typeface="Lustria"/>
                <a:cs typeface="Lustria"/>
                <a:sym typeface="Lustria"/>
              </a:rPr>
              <a:t>(Code that runs if statement is true)</a:t>
            </a:r>
            <a:endParaRPr/>
          </a:p>
          <a:p>
            <a:pPr indent="-342900" lvl="0" marL="342900" rtl="0" algn="l">
              <a:lnSpc>
                <a:spcPct val="100000"/>
              </a:lnSpc>
              <a:spcBef>
                <a:spcPts val="1600"/>
              </a:spcBef>
              <a:spcAft>
                <a:spcPts val="0"/>
              </a:spcAft>
              <a:buClr>
                <a:schemeClr val="dk1"/>
              </a:buClr>
              <a:buSzPct val="77220"/>
              <a:buChar char="◈"/>
            </a:pPr>
            <a:r>
              <a:rPr lang="en-GB"/>
              <a:t>The indented code block will execute only if the conditional if statement evaluates to true. If the if statement evaluates to false, the code block will be ignored.</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Libre Franklin Medium"/>
              <a:buNone/>
            </a:pPr>
            <a:r>
              <a:rPr lang="en-GB"/>
              <a:t>If Else (ELIF)</a:t>
            </a:r>
            <a:endParaRPr/>
          </a:p>
        </p:txBody>
      </p:sp>
      <p:sp>
        <p:nvSpPr>
          <p:cNvPr id="147" name="Google Shape;147;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57575"/>
              </a:buClr>
              <a:buSzPts val="24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Libre Franklin Medium"/>
              <a:buNone/>
            </a:pPr>
            <a:r>
              <a:rPr lang="en-GB"/>
              <a:t>The elif statement</a:t>
            </a:r>
            <a:endParaRPr/>
          </a:p>
        </p:txBody>
      </p:sp>
      <p:sp>
        <p:nvSpPr>
          <p:cNvPr id="153" name="Google Shape;15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GB"/>
              <a:t>The if else elif statement is similar to the if else statement, but it adds in more conditions.</a:t>
            </a:r>
            <a:endParaRPr/>
          </a:p>
          <a:p>
            <a:pPr indent="-342900" lvl="0" marL="342900" rtl="0" algn="l">
              <a:lnSpc>
                <a:spcPct val="100000"/>
              </a:lnSpc>
              <a:spcBef>
                <a:spcPts val="1000"/>
              </a:spcBef>
              <a:spcAft>
                <a:spcPts val="0"/>
              </a:spcAft>
              <a:buClr>
                <a:schemeClr val="dk1"/>
              </a:buClr>
              <a:buSzPts val="2000"/>
              <a:buChar char="◈"/>
            </a:pPr>
            <a:r>
              <a:rPr lang="en-GB"/>
              <a:t>If the if statement evaluates to true, the if code block will be executed.</a:t>
            </a:r>
            <a:endParaRPr/>
          </a:p>
          <a:p>
            <a:pPr indent="-342900" lvl="0" marL="342900" rtl="0" algn="l">
              <a:lnSpc>
                <a:spcPct val="100000"/>
              </a:lnSpc>
              <a:spcBef>
                <a:spcPts val="1000"/>
              </a:spcBef>
              <a:spcAft>
                <a:spcPts val="0"/>
              </a:spcAft>
              <a:buClr>
                <a:schemeClr val="dk1"/>
              </a:buClr>
              <a:buSzPts val="2000"/>
              <a:buChar char="◈"/>
            </a:pPr>
            <a:r>
              <a:rPr lang="en-GB"/>
              <a:t>If one of the elif statements evaluates to true, the code block inside that elif will be executed.</a:t>
            </a:r>
            <a:endParaRPr/>
          </a:p>
          <a:p>
            <a:pPr indent="-342900" lvl="0" marL="342900" rtl="0" algn="l">
              <a:lnSpc>
                <a:spcPct val="100000"/>
              </a:lnSpc>
              <a:spcBef>
                <a:spcPts val="1000"/>
              </a:spcBef>
              <a:spcAft>
                <a:spcPts val="0"/>
              </a:spcAft>
              <a:buClr>
                <a:schemeClr val="dk1"/>
              </a:buClr>
              <a:buSzPts val="2000"/>
              <a:buChar char="◈"/>
            </a:pPr>
            <a:r>
              <a:rPr lang="en-GB"/>
              <a:t>If the if statement and all of the elif statements evaluate to false, the else code block will be executed.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Libre Franklin Medium"/>
              <a:buNone/>
            </a:pPr>
            <a:r>
              <a:t/>
            </a:r>
            <a:endParaRPr/>
          </a:p>
        </p:txBody>
      </p:sp>
      <p:grpSp>
        <p:nvGrpSpPr>
          <p:cNvPr id="159" name="Google Shape;159;p24"/>
          <p:cNvGrpSpPr/>
          <p:nvPr/>
        </p:nvGrpSpPr>
        <p:grpSpPr>
          <a:xfrm>
            <a:off x="363269" y="2111167"/>
            <a:ext cx="11465462" cy="4093388"/>
            <a:chOff x="363269" y="721279"/>
            <a:chExt cx="11465462" cy="4093388"/>
          </a:xfrm>
        </p:grpSpPr>
        <p:sp>
          <p:nvSpPr>
            <p:cNvPr id="160" name="Google Shape;160;p24"/>
            <p:cNvSpPr txBox="1"/>
            <p:nvPr/>
          </p:nvSpPr>
          <p:spPr>
            <a:xfrm>
              <a:off x="363269" y="721279"/>
              <a:ext cx="7567751" cy="39702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800"/>
                <a:buFont typeface="Twentieth Century"/>
                <a:buNone/>
              </a:pPr>
              <a:r>
                <a:rPr b="0" i="0" lang="en-GB" sz="2800" u="none" cap="none" strike="noStrike">
                  <a:solidFill>
                    <a:schemeClr val="dk1"/>
                  </a:solidFill>
                  <a:latin typeface="Twentieth Century"/>
                  <a:ea typeface="Twentieth Century"/>
                  <a:cs typeface="Twentieth Century"/>
                  <a:sym typeface="Twentieth Century"/>
                </a:rPr>
                <a:t>age = int(input(“Please enter your age"))</a:t>
              </a:r>
              <a:endParaRPr b="0" i="0" sz="24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chemeClr val="lt1"/>
                </a:buClr>
                <a:buSzPts val="2800"/>
                <a:buFont typeface="Lustria"/>
                <a:buNone/>
              </a:pPr>
              <a:r>
                <a:t/>
              </a:r>
              <a:endParaRPr b="0" i="0" sz="28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800"/>
                <a:buFont typeface="Twentieth Century"/>
                <a:buNone/>
              </a:pPr>
              <a:r>
                <a:rPr b="0" i="0" lang="en-GB" sz="2800" u="none" cap="none" strike="noStrike">
                  <a:solidFill>
                    <a:schemeClr val="dk1"/>
                  </a:solidFill>
                  <a:latin typeface="Twentieth Century"/>
                  <a:ea typeface="Twentieth Century"/>
                  <a:cs typeface="Twentieth Century"/>
                  <a:sym typeface="Twentieth Century"/>
                </a:rPr>
                <a:t>if age &gt; 17:</a:t>
              </a:r>
              <a:endParaRPr b="0" i="0" sz="24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chemeClr val="lt1"/>
                </a:buClr>
                <a:buSzPts val="2800"/>
                <a:buFont typeface="Twentieth Century"/>
                <a:buNone/>
              </a:pPr>
              <a:r>
                <a:rPr b="0" i="0" lang="en-GB" sz="2800" u="none" cap="none" strike="noStrike">
                  <a:solidFill>
                    <a:schemeClr val="dk1"/>
                  </a:solidFill>
                  <a:latin typeface="Twentieth Century"/>
                  <a:ea typeface="Twentieth Century"/>
                  <a:cs typeface="Twentieth Century"/>
                  <a:sym typeface="Twentieth Century"/>
                </a:rPr>
                <a:t>        print(“You are eligible to apply for a drivers licence.“)</a:t>
              </a:r>
              <a:endParaRPr b="0" i="0" sz="24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chemeClr val="lt1"/>
                </a:buClr>
                <a:buSzPts val="2800"/>
                <a:buFont typeface="Twentieth Century"/>
                <a:buNone/>
              </a:pPr>
              <a:r>
                <a:rPr b="0" i="0" lang="en-GB" sz="2800" u="none" cap="none" strike="noStrike">
                  <a:solidFill>
                    <a:schemeClr val="dk1"/>
                  </a:solidFill>
                  <a:latin typeface="Twentieth Century"/>
                  <a:ea typeface="Twentieth Century"/>
                  <a:cs typeface="Twentieth Century"/>
                  <a:sym typeface="Twentieth Century"/>
                </a:rPr>
                <a:t>elif age == 17:</a:t>
              </a:r>
              <a:endParaRPr b="0" i="0" sz="24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chemeClr val="lt1"/>
                </a:buClr>
                <a:buSzPts val="2800"/>
                <a:buFont typeface="Twentieth Century"/>
                <a:buNone/>
              </a:pPr>
              <a:r>
                <a:rPr b="0" i="0" lang="en-GB" sz="2800" u="none" cap="none" strike="noStrike">
                  <a:solidFill>
                    <a:schemeClr val="dk1"/>
                  </a:solidFill>
                  <a:latin typeface="Twentieth Century"/>
                  <a:ea typeface="Twentieth Century"/>
                  <a:cs typeface="Twentieth Century"/>
                  <a:sym typeface="Twentieth Century"/>
                </a:rPr>
                <a:t>        print(“You are exactly the right age.”)</a:t>
              </a:r>
              <a:br>
                <a:rPr b="0" i="0" lang="en-GB" sz="2800" u="none" cap="none" strike="noStrike">
                  <a:solidFill>
                    <a:schemeClr val="dk1"/>
                  </a:solidFill>
                  <a:latin typeface="Twentieth Century"/>
                  <a:ea typeface="Twentieth Century"/>
                  <a:cs typeface="Twentieth Century"/>
                  <a:sym typeface="Twentieth Century"/>
                </a:rPr>
              </a:br>
              <a:r>
                <a:rPr b="0" i="0" lang="en-GB" sz="2800" u="none" cap="none" strike="noStrike">
                  <a:solidFill>
                    <a:schemeClr val="dk1"/>
                  </a:solidFill>
                  <a:latin typeface="Twentieth Century"/>
                  <a:ea typeface="Twentieth Century"/>
                  <a:cs typeface="Twentieth Century"/>
                  <a:sym typeface="Twentieth Century"/>
                </a:rPr>
                <a:t>else:</a:t>
              </a:r>
              <a:endParaRPr b="0" i="0" sz="2400" u="none" cap="none" strike="noStrike">
                <a:solidFill>
                  <a:schemeClr val="dk1"/>
                </a:solidFill>
                <a:latin typeface="Lustria"/>
                <a:ea typeface="Lustria"/>
                <a:cs typeface="Lustria"/>
                <a:sym typeface="Lustria"/>
              </a:endParaRPr>
            </a:p>
            <a:p>
              <a:pPr indent="0" lvl="0" marL="0" marR="0" rtl="0" algn="l">
                <a:lnSpc>
                  <a:spcPct val="100000"/>
                </a:lnSpc>
                <a:spcBef>
                  <a:spcPts val="0"/>
                </a:spcBef>
                <a:spcAft>
                  <a:spcPts val="0"/>
                </a:spcAft>
                <a:buClr>
                  <a:schemeClr val="lt1"/>
                </a:buClr>
                <a:buSzPts val="2800"/>
                <a:buFont typeface="Twentieth Century"/>
                <a:buNone/>
              </a:pPr>
              <a:r>
                <a:rPr b="0" i="0" lang="en-GB" sz="2800" u="none" cap="none" strike="noStrike">
                  <a:solidFill>
                    <a:schemeClr val="dk1"/>
                  </a:solidFill>
                  <a:latin typeface="Twentieth Century"/>
                  <a:ea typeface="Twentieth Century"/>
                  <a:cs typeface="Twentieth Century"/>
                  <a:sym typeface="Twentieth Century"/>
                </a:rPr>
                <a:t>        print("Sorry, you cannot drive yet.")</a:t>
              </a:r>
              <a:endParaRPr b="0" i="0" sz="2400" u="none" cap="none" strike="noStrike">
                <a:solidFill>
                  <a:schemeClr val="dk1"/>
                </a:solidFill>
                <a:latin typeface="Twentieth Century"/>
                <a:ea typeface="Twentieth Century"/>
                <a:cs typeface="Twentieth Century"/>
                <a:sym typeface="Twentieth Century"/>
              </a:endParaRPr>
            </a:p>
          </p:txBody>
        </p:sp>
        <p:sp>
          <p:nvSpPr>
            <p:cNvPr id="161" name="Google Shape;161;p24"/>
            <p:cNvSpPr txBox="1"/>
            <p:nvPr/>
          </p:nvSpPr>
          <p:spPr>
            <a:xfrm>
              <a:off x="8358833" y="721279"/>
              <a:ext cx="3469898" cy="40933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User input variable</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Lustria"/>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Lustria"/>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IF statement</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Lustria"/>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First indented code block</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Lustria"/>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ELIF statement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Second indented code block</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Lustria"/>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ELSE statement</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Lustria"/>
                <a:buNone/>
              </a:pPr>
              <a:r>
                <a:t/>
              </a:r>
              <a:endParaRPr b="0" i="0" sz="2000" u="none" cap="none" strike="noStrike">
                <a:solidFill>
                  <a:schemeClr val="dk1"/>
                </a:solidFill>
                <a:latin typeface="Twentieth Century"/>
                <a:ea typeface="Twentieth Century"/>
                <a:cs typeface="Twentieth Century"/>
                <a:sym typeface="Twentieth Century"/>
              </a:endParaRPr>
            </a:p>
            <a:p>
              <a:pPr indent="0" lvl="0" marL="0" marR="0" rtl="0" algn="l">
                <a:lnSpc>
                  <a:spcPct val="100000"/>
                </a:lnSpc>
                <a:spcBef>
                  <a:spcPts val="0"/>
                </a:spcBef>
                <a:spcAft>
                  <a:spcPts val="0"/>
                </a:spcAft>
                <a:buClr>
                  <a:schemeClr val="lt1"/>
                </a:buClr>
                <a:buSzPts val="2000"/>
                <a:buFont typeface="Twentieth Century"/>
                <a:buNone/>
              </a:pPr>
              <a:r>
                <a:rPr b="0" i="0" lang="en-GB" sz="2000" u="none" cap="none" strike="noStrike">
                  <a:solidFill>
                    <a:schemeClr val="dk1"/>
                  </a:solidFill>
                  <a:latin typeface="Twentieth Century"/>
                  <a:ea typeface="Twentieth Century"/>
                  <a:cs typeface="Twentieth Century"/>
                  <a:sym typeface="Twentieth Century"/>
                </a:rPr>
                <a:t>Third indented code block</a:t>
              </a:r>
              <a:endParaRPr b="0" i="0" sz="2000" u="none" cap="none" strike="noStrike">
                <a:solidFill>
                  <a:schemeClr val="dk1"/>
                </a:solidFill>
                <a:latin typeface="Twentieth Century"/>
                <a:ea typeface="Twentieth Century"/>
                <a:cs typeface="Twentieth Century"/>
                <a:sym typeface="Twentieth Century"/>
              </a:endParaRPr>
            </a:p>
          </p:txBody>
        </p:sp>
        <p:sp>
          <p:nvSpPr>
            <p:cNvPr id="162" name="Google Shape;162;p24"/>
            <p:cNvSpPr/>
            <p:nvPr/>
          </p:nvSpPr>
          <p:spPr>
            <a:xfrm rot="10800000">
              <a:off x="6595347" y="746449"/>
              <a:ext cx="1586204" cy="541175"/>
            </a:xfrm>
            <a:prstGeom prst="stripedRightArrow">
              <a:avLst>
                <a:gd fmla="val 39655" name="adj1"/>
                <a:gd fmla="val 50000" name="adj2"/>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163" name="Google Shape;163;p24"/>
            <p:cNvSpPr/>
            <p:nvPr/>
          </p:nvSpPr>
          <p:spPr>
            <a:xfrm rot="10800000">
              <a:off x="2948473" y="1496007"/>
              <a:ext cx="5321719" cy="541175"/>
            </a:xfrm>
            <a:prstGeom prst="stripedRightArrow">
              <a:avLst>
                <a:gd fmla="val 39655" name="adj1"/>
                <a:gd fmla="val 50000" name="adj2"/>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164" name="Google Shape;164;p24"/>
            <p:cNvSpPr/>
            <p:nvPr/>
          </p:nvSpPr>
          <p:spPr>
            <a:xfrm rot="10800000">
              <a:off x="7417836" y="3220429"/>
              <a:ext cx="857021" cy="541175"/>
            </a:xfrm>
            <a:prstGeom prst="stripedRightArrow">
              <a:avLst>
                <a:gd fmla="val 39655" name="adj1"/>
                <a:gd fmla="val 50000" name="adj2"/>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165" name="Google Shape;165;p24"/>
            <p:cNvSpPr/>
            <p:nvPr/>
          </p:nvSpPr>
          <p:spPr>
            <a:xfrm rot="10800000">
              <a:off x="2823207" y="2834475"/>
              <a:ext cx="5321719" cy="541175"/>
            </a:xfrm>
            <a:prstGeom prst="stripedRightArrow">
              <a:avLst>
                <a:gd fmla="val 39655" name="adj1"/>
                <a:gd fmla="val 50000" name="adj2"/>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sp>
          <p:nvSpPr>
            <p:cNvPr id="166" name="Google Shape;166;p24"/>
            <p:cNvSpPr/>
            <p:nvPr/>
          </p:nvSpPr>
          <p:spPr>
            <a:xfrm rot="10800000">
              <a:off x="2992793" y="3756607"/>
              <a:ext cx="5321719" cy="541175"/>
            </a:xfrm>
            <a:prstGeom prst="stripedRightArrow">
              <a:avLst>
                <a:gd fmla="val 39655" name="adj1"/>
                <a:gd fmla="val 50000" name="adj2"/>
              </a:avLst>
            </a:prstGeom>
            <a:solidFill>
              <a:schemeClr val="accent1"/>
            </a:solidFill>
            <a:ln cap="rnd" cmpd="sng" w="15875">
              <a:solidFill>
                <a:srgbClr val="4F1D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ustria"/>
                <a:ea typeface="Lustria"/>
                <a:cs typeface="Lustria"/>
                <a:sym typeface="Lustria"/>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idx="1" type="body"/>
          </p:nvPr>
        </p:nvSpPr>
        <p:spPr>
          <a:xfrm>
            <a:off x="838200" y="548640"/>
            <a:ext cx="10515600" cy="562832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110000"/>
              </a:lnSpc>
              <a:spcBef>
                <a:spcPts val="0"/>
              </a:spcBef>
              <a:spcAft>
                <a:spcPts val="0"/>
              </a:spcAft>
              <a:buClr>
                <a:schemeClr val="dk1"/>
              </a:buClr>
              <a:buSzPct val="64864"/>
              <a:buChar char="◈"/>
            </a:pPr>
            <a:r>
              <a:rPr lang="en-GB" sz="2800"/>
              <a:t>By indenting a line, it becomes a block. A block is one is one or more consecutive </a:t>
            </a:r>
            <a:r>
              <a:rPr lang="en-GB"/>
              <a:t>l</a:t>
            </a:r>
            <a:r>
              <a:rPr lang="en-GB" sz="2800"/>
              <a:t>ines indented by the same amount.</a:t>
            </a:r>
            <a:endParaRPr/>
          </a:p>
          <a:p>
            <a:pPr indent="-342900" lvl="0" marL="342900" rtl="0" algn="l">
              <a:lnSpc>
                <a:spcPct val="110000"/>
              </a:lnSpc>
              <a:spcBef>
                <a:spcPts val="1000"/>
              </a:spcBef>
              <a:spcAft>
                <a:spcPts val="0"/>
              </a:spcAft>
              <a:buClr>
                <a:schemeClr val="dk1"/>
              </a:buClr>
              <a:buSzPct val="64864"/>
              <a:buChar char="◈"/>
            </a:pPr>
            <a:r>
              <a:rPr lang="en-GB" sz="2800"/>
              <a:t>The indent is equal to 4 spaces or 1 tab. Coders around the world have arguments about whether to use tabs or spaces all the time, the fact is that it doesn’t matter.</a:t>
            </a:r>
            <a:endParaRPr/>
          </a:p>
          <a:p>
            <a:pPr indent="-342900" lvl="0" marL="342900" rtl="0" algn="l">
              <a:lnSpc>
                <a:spcPct val="110000"/>
              </a:lnSpc>
              <a:spcBef>
                <a:spcPts val="1000"/>
              </a:spcBef>
              <a:spcAft>
                <a:spcPts val="0"/>
              </a:spcAft>
              <a:buClr>
                <a:schemeClr val="dk1"/>
              </a:buClr>
              <a:buSzPct val="64864"/>
              <a:buChar char="◈"/>
            </a:pPr>
            <a:r>
              <a:rPr lang="en-GB" sz="2800"/>
              <a:t>Blocks can be used, as we saw here today, as part of an if statement. They’re </a:t>
            </a:r>
            <a:r>
              <a:rPr lang="en-GB"/>
              <a:t>t</a:t>
            </a:r>
            <a:r>
              <a:rPr lang="en-GB" sz="2800"/>
              <a:t>he statement or group of statements that gets executed if the condition is true.</a:t>
            </a:r>
            <a:endParaRPr/>
          </a:p>
          <a:p>
            <a:pPr indent="-342900" lvl="0" marL="342900" rtl="0" algn="l">
              <a:lnSpc>
                <a:spcPct val="110000"/>
              </a:lnSpc>
              <a:spcBef>
                <a:spcPts val="1000"/>
              </a:spcBef>
              <a:spcAft>
                <a:spcPts val="0"/>
              </a:spcAft>
              <a:buClr>
                <a:schemeClr val="dk1"/>
              </a:buClr>
              <a:buSzPct val="64864"/>
              <a:buChar char="◈"/>
            </a:pPr>
            <a:r>
              <a:rPr lang="en-GB" sz="2800"/>
              <a:t>You can have as many elif statements as you require. In our example we only used one, but you can have 2, 3, 4 or more if you need.</a:t>
            </a:r>
            <a:endParaRPr/>
          </a:p>
          <a:p>
            <a:pPr indent="-342900" lvl="0" marL="342900" rtl="0" algn="l">
              <a:lnSpc>
                <a:spcPct val="110000"/>
              </a:lnSpc>
              <a:spcBef>
                <a:spcPts val="1000"/>
              </a:spcBef>
              <a:spcAft>
                <a:spcPts val="0"/>
              </a:spcAft>
              <a:buClr>
                <a:schemeClr val="dk1"/>
              </a:buClr>
              <a:buSzPct val="64864"/>
              <a:buChar char="◈"/>
            </a:pPr>
            <a:r>
              <a:rPr lang="en-GB" sz="2800"/>
              <a:t>In an if else, elif statement, </a:t>
            </a:r>
            <a:r>
              <a:rPr b="1" lang="en-GB" sz="2800"/>
              <a:t>as soon as one statement is found to be true, it will execute and no other code block will be executed</a:t>
            </a:r>
            <a:r>
              <a:rPr lang="en-GB" sz="2800"/>
              <a:t> in that if else elif statement.</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Libre Franklin Medium"/>
              <a:buNone/>
            </a:pPr>
            <a:r>
              <a:rPr lang="en-GB"/>
              <a:t>Today you Learned!</a:t>
            </a:r>
            <a:endParaRPr/>
          </a:p>
        </p:txBody>
      </p:sp>
      <p:sp>
        <p:nvSpPr>
          <p:cNvPr id="177" name="Google Shape;177;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171450" lvl="1" marL="171450" marR="0" rtl="0" algn="l">
              <a:lnSpc>
                <a:spcPct val="90000"/>
              </a:lnSpc>
              <a:spcBef>
                <a:spcPts val="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Equality operators: used to make comparisons between values.</a:t>
            </a:r>
            <a:endParaRPr/>
          </a:p>
          <a:p>
            <a:pPr indent="-171450" lvl="2" marL="342900" marR="0" rtl="0" algn="l">
              <a:lnSpc>
                <a:spcPct val="90000"/>
              </a:lnSpc>
              <a:spcBef>
                <a:spcPts val="270"/>
              </a:spcBef>
              <a:spcAft>
                <a:spcPts val="0"/>
              </a:spcAft>
              <a:buClr>
                <a:schemeClr val="dk1"/>
              </a:buClr>
              <a:buSzPts val="1800"/>
              <a:buFont typeface="Lustria"/>
              <a:buChar char="•"/>
            </a:pPr>
            <a:r>
              <a:rPr b="1" i="0" lang="en-GB" sz="1800" u="none" cap="none" strike="noStrike">
                <a:solidFill>
                  <a:schemeClr val="dk1"/>
                </a:solidFill>
                <a:latin typeface="Lustria"/>
                <a:ea typeface="Lustria"/>
                <a:cs typeface="Lustria"/>
                <a:sym typeface="Lustria"/>
              </a:rPr>
              <a:t>&lt;     &gt;     ==     &lt;=     &gt;=     != </a:t>
            </a:r>
            <a:endParaRPr b="0" i="0" sz="1800" u="none" cap="none" strike="noStrike">
              <a:solidFill>
                <a:schemeClr val="dk1"/>
              </a:solidFill>
              <a:latin typeface="Lustria"/>
              <a:ea typeface="Lustria"/>
              <a:cs typeface="Lustria"/>
              <a:sym typeface="Lustria"/>
            </a:endParaRPr>
          </a:p>
          <a:p>
            <a:pPr indent="-171450" lvl="2" marL="34290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We use == to check if one value is equal to another value.</a:t>
            </a:r>
            <a:endParaRPr/>
          </a:p>
          <a:p>
            <a:pPr indent="-171450" lvl="2" marL="34290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Remember we use = to </a:t>
            </a:r>
            <a:r>
              <a:rPr b="1" i="0" lang="en-GB" sz="1800" u="none" cap="none" strike="noStrike">
                <a:solidFill>
                  <a:schemeClr val="dk1"/>
                </a:solidFill>
                <a:latin typeface="Lustria"/>
                <a:ea typeface="Lustria"/>
                <a:cs typeface="Lustria"/>
                <a:sym typeface="Lustria"/>
              </a:rPr>
              <a:t>assign</a:t>
            </a:r>
            <a:r>
              <a:rPr b="0" i="0" lang="en-GB" sz="1800" u="none" cap="none" strike="noStrike">
                <a:solidFill>
                  <a:schemeClr val="dk1"/>
                </a:solidFill>
                <a:latin typeface="Lustria"/>
                <a:ea typeface="Lustria"/>
                <a:cs typeface="Lustria"/>
                <a:sym typeface="Lustria"/>
              </a:rPr>
              <a:t> values to variables.</a:t>
            </a:r>
            <a:endParaRPr/>
          </a:p>
          <a:p>
            <a:pPr indent="-171450" lvl="1" marL="17145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The if statement</a:t>
            </a:r>
            <a:endParaRPr/>
          </a:p>
          <a:p>
            <a:pPr indent="-171450" lvl="2" marL="34290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If the if statement evaluates to true, the indented code block will execute.</a:t>
            </a:r>
            <a:endParaRPr/>
          </a:p>
          <a:p>
            <a:pPr indent="-171450" lvl="2" marL="34290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If the if statement evaluates to false, the indented code block will be ignored.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8" name="Google Shape;178;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171450" lvl="1" marL="171450" marR="0" rtl="0" algn="l">
              <a:lnSpc>
                <a:spcPct val="90000"/>
              </a:lnSpc>
              <a:spcBef>
                <a:spcPts val="0"/>
              </a:spcBef>
              <a:spcAft>
                <a:spcPts val="0"/>
              </a:spcAft>
              <a:buClr>
                <a:schemeClr val="dk1"/>
              </a:buClr>
              <a:buSzPts val="1400"/>
              <a:buFont typeface="Noto Sans Symbols"/>
              <a:buChar char="✔"/>
            </a:pPr>
            <a:r>
              <a:rPr b="0" i="0" lang="en-GB" sz="1800" u="none" cap="none" strike="noStrike">
                <a:solidFill>
                  <a:schemeClr val="dk1"/>
                </a:solidFill>
                <a:latin typeface="Lustria"/>
                <a:ea typeface="Lustria"/>
                <a:cs typeface="Lustria"/>
                <a:sym typeface="Lustria"/>
              </a:rPr>
              <a:t>The if else statement</a:t>
            </a:r>
            <a:endParaRPr/>
          </a:p>
          <a:p>
            <a:pPr indent="-171450" lvl="2" marL="34290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Guarantees that either the if or the else code block will be executed</a:t>
            </a:r>
            <a:endParaRPr/>
          </a:p>
          <a:p>
            <a:pPr indent="-57150" lvl="3" marL="514350" marR="0" rtl="0" algn="l">
              <a:lnSpc>
                <a:spcPct val="90000"/>
              </a:lnSpc>
              <a:spcBef>
                <a:spcPts val="270"/>
              </a:spcBef>
              <a:spcAft>
                <a:spcPts val="0"/>
              </a:spcAft>
              <a:buClr>
                <a:schemeClr val="lt1"/>
              </a:buClr>
              <a:buSzPts val="1800"/>
              <a:buFont typeface="Lustria"/>
              <a:buNone/>
            </a:pPr>
            <a:r>
              <a:t/>
            </a:r>
            <a:endParaRPr b="0" i="0" sz="1800" u="none" cap="none" strike="noStrike">
              <a:solidFill>
                <a:schemeClr val="dk1"/>
              </a:solidFill>
              <a:latin typeface="Lustria"/>
              <a:ea typeface="Lustria"/>
              <a:cs typeface="Lustria"/>
              <a:sym typeface="Lustria"/>
            </a:endParaRPr>
          </a:p>
          <a:p>
            <a:pPr indent="-171450" lvl="1" marL="17145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The if else elif</a:t>
            </a:r>
            <a:endParaRPr b="0" i="0" sz="1800" u="none" cap="none" strike="noStrike">
              <a:solidFill>
                <a:schemeClr val="dk1"/>
              </a:solidFill>
              <a:latin typeface="Lustria"/>
              <a:ea typeface="Lustria"/>
              <a:cs typeface="Lustria"/>
              <a:sym typeface="Lustria"/>
            </a:endParaRPr>
          </a:p>
          <a:p>
            <a:pPr indent="-171450" lvl="2" marL="34290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Like the else if statement but adds in more conditions.</a:t>
            </a:r>
            <a:endParaRPr/>
          </a:p>
          <a:p>
            <a:pPr indent="-57150" lvl="3" marL="514350" marR="0" rtl="0" algn="l">
              <a:lnSpc>
                <a:spcPct val="90000"/>
              </a:lnSpc>
              <a:spcBef>
                <a:spcPts val="270"/>
              </a:spcBef>
              <a:spcAft>
                <a:spcPts val="0"/>
              </a:spcAft>
              <a:buClr>
                <a:schemeClr val="lt1"/>
              </a:buClr>
              <a:buSzPts val="1800"/>
              <a:buFont typeface="Lustria"/>
              <a:buNone/>
            </a:pPr>
            <a:r>
              <a:t/>
            </a:r>
            <a:endParaRPr b="0" i="0" sz="1800" u="none" cap="none" strike="noStrike">
              <a:solidFill>
                <a:schemeClr val="dk1"/>
              </a:solidFill>
              <a:latin typeface="Lustria"/>
              <a:ea typeface="Lustria"/>
              <a:cs typeface="Lustria"/>
              <a:sym typeface="Lustria"/>
            </a:endParaRPr>
          </a:p>
          <a:p>
            <a:pPr indent="-171450" lvl="1" marL="171450" marR="0" rtl="0" algn="l">
              <a:lnSpc>
                <a:spcPct val="90000"/>
              </a:lnSpc>
              <a:spcBef>
                <a:spcPts val="270"/>
              </a:spcBef>
              <a:spcAft>
                <a:spcPts val="0"/>
              </a:spcAft>
              <a:buClr>
                <a:schemeClr val="dk1"/>
              </a:buClr>
              <a:buSzPts val="1800"/>
              <a:buFont typeface="Lustria"/>
              <a:buChar char="•"/>
            </a:pPr>
            <a:r>
              <a:rPr b="0" i="0" lang="en-GB" sz="1800" u="none" cap="none" strike="noStrike">
                <a:solidFill>
                  <a:schemeClr val="dk1"/>
                </a:solidFill>
                <a:latin typeface="Lustria"/>
                <a:ea typeface="Lustria"/>
                <a:cs typeface="Lustria"/>
                <a:sym typeface="Lustria"/>
              </a:rPr>
              <a:t>In an if else elif statement, </a:t>
            </a:r>
            <a:r>
              <a:rPr b="1" i="0" lang="en-GB" sz="1800" u="none" cap="none" strike="noStrike">
                <a:solidFill>
                  <a:schemeClr val="dk1"/>
                </a:solidFill>
                <a:latin typeface="Lustria"/>
                <a:ea typeface="Lustria"/>
                <a:cs typeface="Lustria"/>
                <a:sym typeface="Lustria"/>
              </a:rPr>
              <a:t>as soon as one statement is found to be true, it will execute, and no other code block will be executed</a:t>
            </a:r>
            <a:r>
              <a:rPr b="0" i="0" lang="en-GB" sz="1800" u="none" cap="none" strike="noStrike">
                <a:solidFill>
                  <a:schemeClr val="dk1"/>
                </a:solidFill>
                <a:latin typeface="Lustria"/>
                <a:ea typeface="Lustria"/>
                <a:cs typeface="Lustria"/>
                <a:sym typeface="Lustria"/>
              </a:rPr>
              <a:t> in that if else elif statement.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ÀCC Presentation">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