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7" r:id="rId6"/>
    <p:sldMasterId id="2147483659" r:id="rId7"/>
    <p:sldMasterId id="2147483661" r:id="rId8"/>
    <p:sldMasterId id="2147483663" r:id="rId9"/>
    <p:sldMasterId id="2147483665" r:id="rId10"/>
    <p:sldMasterId id="2147483667" r:id="rId11"/>
    <p:sldMasterId id="2147483669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C7612C-366A-4CCD-83CF-49A34D0760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E282243-B74C-47AE-B6BB-8198302264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75B7865-5E73-4263-B15A-AFA9E855DC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858AD8A-5838-4CD2-AD8B-14AE767E4D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091313B-6DFC-475A-B76C-188EB84383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99AACBD-70F6-4010-BD2C-A974401874E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C440EE7-F42F-4A5B-8B65-3F792272B1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EABD1B0-9047-4E4C-AB7F-8DAF2099E8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BCA902F-B987-469C-892D-CA8D57AB31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9ADF80D-C902-41EC-9C8C-CD7DEC86603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2B87D87-E9D5-4C2A-9BAF-D3CE96E84A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254DB9B-AAED-4B94-9B11-964DCE1E34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IE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6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7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8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0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1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66EFB6F-B6CE-49BC-828B-AED618185A8E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IE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I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I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I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F11F46D-104C-487A-B461-D98A10F0F686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A7156A7-8CB1-458D-9D89-9256901BCB1F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59B204E-1E75-4A77-BD02-1B119FD020E4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3"/>
    <p:sldLayoutId id="2147483656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9938581-9A7A-445F-94B3-BA4BFB4A06FB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8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B20C38C-61C8-4B7D-89A2-E7F8C335F718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0" r:id="rId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0B3DCFC-EE67-4FAF-AD41-025823F399B0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IE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94C175C-37E6-4979-9B71-044E03BD17C6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4" r:id="rId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D3696B6-349E-4777-881B-1CD864039D01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6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0CDC33F-F71A-49CA-8315-50E26BA5C0BF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8" r:id="rId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Picture 7" descr="A logo for a college&#10;&#10;AI-generated content may be incorrect."/>
          <p:cNvPicPr/>
          <p:nvPr/>
        </p:nvPicPr>
        <p:blipFill>
          <a:blip r:embed="rId2"/>
          <a:srcRect l="13218" t="10374" r="14363" b="17513"/>
          <a:stretch/>
        </p:blipFill>
        <p:spPr>
          <a:xfrm>
            <a:off x="10557000" y="185760"/>
            <a:ext cx="1377720" cy="1371960"/>
          </a:xfrm>
          <a:prstGeom prst="rect">
            <a:avLst/>
          </a:prstGeom>
          <a:ln w="0">
            <a:noFill/>
          </a:ln>
        </p:spPr>
      </p:pic>
      <p:sp>
        <p:nvSpPr>
          <p:cNvPr id="59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122AFC8A-9586-4574-BBBA-CE0FCDE159D8}" type="slidenum">
              <a:rPr b="0" lang="en-IE" sz="1200" spc="-1" strike="noStrike">
                <a:solidFill>
                  <a:schemeClr val="dk1">
                    <a:tint val="82000"/>
                  </a:schemeClr>
                </a:solidFill>
                <a:latin typeface="Franklin Gothic Book"/>
              </a:rPr>
              <a:t>&lt;number&gt;</a:t>
            </a:fld>
            <a:endParaRPr b="0" lang="en-IE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I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IE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I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thonny.org/" TargetMode="External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thonny.org/" TargetMode="External"/><Relationship Id="rId2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E" sz="6000" spc="-1" strike="noStrike">
                <a:solidFill>
                  <a:schemeClr val="dk1"/>
                </a:solidFill>
                <a:latin typeface="Franklin Gothic Medium"/>
              </a:rPr>
              <a:t>TY Coding</a:t>
            </a:r>
            <a:endParaRPr b="0" lang="en-IE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280" cy="165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Introduction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E" sz="4400" spc="-1" strike="noStrike">
                <a:solidFill>
                  <a:schemeClr val="dk1"/>
                </a:solidFill>
                <a:latin typeface="Franklin Gothic Medium"/>
              </a:rPr>
              <a:t>Learning Outcomes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Understand what Python is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Understand some key terms associated with Coding Python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Create a simple python program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Output text to the screen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Setup and use an IDE (Thonny)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E" sz="4400" spc="-1" strike="noStrike">
                <a:solidFill>
                  <a:schemeClr val="dk1"/>
                </a:solidFill>
                <a:latin typeface="Franklin Gothic Medium"/>
              </a:rPr>
              <a:t>Where is Python Used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942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600" spc="-1" strike="noStrike">
                <a:solidFill>
                  <a:schemeClr val="dk1"/>
                </a:solidFill>
                <a:latin typeface="Franklin Gothic Book"/>
              </a:rPr>
              <a:t>Web Development</a:t>
            </a:r>
            <a:endParaRPr b="0" lang="en-IE" sz="2600" spc="-1" strike="noStrike">
              <a:solidFill>
                <a:srgbClr val="000000"/>
              </a:solidFill>
              <a:latin typeface="Arial"/>
            </a:endParaRPr>
          </a:p>
          <a:p>
            <a:pPr lvl="1" marL="9514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dk1"/>
                </a:solidFill>
                <a:latin typeface="Franklin Gothic Book"/>
              </a:rPr>
              <a:t>Spotify, </a:t>
            </a:r>
            <a:endParaRPr b="0" lang="en-IE" sz="2200" spc="-1" strike="noStrike">
              <a:solidFill>
                <a:srgbClr val="000000"/>
              </a:solidFill>
              <a:latin typeface="Arial"/>
            </a:endParaRPr>
          </a:p>
          <a:p>
            <a:pPr lvl="1" marL="9514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dk1"/>
                </a:solidFill>
                <a:latin typeface="Franklin Gothic Book"/>
              </a:rPr>
              <a:t>YouTube</a:t>
            </a:r>
            <a:endParaRPr b="0" lang="en-IE" sz="2200" spc="-1" strike="noStrike">
              <a:solidFill>
                <a:srgbClr val="000000"/>
              </a:solidFill>
              <a:latin typeface="Arial"/>
            </a:endParaRPr>
          </a:p>
          <a:p>
            <a:pPr marL="4942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600" spc="-1" strike="noStrike">
                <a:solidFill>
                  <a:schemeClr val="dk1"/>
                </a:solidFill>
                <a:latin typeface="Franklin Gothic Book"/>
              </a:rPr>
              <a:t>Artificial Intelligence</a:t>
            </a:r>
            <a:endParaRPr b="0" lang="en-IE" sz="2600" spc="-1" strike="noStrike">
              <a:solidFill>
                <a:srgbClr val="000000"/>
              </a:solidFill>
              <a:latin typeface="Arial"/>
            </a:endParaRPr>
          </a:p>
          <a:p>
            <a:pPr lvl="1" marL="9514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dk1"/>
                </a:solidFill>
                <a:latin typeface="Franklin Gothic Book"/>
              </a:rPr>
              <a:t>Hear – Detecting Gunshots and location</a:t>
            </a:r>
            <a:endParaRPr b="0" lang="en-IE" sz="2200" spc="-1" strike="noStrike">
              <a:solidFill>
                <a:srgbClr val="000000"/>
              </a:solidFill>
              <a:latin typeface="Arial"/>
            </a:endParaRPr>
          </a:p>
          <a:p>
            <a:pPr lvl="1" marL="9514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dk1"/>
                </a:solidFill>
                <a:latin typeface="Franklin Gothic Book"/>
              </a:rPr>
              <a:t>Smell – Detecting Illness by smelling breath</a:t>
            </a:r>
            <a:endParaRPr b="0" lang="en-IE" sz="2200" spc="-1" strike="noStrike">
              <a:solidFill>
                <a:srgbClr val="000000"/>
              </a:solidFill>
              <a:latin typeface="Arial"/>
            </a:endParaRPr>
          </a:p>
          <a:p>
            <a:pPr lvl="1" marL="9514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dk1"/>
                </a:solidFill>
                <a:latin typeface="Franklin Gothic Book"/>
              </a:rPr>
              <a:t>See – Machine Vision in Self Driving Cars</a:t>
            </a:r>
            <a:endParaRPr b="0" lang="en-IE" sz="2200" spc="-1" strike="noStrike">
              <a:solidFill>
                <a:srgbClr val="000000"/>
              </a:solidFill>
              <a:latin typeface="Arial"/>
            </a:endParaRPr>
          </a:p>
          <a:p>
            <a:pPr lvl="1" marL="9514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dk1"/>
                </a:solidFill>
                <a:latin typeface="Franklin Gothic Book"/>
              </a:rPr>
              <a:t>Write – The NY Times uses AI to assist in writing articles</a:t>
            </a:r>
            <a:endParaRPr b="0" lang="en-IE" sz="2200" spc="-1" strike="noStrike">
              <a:solidFill>
                <a:srgbClr val="000000"/>
              </a:solidFill>
              <a:latin typeface="Arial"/>
            </a:endParaRPr>
          </a:p>
          <a:p>
            <a:pPr marL="4942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600" spc="-1" strike="noStrike">
                <a:solidFill>
                  <a:schemeClr val="dk1"/>
                </a:solidFill>
                <a:latin typeface="Franklin Gothic Book"/>
              </a:rPr>
              <a:t>Scripting</a:t>
            </a:r>
            <a:endParaRPr b="0" lang="en-IE" sz="2600" spc="-1" strike="noStrike">
              <a:solidFill>
                <a:srgbClr val="000000"/>
              </a:solidFill>
              <a:latin typeface="Arial"/>
            </a:endParaRPr>
          </a:p>
          <a:p>
            <a:pPr lvl="1" marL="951480" indent="-457200" defTabSz="914400">
              <a:lnSpc>
                <a:spcPct val="90000"/>
              </a:lnSpc>
              <a:buClr>
                <a:srgbClr val="04d3ee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dk1"/>
                </a:solidFill>
                <a:latin typeface="Franklin Gothic Book"/>
              </a:rPr>
              <a:t>A script is a small piece of code that can automate a computer Function</a:t>
            </a:r>
            <a:endParaRPr b="0" lang="en-IE" sz="22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E" sz="4400" spc="-1" strike="noStrike">
                <a:solidFill>
                  <a:schemeClr val="dk1"/>
                </a:solidFill>
                <a:latin typeface="Franklin Gothic Medium"/>
              </a:rPr>
              <a:t>Why is python popular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 lnSpcReduction="10000"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Readability: Python's syntax (the rules for writing code) is very clean and uses indentation to define structure, making it look a bit like plain English. 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Versatility: (Transition to the next section) It can be used for a huge variety of tasks.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Large Standard Library: Python comes with a vast collection of pre-written code modules that perform common tasks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Huge Community: Because it's so popular, there are tons of resources, tutorials, forums, and people willing to help if you get stuck.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Open Source: Python is free to use and distribute, even for commercial purposes.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E" sz="4400" spc="-1" strike="noStrike">
                <a:solidFill>
                  <a:schemeClr val="dk1"/>
                </a:solidFill>
                <a:latin typeface="Franklin Gothic Medium"/>
              </a:rPr>
              <a:t>Examples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print("Hello, World!")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print is the command and tells python to place text on the screen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( ) What is to be printed goes in here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“ “ </a:t>
            </a: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Tells python that that it is text that is to be printed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print(10 + 5)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Python will carry out the sum and print the answer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E" sz="4400" spc="-1" strike="noStrike">
                <a:solidFill>
                  <a:schemeClr val="dk1"/>
                </a:solidFill>
                <a:latin typeface="Franklin Gothic Medium"/>
              </a:rPr>
              <a:t>Creating Code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There are a number of ways but the most common is to use an IDE (Integrated Development Environment)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This is an application that allows you to create code and then run it. 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Can be online or offline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Online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Replit, Codepad.app, trinket.io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Offline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Visual Studio Code, Thonny, IDLE 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Advantages and Disadvantages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IE" sz="4400" spc="-1" strike="noStrike">
                <a:solidFill>
                  <a:srgbClr val="000000"/>
                </a:solidFill>
                <a:latin typeface="Arial"/>
              </a:rPr>
              <a:t>Using IDLE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Installs with python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Allows you to test python code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Allows you to create python files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Has some limitations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A dedicated IDE has more features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IE" sz="4400" spc="-1" strike="noStrike">
                <a:solidFill>
                  <a:srgbClr val="000000"/>
                </a:solidFill>
                <a:latin typeface="Arial"/>
              </a:rPr>
              <a:t>Using Thonny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Thonny should be installed on every computer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Can be found on the Desktop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Can be downloaded from - </a:t>
            </a:r>
            <a:r>
              <a:rPr b="0" lang="en-IE" sz="3200" spc="-1" strike="noStrike">
                <a:solidFill>
                  <a:srgbClr val="000000"/>
                </a:solidFill>
                <a:latin typeface="Arial"/>
                <a:hlinkClick r:id="rId1"/>
              </a:rPr>
              <a:t>https://thonny.org/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Files are save to PC with extension .py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IE" sz="4400" spc="-1" strike="noStrike">
                <a:solidFill>
                  <a:srgbClr val="000000"/>
                </a:solidFill>
                <a:latin typeface="Arial"/>
              </a:rPr>
              <a:t>File Management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Files are stored on the Computer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Creating a Folder Structure to organise files is important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E" sz="3200" spc="-1" strike="noStrike">
                <a:solidFill>
                  <a:srgbClr val="000000"/>
                </a:solidFill>
                <a:latin typeface="Arial"/>
              </a:rPr>
              <a:t>Create a Folder in Share Drive </a:t>
            </a:r>
            <a:endParaRPr b="0" lang="en-I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800" spc="-1" strike="noStrike">
                <a:solidFill>
                  <a:srgbClr val="000000"/>
                </a:solidFill>
                <a:latin typeface="Arial"/>
              </a:rPr>
              <a:t>Found in My computer ($User.Name)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800" spc="-1" strike="noStrike">
                <a:solidFill>
                  <a:srgbClr val="000000"/>
                </a:solidFill>
                <a:latin typeface="Arial"/>
              </a:rPr>
              <a:t>This folder appears on every computer you log in to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800" spc="-1" strike="noStrike">
                <a:solidFill>
                  <a:srgbClr val="000000"/>
                </a:solidFill>
                <a:latin typeface="Arial"/>
              </a:rPr>
              <a:t>Call Folder TY Coding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800" spc="-1" strike="noStrike">
                <a:solidFill>
                  <a:srgbClr val="000000"/>
                </a:solidFill>
                <a:latin typeface="Arial"/>
              </a:rPr>
              <a:t>In this Create folder called Lesson 01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E" sz="2800" spc="-1" strike="noStrike">
                <a:solidFill>
                  <a:srgbClr val="000000"/>
                </a:solidFill>
                <a:latin typeface="Arial"/>
              </a:rPr>
              <a:t>Save all files today to this Folder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E" sz="4400" spc="-1" strike="noStrike">
                <a:solidFill>
                  <a:schemeClr val="dk1"/>
                </a:solidFill>
                <a:latin typeface="Franklin Gothic Medium"/>
              </a:rPr>
              <a:t>Terms to Know (Printing)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Character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Any individual letter, number or symbol e.g. a, 4, €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String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A group of 2 or more characters e.g. PYTHON is made up of Characters P Y T H O N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Function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Another name for a command that python recognises e.g. print( )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E" sz="4400" spc="-1" strike="noStrike">
                <a:solidFill>
                  <a:schemeClr val="dk1"/>
                </a:solidFill>
                <a:latin typeface="Franklin Gothic Medium"/>
              </a:rPr>
              <a:t>Using Thonny</a:t>
            </a:r>
            <a:r>
              <a:rPr b="0" lang="en-IE" sz="4400" spc="-1" strike="noStrike">
                <a:solidFill>
                  <a:schemeClr val="dk1"/>
                </a:solidFill>
                <a:latin typeface="Franklin Gothic Medium"/>
              </a:rPr>
              <a:t>	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Thonny is a free IDE that runs on your computer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Can be found at - </a:t>
            </a:r>
            <a:r>
              <a:rPr b="0" lang="en-IE" sz="2800" spc="-1" strike="noStrike" u="sng">
                <a:solidFill>
                  <a:schemeClr val="dk1"/>
                </a:solidFill>
                <a:uFillTx/>
                <a:latin typeface="Franklin Gothic Book"/>
                <a:hlinkClick r:id="rId1"/>
              </a:rPr>
              <a:t>https://thonny.org/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Can be installed or run from a portable folder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Comes with common Python libraries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More can be installed as needed.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Print a string to the screen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We use the print() command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We put what we want to print in brackets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String must have “ “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print(“Hello World”)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3"/>
          <p:cNvSpPr/>
          <p:nvPr/>
        </p:nvSpPr>
        <p:spPr>
          <a:xfrm>
            <a:off x="6595920" y="3544920"/>
            <a:ext cx="4590360" cy="1854720"/>
          </a:xfrm>
          <a:prstGeom prst="rect">
            <a:avLst/>
          </a:prstGeom>
          <a:solidFill>
            <a:srgbClr val="5b9bd5"/>
          </a:solidFill>
          <a:ln>
            <a:noFill/>
          </a:ln>
          <a:effectLst>
            <a:outerShdw algn="ctr" blurRad="44280" dir="5400000" dist="28080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dir="t" rig="balanced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IE" sz="1800" spc="-1" strike="noStrike">
              <a:solidFill>
                <a:schemeClr val="lt1"/>
              </a:solidFill>
              <a:latin typeface="Franklin Gothic Book"/>
            </a:endParaRPr>
          </a:p>
        </p:txBody>
      </p:sp>
      <p:sp>
        <p:nvSpPr>
          <p:cNvPr id="87" name="Google Shape;204;p7"/>
          <p:cNvSpPr/>
          <p:nvPr/>
        </p:nvSpPr>
        <p:spPr>
          <a:xfrm>
            <a:off x="6668280" y="3810960"/>
            <a:ext cx="459036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en-GB" sz="1800" spc="-1" strike="noStrike">
                <a:solidFill>
                  <a:schemeClr val="lt1"/>
                </a:solidFill>
                <a:latin typeface="Lustria"/>
                <a:ea typeface="Lustria"/>
              </a:rPr>
              <a:t>Note: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en-GB" sz="1800" spc="-1" strike="noStrike">
                <a:solidFill>
                  <a:schemeClr val="lt1"/>
                </a:solidFill>
                <a:latin typeface="Lustria"/>
                <a:ea typeface="Lustria"/>
              </a:rPr>
              <a:t>Functions in Python are case sensitive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en-GB" sz="1800" spc="-1" strike="noStrike">
                <a:solidFill>
                  <a:schemeClr val="lt1"/>
                </a:solidFill>
                <a:latin typeface="Lustria"/>
                <a:ea typeface="Lustria"/>
              </a:rPr>
              <a:t>print is the function to output to the screen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tabLst>
                <a:tab algn="l" pos="0"/>
              </a:tabLst>
            </a:pPr>
            <a:r>
              <a:rPr b="0" lang="en-GB" sz="1800" spc="-1" strike="noStrike">
                <a:solidFill>
                  <a:schemeClr val="lt1"/>
                </a:solidFill>
                <a:latin typeface="Lustria"/>
                <a:ea typeface="Lustria"/>
              </a:rPr>
              <a:t>Print will give an error message</a:t>
            </a: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Create a file system in your shared drive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Folder for Coding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Create a folder called Lesson 01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400" spc="-1" strike="noStrike">
                <a:solidFill>
                  <a:schemeClr val="dk1"/>
                </a:solidFill>
                <a:latin typeface="Franklin Gothic Book"/>
              </a:rPr>
              <a:t>This will contain all the files for this lesson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Open Thonny and create a new file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Save the file to a folder for Coding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IE" sz="2800" spc="-1" strike="noStrike">
                <a:solidFill>
                  <a:schemeClr val="dk1"/>
                </a:solidFill>
                <a:latin typeface="Franklin Gothic Book"/>
              </a:rPr>
              <a:t>Call the file Lesson 01 printing.py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94280" indent="-457200" defTabSz="91440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Print the following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I’m learning to code</a:t>
            </a: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	</a:t>
            </a:r>
            <a:br>
              <a:rPr sz="2400"/>
            </a:b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I’m using python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marL="494280" indent="-4572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This needs 2 lines of code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print(“I’m learning to code”)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print(“I’m using Python”)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marL="494280" indent="-4572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Alternative is to use a special command for a new line </a:t>
            </a:r>
            <a:r>
              <a:rPr b="1" lang="en-GB" sz="2800" spc="-1" strike="noStrike">
                <a:solidFill>
                  <a:schemeClr val="dk1"/>
                </a:solidFill>
                <a:latin typeface="Franklin Gothic Book"/>
              </a:rPr>
              <a:t>\n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494280" indent="-4572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print(“I’m learning to code </a:t>
            </a:r>
            <a:r>
              <a:rPr b="1" lang="en-GB" sz="2800" spc="-1" strike="noStrike">
                <a:solidFill>
                  <a:schemeClr val="dk1"/>
                </a:solidFill>
                <a:latin typeface="Franklin Gothic Book"/>
              </a:rPr>
              <a:t>\n</a:t>
            </a: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I’m using Python”)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en-I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06000" defTabSz="914400">
              <a:lnSpc>
                <a:spcPct val="90000"/>
              </a:lnSpc>
              <a:buClr>
                <a:srgbClr val="000000"/>
              </a:buClr>
              <a:buFont typeface="Arial"/>
              <a:buChar char="◈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Print the following Using the print command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060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◈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*</a:t>
            </a: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	</a:t>
            </a: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There are Spaces on the Screen</a:t>
            </a: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	</a:t>
            </a: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*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060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◈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You can use \t to add in a tab space which is the same as 3-5 spaces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060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◈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Use the following command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060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◈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print(“*\tThere are Spaces on the Screen\t*”)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IE" sz="4400" spc="-1" strike="noStrike">
                <a:solidFill>
                  <a:schemeClr val="dk1"/>
                </a:solidFill>
                <a:latin typeface="Franklin Gothic Medium"/>
              </a:rPr>
              <a:t>Summary</a:t>
            </a:r>
            <a:endParaRPr b="0" lang="en-I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94280" indent="-457200" defTabSz="91440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dk1"/>
                </a:solidFill>
                <a:latin typeface="Franklin Gothic Book"/>
              </a:rPr>
              <a:t>This lesson covered</a:t>
            </a: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Characters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Strings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Functions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Introducing Thonny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How to use the print function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lvl="1" marL="793080" indent="-343080" defTabSz="914400">
              <a:lnSpc>
                <a:spcPct val="90000"/>
              </a:lnSpc>
              <a:spcBef>
                <a:spcPts val="96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dk1"/>
                </a:solidFill>
                <a:latin typeface="Franklin Gothic Book"/>
              </a:rPr>
              <a:t>Some special characters</a:t>
            </a:r>
            <a:endParaRPr b="0" lang="en-IE" sz="24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I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ÀCC Presentation">
  <a:themeElements>
    <a:clrScheme name="Office 2013 - 2022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ranklin Gothic">
      <a:majorFont>
        <a:latin typeface="Franklin Gothic Medium" panose="020B0603020102020204" pitchFamily="0" charset="1"/>
        <a:ea typeface=""/>
        <a:cs typeface=""/>
      </a:majorFont>
      <a:minorFont>
        <a:latin typeface="Franklin Gothic Book" panose="020B05030201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50000"/>
          </a:schemeClr>
        </a:solidFill>
        <a:gradFill>
          <a:gsLst>
            <a:gs pos="0">
              <a:schemeClr val="phClr"/>
            </a:gs>
            <a:gs pos="90000">
              <a:schemeClr val="phClr">
                <a:shade val="100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100000" t="100000" r="100000" b="100000"/>
          </a:path>
          <a:tileRect l="0" t="0" r="0" b="0"/>
        </a:gradFill>
      </a:fillStyleLst>
      <a:lnStyleLst>
        <a:ln w="10000" cap="flat" cmpd="sng" algn="ctr">
          <a:prstDash val="solid"/>
        </a:ln>
        <a:ln w="19050" cap="flat" cmpd="sng" algn="ctr">
          <a:prstDash val="solid"/>
        </a:ln>
        <a:ln w="53975" cap="flat" cmpd="dbl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ÀCC Presentation</Template>
  <TotalTime>45</TotalTime>
  <Application>LibreOffice/24.2.7.2$Linux_X86_64 LibreOffice_project/420$Build-2</Application>
  <AppVersion>15.0000</AppVersion>
  <Words>665</Words>
  <Paragraphs>92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2025-05-14T11:16:38Z</dcterms:created>
  <dc:creator>Jim Finn</dc:creator>
  <dc:description/>
  <dc:language>en-IE</dc:language>
  <cp:lastModifiedBy/>
  <dcterms:modified xsi:type="dcterms:W3CDTF">2025-08-04T11:47:55Z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13</vt:i4>
  </property>
</Properties>
</file>