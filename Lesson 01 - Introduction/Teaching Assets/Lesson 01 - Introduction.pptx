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theme+xml" PartName="/ppt/theme/theme9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  <p:sldMasterId id="2147483661" r:id="rId4"/>
    <p:sldMasterId id="2147483662" r:id="rId5"/>
    <p:sldMasterId id="2147483663" r:id="rId6"/>
    <p:sldMasterId id="2147483664" r:id="rId7"/>
    <p:sldMasterId id="2147483665" r:id="rId8"/>
    <p:sldMasterId id="2147483666" r:id="rId9"/>
    <p:sldMasterId id="2147483667" r:id="rId10"/>
    <p:sldMasterId id="2147483668" r:id="rId11"/>
    <p:sldMasterId id="2147483669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</p:sldIdLst>
  <p:sldSz cy="6858000" cx="12192000"/>
  <p:notesSz cx="7559675" cy="10691800"/>
  <p:embeddedFontLst>
    <p:embeddedFont>
      <p:font typeface="Libre Franklin"/>
      <p:regular r:id="rId31"/>
      <p:bold r:id="rId32"/>
      <p:italic r:id="rId33"/>
      <p:boldItalic r:id="rId34"/>
    </p:embeddedFont>
    <p:embeddedFont>
      <p:font typeface="Libre Franklin Medium"/>
      <p:regular r:id="rId35"/>
      <p:bold r:id="rId36"/>
      <p:italic r:id="rId37"/>
      <p:boldItalic r:id="rId38"/>
    </p:embeddedFont>
    <p:embeddedFont>
      <p:font typeface="Lustria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6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slide" Target="slides/slide15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font" Target="fonts/LibreFranklin-regular.fntdata"/><Relationship Id="rId30" Type="http://schemas.openxmlformats.org/officeDocument/2006/relationships/slide" Target="slides/slide16.xml"/><Relationship Id="rId11" Type="http://schemas.openxmlformats.org/officeDocument/2006/relationships/slideMaster" Target="slideMasters/slideMaster9.xml"/><Relationship Id="rId33" Type="http://schemas.openxmlformats.org/officeDocument/2006/relationships/font" Target="fonts/LibreFranklin-italic.fntdata"/><Relationship Id="rId10" Type="http://schemas.openxmlformats.org/officeDocument/2006/relationships/slideMaster" Target="slideMasters/slideMaster8.xml"/><Relationship Id="rId32" Type="http://schemas.openxmlformats.org/officeDocument/2006/relationships/font" Target="fonts/LibreFranklin-bold.fntdata"/><Relationship Id="rId13" Type="http://schemas.openxmlformats.org/officeDocument/2006/relationships/slideMaster" Target="slideMasters/slideMaster11.xml"/><Relationship Id="rId35" Type="http://schemas.openxmlformats.org/officeDocument/2006/relationships/font" Target="fonts/LibreFranklinMedium-regular.fntdata"/><Relationship Id="rId12" Type="http://schemas.openxmlformats.org/officeDocument/2006/relationships/slideMaster" Target="slideMasters/slideMaster10.xml"/><Relationship Id="rId34" Type="http://schemas.openxmlformats.org/officeDocument/2006/relationships/font" Target="fonts/LibreFranklin-boldItalic.fntdata"/><Relationship Id="rId15" Type="http://schemas.openxmlformats.org/officeDocument/2006/relationships/slide" Target="slides/slide1.xml"/><Relationship Id="rId37" Type="http://schemas.openxmlformats.org/officeDocument/2006/relationships/font" Target="fonts/LibreFranklinMedium-italic.fntdata"/><Relationship Id="rId14" Type="http://schemas.openxmlformats.org/officeDocument/2006/relationships/notesMaster" Target="notesMasters/notesMaster1.xml"/><Relationship Id="rId36" Type="http://schemas.openxmlformats.org/officeDocument/2006/relationships/font" Target="fonts/LibreFranklinMedium-bold.fntdata"/><Relationship Id="rId17" Type="http://schemas.openxmlformats.org/officeDocument/2006/relationships/slide" Target="slides/slide3.xml"/><Relationship Id="rId39" Type="http://schemas.openxmlformats.org/officeDocument/2006/relationships/font" Target="fonts/Lustria-regular.fntdata"/><Relationship Id="rId16" Type="http://schemas.openxmlformats.org/officeDocument/2006/relationships/slide" Target="slides/slide2.xml"/><Relationship Id="rId38" Type="http://schemas.openxmlformats.org/officeDocument/2006/relationships/font" Target="fonts/LibreFranklinMedium-boldItalic.fntdata"/><Relationship Id="rId19" Type="http://schemas.openxmlformats.org/officeDocument/2006/relationships/slide" Target="slides/slide5.xml"/><Relationship Id="rId1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2" type="body"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78" name="Google Shape;78;p13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98" name="Google Shape;98;p17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116" name="Google Shape;116;p21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sz="120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125" name="Google Shape;125;p23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1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1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9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4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theme" Target="../theme/theme8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6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7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for a college&#10;&#10;AI-generated content may be incorrect." id="6" name="Google Shape;6;p1"/>
          <p:cNvPicPr preferRelativeResize="0"/>
          <p:nvPr/>
        </p:nvPicPr>
        <p:blipFill rotWithShape="1">
          <a:blip r:embed="rId1">
            <a:alphaModFix/>
          </a:blip>
          <a:srcRect b="17512" l="13218" r="14362" t="10374"/>
          <a:stretch/>
        </p:blipFill>
        <p:spPr>
          <a:xfrm>
            <a:off x="10557000" y="185760"/>
            <a:ext cx="1377720" cy="13719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for a college&#10;&#10;AI-generated content may be incorrect." id="19" name="Google Shape;19;p3"/>
          <p:cNvPicPr preferRelativeResize="0"/>
          <p:nvPr/>
        </p:nvPicPr>
        <p:blipFill rotWithShape="1">
          <a:blip r:embed="rId1">
            <a:alphaModFix/>
          </a:blip>
          <a:srcRect b="17512" l="13218" r="14362" t="10374"/>
          <a:stretch/>
        </p:blipFill>
        <p:spPr>
          <a:xfrm>
            <a:off x="10557000" y="185760"/>
            <a:ext cx="1377720" cy="1371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for a college&#10;&#10;AI-generated content may be incorrect." id="38" name="Google Shape;38;p6"/>
          <p:cNvPicPr preferRelativeResize="0"/>
          <p:nvPr/>
        </p:nvPicPr>
        <p:blipFill rotWithShape="1">
          <a:blip r:embed="rId1">
            <a:alphaModFix/>
          </a:blip>
          <a:srcRect b="17512" l="13218" r="14362" t="10374"/>
          <a:stretch/>
        </p:blipFill>
        <p:spPr>
          <a:xfrm>
            <a:off x="10557000" y="185760"/>
            <a:ext cx="1377720" cy="137196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for a college&#10;&#10;AI-generated content may be incorrect." id="47" name="Google Shape;47;p8"/>
          <p:cNvPicPr preferRelativeResize="0"/>
          <p:nvPr/>
        </p:nvPicPr>
        <p:blipFill rotWithShape="1">
          <a:blip r:embed="rId1">
            <a:alphaModFix/>
          </a:blip>
          <a:srcRect b="17512" l="13218" r="14362" t="10374"/>
          <a:stretch/>
        </p:blipFill>
        <p:spPr>
          <a:xfrm>
            <a:off x="10557000" y="185760"/>
            <a:ext cx="1377720" cy="137196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for a college&#10;&#10;AI-generated content may be incorrect." id="56" name="Google Shape;56;p10"/>
          <p:cNvPicPr preferRelativeResize="0"/>
          <p:nvPr/>
        </p:nvPicPr>
        <p:blipFill rotWithShape="1">
          <a:blip r:embed="rId1">
            <a:alphaModFix/>
          </a:blip>
          <a:srcRect b="17512" l="13218" r="14362" t="10374"/>
          <a:stretch/>
        </p:blipFill>
        <p:spPr>
          <a:xfrm>
            <a:off x="10557000" y="185760"/>
            <a:ext cx="1377720" cy="137196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for a college&#10;&#10;AI-generated content may be incorrect." id="65" name="Google Shape;65;p12"/>
          <p:cNvPicPr preferRelativeResize="0"/>
          <p:nvPr/>
        </p:nvPicPr>
        <p:blipFill rotWithShape="1">
          <a:blip r:embed="rId1">
            <a:alphaModFix/>
          </a:blip>
          <a:srcRect b="17512" l="13218" r="14362" t="10374"/>
          <a:stretch/>
        </p:blipFill>
        <p:spPr>
          <a:xfrm>
            <a:off x="10557000" y="185760"/>
            <a:ext cx="1377720" cy="13719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12"/>
          <p:cNvSpPr txBox="1"/>
          <p:nvPr>
            <p:ph idx="2"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9" name="Google Shape;69;p12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for a college&#10;&#10;AI-generated content may be incorrect." id="80" name="Google Shape;80;p14"/>
          <p:cNvPicPr preferRelativeResize="0"/>
          <p:nvPr/>
        </p:nvPicPr>
        <p:blipFill rotWithShape="1">
          <a:blip r:embed="rId1">
            <a:alphaModFix/>
          </a:blip>
          <a:srcRect b="17512" l="13218" r="14362" t="10374"/>
          <a:stretch/>
        </p:blipFill>
        <p:spPr>
          <a:xfrm>
            <a:off x="10557000" y="185760"/>
            <a:ext cx="1377720" cy="137196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4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for a college&#10;&#10;AI-generated content may be incorrect." id="89" name="Google Shape;89;p16"/>
          <p:cNvPicPr preferRelativeResize="0"/>
          <p:nvPr/>
        </p:nvPicPr>
        <p:blipFill rotWithShape="1">
          <a:blip r:embed="rId1">
            <a:alphaModFix/>
          </a:blip>
          <a:srcRect b="17512" l="13218" r="14362" t="10374"/>
          <a:stretch/>
        </p:blipFill>
        <p:spPr>
          <a:xfrm>
            <a:off x="10557000" y="185760"/>
            <a:ext cx="1377720" cy="13719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1" name="Google Shape;91;p16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6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for a college&#10;&#10;AI-generated content may be incorrect." id="100" name="Google Shape;100;p18"/>
          <p:cNvPicPr preferRelativeResize="0"/>
          <p:nvPr/>
        </p:nvPicPr>
        <p:blipFill rotWithShape="1">
          <a:blip r:embed="rId1">
            <a:alphaModFix/>
          </a:blip>
          <a:srcRect b="17512" l="13218" r="14362" t="10374"/>
          <a:stretch/>
        </p:blipFill>
        <p:spPr>
          <a:xfrm>
            <a:off x="10557000" y="185760"/>
            <a:ext cx="1377720" cy="1371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8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for a college&#10;&#10;AI-generated content may be incorrect." id="109" name="Google Shape;109;p20"/>
          <p:cNvPicPr preferRelativeResize="0"/>
          <p:nvPr/>
        </p:nvPicPr>
        <p:blipFill rotWithShape="1">
          <a:blip r:embed="rId1">
            <a:alphaModFix/>
          </a:blip>
          <a:srcRect b="17512" l="13218" r="14362" t="10374"/>
          <a:stretch/>
        </p:blipFill>
        <p:spPr>
          <a:xfrm>
            <a:off x="10557000" y="185760"/>
            <a:ext cx="1377720" cy="1371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0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for a college&#10;&#10;AI-generated content may be incorrect." id="118" name="Google Shape;118;p22"/>
          <p:cNvPicPr preferRelativeResize="0"/>
          <p:nvPr/>
        </p:nvPicPr>
        <p:blipFill rotWithShape="1">
          <a:blip r:embed="rId1">
            <a:alphaModFix/>
          </a:blip>
          <a:srcRect b="17512" l="13218" r="14362" t="10374"/>
          <a:stretch/>
        </p:blipFill>
        <p:spPr>
          <a:xfrm>
            <a:off x="10557000" y="185760"/>
            <a:ext cx="1377720" cy="1371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b="0" i="0" sz="1200" u="none" cap="none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thonny.org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thonny.org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bre Franklin Medium"/>
              <a:buNone/>
            </a:pPr>
            <a:r>
              <a:rPr b="0" lang="en-IE" sz="600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TY Coding</a:t>
            </a:r>
            <a:endParaRPr b="0" sz="6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4"/>
          <p:cNvSpPr txBox="1"/>
          <p:nvPr>
            <p:ph idx="1"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Franklin"/>
              <a:buNone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Introduction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b="0" lang="en-IE" sz="440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Learning Outcomes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Understand what Python is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Understand some key terms associated with Coding Python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Create a simple python program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Output text to the screen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Setup and use an IDE (Thonny)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b="0" lang="en-IE" sz="440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Where is Python Used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942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D3EE"/>
              </a:buClr>
              <a:buSzPts val="2600"/>
              <a:buFont typeface="Arial"/>
              <a:buChar char="•"/>
            </a:pPr>
            <a:r>
              <a:rPr b="0" i="0" lang="en-IE" sz="2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Web Development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514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D3EE"/>
              </a:buClr>
              <a:buSzPts val="2200"/>
              <a:buFont typeface="Arial"/>
              <a:buChar char="•"/>
            </a:pPr>
            <a:r>
              <a:rPr b="0" i="0" lang="en-IE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Spotify,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514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D3EE"/>
              </a:buClr>
              <a:buSzPts val="2200"/>
              <a:buFont typeface="Arial"/>
              <a:buChar char="•"/>
            </a:pPr>
            <a:r>
              <a:rPr b="0" i="0" lang="en-IE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YouTube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942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D3EE"/>
              </a:buClr>
              <a:buSzPts val="2600"/>
              <a:buFont typeface="Arial"/>
              <a:buChar char="•"/>
            </a:pPr>
            <a:r>
              <a:rPr b="0" i="0" lang="en-IE" sz="2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Artificial Intelligence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514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D3EE"/>
              </a:buClr>
              <a:buSzPts val="2200"/>
              <a:buFont typeface="Arial"/>
              <a:buChar char="•"/>
            </a:pPr>
            <a:r>
              <a:rPr b="0" i="0" lang="en-IE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Hear – Detecting Gunshots and location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514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D3EE"/>
              </a:buClr>
              <a:buSzPts val="2200"/>
              <a:buFont typeface="Arial"/>
              <a:buChar char="•"/>
            </a:pPr>
            <a:r>
              <a:rPr b="0" i="0" lang="en-IE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Smell – Detecting Illness by smelling breath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514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D3EE"/>
              </a:buClr>
              <a:buSzPts val="2200"/>
              <a:buFont typeface="Arial"/>
              <a:buChar char="•"/>
            </a:pPr>
            <a:r>
              <a:rPr b="0" i="0" lang="en-IE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See – Machine Vision in Self Driving Cars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514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D3EE"/>
              </a:buClr>
              <a:buSzPts val="2200"/>
              <a:buFont typeface="Arial"/>
              <a:buChar char="•"/>
            </a:pPr>
            <a:r>
              <a:rPr b="0" i="0" lang="en-IE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Write – The NY Times uses AI to assist in writing articles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942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D3EE"/>
              </a:buClr>
              <a:buSzPts val="2600"/>
              <a:buFont typeface="Arial"/>
              <a:buChar char="•"/>
            </a:pPr>
            <a:r>
              <a:rPr b="0" i="0" lang="en-IE" sz="2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Scripting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514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D3EE"/>
              </a:buClr>
              <a:buSzPts val="2200"/>
              <a:buFont typeface="Arial"/>
              <a:buChar char="•"/>
            </a:pPr>
            <a:r>
              <a:rPr b="0" i="0" lang="en-IE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 script is a small piece of code that can automate a computer Function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b="0" lang="en-IE" sz="440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Why is python popular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9999" lnSpcReduction="10000"/>
          </a:bodyPr>
          <a:lstStyle/>
          <a:p>
            <a:pPr indent="-228661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Readability: Python's syntax (the rules for writing code) is very clean and uses indentation to define structure, making it look a bit like plain English.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61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Versatility: (Transition to the next section) It can be used for a huge variety of tasks.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61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Large Standard Library: Python comes with a vast collection of pre-written code modules that perform common tasks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61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Huge Community: Because it's so popular, there are tons of resources, tutorials, forums, and people willing to help if you get stuck.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61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Open Source: Python is free to use and distribute, even for commercial purposes.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b="0" lang="en-IE" sz="440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Examples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print("Hello, World!")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 is the command and tells python to place text on the screen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 ) What is to be printed goes in here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 “ Tells python that that it is text that is to be printed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print(10 + 5)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Python will carry out the sum and print the answer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b="0" lang="en-IE" sz="440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Creating Code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There are a number of ways but the most common is to use an IDE (Integrated Development Environment)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This is an application that allows you to create code and then run it.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Can be online or offline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Online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Replit, Codepad.app, trinket.io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Offline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Visual Studio Code, Thonny, IDLE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Advantages and Disadvantages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lang="en-IE" sz="4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IDLE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Installs with python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Allows you to test python code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Allows you to create python files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 some limitations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dedicated IDE has more features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lang="en-IE" sz="4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Thonny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Thonny should be installed on every computer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found on the Desktop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downloaded from - </a:t>
            </a:r>
            <a:r>
              <a:rPr b="0" i="0" lang="en-IE" sz="3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https://thonny.org/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Files are save to PC with extension .py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lang="en-IE" sz="4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Management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6865"/>
          </a:bodyPr>
          <a:lstStyle/>
          <a:p>
            <a:pPr indent="-324019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I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Files are stored on the Computer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19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I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Creating a Folder Structure to organise files is important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19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I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Folder in Share Drive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1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b="0" i="0" lang="en-IE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 in My computer ($User.Name)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1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b="0" i="0" lang="en-IE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folder appears on every computer you log in to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1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b="0" i="0" lang="en-IE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 Folder TY Coding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1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b="0" i="0" lang="en-IE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this Create folder called Lesson 01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1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b="0" i="0" lang="en-IE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all files today to this Folder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b="0" lang="en-IE" sz="440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Terms to Know (Printing)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Character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Any individual letter, number or symbol e.g. a, 4, €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 group of 2 or more characters e.g. PYTHON is made up of Characters P Y T H O 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Function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Another name for a command that python recognises e.g. print( 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b="0" lang="en-IE" sz="440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Using Thonny	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Thonny is a free IDE that runs on your computer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Can be found at - </a:t>
            </a:r>
            <a:r>
              <a:rPr b="0" i="0" lang="en-IE" sz="2800" u="sng" cap="none" strike="noStrike">
                <a:solidFill>
                  <a:schemeClr val="hlink"/>
                </a:solidFill>
                <a:latin typeface="Libre Franklin"/>
                <a:ea typeface="Libre Franklin"/>
                <a:cs typeface="Libre Franklin"/>
                <a:sym typeface="Libre Franklin"/>
                <a:hlinkClick r:id="rId3"/>
              </a:rPr>
              <a:t>https://thonny.org/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Can be installed or run from a portable folder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Comes with common Python libraries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More can be installed as needed.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 a string to the screen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793080" marR="0" rtl="0" algn="l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use the print() command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793080" marR="0" rtl="0" algn="l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put what we want to print in brackets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793080" marR="0" rtl="0" algn="l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String must have “ “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793080" marR="0" rtl="0" algn="l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print(“Hello World”)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5"/>
          <p:cNvSpPr/>
          <p:nvPr/>
        </p:nvSpPr>
        <p:spPr>
          <a:xfrm>
            <a:off x="6595920" y="3544920"/>
            <a:ext cx="4590360" cy="1854720"/>
          </a:xfrm>
          <a:prstGeom prst="rect">
            <a:avLst/>
          </a:prstGeom>
          <a:solidFill>
            <a:srgbClr val="5B9BD5"/>
          </a:solidFill>
          <a:ln>
            <a:noFill/>
          </a:ln>
          <a:effectLst>
            <a:outerShdw blurRad="44280" algn="ctr" dir="5400000" dist="28080">
              <a:srgbClr val="000000">
                <a:alpha val="31764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99" name="Google Shape;199;p35"/>
          <p:cNvSpPr/>
          <p:nvPr/>
        </p:nvSpPr>
        <p:spPr>
          <a:xfrm>
            <a:off x="6668280" y="3810960"/>
            <a:ext cx="4590360" cy="1461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Note: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Functions in Python are case sensitive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print is the function to output to the screen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Print will give an error message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6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Create a file system in your shared drive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Folder for Coding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Create a folder called Lesson 01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This will contain all the files for this lesson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Open Thonny and create a new file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Save the file to a folder for Coding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Call the file Lesson 01 printing.py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7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942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 the following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793080" marR="0" rtl="0" algn="l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I’m learning to code	</a:t>
            </a:r>
            <a:br>
              <a:rPr b="0" i="0" lang="en-IE" sz="2400" u="none" cap="none" strike="noStrike"/>
            </a:b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I’m using python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9428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This needs 2 lines of code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793080" marR="0" rtl="0" algn="l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print(“I’m learning to code”)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793080" marR="0" rtl="0" algn="l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print(“I’m using Python”)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9428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Alternative is to use a special command for a new line </a:t>
            </a:r>
            <a:r>
              <a:rPr b="1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\n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9428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print(“I’m learning to code </a:t>
            </a:r>
            <a:r>
              <a:rPr b="1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\n</a:t>
            </a: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I’m using Python”)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8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6000" lvl="0" marL="3430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◈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 the following Using the print command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4308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◈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*	There are Spaces on the Screen	*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4308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◈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You can use \t to add in a tab space which is the same as 3-5 spaces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4308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◈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Use the following command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4308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◈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print(“*\tThere are Spaces on the Screen\t*”)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b="0" lang="en-IE" sz="440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Summary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9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942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E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This lesson covered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793080" marR="0" rtl="0" algn="l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Characters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793080" marR="0" rtl="0" algn="l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Strings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793080" marR="0" rtl="0" algn="l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Functions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793080" marR="0" rtl="0" algn="l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Introducing Thonny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793080" marR="0" rtl="0" algn="l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How to use the print function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793080" marR="0" rtl="0" algn="l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E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Some special characters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